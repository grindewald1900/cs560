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9"/>
  </p:notesMasterIdLst>
  <p:handoutMasterIdLst>
    <p:handoutMasterId r:id="rId50"/>
  </p:handoutMasterIdLst>
  <p:sldIdLst>
    <p:sldId id="624" r:id="rId2"/>
    <p:sldId id="411" r:id="rId3"/>
    <p:sldId id="396" r:id="rId4"/>
    <p:sldId id="395" r:id="rId5"/>
    <p:sldId id="386" r:id="rId6"/>
    <p:sldId id="625" r:id="rId7"/>
    <p:sldId id="307" r:id="rId8"/>
    <p:sldId id="309" r:id="rId9"/>
    <p:sldId id="308" r:id="rId10"/>
    <p:sldId id="310" r:id="rId11"/>
    <p:sldId id="400" r:id="rId12"/>
    <p:sldId id="401" r:id="rId13"/>
    <p:sldId id="402" r:id="rId14"/>
    <p:sldId id="421" r:id="rId15"/>
    <p:sldId id="420" r:id="rId16"/>
    <p:sldId id="323" r:id="rId17"/>
    <p:sldId id="320" r:id="rId18"/>
    <p:sldId id="403" r:id="rId19"/>
    <p:sldId id="324" r:id="rId20"/>
    <p:sldId id="321" r:id="rId21"/>
    <p:sldId id="346" r:id="rId22"/>
    <p:sldId id="399" r:id="rId23"/>
    <p:sldId id="404" r:id="rId24"/>
    <p:sldId id="405" r:id="rId25"/>
    <p:sldId id="328" r:id="rId26"/>
    <p:sldId id="376" r:id="rId27"/>
    <p:sldId id="326" r:id="rId28"/>
    <p:sldId id="329" r:id="rId29"/>
    <p:sldId id="361" r:id="rId30"/>
    <p:sldId id="347" r:id="rId31"/>
    <p:sldId id="348" r:id="rId32"/>
    <p:sldId id="349" r:id="rId33"/>
    <p:sldId id="350" r:id="rId34"/>
    <p:sldId id="351" r:id="rId35"/>
    <p:sldId id="381" r:id="rId36"/>
    <p:sldId id="382" r:id="rId37"/>
    <p:sldId id="406" r:id="rId38"/>
    <p:sldId id="407" r:id="rId39"/>
    <p:sldId id="408" r:id="rId40"/>
    <p:sldId id="409" r:id="rId41"/>
    <p:sldId id="410" r:id="rId42"/>
    <p:sldId id="419" r:id="rId43"/>
    <p:sldId id="412" r:id="rId44"/>
    <p:sldId id="415" r:id="rId45"/>
    <p:sldId id="416" r:id="rId46"/>
    <p:sldId id="417" r:id="rId47"/>
    <p:sldId id="418" r:id="rId48"/>
  </p:sldIdLst>
  <p:sldSz cx="9144000" cy="6858000" type="screen4x3"/>
  <p:notesSz cx="7315200" cy="96012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ohammed Ayoub Alaoui Mhamdi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FF"/>
    <a:srgbClr val="CF8D15"/>
    <a:srgbClr val="EDB34B"/>
    <a:srgbClr val="F8ECCC"/>
    <a:srgbClr val="F5E3B1"/>
    <a:srgbClr val="F3DEA1"/>
    <a:srgbClr val="40B4E8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71936" autoAdjust="0"/>
  </p:normalViewPr>
  <p:slideViewPr>
    <p:cSldViewPr>
      <p:cViewPr varScale="1">
        <p:scale>
          <a:sx n="82" d="100"/>
          <a:sy n="82" d="100"/>
        </p:scale>
        <p:origin x="245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452"/>
    </p:cViewPr>
  </p:sorterViewPr>
  <p:notesViewPr>
    <p:cSldViewPr>
      <p:cViewPr varScale="1">
        <p:scale>
          <a:sx n="59" d="100"/>
          <a:sy n="59" d="100"/>
        </p:scale>
        <p:origin x="-1122" y="-78"/>
      </p:cViewPr>
      <p:guideLst>
        <p:guide orient="horz" pos="3024"/>
        <p:guide pos="230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3.xml"/><Relationship Id="rId13" Type="http://schemas.openxmlformats.org/officeDocument/2006/relationships/slide" Target="slides/slide19.xml"/><Relationship Id="rId18" Type="http://schemas.openxmlformats.org/officeDocument/2006/relationships/slide" Target="slides/slide29.xml"/><Relationship Id="rId26" Type="http://schemas.openxmlformats.org/officeDocument/2006/relationships/slide" Target="slides/slide47.xml"/><Relationship Id="rId3" Type="http://schemas.openxmlformats.org/officeDocument/2006/relationships/slide" Target="slides/slide7.xml"/><Relationship Id="rId21" Type="http://schemas.openxmlformats.org/officeDocument/2006/relationships/slide" Target="slides/slide39.xml"/><Relationship Id="rId7" Type="http://schemas.openxmlformats.org/officeDocument/2006/relationships/slide" Target="slides/slide12.xml"/><Relationship Id="rId12" Type="http://schemas.openxmlformats.org/officeDocument/2006/relationships/slide" Target="slides/slide18.xml"/><Relationship Id="rId17" Type="http://schemas.openxmlformats.org/officeDocument/2006/relationships/slide" Target="slides/slide28.xml"/><Relationship Id="rId25" Type="http://schemas.openxmlformats.org/officeDocument/2006/relationships/slide" Target="slides/slide45.xml"/><Relationship Id="rId2" Type="http://schemas.openxmlformats.org/officeDocument/2006/relationships/slide" Target="slides/slide5.xml"/><Relationship Id="rId16" Type="http://schemas.openxmlformats.org/officeDocument/2006/relationships/slide" Target="slides/slide27.xml"/><Relationship Id="rId20" Type="http://schemas.openxmlformats.org/officeDocument/2006/relationships/slide" Target="slides/slide38.xml"/><Relationship Id="rId1" Type="http://schemas.openxmlformats.org/officeDocument/2006/relationships/slide" Target="slides/slide4.xml"/><Relationship Id="rId6" Type="http://schemas.openxmlformats.org/officeDocument/2006/relationships/slide" Target="slides/slide10.xml"/><Relationship Id="rId11" Type="http://schemas.openxmlformats.org/officeDocument/2006/relationships/slide" Target="slides/slide17.xml"/><Relationship Id="rId24" Type="http://schemas.openxmlformats.org/officeDocument/2006/relationships/slide" Target="slides/slide44.xml"/><Relationship Id="rId5" Type="http://schemas.openxmlformats.org/officeDocument/2006/relationships/slide" Target="slides/slide9.xml"/><Relationship Id="rId15" Type="http://schemas.openxmlformats.org/officeDocument/2006/relationships/slide" Target="slides/slide25.xml"/><Relationship Id="rId23" Type="http://schemas.openxmlformats.org/officeDocument/2006/relationships/slide" Target="slides/slide41.xml"/><Relationship Id="rId10" Type="http://schemas.openxmlformats.org/officeDocument/2006/relationships/slide" Target="slides/slide16.xml"/><Relationship Id="rId19" Type="http://schemas.openxmlformats.org/officeDocument/2006/relationships/slide" Target="slides/slide37.xml"/><Relationship Id="rId4" Type="http://schemas.openxmlformats.org/officeDocument/2006/relationships/slide" Target="slides/slide8.xml"/><Relationship Id="rId9" Type="http://schemas.openxmlformats.org/officeDocument/2006/relationships/slide" Target="slides/slide14.xml"/><Relationship Id="rId14" Type="http://schemas.openxmlformats.org/officeDocument/2006/relationships/slide" Target="slides/slide20.xml"/><Relationship Id="rId22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A2BF6A6-0AED-498D-9049-97056CB45B1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buClrTx/>
              <a:buFontTx/>
              <a:buNone/>
              <a:defRPr sz="1300" b="1">
                <a:latin typeface="NewsGothicBQ" pitchFamily="34" charset="0"/>
              </a:defRPr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2326DE34-7279-47EF-B3F6-31852072386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buClrTx/>
              <a:buFontTx/>
              <a:buNone/>
              <a:defRPr sz="1300" b="1">
                <a:latin typeface="NewsGothicBQ" pitchFamily="34" charset="0"/>
              </a:defRPr>
            </a:lvl1pPr>
          </a:lstStyle>
          <a:p>
            <a:pPr>
              <a:defRPr/>
            </a:pPr>
            <a:fld id="{C7007C43-2D55-4E07-8038-1AD9E028243C}" type="datetime1">
              <a:rPr lang="en-GB" altLang="fr-FR"/>
              <a:pPr>
                <a:defRPr/>
              </a:pPr>
              <a:t>31/01/2020</a:t>
            </a:fld>
            <a:endParaRPr lang="nl-NL" altLang="fr-FR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5E50A8E8-B45D-4EF1-8210-442512DA4E2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0"/>
              </a:spcBef>
              <a:buClrTx/>
              <a:buFontTx/>
              <a:buNone/>
              <a:defRPr sz="1300" b="1">
                <a:latin typeface="NewsGothicBQ" pitchFamily="34" charset="0"/>
              </a:defRPr>
            </a:lvl1pPr>
          </a:lstStyle>
          <a:p>
            <a:pPr>
              <a:defRPr/>
            </a:pPr>
            <a:r>
              <a:rPr lang="nl-NL" altLang="fr-FR"/>
              <a:t>© SE, Introduction, Hans van Vliet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2A4E9AD0-95F6-4D91-A48D-8EF02B501596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0"/>
              </a:spcBef>
              <a:buClrTx/>
              <a:buFontTx/>
              <a:buNone/>
              <a:defRPr sz="1300" b="1">
                <a:latin typeface="NewsGothicBQ" pitchFamily="34" charset="0"/>
              </a:defRPr>
            </a:lvl1pPr>
          </a:lstStyle>
          <a:p>
            <a:pPr>
              <a:defRPr/>
            </a:pPr>
            <a:fld id="{72E52F06-93D7-4020-9825-19A3EBE24310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B8E7171-0175-40E1-9ED8-199429AE66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1300" b="1">
                <a:solidFill>
                  <a:srgbClr val="000066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3AF2BC7-5538-44C9-95F2-470856B7EFC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1300" b="1">
                <a:solidFill>
                  <a:srgbClr val="000066"/>
                </a:solidFill>
                <a:latin typeface="Arial" charset="0"/>
              </a:defRPr>
            </a:lvl1pPr>
          </a:lstStyle>
          <a:p>
            <a:pPr>
              <a:defRPr/>
            </a:pPr>
            <a:fld id="{154AB04B-E853-4800-90E4-6B4890FBBB8B}" type="datetime1">
              <a:rPr lang="en-GB" altLang="fr-FR"/>
              <a:pPr>
                <a:defRPr/>
              </a:pPr>
              <a:t>31/01/2020</a:t>
            </a:fld>
            <a:endParaRPr lang="nl-NL" altLang="fr-FR"/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24643EED-AECF-4BCE-8673-284633DD0C6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56523806-F946-4D6D-91C6-E0918F0B2D4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fr-FR" noProof="0"/>
              <a:t>Klik om de opmaakprofielen van de modeltekst te bewerken</a:t>
            </a:r>
          </a:p>
          <a:p>
            <a:pPr lvl="1"/>
            <a:r>
              <a:rPr lang="nl-NL" altLang="fr-FR" noProof="0"/>
              <a:t>Tweede niveau</a:t>
            </a:r>
          </a:p>
          <a:p>
            <a:pPr lvl="2"/>
            <a:r>
              <a:rPr lang="nl-NL" altLang="fr-FR" noProof="0"/>
              <a:t>Derde niveau</a:t>
            </a:r>
          </a:p>
          <a:p>
            <a:pPr lvl="3"/>
            <a:r>
              <a:rPr lang="nl-NL" altLang="fr-FR" noProof="0"/>
              <a:t>Vierde niveau</a:t>
            </a:r>
          </a:p>
          <a:p>
            <a:pPr lvl="4"/>
            <a:r>
              <a:rPr lang="nl-NL" altLang="fr-FR" noProof="0"/>
              <a:t>Vijfde niveau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0BC6F941-B066-483F-958A-80D5479985E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1300" b="1">
                <a:solidFill>
                  <a:srgbClr val="000066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nl-NL" altLang="fr-FR"/>
              <a:t>© SE, Introduction, Hans van Vliet</a:t>
            </a:r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81FDC994-5687-4BE4-AE4B-0F78920C1C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1300" b="1">
                <a:solidFill>
                  <a:srgbClr val="000066"/>
                </a:solidFill>
              </a:defRPr>
            </a:lvl1pPr>
          </a:lstStyle>
          <a:p>
            <a:pPr>
              <a:defRPr/>
            </a:pPr>
            <a:fld id="{8C439B9B-C789-4EB7-B328-C3652F095921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ml-diagrams.org/uml-25-diagrams.html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equirements_engineering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Requirements_elicitation#cite_note-1" TargetMode="Externa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11B4BFF4-0F4D-4A4A-8187-D1CEC212EC5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nl-NL" altLang="fr-FR" sz="1300">
                <a:solidFill>
                  <a:srgbClr val="000066"/>
                </a:solidFill>
                <a:latin typeface="Arial" panose="020B0604020202020204" pitchFamily="34" charset="0"/>
              </a:rPr>
              <a:t>© SE, Introduction, Hans van Vliet</a:t>
            </a:r>
          </a:p>
        </p:txBody>
      </p:sp>
      <p:sp>
        <p:nvSpPr>
          <p:cNvPr id="9219" name="Rectangle 7">
            <a:extLst>
              <a:ext uri="{FF2B5EF4-FFF2-40B4-BE49-F238E27FC236}">
                <a16:creationId xmlns:a16="http://schemas.microsoft.com/office/drawing/2014/main" id="{39F8272D-5F53-46BD-959F-38A95E63C1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fld id="{C03233A4-9312-4949-9660-15566546AB30}" type="slidenum">
              <a:rPr lang="nl-NL" altLang="fr-FR" sz="1300" smtClean="0">
                <a:solidFill>
                  <a:srgbClr val="000066"/>
                </a:solidFill>
                <a:latin typeface="Arial" panose="020B0604020202020204" pitchFamily="34" charset="0"/>
              </a:rPr>
              <a:pPr>
                <a:spcBef>
                  <a:spcPct val="20000"/>
                </a:spcBef>
              </a:pPr>
              <a:t>1</a:t>
            </a:fld>
            <a:endParaRPr lang="nl-NL" altLang="fr-FR" sz="1300">
              <a:solidFill>
                <a:srgbClr val="000066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356B1286-A810-4E2C-AC45-F113A2FF15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19138"/>
            <a:ext cx="4800600" cy="3600450"/>
          </a:xfrm>
          <a:ln/>
        </p:spPr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C9FD0816-CAEB-4059-BAA1-9D40908AB8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6313" y="4560888"/>
            <a:ext cx="5362575" cy="4321175"/>
          </a:xfrm>
          <a:noFill/>
        </p:spPr>
        <p:txBody>
          <a:bodyPr/>
          <a:lstStyle/>
          <a:p>
            <a:pPr eaLnBrk="1" hangingPunct="1"/>
            <a:endParaRPr lang="en-US" altLang="fr-FR" sz="16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1724C8DE-0B40-47A7-A6E8-15F25EBDF9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B6B1425-B907-4E73-8B5E-9D80C7B80C6B}" type="slidenum">
              <a:rPr lang="en-US" altLang="en-US" sz="1200" b="0"/>
              <a:pPr/>
              <a:t>2</a:t>
            </a:fld>
            <a:endParaRPr lang="en-US" altLang="en-US" sz="1200" b="0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48463BCA-F556-47EB-A82C-D6249BA3F7F0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44631E25-4DE4-4AB1-81C8-33A4CE914E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latin typeface="Times" panose="02020603050405020304" pitchFamily="18" charset="0"/>
              </a:rPr>
              <a:t>We provided already a basic overview of the notations: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latin typeface="Times" panose="02020603050405020304" pitchFamily="18" charset="0"/>
              </a:rPr>
              <a:t>Use case diagrams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latin typeface="Times" panose="02020603050405020304" pitchFamily="18" charset="0"/>
              </a:rPr>
              <a:t>Class diagrams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latin typeface="Times" panose="02020603050405020304" pitchFamily="18" charset="0"/>
              </a:rPr>
              <a:t>Sequence diagrams, statechart diagrams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>
              <a:latin typeface="Times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latin typeface="Times" panose="02020603050405020304" pitchFamily="18" charset="0"/>
              </a:rPr>
              <a:t>We will now go int more detail and cover two additional notations as well, sequence diagrams and activity diagrams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>
            <a:extLst>
              <a:ext uri="{FF2B5EF4-FFF2-40B4-BE49-F238E27FC236}">
                <a16:creationId xmlns:a16="http://schemas.microsoft.com/office/drawing/2014/main" id="{694408F9-5832-4517-8717-A4D62720BD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3F34F8A-7CD1-44A1-942F-E1C15EACB951}" type="slidenum">
              <a:rPr lang="en-US" altLang="en-US" sz="1200" b="0"/>
              <a:pPr/>
              <a:t>3</a:t>
            </a:fld>
            <a:endParaRPr lang="en-US" altLang="en-US" sz="1200" b="0"/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D4FC09F0-39FB-4292-BA59-D91FF99DB5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F6321A9D-E517-4586-B6D7-40903F4376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1A2859D6-B743-4C76-8CB4-E8E98E7AAB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AF50C9A6-8259-45E6-92A7-48A2567874CA}" type="slidenum">
              <a:rPr lang="en-US" altLang="en-US" sz="1200" b="0"/>
              <a:pPr/>
              <a:t>4</a:t>
            </a:fld>
            <a:endParaRPr lang="en-US" altLang="en-US" sz="1200" b="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9B9247E5-72A2-48C5-91DC-D31F57A8F5A4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F4B21BC7-23BA-47F5-9646-0D445F5062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vl="1"/>
            <a:r>
              <a:rPr lang="en-US" altLang="en-US">
                <a:latin typeface="Times" panose="02020603050405020304" pitchFamily="18" charset="0"/>
              </a:rPr>
              <a:t>Powerful, but complex language</a:t>
            </a:r>
          </a:p>
          <a:p>
            <a:pPr lvl="1"/>
            <a:r>
              <a:rPr lang="en-US" altLang="en-US">
                <a:latin typeface="Times" panose="02020603050405020304" pitchFamily="18" charset="0"/>
              </a:rPr>
              <a:t>Can be misused to generate unreadable models</a:t>
            </a:r>
          </a:p>
          <a:p>
            <a:pPr lvl="1"/>
            <a:r>
              <a:rPr lang="en-US" altLang="en-US">
                <a:latin typeface="Times" panose="02020603050405020304" pitchFamily="18" charset="0"/>
              </a:rPr>
              <a:t>Can be misunderstood when using too many exotic features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EA21B0C1-0632-4591-8416-88E95D1AA2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16B675E-B3C2-4ACC-90D9-4B483DF7BCCC}" type="slidenum">
              <a:rPr lang="en-US" altLang="en-US" sz="1200" b="0"/>
              <a:pPr/>
              <a:t>5</a:t>
            </a:fld>
            <a:endParaRPr lang="en-US" altLang="en-US" sz="1200" b="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755005E7-03CE-4268-9F0A-5EAEAE5797D7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D3A0A8BD-390D-42DA-B806-2DFBB5F387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en-US" dirty="0" err="1">
                <a:latin typeface="Times" panose="02020603050405020304" pitchFamily="18" charset="0"/>
              </a:rPr>
              <a:t>Statechart</a:t>
            </a:r>
            <a:r>
              <a:rPr lang="en-US" altLang="en-US" dirty="0">
                <a:latin typeface="Times" panose="02020603050405020304" pitchFamily="18" charset="0"/>
              </a:rPr>
              <a:t> diagrams</a:t>
            </a:r>
          </a:p>
          <a:p>
            <a:pPr lvl="1"/>
            <a:r>
              <a:rPr lang="en-US" altLang="en-US" dirty="0">
                <a:latin typeface="Times" panose="02020603050405020304" pitchFamily="18" charset="0"/>
              </a:rPr>
              <a:t>Describe the dynamic behavior of an individual object  (essentially a finite state automaton)</a:t>
            </a:r>
          </a:p>
          <a:p>
            <a:r>
              <a:rPr lang="en-US" altLang="en-US" dirty="0">
                <a:latin typeface="Times" panose="02020603050405020304" pitchFamily="18" charset="0"/>
              </a:rPr>
              <a:t>Activity Diagrams</a:t>
            </a:r>
          </a:p>
          <a:p>
            <a:pPr lvl="1"/>
            <a:r>
              <a:rPr lang="en-US" altLang="en-US" dirty="0">
                <a:latin typeface="Times" panose="02020603050405020304" pitchFamily="18" charset="0"/>
              </a:rPr>
              <a:t>Model the dynamic behavior of a system, in particular the  workflow (essentially a flowchart)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 Diagrams in UML 2.5 (2015)</a:t>
            </a:r>
          </a:p>
          <a:p>
            <a:endParaRPr lang="en-US" dirty="0"/>
          </a:p>
          <a:p>
            <a:r>
              <a:rPr lang="en-US" dirty="0">
                <a:solidFill>
                  <a:srgbClr val="3399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https://www.uml-diagrams.org/uml-25-diagrams.html</a:t>
            </a:r>
            <a:endParaRPr lang="en-US" dirty="0">
              <a:solidFill>
                <a:srgbClr val="3399FF"/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nl-NL" altLang="fr-FR"/>
              <a:t>© SE, Introduction, Hans van Vliet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C439B9B-C789-4EB7-B328-C3652F095921}" type="slidenum">
              <a:rPr lang="nl-NL" altLang="fr-FR" smtClean="0"/>
              <a:pPr>
                <a:defRPr/>
              </a:pPr>
              <a:t>6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7043136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162C5552-41D3-4E40-BB8D-A9199EC864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74C2F35-EE04-43D2-A2EB-EAF53A7CF5EA}" type="slidenum">
              <a:rPr lang="en-US" altLang="en-US" sz="1200" b="0"/>
              <a:pPr/>
              <a:t>7</a:t>
            </a:fld>
            <a:endParaRPr lang="en-US" altLang="en-US" sz="1200" b="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4E2A1CB1-4258-48D4-B3B8-96BF496D26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35A141A-F30C-4E94-A25C-2594390B79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In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3" tooltip="Requirements engineer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requirements engineering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,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requirements elicitation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is the practice of researching and discovering the requirements of a system from users, customers, and other stakeholders.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[1]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 The practice is also sometimes referred to as "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requirement gathering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Times New Roman" pitchFamily="18" charset="0"/>
                <a:ea typeface="+mn-ea"/>
                <a:cs typeface="+mn-cs"/>
              </a:rPr>
              <a:t>".</a:t>
            </a:r>
          </a:p>
          <a:p>
            <a:br>
              <a:rPr lang="en-US" dirty="0"/>
            </a:br>
            <a:endParaRPr lang="en-US" altLang="en-US" dirty="0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BF9CE1D3-0ED4-41AB-B168-0B9E4FE6E6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1095743-8E3F-4DAF-B72B-D6DF1DDD9D89}" type="slidenum">
              <a:rPr lang="en-US" altLang="en-US" sz="1200" b="0"/>
              <a:pPr/>
              <a:t>8</a:t>
            </a:fld>
            <a:endParaRPr lang="en-US" altLang="en-US" sz="1200" b="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B19884AE-99D6-4DE3-9175-2D7B8167BC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C51E036D-AD35-4D10-B669-704D41D83A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4FD9199A-3EAE-4821-9FA2-4AC8453B98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D633D6D8-40C9-4C8D-94F5-A5A13E23B2DC}" type="slidenum">
              <a:rPr lang="en-US" altLang="en-US" sz="1200" b="0"/>
              <a:pPr/>
              <a:t>9</a:t>
            </a:fld>
            <a:endParaRPr lang="en-US" altLang="en-US" sz="1200" b="0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764D7600-251C-48CB-A358-FAB26CD3A6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88B3461A-4908-41C9-9B6E-3095DA8DE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D25BC62F-4A3C-402A-B3E6-017F08CB42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4657AA7-7F3B-43F3-92DD-80FA23D8940F}" type="slidenum">
              <a:rPr lang="en-US" altLang="en-US" sz="1200" b="0"/>
              <a:pPr/>
              <a:t>10</a:t>
            </a:fld>
            <a:endParaRPr lang="en-US" altLang="en-US" sz="1200" b="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8D1FBCB0-0627-4E79-B321-37CB2F34AB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748F9265-C0C2-4A19-B908-C34BDE15FC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en-US" sz="2800">
                <a:solidFill>
                  <a:srgbClr val="FF0000"/>
                </a:solidFill>
                <a:latin typeface="Helvetica" panose="020B0604020202020204" pitchFamily="34" charset="0"/>
              </a:rPr>
              <a:t>Question: Anything</a:t>
            </a:r>
            <a:r>
              <a:rPr lang="en-US" altLang="en-US" sz="2400">
                <a:solidFill>
                  <a:srgbClr val="FF0000"/>
                </a:solidFill>
                <a:latin typeface="Helvetica" panose="020B0604020202020204" pitchFamily="34" charset="0"/>
              </a:rPr>
              <a:t> </a:t>
            </a:r>
            <a:r>
              <a:rPr lang="en-US" altLang="en-US" sz="2800">
                <a:solidFill>
                  <a:srgbClr val="FF0000"/>
                </a:solidFill>
                <a:latin typeface="Helvetica" panose="020B0604020202020204" pitchFamily="34" charset="0"/>
              </a:rPr>
              <a:t>missing</a:t>
            </a:r>
            <a:r>
              <a:rPr lang="en-US" altLang="en-US" sz="2400">
                <a:solidFill>
                  <a:srgbClr val="FF0000"/>
                </a:solidFill>
                <a:latin typeface="Helvetica" panose="020B0604020202020204" pitchFamily="34" charset="0"/>
              </a:rPr>
              <a:t>? Answer: </a:t>
            </a:r>
            <a:r>
              <a:rPr lang="en-US" altLang="en-US" sz="2800">
                <a:solidFill>
                  <a:srgbClr val="FF0000"/>
                </a:solidFill>
                <a:latin typeface="Helvetica" panose="020B0604020202020204" pitchFamily="34" charset="0"/>
              </a:rPr>
              <a:t>Exceptional cases!</a:t>
            </a:r>
          </a:p>
          <a:p>
            <a:endParaRPr lang="en-US" altLang="en-US" sz="2800">
              <a:solidFill>
                <a:srgbClr val="FF0000"/>
              </a:solidFill>
              <a:latin typeface="Helvetica" panose="020B0604020202020204" pitchFamily="34" charset="0"/>
            </a:endParaRPr>
          </a:p>
          <a:p>
            <a:r>
              <a:rPr lang="en-US" altLang="en-US">
                <a:latin typeface="Times" panose="02020603050405020304" pitchFamily="18" charset="0"/>
              </a:rPr>
              <a:t>Use cases represent functionality of the system</a:t>
            </a:r>
          </a:p>
          <a:p>
            <a:r>
              <a:rPr lang="en-US" altLang="en-US">
                <a:latin typeface="Times" panose="02020603050405020304" pitchFamily="18" charset="0"/>
              </a:rPr>
              <a:t>All use cases need to be described for the model to be useful</a:t>
            </a:r>
          </a:p>
          <a:p>
            <a:r>
              <a:rPr lang="en-US" altLang="en-US">
                <a:latin typeface="Times" panose="02020603050405020304" pitchFamily="18" charset="0"/>
              </a:rPr>
              <a:t>Use case diagrams are useful as an index into the use cases</a:t>
            </a:r>
          </a:p>
          <a:p>
            <a:r>
              <a:rPr lang="en-US" altLang="en-US">
                <a:latin typeface="Times" panose="02020603050405020304" pitchFamily="18" charset="0"/>
              </a:rPr>
              <a:t>The Textual Use case descriptions provide meat of model, not the use case diagrams.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263FE015-5AB5-48A0-AFEC-C406D9A1EE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792A698-773B-4C0E-B486-D60F6B55B146}" type="slidenum">
              <a:rPr lang="en-US" altLang="en-US" sz="1200" b="0"/>
              <a:pPr/>
              <a:t>11</a:t>
            </a:fld>
            <a:endParaRPr lang="en-US" altLang="en-US" sz="1200" b="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A32D623C-5ED1-4755-838A-A9D41FE733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B9AB59E6-2065-45EF-845F-46E8F2C4C9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0BBED1A5-E23C-44DD-A8B6-F00353AF31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662E11B-E186-4EE4-A701-0AF88EA00F43}" type="slidenum">
              <a:rPr lang="en-US" altLang="en-US" sz="1200" b="0"/>
              <a:pPr/>
              <a:t>12</a:t>
            </a:fld>
            <a:endParaRPr lang="en-US" altLang="en-US" sz="1200" b="0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2330F63-C014-482A-9C99-3914CE0BD6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16280C11-281B-4AE2-BD83-5AC89AB272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4E57082B-7864-4C10-83DE-CDAEF13D6F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0252F3E-268B-44EF-A8C9-41C08AF06F04}" type="slidenum">
              <a:rPr lang="en-US" altLang="en-US" sz="1200" b="0"/>
              <a:pPr/>
              <a:t>13</a:t>
            </a:fld>
            <a:endParaRPr lang="en-US" altLang="en-US" sz="1200" b="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6034494A-D377-408D-B8A3-29755EAE5F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037212AA-028C-4795-B370-415690847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A8601669-675C-4C22-A3F8-D85EFA507B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0B1BAF1-1289-427B-BA1A-6E8E65023359}" type="slidenum">
              <a:rPr lang="en-US" altLang="en-US" sz="1200" b="0"/>
              <a:pPr/>
              <a:t>15</a:t>
            </a:fld>
            <a:endParaRPr lang="en-US" altLang="en-US" sz="1200" b="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A0D48F7D-743C-4EEA-BDFB-DF0BA06CB1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20A6B67C-1FAA-45E3-A9C4-0F843BC4DE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5C29257D-5818-420C-800B-E3A80C21BF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FA2FC7E-EB5A-4AD1-8B69-9B9DED5B8D36}" type="slidenum">
              <a:rPr lang="en-US" altLang="en-US" sz="1200" b="0"/>
              <a:pPr/>
              <a:t>16</a:t>
            </a:fld>
            <a:endParaRPr lang="en-US" altLang="en-US" sz="1200" b="0"/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380A4CEE-C69C-4887-9F9D-B6E3DBEA153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D4CCBC18-56DD-492B-89B2-AA057116AD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>
            <a:extLst>
              <a:ext uri="{FF2B5EF4-FFF2-40B4-BE49-F238E27FC236}">
                <a16:creationId xmlns:a16="http://schemas.microsoft.com/office/drawing/2014/main" id="{9BD9EF83-1542-43E6-8C48-254F27EF3E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45A76555-B703-459E-AC38-C6DCE07A275D}" type="slidenum">
              <a:rPr lang="en-US" altLang="en-US" sz="1200" b="0"/>
              <a:pPr/>
              <a:t>17</a:t>
            </a:fld>
            <a:endParaRPr lang="en-US" altLang="en-US" sz="1200" b="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959D8CDF-46BC-4F5F-A8BE-94EF4D0769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C4CE581A-98EB-4D97-9E4D-6371FF5DAF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>
            <a:extLst>
              <a:ext uri="{FF2B5EF4-FFF2-40B4-BE49-F238E27FC236}">
                <a16:creationId xmlns:a16="http://schemas.microsoft.com/office/drawing/2014/main" id="{78D13777-B7B3-49F7-9BE1-D6F5B970A9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8828134-2125-4DAF-B1DC-436FD97EC088}" type="slidenum">
              <a:rPr lang="en-US" altLang="en-US" sz="1200" b="0"/>
              <a:pPr/>
              <a:t>18</a:t>
            </a:fld>
            <a:endParaRPr lang="en-US" altLang="en-US" sz="1200" b="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9920DC24-23CA-4CC1-8140-C978176906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1D7520A9-8177-4BD1-8FD7-697366F4F9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en-US">
                <a:latin typeface="Times" panose="02020603050405020304" pitchFamily="18" charset="0"/>
              </a:rPr>
              <a:t>What is the difference between an </a:t>
            </a:r>
            <a:r>
              <a:rPr lang="en-US" altLang="en-US" i="1">
                <a:latin typeface="Times" panose="02020603050405020304" pitchFamily="18" charset="0"/>
              </a:rPr>
              <a:t>actor</a:t>
            </a:r>
            <a:r>
              <a:rPr lang="en-US" altLang="en-US">
                <a:latin typeface="Times" panose="02020603050405020304" pitchFamily="18" charset="0"/>
              </a:rPr>
              <a:t>,  a </a:t>
            </a:r>
            <a:r>
              <a:rPr lang="en-US" altLang="en-US" i="1">
                <a:latin typeface="Times" panose="02020603050405020304" pitchFamily="18" charset="0"/>
              </a:rPr>
              <a:t>class</a:t>
            </a:r>
            <a:r>
              <a:rPr lang="en-US" altLang="en-US">
                <a:latin typeface="Times" panose="02020603050405020304" pitchFamily="18" charset="0"/>
              </a:rPr>
              <a:t> and an </a:t>
            </a:r>
            <a:r>
              <a:rPr lang="en-US" altLang="en-US" i="1">
                <a:latin typeface="Times" panose="02020603050405020304" pitchFamily="18" charset="0"/>
              </a:rPr>
              <a:t>instance</a:t>
            </a:r>
            <a:r>
              <a:rPr lang="en-US" altLang="en-US">
                <a:latin typeface="Times" panose="02020603050405020304" pitchFamily="18" charset="0"/>
              </a:rPr>
              <a:t>?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>
            <a:extLst>
              <a:ext uri="{FF2B5EF4-FFF2-40B4-BE49-F238E27FC236}">
                <a16:creationId xmlns:a16="http://schemas.microsoft.com/office/drawing/2014/main" id="{0D460C98-30D8-4E2D-BEE9-ED205A350E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C3FE916-95EF-4DDA-B306-43AAA2488E4A}" type="slidenum">
              <a:rPr lang="en-US" altLang="en-US" sz="1200" b="0"/>
              <a:pPr/>
              <a:t>19</a:t>
            </a:fld>
            <a:endParaRPr lang="en-US" altLang="en-US" sz="1200" b="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9E068110-7460-436D-BC21-248F31B54BA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AFB1DEFA-5511-4815-9018-C26FC9E3C9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>
            <a:extLst>
              <a:ext uri="{FF2B5EF4-FFF2-40B4-BE49-F238E27FC236}">
                <a16:creationId xmlns:a16="http://schemas.microsoft.com/office/drawing/2014/main" id="{AF34DB5B-62FB-4DA2-A6CC-E9895B0715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76CF97D-A83C-4126-B260-4FAB51F76742}" type="slidenum">
              <a:rPr lang="en-US" altLang="en-US" sz="1200" b="0"/>
              <a:pPr/>
              <a:t>20</a:t>
            </a:fld>
            <a:endParaRPr lang="en-US" altLang="en-US" sz="1200" b="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2EECA31B-8790-434D-A7CA-C2D99DB34FF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7A9F5030-FF51-45AD-A116-5A85CD5EA5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51ACFF8E-3C5A-457C-9631-487D619072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0DD1B49-D741-469A-85ED-62F49155C5C9}" type="slidenum">
              <a:rPr lang="en-US" altLang="en-US" sz="1200" b="0"/>
              <a:pPr/>
              <a:t>21</a:t>
            </a:fld>
            <a:endParaRPr lang="en-US" altLang="en-US" sz="1200" b="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59BF1615-5A2E-4427-8767-875CEBE683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B559AECE-62D8-4972-B3DC-AAC4B75399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653B4BB7-88B3-4675-A09F-139C16F4DF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B70B240-A257-44DD-B8E8-97B3B3823D54}" type="slidenum">
              <a:rPr lang="en-US" altLang="en-US" sz="1200" b="0"/>
              <a:pPr/>
              <a:t>23</a:t>
            </a:fld>
            <a:endParaRPr lang="en-US" altLang="en-US" sz="1200" b="0"/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8DE809C3-15A7-4D0E-B2D1-543593FBA6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F3E8EBD4-98B7-4EA1-88E0-5A783D78CC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4EFA9E89-9117-485A-9540-EB77A30E7F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83A51D49-C462-4FBD-B928-E2678CD2588D}" type="slidenum">
              <a:rPr lang="en-US" altLang="en-US" sz="1200" b="0"/>
              <a:pPr/>
              <a:t>24</a:t>
            </a:fld>
            <a:endParaRPr lang="en-US" altLang="en-US" sz="1200" b="0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F1A42BFD-6535-4380-BD73-187D67E24F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5012BB99-A4AB-4C05-A3CE-45051BF1C0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A2F7BE89-63A7-4B3B-B78C-243DFF9EED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7A8CB07-316C-4A26-8A04-6AC39A9FC2AD}" type="slidenum">
              <a:rPr lang="en-US" altLang="en-US" sz="1200" b="0"/>
              <a:pPr/>
              <a:t>25</a:t>
            </a:fld>
            <a:endParaRPr lang="en-US" altLang="en-US" sz="1200" b="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C0971F0-775B-456D-88C1-0513333091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8AE53162-8DA6-464E-9F00-B99234F0F0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en-US">
                <a:latin typeface="Times" panose="02020603050405020304" pitchFamily="18" charset="0"/>
              </a:rPr>
              <a:t>In this case, filename is a qualifier attached to Directory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18D56338-5438-4EF4-B256-277F1657B2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A3B30CE-3663-4B46-A0FC-509527AA7892}" type="slidenum">
              <a:rPr lang="en-US" altLang="en-US" sz="1200" b="0"/>
              <a:pPr/>
              <a:t>26</a:t>
            </a:fld>
            <a:endParaRPr lang="en-US" altLang="en-US" sz="1200" b="0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31DBFD0E-ABB4-4979-8648-3CC10DE33B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3EBF1781-384E-4A91-93C3-52F3301F2E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AF11F778-E15C-4DA9-9258-96A1527130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815349-E7EB-4F49-B1CA-E375E8C92016}" type="slidenum">
              <a:rPr lang="en-US" altLang="en-US" sz="1200" b="0"/>
              <a:pPr/>
              <a:t>27</a:t>
            </a:fld>
            <a:endParaRPr lang="en-US" altLang="en-US" sz="1200" b="0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8F87B2E7-E079-4D8F-B60B-7672C55A4F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CE8221E9-5F7A-4E96-AAAE-322ABDAB59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en-US">
                <a:latin typeface="Times" panose="02020603050405020304" pitchFamily="18" charset="0"/>
              </a:rPr>
              <a:t>Example for composition: Bill of Material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C61D49E5-D2EB-46FB-B527-1176C09AB64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2D3611B-ECCF-4F85-92F5-02E1DE581982}" type="slidenum">
              <a:rPr lang="en-US" altLang="en-US" sz="1200" b="0"/>
              <a:pPr/>
              <a:t>28</a:t>
            </a:fld>
            <a:endParaRPr lang="en-US" altLang="en-US" sz="1200" b="0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43D50978-2360-4765-B953-DED8D8FDF5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A83F6F26-8A60-4156-8BCF-00EEBBC06F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en-US">
                <a:latin typeface="Times" panose="02020603050405020304" pitchFamily="18" charset="0"/>
              </a:rPr>
              <a:t>Later we will also see how inheritance allows the reuse of solutions (implementation and specification inheritance)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EE6D4DD9-3A1B-4AAB-8FAC-FD85646343D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E2E9DB4-6F6E-451D-80AF-9D57A86A831C}" type="slidenum">
              <a:rPr lang="en-US" altLang="en-US" sz="1200" b="0"/>
              <a:pPr/>
              <a:t>29</a:t>
            </a:fld>
            <a:endParaRPr lang="en-US" altLang="en-US" sz="1200" b="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960C01CA-263B-49E9-AB0C-5F96D6FFA3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AAB7CC54-986F-4CD6-A355-11B2F8E93A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en-US" dirty="0">
                <a:latin typeface="Times" panose="02020603050405020304" pitchFamily="18" charset="0"/>
              </a:rPr>
              <a:t>Packages are the grouping construct with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4EC30A4F-895B-484A-9A04-ACCBE490A8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089A4B7-BAAF-4FC9-9573-4071D8BB722B}" type="slidenum">
              <a:rPr lang="en-US" altLang="en-US" sz="1200" b="0"/>
              <a:pPr/>
              <a:t>30</a:t>
            </a:fld>
            <a:endParaRPr lang="en-US" altLang="en-US" sz="1200" b="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82F189E0-C58D-4359-B56E-48E2AC0BB3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6C393FB5-E8D3-4136-89E8-7F9B1D57EF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BB59B6A4-2D28-4EC8-8900-5E16C8D64B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8F8F61A-A9CA-4F76-BD74-1F726C54974B}" type="slidenum">
              <a:rPr lang="en-US" altLang="en-US" sz="1200" b="0"/>
              <a:pPr/>
              <a:t>31</a:t>
            </a:fld>
            <a:endParaRPr lang="en-US" altLang="en-US" sz="1200" b="0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EDAD0A89-EFA3-43B3-8D40-1430CF0584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ED505D9-35B6-46CD-ABFC-4155CF20B82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en-US" sz="1800" b="1">
                <a:latin typeface="Palatino" charset="0"/>
              </a:rPr>
              <a:t>Naming is important!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5986DC8E-97DC-4740-931E-11E19941B2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C73296C5-2EC1-4D0C-B903-060EACC8E987}" type="slidenum">
              <a:rPr lang="en-US" altLang="en-US" sz="1200" b="0"/>
              <a:pPr/>
              <a:t>32</a:t>
            </a:fld>
            <a:endParaRPr lang="en-US" altLang="en-US" sz="1200" b="0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2738ADC-0A39-433A-AA44-1CF720BFE3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C0AACD23-A5DC-4C44-AE0B-E9C5CD7B0B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750A75D0-477B-4EDF-8818-384E40165B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E700ECE-0599-4D5C-993F-4637B198C282}" type="slidenum">
              <a:rPr lang="en-US" altLang="en-US" sz="1200" b="0"/>
              <a:pPr/>
              <a:t>33</a:t>
            </a:fld>
            <a:endParaRPr lang="en-US" altLang="en-US" sz="1200" b="0"/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A98AF756-FBA4-482B-8FBB-07D7D0CEB1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68E92646-E2F5-4818-96A2-4C1C8A283A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7887B429-2941-404F-B62C-91F15F52B2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5F13A3D-0ECE-4BDA-9E19-79948F8A9BA8}" type="slidenum">
              <a:rPr lang="en-US" altLang="en-US" sz="1200" b="0"/>
              <a:pPr/>
              <a:t>34</a:t>
            </a:fld>
            <a:endParaRPr lang="en-US" altLang="en-US" sz="1200" b="0"/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2A4AF924-992B-4835-9FCF-7D308BE582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0FCB2416-E7AE-4E09-A5B3-5C0CD5B53B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54CDA263-C7F6-41B5-8219-68BC40E869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1C4C73D-42EB-4C04-B195-350A747668B1}" type="slidenum">
              <a:rPr lang="en-US" altLang="en-US" sz="1200" b="0"/>
              <a:pPr/>
              <a:t>35</a:t>
            </a:fld>
            <a:endParaRPr lang="en-US" altLang="en-US" sz="1200" b="0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350B1AC3-D9E5-4CCA-AC31-534A0A080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7728DDDA-3702-4CA4-A9E2-D4A9CC8BC2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277B106-FD9C-48DC-BEC9-DA2D5A46FB8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E2D89C78-8420-4244-B472-C6FD5ADE4ADA}" type="slidenum">
              <a:rPr lang="en-US" altLang="en-US" sz="1200" b="0"/>
              <a:pPr/>
              <a:t>36</a:t>
            </a:fld>
            <a:endParaRPr lang="en-US" altLang="en-US" sz="1200" b="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6A7EB61D-333C-4A52-92B1-06F09103B1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EF3F44D2-C4E3-4018-8E4A-787660CF1D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898ACBA6-1555-4A6A-9034-F13BA04F9D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58FB8C4A-2185-4DE6-A0DC-D0760B1156EF}" type="slidenum">
              <a:rPr lang="en-US" altLang="en-US" sz="1200" b="0"/>
              <a:pPr/>
              <a:t>37</a:t>
            </a:fld>
            <a:endParaRPr lang="en-US" altLang="en-US" sz="1200" b="0"/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D5B0D82A-37A9-44CE-9764-12A57F7A3C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9E903CD2-3272-477E-8A07-1060D5E1EE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FFEBBD9D-DC83-4F41-9C05-8DF1123C25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3B1A07BF-FA7F-44E4-9A7B-0AA7CA9E3ADB}" type="slidenum">
              <a:rPr lang="en-US" altLang="en-US" sz="1200" b="0"/>
              <a:pPr/>
              <a:t>38</a:t>
            </a:fld>
            <a:endParaRPr lang="en-US" altLang="en-US" sz="1200" b="0"/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B2005DA-FF0D-4240-B48C-462BA778C9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41A47501-ADA1-4267-9FF2-5B8208C208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6DE8996B-8A0A-4AD0-9363-057F490BC2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BFE271D-2E11-48D4-BAFA-10A8C2AB3FB5}" type="slidenum">
              <a:rPr lang="en-US" altLang="en-US" sz="1200" b="0"/>
              <a:pPr/>
              <a:t>39</a:t>
            </a:fld>
            <a:endParaRPr lang="en-US" altLang="en-US" sz="1200" b="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9DEA635D-1864-4564-A720-92D8C01AE6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90215588-06FE-4A0B-84C4-91AB41C769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8C7DEEB0-BA82-43F8-BAE1-D8311A7C04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6A67EAA4-36CA-4921-A6FD-C0ED47DD825A}" type="slidenum">
              <a:rPr lang="en-US" altLang="en-US" sz="1200" b="0"/>
              <a:pPr/>
              <a:t>40</a:t>
            </a:fld>
            <a:endParaRPr lang="en-US" altLang="en-US" sz="1200" b="0"/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2FBF35E1-802D-4040-B702-96078F9D7E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88AFC93B-9E6C-4863-A8A5-0F3BC70014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5B961A53-4D71-4B21-8E86-8DA3FA1D83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96CC1C01-F29C-4CEC-8811-80726FE14435}" type="slidenum">
              <a:rPr lang="en-US" altLang="en-US" sz="1200" b="0"/>
              <a:pPr/>
              <a:t>41</a:t>
            </a:fld>
            <a:endParaRPr lang="en-US" altLang="en-US" sz="1200" b="0"/>
          </a:p>
        </p:txBody>
      </p:sp>
      <p:sp>
        <p:nvSpPr>
          <p:cNvPr id="97283" name="Rectangle 6">
            <a:extLst>
              <a:ext uri="{FF2B5EF4-FFF2-40B4-BE49-F238E27FC236}">
                <a16:creationId xmlns:a16="http://schemas.microsoft.com/office/drawing/2014/main" id="{D39A91E8-3408-44DF-9408-B9E10F258C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de-DE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6BBA0C9F-C5EE-445D-8D87-83B4BBBD2E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D757DED-8260-4FE4-91B0-4555A3D50A1D}" type="slidenum">
              <a:rPr lang="en-US" altLang="en-US" sz="1200" b="0"/>
              <a:pPr/>
              <a:t>42</a:t>
            </a:fld>
            <a:endParaRPr lang="en-US" altLang="en-US" sz="1200" b="0"/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5F8FD21A-47A4-4D45-B50E-0F5893D2944D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2FB1D1B3-7A1F-4711-8236-B948A3096E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latin typeface="Times" panose="02020603050405020304" pitchFamily="18" charset="0"/>
              </a:rPr>
              <a:t>We provided already a basic overview of the notations: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latin typeface="Times" panose="02020603050405020304" pitchFamily="18" charset="0"/>
              </a:rPr>
              <a:t>Use case diagrams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latin typeface="Times" panose="02020603050405020304" pitchFamily="18" charset="0"/>
              </a:rPr>
              <a:t>Class diagrams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latin typeface="Times" panose="02020603050405020304" pitchFamily="18" charset="0"/>
              </a:rPr>
              <a:t>Sequence diagrams, statechart diagrams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>
              <a:latin typeface="Times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>
                <a:latin typeface="Times" panose="02020603050405020304" pitchFamily="18" charset="0"/>
              </a:rPr>
              <a:t>We will now go int more detail and cover two additional notations as well, sequence diagrams and activity diagrams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AA406167-E5CA-4F70-8BD5-878234842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FD95F29A-817B-4447-B70C-F3DECEB954C0}" type="slidenum">
              <a:rPr lang="en-US" altLang="en-US" sz="1200" b="0"/>
              <a:pPr/>
              <a:t>44</a:t>
            </a:fld>
            <a:endParaRPr lang="en-US" altLang="en-US" sz="1200" b="0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C41E75AB-1B4D-4888-AF23-0A94894E3E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087E1E9A-D4B3-433F-95B9-822B0D7F83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C3D50DBF-A208-40CB-8295-AD7D6FCE77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B5F74B16-5C63-4FFA-B3EA-0E0506F38E73}" type="slidenum">
              <a:rPr lang="en-US" altLang="en-US" sz="1200" b="0"/>
              <a:pPr/>
              <a:t>45</a:t>
            </a:fld>
            <a:endParaRPr lang="en-US" altLang="en-US" sz="1200" b="0"/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BA0DF2E0-36E3-403B-AE0D-B4A67C0DE1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01FB2324-4DD7-4D66-842B-727F3E03EB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r>
              <a:rPr lang="en-US" altLang="en-US">
                <a:latin typeface="Times" panose="02020603050405020304" pitchFamily="18" charset="0"/>
              </a:rPr>
              <a:t>There are two types of states: </a:t>
            </a:r>
          </a:p>
          <a:p>
            <a:pPr lvl="1"/>
            <a:r>
              <a:rPr lang="en-US" altLang="en-US" i="1">
                <a:latin typeface="Times" panose="02020603050405020304" pitchFamily="18" charset="0"/>
              </a:rPr>
              <a:t>Action state:</a:t>
            </a:r>
            <a:r>
              <a:rPr lang="en-US" altLang="en-US">
                <a:latin typeface="Times" panose="02020603050405020304" pitchFamily="18" charset="0"/>
              </a:rPr>
              <a:t> </a:t>
            </a:r>
          </a:p>
          <a:p>
            <a:pPr lvl="2"/>
            <a:r>
              <a:rPr lang="en-US" altLang="en-US">
                <a:latin typeface="Times" panose="02020603050405020304" pitchFamily="18" charset="0"/>
              </a:rPr>
              <a:t>Cannot be decomposed any further</a:t>
            </a:r>
          </a:p>
          <a:p>
            <a:pPr lvl="2"/>
            <a:r>
              <a:rPr lang="en-US" altLang="en-US">
                <a:latin typeface="Times" panose="02020603050405020304" pitchFamily="18" charset="0"/>
              </a:rPr>
              <a:t>Happens “instantaneously” with respect to the level of abstraction used in the model</a:t>
            </a:r>
          </a:p>
          <a:p>
            <a:pPr lvl="1"/>
            <a:r>
              <a:rPr lang="en-US" altLang="en-US" i="1">
                <a:latin typeface="Times" panose="02020603050405020304" pitchFamily="18" charset="0"/>
              </a:rPr>
              <a:t>Activity state:</a:t>
            </a:r>
            <a:r>
              <a:rPr lang="en-US" altLang="en-US">
                <a:latin typeface="Times" panose="02020603050405020304" pitchFamily="18" charset="0"/>
              </a:rPr>
              <a:t> </a:t>
            </a:r>
          </a:p>
          <a:p>
            <a:pPr lvl="2"/>
            <a:r>
              <a:rPr lang="en-US" altLang="en-US">
                <a:latin typeface="Times" panose="02020603050405020304" pitchFamily="18" charset="0"/>
              </a:rPr>
              <a:t>Can be decomposed further</a:t>
            </a:r>
          </a:p>
          <a:p>
            <a:pPr lvl="2"/>
            <a:r>
              <a:rPr lang="en-US" altLang="en-US">
                <a:latin typeface="Times" panose="02020603050405020304" pitchFamily="18" charset="0"/>
              </a:rPr>
              <a:t>The activity is modeled by another activity diagram</a:t>
            </a:r>
          </a:p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2879EDC3-C66D-40AB-A6AA-9EFD1FE774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0FAAE40C-FC88-4873-9778-80058846FABC}" type="slidenum">
              <a:rPr lang="en-US" altLang="en-US" sz="1200" b="0"/>
              <a:pPr/>
              <a:t>46</a:t>
            </a:fld>
            <a:endParaRPr lang="en-US" altLang="en-US" sz="1200" b="0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FC3B6EFC-C7C5-4180-AC21-31976C7144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09F3AB8-1DBE-4FD2-8830-C751BF841A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spcBef>
                <a:spcPct val="0"/>
              </a:spcBef>
            </a:pPr>
            <a:r>
              <a:rPr lang="en-US" altLang="en-US" sz="2000" b="1">
                <a:latin typeface="Helvetica" panose="020B0604020202020204" pitchFamily="34" charset="0"/>
              </a:rPr>
              <a:t>Statechart Diagram for Incident (similar to Mealy Automaton)</a:t>
            </a:r>
          </a:p>
          <a:p>
            <a:r>
              <a:rPr lang="en-US" altLang="en-US" sz="2000" b="1">
                <a:latin typeface="Helvetica" panose="020B0604020202020204" pitchFamily="34" charset="0"/>
              </a:rPr>
              <a:t>Activity Diagram for Incident (similar to Moore Automaton)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B8ACDF4-1CA0-4561-8DE7-5B81403C02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fld id="{1DB69CB7-2765-46A8-8F26-F9C45847458B}" type="slidenum">
              <a:rPr lang="en-US" altLang="en-US" sz="1200" b="0"/>
              <a:pPr/>
              <a:t>47</a:t>
            </a:fld>
            <a:endParaRPr lang="en-US" altLang="en-US" sz="1200" b="0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BC01507-3EE8-408A-ADEE-BF02C7B0D1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8C8AE32D-E708-4C16-A273-1E9AFB765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altLang="en-US">
              <a:latin typeface="Times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48FADD-58EE-4A97-966B-49CFF6259CD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 useBgFill="1">
        <p:nvSpPr>
          <p:cNvPr id="5" name="Rectangle à coins arrondis 10">
            <a:extLst>
              <a:ext uri="{FF2B5EF4-FFF2-40B4-BE49-F238E27FC236}">
                <a16:creationId xmlns:a16="http://schemas.microsoft.com/office/drawing/2014/main" id="{E616BA22-5BAD-4324-A752-EE260F71ACA4}"/>
              </a:ext>
            </a:extLst>
          </p:cNvPr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447D10-CEB3-4EB0-AF34-359413D06D54}"/>
              </a:ext>
            </a:extLst>
          </p:cNvPr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3734F7-97CC-4315-A7E8-A44DEF7D8147}"/>
              </a:ext>
            </a:extLst>
          </p:cNvPr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012A0C-3376-4F2C-9A98-41FCF88A0C4B}"/>
              </a:ext>
            </a:extLst>
          </p:cNvPr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11" name="Espace réservé de la date 27">
            <a:extLst>
              <a:ext uri="{FF2B5EF4-FFF2-40B4-BE49-F238E27FC236}">
                <a16:creationId xmlns:a16="http://schemas.microsoft.com/office/drawing/2014/main" id="{1DAE4FDF-8B39-4756-B0DB-42BF72902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F2F5E-3C75-4D20-9D07-B26CE92CBF1F}" type="datetime1">
              <a:rPr lang="en-US" smtClean="0"/>
              <a:t>1/31/2020</a:t>
            </a:fld>
            <a:endParaRPr lang="en-US"/>
          </a:p>
        </p:txBody>
      </p:sp>
      <p:sp>
        <p:nvSpPr>
          <p:cNvPr id="12" name="Espace réservé du pied de page 16">
            <a:extLst>
              <a:ext uri="{FF2B5EF4-FFF2-40B4-BE49-F238E27FC236}">
                <a16:creationId xmlns:a16="http://schemas.microsoft.com/office/drawing/2014/main" id="{2149CC3E-C6B5-4E0E-8CC3-A3DE5F8A9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Espace réservé du numéro de diapositive 28">
            <a:extLst>
              <a:ext uri="{FF2B5EF4-FFF2-40B4-BE49-F238E27FC236}">
                <a16:creationId xmlns:a16="http://schemas.microsoft.com/office/drawing/2014/main" id="{F4D0DB4E-EA09-4DAE-BDD3-73B3087AB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7B38E-EB55-46DE-964D-1F5864319CF4}" type="slidenum">
              <a:rPr lang="en-US" altLang="fr-FR"/>
              <a:pPr>
                <a:defRPr/>
              </a:pPr>
              <a:t>‹N°›</a:t>
            </a:fld>
            <a:endParaRPr lang="en-US" altLang="fr-FR"/>
          </a:p>
        </p:txBody>
      </p:sp>
    </p:spTree>
    <p:extLst>
      <p:ext uri="{BB962C8B-B14F-4D97-AF65-F5344CB8AC3E}">
        <p14:creationId xmlns:p14="http://schemas.microsoft.com/office/powerpoint/2010/main" val="420985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13">
            <a:extLst>
              <a:ext uri="{FF2B5EF4-FFF2-40B4-BE49-F238E27FC236}">
                <a16:creationId xmlns:a16="http://schemas.microsoft.com/office/drawing/2014/main" id="{171C0470-D0D8-4F89-9B05-6D3F11EA2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ED5E3-4755-4B42-8D83-300187FF7DCC}" type="datetime1">
              <a:rPr lang="en-US" smtClean="0"/>
              <a:t>1/31/2020</a:t>
            </a:fld>
            <a:endParaRPr lang="en-US" dirty="0"/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E4D2AC33-AF77-437C-A25A-4C2A6A06C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6" name="Espace réservé du numéro de diapositive 22">
            <a:extLst>
              <a:ext uri="{FF2B5EF4-FFF2-40B4-BE49-F238E27FC236}">
                <a16:creationId xmlns:a16="http://schemas.microsoft.com/office/drawing/2014/main" id="{A4E68F8A-816B-418D-A41E-2BFF70C7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A1D75A-2523-4333-9A14-C9FAEF3536EB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4127804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04F9C1-B82A-4872-9EFC-74DB56557BF4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 useBgFill="1">
        <p:nvSpPr>
          <p:cNvPr id="5" name="Rectangle à coins arrondis 10">
            <a:extLst>
              <a:ext uri="{FF2B5EF4-FFF2-40B4-BE49-F238E27FC236}">
                <a16:creationId xmlns:a16="http://schemas.microsoft.com/office/drawing/2014/main" id="{0DAF4C61-F354-4053-B920-4B7BB217827F}"/>
              </a:ext>
            </a:extLst>
          </p:cNvPr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0E5709-C35C-403B-B90A-1387A34C0D11}"/>
              </a:ext>
            </a:extLst>
          </p:cNvPr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AF0AE-2100-4B15-B87A-D339EC045117}"/>
              </a:ext>
            </a:extLst>
          </p:cNvPr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A857A9-60E4-4E3B-959B-C820038ECEC7}"/>
              </a:ext>
            </a:extLst>
          </p:cNvPr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A3DC512F-713E-4E4C-9D29-7AE54C330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B2C0F-05A4-4407-B96B-4CF103CF3C9C}" type="datetime1">
              <a:rPr lang="en-US" smtClean="0"/>
              <a:t>1/31/2020</a:t>
            </a:fld>
            <a:endParaRPr lang="en-US"/>
          </a:p>
        </p:txBody>
      </p:sp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4A8F8B98-3CB4-4F24-ABBE-8C84EC783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11" name="Espace réservé du numéro de diapositive 5">
            <a:extLst>
              <a:ext uri="{FF2B5EF4-FFF2-40B4-BE49-F238E27FC236}">
                <a16:creationId xmlns:a16="http://schemas.microsoft.com/office/drawing/2014/main" id="{0F15D059-6111-4B3E-92A6-51C3C20FA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06577-E39F-4689-9161-21AF86FAE11F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267288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13">
            <a:extLst>
              <a:ext uri="{FF2B5EF4-FFF2-40B4-BE49-F238E27FC236}">
                <a16:creationId xmlns:a16="http://schemas.microsoft.com/office/drawing/2014/main" id="{752CB4A2-9B0E-4A71-BEEA-2B1A1BC5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56B946-B094-47A4-A204-726617C55E72}" type="datetime1">
              <a:rPr lang="en-US" smtClean="0"/>
              <a:t>1/31/2020</a:t>
            </a:fld>
            <a:endParaRPr lang="en-US" dirty="0"/>
          </a:p>
        </p:txBody>
      </p:sp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6D4EB470-88BF-493D-B935-19033A67A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7" name="Espace réservé du numéro de diapositive 22">
            <a:extLst>
              <a:ext uri="{FF2B5EF4-FFF2-40B4-BE49-F238E27FC236}">
                <a16:creationId xmlns:a16="http://schemas.microsoft.com/office/drawing/2014/main" id="{F8E4133C-94E3-4B6E-A6FD-95E4975B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2133E4-5B4C-4694-95A3-A662C059EDE7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479740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13">
            <a:extLst>
              <a:ext uri="{FF2B5EF4-FFF2-40B4-BE49-F238E27FC236}">
                <a16:creationId xmlns:a16="http://schemas.microsoft.com/office/drawing/2014/main" id="{CB581337-402E-4CD3-BFEE-382FB2C90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21D41-D80B-47E8-8BF1-EEE0CD7125E4}" type="datetime1">
              <a:rPr lang="en-US" smtClean="0"/>
              <a:t>1/31/2020</a:t>
            </a:fld>
            <a:endParaRPr lang="en-US" dirty="0"/>
          </a:p>
        </p:txBody>
      </p:sp>
      <p:sp>
        <p:nvSpPr>
          <p:cNvPr id="8" name="Espace réservé du pied de page 2">
            <a:extLst>
              <a:ext uri="{FF2B5EF4-FFF2-40B4-BE49-F238E27FC236}">
                <a16:creationId xmlns:a16="http://schemas.microsoft.com/office/drawing/2014/main" id="{FD510790-1BF5-449D-BB1B-9F070E6AC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9" name="Espace réservé du numéro de diapositive 22">
            <a:extLst>
              <a:ext uri="{FF2B5EF4-FFF2-40B4-BE49-F238E27FC236}">
                <a16:creationId xmlns:a16="http://schemas.microsoft.com/office/drawing/2014/main" id="{5ACAD02C-27B3-4D8F-BB45-C9A702FEF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184476-BBD6-4DB9-9365-5595DB49EA28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91839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13">
            <a:extLst>
              <a:ext uri="{FF2B5EF4-FFF2-40B4-BE49-F238E27FC236}">
                <a16:creationId xmlns:a16="http://schemas.microsoft.com/office/drawing/2014/main" id="{048F1D82-47C5-49F9-B9CF-C851618AA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01950-E435-4A18-A959-73C4EFD8D496}" type="datetime1">
              <a:rPr lang="en-US" smtClean="0"/>
              <a:t>1/31/2020</a:t>
            </a:fld>
            <a:endParaRPr lang="en-US" dirty="0"/>
          </a:p>
        </p:txBody>
      </p:sp>
      <p:sp>
        <p:nvSpPr>
          <p:cNvPr id="4" name="Espace réservé du pied de page 2">
            <a:extLst>
              <a:ext uri="{FF2B5EF4-FFF2-40B4-BE49-F238E27FC236}">
                <a16:creationId xmlns:a16="http://schemas.microsoft.com/office/drawing/2014/main" id="{6114D937-4366-4080-8E4E-9269B80F2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5" name="Espace réservé du numéro de diapositive 22">
            <a:extLst>
              <a:ext uri="{FF2B5EF4-FFF2-40B4-BE49-F238E27FC236}">
                <a16:creationId xmlns:a16="http://schemas.microsoft.com/office/drawing/2014/main" id="{B72DA899-7F06-47A6-A163-88ABE327B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B8F8F0-60BB-4CCE-B36C-02F619DC1251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673345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3">
            <a:extLst>
              <a:ext uri="{FF2B5EF4-FFF2-40B4-BE49-F238E27FC236}">
                <a16:creationId xmlns:a16="http://schemas.microsoft.com/office/drawing/2014/main" id="{39EE93C0-5DCF-4256-929F-EE8A9A34B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FE0F17-B37B-4232-BEE1-97C382A9F823}" type="datetime1">
              <a:rPr lang="en-US" smtClean="0"/>
              <a:t>1/31/2020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1285642-F8E8-4049-9A76-5F77DFC93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4" name="Espace réservé du numéro de diapositive 22">
            <a:extLst>
              <a:ext uri="{FF2B5EF4-FFF2-40B4-BE49-F238E27FC236}">
                <a16:creationId xmlns:a16="http://schemas.microsoft.com/office/drawing/2014/main" id="{554401FA-2282-4B96-8C6E-2309D96A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B74DAC-13EB-464A-8E43-97F7CF7CC79C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4147703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15C22C2-41EB-4F30-BB35-264865EFFEC0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 useBgFill="1">
        <p:nvSpPr>
          <p:cNvPr id="6" name="Rectangle à coins arrondis 10">
            <a:extLst>
              <a:ext uri="{FF2B5EF4-FFF2-40B4-BE49-F238E27FC236}">
                <a16:creationId xmlns:a16="http://schemas.microsoft.com/office/drawing/2014/main" id="{EB3B62AD-9734-47D4-AF7F-4E20F147999B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4">
            <a:extLst>
              <a:ext uri="{FF2B5EF4-FFF2-40B4-BE49-F238E27FC236}">
                <a16:creationId xmlns:a16="http://schemas.microsoft.com/office/drawing/2014/main" id="{A61E5C6C-2D38-4D3B-8603-41F91D587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3ADC46-E559-4A46-A656-36C4C8028F76}" type="datetime1">
              <a:rPr lang="en-US" smtClean="0"/>
              <a:t>1/31/2020</a:t>
            </a:fld>
            <a:endParaRPr lang="en-US"/>
          </a:p>
        </p:txBody>
      </p:sp>
      <p:sp>
        <p:nvSpPr>
          <p:cNvPr id="8" name="Espace réservé du pied de page 5">
            <a:extLst>
              <a:ext uri="{FF2B5EF4-FFF2-40B4-BE49-F238E27FC236}">
                <a16:creationId xmlns:a16="http://schemas.microsoft.com/office/drawing/2014/main" id="{FEFEBB3B-179D-4F35-B64C-601A9D41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9" name="Espace réservé du numéro de diapositive 6">
            <a:extLst>
              <a:ext uri="{FF2B5EF4-FFF2-40B4-BE49-F238E27FC236}">
                <a16:creationId xmlns:a16="http://schemas.microsoft.com/office/drawing/2014/main" id="{29FEBEB3-28A7-4FC5-A39F-CC2936E1A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0B65B-5371-4804-A6AC-AF24F9486B51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410022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5B7791-B0FE-46D1-A954-12569D5A1D2D}"/>
              </a:ext>
            </a:extLst>
          </p:cNvPr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C90DC2-A0E6-4C54-BDC6-0856152986DF}"/>
              </a:ext>
            </a:extLst>
          </p:cNvPr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A6E4DE-3143-46F7-ABE1-B00E10FDDE95}"/>
              </a:ext>
            </a:extLst>
          </p:cNvPr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fr-FR" noProof="0"/>
              <a:t>Cliquez sur l'icône pour ajouter une image</a:t>
            </a:r>
            <a:endParaRPr lang="en-US" noProof="0" dirty="0"/>
          </a:p>
        </p:txBody>
      </p:sp>
      <p:sp>
        <p:nvSpPr>
          <p:cNvPr id="8" name="Espace réservé de la date 4">
            <a:extLst>
              <a:ext uri="{FF2B5EF4-FFF2-40B4-BE49-F238E27FC236}">
                <a16:creationId xmlns:a16="http://schemas.microsoft.com/office/drawing/2014/main" id="{5FF17D7C-6742-4252-9735-29B44171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42B6F-11B3-4415-B5BF-4330782A8784}" type="datetime1">
              <a:rPr lang="en-US" smtClean="0"/>
              <a:t>1/31/2020</a:t>
            </a:fld>
            <a:endParaRPr lang="en-US"/>
          </a:p>
        </p:txBody>
      </p:sp>
      <p:sp>
        <p:nvSpPr>
          <p:cNvPr id="9" name="Espace réservé du pied de page 5">
            <a:extLst>
              <a:ext uri="{FF2B5EF4-FFF2-40B4-BE49-F238E27FC236}">
                <a16:creationId xmlns:a16="http://schemas.microsoft.com/office/drawing/2014/main" id="{5224D0A2-96E6-4602-9F67-171721F20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10" name="Espace réservé du numéro de diapositive 6">
            <a:extLst>
              <a:ext uri="{FF2B5EF4-FFF2-40B4-BE49-F238E27FC236}">
                <a16:creationId xmlns:a16="http://schemas.microsoft.com/office/drawing/2014/main" id="{7AEF7703-5FB4-48F3-A0E3-D01EC5A62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455E39-4A15-48AD-9C6C-B737AC182347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962484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13">
            <a:extLst>
              <a:ext uri="{FF2B5EF4-FFF2-40B4-BE49-F238E27FC236}">
                <a16:creationId xmlns:a16="http://schemas.microsoft.com/office/drawing/2014/main" id="{E67C73FF-28D0-4A98-9231-56C201552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F0E0F-EC9E-4B8A-A28E-68B166207B7F}" type="datetime1">
              <a:rPr lang="en-US" smtClean="0"/>
              <a:t>1/31/2020</a:t>
            </a:fld>
            <a:endParaRPr lang="en-US" dirty="0"/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27F153D9-183D-4298-AD81-E5349B85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6" name="Espace réservé du numéro de diapositive 22">
            <a:extLst>
              <a:ext uri="{FF2B5EF4-FFF2-40B4-BE49-F238E27FC236}">
                <a16:creationId xmlns:a16="http://schemas.microsoft.com/office/drawing/2014/main" id="{F2009E50-DAB7-43E2-8C89-A5E81AF37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40C5DE-71E9-4116-BE9C-2C42BB202C41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3577189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13">
            <a:extLst>
              <a:ext uri="{FF2B5EF4-FFF2-40B4-BE49-F238E27FC236}">
                <a16:creationId xmlns:a16="http://schemas.microsoft.com/office/drawing/2014/main" id="{2DE84FA6-9F1F-4852-8838-0B96802C5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906FBF-CFDC-4D8D-8353-2E34C2C7FB30}" type="datetime1">
              <a:rPr lang="en-US" smtClean="0"/>
              <a:t>1/31/2020</a:t>
            </a:fld>
            <a:endParaRPr lang="en-US" dirty="0"/>
          </a:p>
        </p:txBody>
      </p:sp>
      <p:sp>
        <p:nvSpPr>
          <p:cNvPr id="5" name="Espace réservé du pied de page 2">
            <a:extLst>
              <a:ext uri="{FF2B5EF4-FFF2-40B4-BE49-F238E27FC236}">
                <a16:creationId xmlns:a16="http://schemas.microsoft.com/office/drawing/2014/main" id="{DBFEA4B5-CF90-42DF-98D7-1E1AF23B2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6" name="Espace réservé du numéro de diapositive 22">
            <a:extLst>
              <a:ext uri="{FF2B5EF4-FFF2-40B4-BE49-F238E27FC236}">
                <a16:creationId xmlns:a16="http://schemas.microsoft.com/office/drawing/2014/main" id="{6BC0FB97-0748-47C2-AAF8-9BA31A014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36E003-555D-4376-997A-93C974BD17DD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  <p:extLst>
      <p:ext uri="{BB962C8B-B14F-4D97-AF65-F5344CB8AC3E}">
        <p14:creationId xmlns:p14="http://schemas.microsoft.com/office/powerpoint/2010/main" val="11954183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19100" y="222250"/>
            <a:ext cx="8153400" cy="863600"/>
          </a:xfrm>
        </p:spPr>
        <p:txBody>
          <a:bodyPr/>
          <a:lstStyle/>
          <a:p>
            <a:r>
              <a:rPr lang="en-US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33400" y="1295400"/>
            <a:ext cx="8001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33400" y="3771900"/>
            <a:ext cx="8001000" cy="2324100"/>
          </a:xfrm>
        </p:spPr>
        <p:txBody>
          <a:bodyPr/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1388432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728A33F-3999-46EF-A52D-C8661959A29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 useBgFill="1">
        <p:nvSpPr>
          <p:cNvPr id="8" name="Rectangle à coins arrondis 7">
            <a:extLst>
              <a:ext uri="{FF2B5EF4-FFF2-40B4-BE49-F238E27FC236}">
                <a16:creationId xmlns:a16="http://schemas.microsoft.com/office/drawing/2014/main" id="{05F2316B-9B90-418E-89EE-7CB2A6797C3F}"/>
              </a:ext>
            </a:extLst>
          </p:cNvPr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/>
            </a:pPr>
            <a:endParaRPr lang="en-US"/>
          </a:p>
        </p:txBody>
      </p:sp>
      <p:sp>
        <p:nvSpPr>
          <p:cNvPr id="1028" name="Espace réservé du titre 21">
            <a:extLst>
              <a:ext uri="{FF2B5EF4-FFF2-40B4-BE49-F238E27FC236}">
                <a16:creationId xmlns:a16="http://schemas.microsoft.com/office/drawing/2014/main" id="{3B2AE206-0C32-4AE4-A039-CDEC2057187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 style du titre</a:t>
            </a:r>
            <a:endParaRPr lang="en-US" altLang="fr-FR"/>
          </a:p>
        </p:txBody>
      </p:sp>
      <p:sp>
        <p:nvSpPr>
          <p:cNvPr id="1029" name="Espace réservé du texte 12">
            <a:extLst>
              <a:ext uri="{FF2B5EF4-FFF2-40B4-BE49-F238E27FC236}">
                <a16:creationId xmlns:a16="http://schemas.microsoft.com/office/drawing/2014/main" id="{5B1CEC41-031D-40EB-97FB-4C5616F9C36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/>
              <a:t>Modifiez les styles du texte du masque</a:t>
            </a:r>
          </a:p>
          <a:p>
            <a:pPr lvl="1"/>
            <a:r>
              <a:rPr lang="fr-FR" altLang="fr-FR"/>
              <a:t>Deuxième niveau</a:t>
            </a:r>
          </a:p>
          <a:p>
            <a:pPr lvl="2"/>
            <a:r>
              <a:rPr lang="fr-FR" altLang="fr-FR"/>
              <a:t>Troisième niveau</a:t>
            </a:r>
          </a:p>
          <a:p>
            <a:pPr lvl="3"/>
            <a:r>
              <a:rPr lang="fr-FR" altLang="fr-FR"/>
              <a:t>Quatrième niveau</a:t>
            </a:r>
          </a:p>
          <a:p>
            <a:pPr lvl="4"/>
            <a:r>
              <a:rPr lang="fr-FR" altLang="fr-FR"/>
              <a:t>Cinquième niveau</a:t>
            </a:r>
            <a:endParaRPr lang="en-US" altLang="fr-FR"/>
          </a:p>
        </p:txBody>
      </p:sp>
      <p:sp>
        <p:nvSpPr>
          <p:cNvPr id="14" name="Espace réservé de la date 13">
            <a:extLst>
              <a:ext uri="{FF2B5EF4-FFF2-40B4-BE49-F238E27FC236}">
                <a16:creationId xmlns:a16="http://schemas.microsoft.com/office/drawing/2014/main" id="{1319F110-2859-41C0-B670-FE75B1682A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fld id="{F980E91C-0072-44CF-BC72-C594C6C8D5E6}" type="datetime1">
              <a:rPr lang="en-US" smtClean="0"/>
              <a:t>1/31/2020</a:t>
            </a:fld>
            <a:endParaRPr lang="en-US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57B3C67-C789-458C-B4C5-A8D63E5054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 kumimoji="0" sz="14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nl-NL" altLang="fr-FR"/>
          </a:p>
        </p:txBody>
      </p:sp>
      <p:sp>
        <p:nvSpPr>
          <p:cNvPr id="23" name="Espace réservé du numéro de diapositive 22">
            <a:extLst>
              <a:ext uri="{FF2B5EF4-FFF2-40B4-BE49-F238E27FC236}">
                <a16:creationId xmlns:a16="http://schemas.microsoft.com/office/drawing/2014/main" id="{81F0FFFE-CE48-4B6F-A723-7906FE5D68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None/>
              <a:defRPr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pPr>
              <a:defRPr/>
            </a:pPr>
            <a:fld id="{CDAF489B-116D-4C5A-904A-147128B466F4}" type="slidenum">
              <a:rPr lang="nl-NL" altLang="fr-FR"/>
              <a:pPr>
                <a:defRPr/>
              </a:pPr>
              <a:t>‹N°›</a:t>
            </a:fld>
            <a:endParaRPr lang="nl-NL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18" r:id="rId2"/>
    <p:sldLayoutId id="2147483926" r:id="rId3"/>
    <p:sldLayoutId id="2147483919" r:id="rId4"/>
    <p:sldLayoutId id="2147483920" r:id="rId5"/>
    <p:sldLayoutId id="2147483921" r:id="rId6"/>
    <p:sldLayoutId id="2147483922" r:id="rId7"/>
    <p:sldLayoutId id="2147483927" r:id="rId8"/>
    <p:sldLayoutId id="2147483928" r:id="rId9"/>
    <p:sldLayoutId id="2147483923" r:id="rId10"/>
    <p:sldLayoutId id="2147483924" r:id="rId11"/>
    <p:sldLayoutId id="214748392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anose="020B0503020102020204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unicase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sysiphus.in.tum.de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595" name="Rectangle 3">
            <a:extLst>
              <a:ext uri="{FF2B5EF4-FFF2-40B4-BE49-F238E27FC236}">
                <a16:creationId xmlns:a16="http://schemas.microsoft.com/office/drawing/2014/main" id="{41B58921-8A87-4D27-9226-18D7EAC1042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406525" y="3886200"/>
            <a:ext cx="6400800" cy="1752600"/>
          </a:xfrm>
        </p:spPr>
        <p:txBody>
          <a:bodyPr>
            <a:normAutofit fontScale="92500" lnSpcReduction="10000"/>
          </a:bodyPr>
          <a:lstStyle/>
          <a:p>
            <a:pPr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>
                <a:solidFill>
                  <a:schemeClr val="tx1"/>
                </a:solidFill>
              </a:rPr>
              <a:t>Dr. Mohammed Ayoub Alaoui Mhamdi</a:t>
            </a:r>
          </a:p>
          <a:p>
            <a:pPr eaLnBrk="1" fontAlgn="auto" hangingPunct="1">
              <a:spcBef>
                <a:spcPts val="580"/>
              </a:spcBef>
              <a:spcAft>
                <a:spcPts val="0"/>
              </a:spcAft>
              <a:defRPr/>
            </a:pPr>
            <a:r>
              <a:rPr lang="en-US" altLang="fr-FR" dirty="0">
                <a:solidFill>
                  <a:schemeClr val="tx1"/>
                </a:solidFill>
              </a:rPr>
              <a:t>Bishop's University</a:t>
            </a:r>
          </a:p>
          <a:p>
            <a:pPr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 err="1">
                <a:solidFill>
                  <a:schemeClr val="tx1"/>
                </a:solidFill>
              </a:rPr>
              <a:t>Sherbrooke</a:t>
            </a:r>
            <a:r>
              <a:rPr lang="en-US" altLang="fr-FR" dirty="0">
                <a:solidFill>
                  <a:schemeClr val="tx1"/>
                </a:solidFill>
              </a:rPr>
              <a:t>, Qc, Canada</a:t>
            </a:r>
          </a:p>
          <a:p>
            <a:pPr eaLnBrk="1" fontAlgn="auto" hangingPunct="1">
              <a:spcBef>
                <a:spcPts val="580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altLang="fr-FR" dirty="0">
                <a:solidFill>
                  <a:schemeClr val="tx1"/>
                </a:solidFill>
              </a:rPr>
              <a:t>malaoui@ubishops.ca</a:t>
            </a:r>
          </a:p>
        </p:txBody>
      </p:sp>
      <p:sp>
        <p:nvSpPr>
          <p:cNvPr id="8195" name="ZoneTexte 1">
            <a:extLst>
              <a:ext uri="{FF2B5EF4-FFF2-40B4-BE49-F238E27FC236}">
                <a16:creationId xmlns:a16="http://schemas.microsoft.com/office/drawing/2014/main" id="{10CC9A77-16BB-4945-BA29-50F362EC17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911966" y="1168278"/>
            <a:ext cx="82454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SzTx/>
              <a:buFont typeface="Wingdings" panose="05000000000000000000" pitchFamily="2" charset="2"/>
              <a:buNone/>
            </a:pPr>
            <a:r>
              <a:rPr lang="en-US" altLang="fr-FR" sz="4000" dirty="0">
                <a:solidFill>
                  <a:schemeClr val="bg1"/>
                </a:solidFill>
                <a:latin typeface="Arial" panose="020B0604020202020204" pitchFamily="34" charset="0"/>
              </a:rPr>
              <a:t>Modeling with UML, Part 2</a:t>
            </a:r>
            <a:endParaRPr lang="fr-CA" altLang="fr-FR" sz="4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pic>
        <p:nvPicPr>
          <p:cNvPr id="8196" name="Picture 2">
            <a:extLst>
              <a:ext uri="{FF2B5EF4-FFF2-40B4-BE49-F238E27FC236}">
                <a16:creationId xmlns:a16="http://schemas.microsoft.com/office/drawing/2014/main" id="{9EDB8C03-CF59-4EC2-A273-B937B9B2E0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333375"/>
            <a:ext cx="2160588" cy="903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ZoneTexte 1">
            <a:extLst>
              <a:ext uri="{FF2B5EF4-FFF2-40B4-BE49-F238E27FC236}">
                <a16:creationId xmlns:a16="http://schemas.microsoft.com/office/drawing/2014/main" id="{A040187A-CA35-410F-8BBD-BE42A553A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0813" y="444500"/>
            <a:ext cx="82454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575"/>
              </a:spcBef>
              <a:buClr>
                <a:schemeClr val="accent1"/>
              </a:buClr>
              <a:buSzPct val="85000"/>
              <a:buFont typeface="Wingdings 2" panose="05020102010507070707" pitchFamily="18" charset="2"/>
              <a:buChar char=""/>
              <a:defRPr sz="2600">
                <a:solidFill>
                  <a:schemeClr val="tx1"/>
                </a:solidFill>
                <a:latin typeface="Perpetua" panose="02020502060401020303" pitchFamily="18" charset="0"/>
              </a:defRPr>
            </a:lvl1pPr>
            <a:lvl2pPr marL="742950" indent="-285750">
              <a:spcBef>
                <a:spcPts val="375"/>
              </a:spcBef>
              <a:buClr>
                <a:schemeClr val="accent2"/>
              </a:buClr>
              <a:buSzPct val="85000"/>
              <a:buFont typeface="Wingdings 2" panose="05020102010507070707" pitchFamily="18" charset="2"/>
              <a:buChar char=""/>
              <a:defRPr sz="2400">
                <a:solidFill>
                  <a:schemeClr val="tx1"/>
                </a:solidFill>
                <a:latin typeface="Perpetua" panose="02020502060401020303" pitchFamily="18" charset="0"/>
              </a:defRPr>
            </a:lvl2pPr>
            <a:lvl3pPr marL="1143000" indent="-228600">
              <a:spcBef>
                <a:spcPts val="375"/>
              </a:spcBef>
              <a:buClr>
                <a:srgbClr val="E6B1AB"/>
              </a:buClr>
              <a:buSzPct val="85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3pPr>
            <a:lvl4pPr marL="1600200" indent="-228600">
              <a:spcBef>
                <a:spcPts val="375"/>
              </a:spcBef>
              <a:buClr>
                <a:srgbClr val="A28E6A"/>
              </a:buClr>
              <a:buSzPct val="80000"/>
              <a:buFont typeface="Wingdings 2" panose="05020102010507070707" pitchFamily="18" charset="2"/>
              <a:buChar char="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4pPr>
            <a:lvl5pPr marL="2057400" indent="-228600">
              <a:spcBef>
                <a:spcPts val="375"/>
              </a:spcBef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5pPr>
            <a:lvl6pPr marL="25146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6pPr>
            <a:lvl7pPr marL="29718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7pPr>
            <a:lvl8pPr marL="34290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8pPr>
            <a:lvl9pPr marL="3886200" indent="-228600" eaLnBrk="0" fontAlgn="base" hangingPunct="0">
              <a:spcBef>
                <a:spcPts val="375"/>
              </a:spcBef>
              <a:spcAft>
                <a:spcPct val="0"/>
              </a:spcAft>
              <a:buClr>
                <a:srgbClr val="A28E6A"/>
              </a:buClr>
              <a:buChar char="o"/>
              <a:defRPr sz="2000">
                <a:solidFill>
                  <a:schemeClr val="tx1"/>
                </a:solidFill>
                <a:latin typeface="Perpetua" panose="02020502060401020303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SzTx/>
              <a:buFont typeface="Wingdings" panose="05000000000000000000" pitchFamily="2" charset="2"/>
              <a:buNone/>
            </a:pPr>
            <a:r>
              <a:rPr lang="fr-CA" altLang="fr-FR" sz="2800">
                <a:latin typeface="Arial" panose="020B0604020202020204" pitchFamily="34" charset="0"/>
              </a:rPr>
              <a:t>CS 560: Software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CB6E1F8E-3E50-4C46-A9B5-35B7D0849B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 of this Class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89BF42B7-7B3B-4056-AD01-DFE299CE21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What  is UML?</a:t>
            </a:r>
          </a:p>
          <a:p>
            <a:r>
              <a:rPr lang="en-US" altLang="en-US"/>
              <a:t> A more detailed view 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/>
              <a:t>Use case diagrams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/>
              <a:t>Class diagrams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/>
              <a:t>Sequence diagrams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/>
              <a:t>Activity diagrams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33DFF78-2D13-4BFC-A474-8B82F51A7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2</a:t>
            </a:fld>
            <a:endParaRPr lang="nl-NL" altLang="fr-F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574AC4DA-A78B-40CA-9216-F19ADC7DBC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548" y="-99392"/>
            <a:ext cx="7772400" cy="1143000"/>
          </a:xfrm>
        </p:spPr>
        <p:txBody>
          <a:bodyPr/>
          <a:lstStyle/>
          <a:p>
            <a:r>
              <a:rPr lang="en-US" altLang="en-US" dirty="0"/>
              <a:t>UML</a:t>
            </a:r>
          </a:p>
        </p:txBody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743CFA2F-5F26-48A4-A5A6-E68FA835F5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44475" y="1050925"/>
            <a:ext cx="7872413" cy="4757738"/>
          </a:xfrm>
        </p:spPr>
        <p:txBody>
          <a:bodyPr/>
          <a:lstStyle/>
          <a:p>
            <a:r>
              <a:rPr lang="en-US" altLang="en-US" dirty="0"/>
              <a:t>Nonproprietary standard for modeling systems</a:t>
            </a:r>
          </a:p>
          <a:p>
            <a:r>
              <a:rPr lang="en-US" altLang="en-US" dirty="0"/>
              <a:t>Current Version: UML 2.5</a:t>
            </a:r>
          </a:p>
          <a:p>
            <a:pPr lvl="1"/>
            <a:r>
              <a:rPr lang="en-US" altLang="en-US" dirty="0"/>
              <a:t>Information at the OMG portal http://www.uml.org/</a:t>
            </a:r>
          </a:p>
          <a:p>
            <a:r>
              <a:rPr lang="en-US" altLang="en-US" dirty="0"/>
              <a:t>Commercial tools: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sz="1800" dirty="0"/>
              <a:t>Rational (IBM),Together (Borland), Visual Architect (Visual Paradigm), Enterprise Architect (</a:t>
            </a:r>
            <a:r>
              <a:rPr lang="en-US" altLang="en-US" sz="1800" dirty="0" err="1"/>
              <a:t>Sparx</a:t>
            </a:r>
            <a:r>
              <a:rPr lang="en-US" altLang="en-US" sz="1800" dirty="0"/>
              <a:t> Systems)</a:t>
            </a:r>
          </a:p>
          <a:p>
            <a:r>
              <a:rPr lang="en-US" altLang="en-US" dirty="0"/>
              <a:t>Open Source tools http://www.sourceforge.net/</a:t>
            </a:r>
          </a:p>
          <a:p>
            <a:pPr lvl="1"/>
            <a:r>
              <a:rPr lang="en-US" altLang="en-US" sz="1800" dirty="0" err="1"/>
              <a:t>ArgoUML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StarUML</a:t>
            </a:r>
            <a:r>
              <a:rPr lang="en-US" altLang="en-US" sz="1800" dirty="0"/>
              <a:t>, </a:t>
            </a:r>
            <a:r>
              <a:rPr lang="en-US" altLang="en-US" sz="1800" dirty="0" err="1"/>
              <a:t>Umbrello</a:t>
            </a:r>
            <a:r>
              <a:rPr lang="en-US" altLang="en-US" sz="1800" dirty="0"/>
              <a:t> (for KDE)</a:t>
            </a:r>
            <a:r>
              <a:rPr lang="en-US" altLang="en-US" dirty="0"/>
              <a:t>, </a:t>
            </a:r>
            <a:r>
              <a:rPr lang="en-US" altLang="en-US" sz="1800" dirty="0" err="1"/>
              <a:t>PoseidonUML</a:t>
            </a:r>
            <a:endParaRPr lang="en-US" altLang="en-US" sz="1800" dirty="0"/>
          </a:p>
          <a:p>
            <a:r>
              <a:rPr lang="en-US" altLang="en-US" dirty="0"/>
              <a:t>Example of research tools: </a:t>
            </a:r>
            <a:r>
              <a:rPr lang="en-US" altLang="en-US" dirty="0" err="1"/>
              <a:t>Unicase</a:t>
            </a:r>
            <a:r>
              <a:rPr lang="en-US" altLang="en-US" dirty="0"/>
              <a:t>, </a:t>
            </a:r>
            <a:r>
              <a:rPr lang="en-US" altLang="en-US" sz="2000" dirty="0" err="1"/>
              <a:t>Sysiphus</a:t>
            </a:r>
            <a:endParaRPr lang="en-US" altLang="en-US" sz="2000" dirty="0"/>
          </a:p>
          <a:p>
            <a:pPr lvl="1"/>
            <a:r>
              <a:rPr lang="en-US" altLang="en-US" dirty="0">
                <a:solidFill>
                  <a:srgbClr val="333333"/>
                </a:solidFill>
              </a:rPr>
              <a:t>Based on a unified project model for modeling, collaboration and project organization</a:t>
            </a:r>
          </a:p>
          <a:p>
            <a:pPr lvl="1"/>
            <a:r>
              <a:rPr lang="en-US" altLang="en-US" dirty="0">
                <a:hlinkClick r:id="rId3"/>
              </a:rPr>
              <a:t>http://unicase.org</a:t>
            </a:r>
            <a:endParaRPr lang="en-US" altLang="en-US" dirty="0"/>
          </a:p>
          <a:p>
            <a:pPr lvl="1"/>
            <a:r>
              <a:rPr lang="en-US" altLang="en-US" dirty="0">
                <a:hlinkClick r:id="rId4"/>
              </a:rPr>
              <a:t>http://sysiphus.in.tum.de/</a:t>
            </a:r>
            <a:endParaRPr lang="en-US" altLang="en-US" dirty="0"/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CF7E4E9-3DF0-4CB1-AEFB-8046D11A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3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7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75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7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7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7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77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7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7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7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77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75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07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41F6587-8405-438F-ACBA-49965A7FB2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9532" y="-171400"/>
            <a:ext cx="7772400" cy="1143000"/>
          </a:xfrm>
        </p:spPr>
        <p:txBody>
          <a:bodyPr/>
          <a:lstStyle/>
          <a:p>
            <a:r>
              <a:rPr lang="en-US" altLang="en-US" dirty="0"/>
              <a:t>UML Basic Notation: First Summary</a:t>
            </a:r>
          </a:p>
        </p:txBody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4876D851-B1B6-4E07-BD03-745F5A53CF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263650"/>
            <a:ext cx="8255000" cy="4800600"/>
          </a:xfrm>
        </p:spPr>
        <p:txBody>
          <a:bodyPr/>
          <a:lstStyle/>
          <a:p>
            <a:r>
              <a:rPr lang="en-US" altLang="en-US"/>
              <a:t>UML provides a wide variety of notations for modeling many aspects of software systems</a:t>
            </a:r>
          </a:p>
          <a:p>
            <a:r>
              <a:rPr lang="en-US" altLang="en-US"/>
              <a:t>In the last lecture did a first pass on:</a:t>
            </a:r>
          </a:p>
          <a:p>
            <a:pPr lvl="1"/>
            <a:r>
              <a:rPr lang="en-US" altLang="en-US"/>
              <a:t>Functional model: Use case diagrams</a:t>
            </a:r>
          </a:p>
          <a:p>
            <a:pPr lvl="1"/>
            <a:r>
              <a:rPr lang="en-US" altLang="en-US"/>
              <a:t>Object model: Class diagrams</a:t>
            </a:r>
          </a:p>
          <a:p>
            <a:pPr lvl="1"/>
            <a:r>
              <a:rPr lang="en-US" altLang="en-US"/>
              <a:t>Dynamic model: Sequence diagrams, statechart diagram</a:t>
            </a:r>
          </a:p>
          <a:p>
            <a:pPr lvl="1"/>
            <a:endParaRPr lang="en-US" altLang="en-US"/>
          </a:p>
          <a:p>
            <a:r>
              <a:rPr lang="en-US" altLang="en-US"/>
              <a:t>Now we go into a little bit more detail…</a:t>
            </a:r>
          </a:p>
          <a:p>
            <a:pPr lvl="1" algn="ctr"/>
            <a:endParaRPr lang="en-US" altLang="en-US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5D57719-04C6-4853-B33A-4A625CA41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4</a:t>
            </a:fld>
            <a:endParaRPr lang="nl-NL" alt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5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5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5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5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545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6242980-0E1A-481B-A901-A6620CEA42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9532" y="-243408"/>
            <a:ext cx="8399276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UML First Pass (covered in Last Lecture)</a:t>
            </a:r>
          </a:p>
        </p:txBody>
      </p:sp>
      <p:sp>
        <p:nvSpPr>
          <p:cNvPr id="257027" name="Rectangle 3">
            <a:extLst>
              <a:ext uri="{FF2B5EF4-FFF2-40B4-BE49-F238E27FC236}">
                <a16:creationId xmlns:a16="http://schemas.microsoft.com/office/drawing/2014/main" id="{9834EFCA-CAF6-42A8-AEC4-0170EE46E8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104900"/>
            <a:ext cx="7951788" cy="4800600"/>
          </a:xfrm>
        </p:spPr>
        <p:txBody>
          <a:bodyPr/>
          <a:lstStyle/>
          <a:p>
            <a:r>
              <a:rPr lang="en-US" altLang="en-US">
                <a:solidFill>
                  <a:srgbClr val="FF3300"/>
                </a:solidFill>
              </a:rPr>
              <a:t>Use case diagrams</a:t>
            </a:r>
            <a:endParaRPr lang="en-US" altLang="en-US"/>
          </a:p>
          <a:p>
            <a:pPr lvl="1"/>
            <a:r>
              <a:rPr lang="en-US" altLang="en-US"/>
              <a:t>Describe the functional behavior of the system as seen by the user</a:t>
            </a:r>
          </a:p>
          <a:p>
            <a:r>
              <a:rPr lang="en-US" altLang="en-US">
                <a:solidFill>
                  <a:srgbClr val="FF3300"/>
                </a:solidFill>
              </a:rPr>
              <a:t>Class diagrams</a:t>
            </a:r>
            <a:endParaRPr lang="en-US" altLang="en-US"/>
          </a:p>
          <a:p>
            <a:pPr lvl="1"/>
            <a:r>
              <a:rPr lang="en-US" altLang="en-US"/>
              <a:t>Describe the static structure of the system: Objects, attributes, associations</a:t>
            </a:r>
          </a:p>
          <a:p>
            <a:r>
              <a:rPr lang="en-US" altLang="en-US">
                <a:solidFill>
                  <a:srgbClr val="FF3300"/>
                </a:solidFill>
              </a:rPr>
              <a:t>Sequence diagrams</a:t>
            </a:r>
            <a:endParaRPr lang="en-US" altLang="en-US"/>
          </a:p>
          <a:p>
            <a:pPr lvl="1"/>
            <a:r>
              <a:rPr lang="en-US" altLang="en-US"/>
              <a:t>Describe the dynamic behavior between objects of the system</a:t>
            </a:r>
          </a:p>
          <a:p>
            <a:r>
              <a:rPr lang="en-US" altLang="en-US">
                <a:solidFill>
                  <a:srgbClr val="FF3300"/>
                </a:solidFill>
              </a:rPr>
              <a:t>Statechart diagrams</a:t>
            </a:r>
            <a:endParaRPr lang="en-US" altLang="en-US"/>
          </a:p>
          <a:p>
            <a:pPr lvl="1"/>
            <a:r>
              <a:rPr lang="en-US" altLang="en-US"/>
              <a:t>Describe the dynamic behavior of an individual object</a:t>
            </a:r>
          </a:p>
          <a:p>
            <a:r>
              <a:rPr lang="en-US" altLang="en-US">
                <a:solidFill>
                  <a:srgbClr val="FF3300"/>
                </a:solidFill>
              </a:rPr>
              <a:t>Activity diagrams</a:t>
            </a:r>
            <a:endParaRPr lang="en-US" altLang="en-US"/>
          </a:p>
          <a:p>
            <a:pPr lvl="1"/>
            <a:r>
              <a:rPr lang="en-US" altLang="en-US"/>
              <a:t>Describe the dynamic behavior of a system, in particular the workflow.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2C102F2-85DD-4601-95C1-C96CA8623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5</a:t>
            </a:fld>
            <a:endParaRPr lang="nl-NL" alt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0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2785E41-7610-4E4B-950C-C15DD625A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6</a:t>
            </a:fld>
            <a:endParaRPr lang="nl-NL" alt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C35018-C550-4988-8553-14816562E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640" y="116632"/>
            <a:ext cx="6369707" cy="6378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953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39CE116-CAE6-4DF6-88AF-2AA0964CBF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576" y="-279412"/>
            <a:ext cx="7772400" cy="1143000"/>
          </a:xfrm>
        </p:spPr>
        <p:txBody>
          <a:bodyPr/>
          <a:lstStyle/>
          <a:p>
            <a:r>
              <a:rPr lang="en-US" altLang="en-US" dirty="0"/>
              <a:t>UML Use Case Diagrams</a:t>
            </a:r>
          </a:p>
        </p:txBody>
      </p:sp>
      <p:sp>
        <p:nvSpPr>
          <p:cNvPr id="94212" name="Rectangle 4">
            <a:extLst>
              <a:ext uri="{FF2B5EF4-FFF2-40B4-BE49-F238E27FC236}">
                <a16:creationId xmlns:a16="http://schemas.microsoft.com/office/drawing/2014/main" id="{FBE5FCE0-44E9-4AA8-ABB2-CB07BE5FDAD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052888" y="2522538"/>
            <a:ext cx="4478337" cy="804862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en-US" sz="2000"/>
              <a:t>An </a:t>
            </a:r>
            <a:r>
              <a:rPr lang="en-US" altLang="en-US" sz="2000" b="1" i="1"/>
              <a:t>Actor</a:t>
            </a:r>
            <a:r>
              <a:rPr lang="en-US" altLang="en-US" sz="2000"/>
              <a:t> represents a role, that is, a type of user of the system</a:t>
            </a:r>
          </a:p>
        </p:txBody>
      </p:sp>
      <p:grpSp>
        <p:nvGrpSpPr>
          <p:cNvPr id="2" name="Group 20">
            <a:extLst>
              <a:ext uri="{FF2B5EF4-FFF2-40B4-BE49-F238E27FC236}">
                <a16:creationId xmlns:a16="http://schemas.microsoft.com/office/drawing/2014/main" id="{761E0654-63F9-4CD0-9178-91EFC08223AC}"/>
              </a:ext>
            </a:extLst>
          </p:cNvPr>
          <p:cNvGrpSpPr>
            <a:grpSpLocks/>
          </p:cNvGrpSpPr>
          <p:nvPr/>
        </p:nvGrpSpPr>
        <p:grpSpPr bwMode="auto">
          <a:xfrm>
            <a:off x="423863" y="1754188"/>
            <a:ext cx="1646237" cy="1677987"/>
            <a:chOff x="517" y="1105"/>
            <a:chExt cx="1037" cy="1057"/>
          </a:xfrm>
        </p:grpSpPr>
        <p:grpSp>
          <p:nvGrpSpPr>
            <p:cNvPr id="28685" name="Group 17">
              <a:extLst>
                <a:ext uri="{FF2B5EF4-FFF2-40B4-BE49-F238E27FC236}">
                  <a16:creationId xmlns:a16="http://schemas.microsoft.com/office/drawing/2014/main" id="{CAEBADFD-E74E-4251-ABF9-0474C5A8254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5" y="1105"/>
              <a:ext cx="445" cy="783"/>
              <a:chOff x="659" y="1833"/>
              <a:chExt cx="299" cy="526"/>
            </a:xfrm>
          </p:grpSpPr>
          <p:sp>
            <p:nvSpPr>
              <p:cNvPr id="28687" name="Freeform 6">
                <a:extLst>
                  <a:ext uri="{FF2B5EF4-FFF2-40B4-BE49-F238E27FC236}">
                    <a16:creationId xmlns:a16="http://schemas.microsoft.com/office/drawing/2014/main" id="{E8D053FF-1980-4C1A-8C8A-DAE61B2AE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" y="1941"/>
                <a:ext cx="143" cy="418"/>
              </a:xfrm>
              <a:custGeom>
                <a:avLst/>
                <a:gdLst>
                  <a:gd name="T0" fmla="*/ 143 w 143"/>
                  <a:gd name="T1" fmla="*/ 0 h 418"/>
                  <a:gd name="T2" fmla="*/ 143 w 143"/>
                  <a:gd name="T3" fmla="*/ 263 h 418"/>
                  <a:gd name="T4" fmla="*/ 0 w 143"/>
                  <a:gd name="T5" fmla="*/ 418 h 418"/>
                  <a:gd name="T6" fmla="*/ 0 60000 65536"/>
                  <a:gd name="T7" fmla="*/ 0 60000 65536"/>
                  <a:gd name="T8" fmla="*/ 0 60000 65536"/>
                  <a:gd name="T9" fmla="*/ 0 w 143"/>
                  <a:gd name="T10" fmla="*/ 0 h 418"/>
                  <a:gd name="T11" fmla="*/ 143 w 143"/>
                  <a:gd name="T12" fmla="*/ 418 h 4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" h="418">
                    <a:moveTo>
                      <a:pt x="143" y="0"/>
                    </a:moveTo>
                    <a:lnTo>
                      <a:pt x="143" y="263"/>
                    </a:lnTo>
                    <a:lnTo>
                      <a:pt x="0" y="41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8688" name="Line 7">
                <a:extLst>
                  <a:ext uri="{FF2B5EF4-FFF2-40B4-BE49-F238E27FC236}">
                    <a16:creationId xmlns:a16="http://schemas.microsoft.com/office/drawing/2014/main" id="{8BBED9E2-2195-45F9-958A-71B353CEFC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" y="2204"/>
                <a:ext cx="156" cy="1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89" name="Line 8">
                <a:extLst>
                  <a:ext uri="{FF2B5EF4-FFF2-40B4-BE49-F238E27FC236}">
                    <a16:creationId xmlns:a16="http://schemas.microsoft.com/office/drawing/2014/main" id="{6E665BEC-215B-4D1F-A1ED-537809ECFB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9" y="2060"/>
                <a:ext cx="29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0" name="Oval 9">
                <a:extLst>
                  <a:ext uri="{FF2B5EF4-FFF2-40B4-BE49-F238E27FC236}">
                    <a16:creationId xmlns:a16="http://schemas.microsoft.com/office/drawing/2014/main" id="{A7798F61-1CC1-4550-A5B1-16A0630770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1833"/>
                <a:ext cx="155" cy="15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28686" name="Rectangle 10">
              <a:extLst>
                <a:ext uri="{FF2B5EF4-FFF2-40B4-BE49-F238E27FC236}">
                  <a16:creationId xmlns:a16="http://schemas.microsoft.com/office/drawing/2014/main" id="{AB26E4F0-4B31-48DA-94A2-29CC155D6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7" y="1932"/>
              <a:ext cx="103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>
                  <a:solidFill>
                    <a:srgbClr val="000000"/>
                  </a:solidFill>
                  <a:latin typeface="Courier" charset="0"/>
                </a:rPr>
                <a:t>Passenger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</p:grpSp>
      <p:grpSp>
        <p:nvGrpSpPr>
          <p:cNvPr id="4" name="Group 24">
            <a:extLst>
              <a:ext uri="{FF2B5EF4-FFF2-40B4-BE49-F238E27FC236}">
                <a16:creationId xmlns:a16="http://schemas.microsoft.com/office/drawing/2014/main" id="{23222821-F659-46AF-B63C-5E3104494377}"/>
              </a:ext>
            </a:extLst>
          </p:cNvPr>
          <p:cNvGrpSpPr>
            <a:grpSpLocks/>
          </p:cNvGrpSpPr>
          <p:nvPr/>
        </p:nvGrpSpPr>
        <p:grpSpPr bwMode="auto">
          <a:xfrm>
            <a:off x="1073150" y="3495675"/>
            <a:ext cx="2736850" cy="1801813"/>
            <a:chOff x="1358" y="2283"/>
            <a:chExt cx="1724" cy="1135"/>
          </a:xfrm>
        </p:grpSpPr>
        <p:grpSp>
          <p:nvGrpSpPr>
            <p:cNvPr id="28681" name="Group 15">
              <a:extLst>
                <a:ext uri="{FF2B5EF4-FFF2-40B4-BE49-F238E27FC236}">
                  <a16:creationId xmlns:a16="http://schemas.microsoft.com/office/drawing/2014/main" id="{637BED9E-ED21-43AE-A331-5BF6DF2DE1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69" y="2682"/>
              <a:ext cx="1613" cy="736"/>
              <a:chOff x="2212" y="1949"/>
              <a:chExt cx="1084" cy="495"/>
            </a:xfrm>
          </p:grpSpPr>
          <p:sp>
            <p:nvSpPr>
              <p:cNvPr id="28683" name="Oval 12">
                <a:extLst>
                  <a:ext uri="{FF2B5EF4-FFF2-40B4-BE49-F238E27FC236}">
                    <a16:creationId xmlns:a16="http://schemas.microsoft.com/office/drawing/2014/main" id="{ADEBD012-698D-47DE-BFFA-8AE783AD3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9" y="1949"/>
                <a:ext cx="753" cy="32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8684" name="Rectangle 13">
                <a:extLst>
                  <a:ext uri="{FF2B5EF4-FFF2-40B4-BE49-F238E27FC236}">
                    <a16:creationId xmlns:a16="http://schemas.microsoft.com/office/drawing/2014/main" id="{291D8119-946D-419D-B95F-454FC35633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12" y="2289"/>
                <a:ext cx="1084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>
                    <a:solidFill>
                      <a:srgbClr val="000000"/>
                    </a:solidFill>
                    <a:latin typeface="Courier" charset="0"/>
                  </a:rPr>
                  <a:t>PurchaseTicket</a:t>
                </a:r>
                <a:endParaRPr lang="en-US" altLang="en-US" b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8682" name="Line 14">
              <a:extLst>
                <a:ext uri="{FF2B5EF4-FFF2-40B4-BE49-F238E27FC236}">
                  <a16:creationId xmlns:a16="http://schemas.microsoft.com/office/drawing/2014/main" id="{5104E3B0-3FE9-473E-BDAD-30BA28F377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8" y="2283"/>
              <a:ext cx="367" cy="32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4229" name="Rectangle 21">
            <a:extLst>
              <a:ext uri="{FF2B5EF4-FFF2-40B4-BE49-F238E27FC236}">
                <a16:creationId xmlns:a16="http://schemas.microsoft.com/office/drawing/2014/main" id="{6683362F-71D3-425B-88EC-824DD71A25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0" y="969963"/>
            <a:ext cx="6057900" cy="982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buFont typeface="Times" panose="02020603050405020304" pitchFamily="18" charset="0"/>
              <a:buNone/>
            </a:pPr>
            <a:r>
              <a:rPr lang="en-US" altLang="en-US" b="0" dirty="0">
                <a:solidFill>
                  <a:schemeClr val="tx1"/>
                </a:solidFill>
                <a:latin typeface="Verdana" panose="020B0604030504040204" pitchFamily="34" charset="0"/>
              </a:rPr>
              <a:t>Used during requirements elicitation and analysis to represent external behavior (“visible from the outside of the system”)</a:t>
            </a:r>
          </a:p>
        </p:txBody>
      </p:sp>
      <p:sp>
        <p:nvSpPr>
          <p:cNvPr id="94230" name="Rectangle 22">
            <a:extLst>
              <a:ext uri="{FF2B5EF4-FFF2-40B4-BE49-F238E27FC236}">
                <a16:creationId xmlns:a16="http://schemas.microsoft.com/office/drawing/2014/main" id="{D1761627-AC89-42F7-9A79-5431FCFB0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1125" y="4376738"/>
            <a:ext cx="4911725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buFont typeface="Times" panose="02020603050405020304" pitchFamily="18" charset="0"/>
              <a:buNone/>
            </a:pPr>
            <a:r>
              <a:rPr lang="en-US" altLang="en-US" sz="2000" i="1">
                <a:solidFill>
                  <a:schemeClr val="tx1"/>
                </a:solidFill>
                <a:latin typeface="Verdana" panose="020B0604030504040204" pitchFamily="34" charset="0"/>
              </a:rPr>
              <a:t>Use case model</a:t>
            </a:r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:</a:t>
            </a:r>
          </a:p>
          <a:p>
            <a:pPr lvl="1" algn="l">
              <a:buFont typeface="Times" panose="02020603050405020304" pitchFamily="18" charset="0"/>
              <a:buNone/>
            </a:pPr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The set of all use cases that completely describe the functionality of the  system.</a:t>
            </a:r>
          </a:p>
        </p:txBody>
      </p:sp>
      <p:sp>
        <p:nvSpPr>
          <p:cNvPr id="94231" name="Rectangle 23">
            <a:extLst>
              <a:ext uri="{FF2B5EF4-FFF2-40B4-BE49-F238E27FC236}">
                <a16:creationId xmlns:a16="http://schemas.microsoft.com/office/drawing/2014/main" id="{3988FBA3-1176-43D8-874A-E92ED784F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1450" y="3314700"/>
            <a:ext cx="48704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buFont typeface="Times" panose="02020603050405020304" pitchFamily="18" charset="0"/>
              <a:buNone/>
            </a:pPr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A </a:t>
            </a:r>
            <a:r>
              <a:rPr lang="en-US" altLang="en-US" sz="2000" i="1">
                <a:solidFill>
                  <a:schemeClr val="tx1"/>
                </a:solidFill>
                <a:latin typeface="Verdana" panose="020B0604030504040204" pitchFamily="34" charset="0"/>
              </a:rPr>
              <a:t>use case</a:t>
            </a:r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 represents a class of functionality provided by the system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4C33B57-19FF-4337-9CB8-655B4C47D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2133E4-5B4C-4694-95A3-A662C059EDE7}" type="slidenum">
              <a:rPr lang="nl-NL" altLang="fr-FR" smtClean="0"/>
              <a:pPr>
                <a:defRPr/>
              </a:pPr>
              <a:t>7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2" grpId="0" build="p" autoUpdateAnimBg="0"/>
      <p:bldP spid="94229" grpId="0" build="p" autoUpdateAnimBg="0"/>
      <p:bldP spid="94230" grpId="0" build="p" autoUpdateAnimBg="0"/>
      <p:bldP spid="94231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CB12B45-BB4C-4FB0-AB86-8B0665A5EF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1580" y="-135396"/>
            <a:ext cx="7772400" cy="1143000"/>
          </a:xfrm>
        </p:spPr>
        <p:txBody>
          <a:bodyPr/>
          <a:lstStyle/>
          <a:p>
            <a:r>
              <a:rPr lang="en-US" altLang="en-US" dirty="0"/>
              <a:t>Actors</a:t>
            </a:r>
          </a:p>
        </p:txBody>
      </p:sp>
      <p:sp>
        <p:nvSpPr>
          <p:cNvPr id="97284" name="Rectangle 4">
            <a:extLst>
              <a:ext uri="{FF2B5EF4-FFF2-40B4-BE49-F238E27FC236}">
                <a16:creationId xmlns:a16="http://schemas.microsoft.com/office/drawing/2014/main" id="{D13967EF-3F5F-4539-A573-E6C54257B36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2508250" y="1109663"/>
            <a:ext cx="6026150" cy="4800600"/>
          </a:xfrm>
        </p:spPr>
        <p:txBody>
          <a:bodyPr/>
          <a:lstStyle/>
          <a:p>
            <a:r>
              <a:rPr lang="en-US" altLang="en-US" sz="2400"/>
              <a:t>An actor is a model for an external entity which interacts (communicates) with the system:</a:t>
            </a:r>
          </a:p>
          <a:p>
            <a:pPr lvl="1"/>
            <a:r>
              <a:rPr lang="en-US" altLang="en-US" sz="2000"/>
              <a:t>User</a:t>
            </a:r>
          </a:p>
          <a:p>
            <a:pPr lvl="1"/>
            <a:r>
              <a:rPr lang="en-US" altLang="en-US" sz="2000"/>
              <a:t>External system (Another system)</a:t>
            </a:r>
          </a:p>
          <a:p>
            <a:pPr lvl="1"/>
            <a:r>
              <a:rPr lang="en-US" altLang="en-US" sz="2000"/>
              <a:t>Physical environment (e.g. Weather)</a:t>
            </a:r>
          </a:p>
          <a:p>
            <a:r>
              <a:rPr lang="en-US" altLang="en-US" sz="2400"/>
              <a:t>An actor has a unique name and an optional description</a:t>
            </a:r>
          </a:p>
          <a:p>
            <a:pPr>
              <a:lnSpc>
                <a:spcPct val="110000"/>
              </a:lnSpc>
            </a:pPr>
            <a:r>
              <a:rPr lang="en-US" altLang="en-US" sz="2400"/>
              <a:t>Examples:</a:t>
            </a:r>
          </a:p>
          <a:p>
            <a:pPr lvl="1"/>
            <a:r>
              <a:rPr lang="en-US" altLang="en-US" sz="2000" b="1"/>
              <a:t>Passenger</a:t>
            </a:r>
            <a:r>
              <a:rPr lang="en-US" altLang="en-US" sz="2000"/>
              <a:t>: A person in the train</a:t>
            </a:r>
          </a:p>
          <a:p>
            <a:pPr lvl="1"/>
            <a:r>
              <a:rPr lang="en-US" altLang="en-US" sz="2000" b="1"/>
              <a:t>GPS satellite</a:t>
            </a:r>
            <a:r>
              <a:rPr lang="en-US" altLang="en-US" sz="2000"/>
              <a:t>: An external system that provides the system with  GPS coordinates.</a:t>
            </a:r>
          </a:p>
        </p:txBody>
      </p:sp>
      <p:grpSp>
        <p:nvGrpSpPr>
          <p:cNvPr id="30724" name="Group 12">
            <a:extLst>
              <a:ext uri="{FF2B5EF4-FFF2-40B4-BE49-F238E27FC236}">
                <a16:creationId xmlns:a16="http://schemas.microsoft.com/office/drawing/2014/main" id="{AE615B80-791C-4D76-8A00-7EF52D78AC66}"/>
              </a:ext>
            </a:extLst>
          </p:cNvPr>
          <p:cNvGrpSpPr>
            <a:grpSpLocks/>
          </p:cNvGrpSpPr>
          <p:nvPr/>
        </p:nvGrpSpPr>
        <p:grpSpPr bwMode="auto">
          <a:xfrm>
            <a:off x="693738" y="2122488"/>
            <a:ext cx="1646237" cy="1679575"/>
            <a:chOff x="1021" y="1337"/>
            <a:chExt cx="1037" cy="1058"/>
          </a:xfrm>
        </p:grpSpPr>
        <p:grpSp>
          <p:nvGrpSpPr>
            <p:cNvPr id="30727" name="Group 6">
              <a:extLst>
                <a:ext uri="{FF2B5EF4-FFF2-40B4-BE49-F238E27FC236}">
                  <a16:creationId xmlns:a16="http://schemas.microsoft.com/office/drawing/2014/main" id="{6E39CFE6-858E-4FB8-8091-AE7754DCF1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7" y="1337"/>
              <a:ext cx="445" cy="783"/>
              <a:chOff x="659" y="1833"/>
              <a:chExt cx="299" cy="526"/>
            </a:xfrm>
          </p:grpSpPr>
          <p:sp>
            <p:nvSpPr>
              <p:cNvPr id="30729" name="Freeform 7">
                <a:extLst>
                  <a:ext uri="{FF2B5EF4-FFF2-40B4-BE49-F238E27FC236}">
                    <a16:creationId xmlns:a16="http://schemas.microsoft.com/office/drawing/2014/main" id="{6357ABA6-3B73-4007-8B63-44B57B7903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" y="1941"/>
                <a:ext cx="143" cy="418"/>
              </a:xfrm>
              <a:custGeom>
                <a:avLst/>
                <a:gdLst>
                  <a:gd name="T0" fmla="*/ 143 w 143"/>
                  <a:gd name="T1" fmla="*/ 0 h 418"/>
                  <a:gd name="T2" fmla="*/ 143 w 143"/>
                  <a:gd name="T3" fmla="*/ 263 h 418"/>
                  <a:gd name="T4" fmla="*/ 0 w 143"/>
                  <a:gd name="T5" fmla="*/ 418 h 418"/>
                  <a:gd name="T6" fmla="*/ 0 60000 65536"/>
                  <a:gd name="T7" fmla="*/ 0 60000 65536"/>
                  <a:gd name="T8" fmla="*/ 0 60000 65536"/>
                  <a:gd name="T9" fmla="*/ 0 w 143"/>
                  <a:gd name="T10" fmla="*/ 0 h 418"/>
                  <a:gd name="T11" fmla="*/ 143 w 143"/>
                  <a:gd name="T12" fmla="*/ 418 h 4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" h="418">
                    <a:moveTo>
                      <a:pt x="143" y="0"/>
                    </a:moveTo>
                    <a:lnTo>
                      <a:pt x="143" y="263"/>
                    </a:lnTo>
                    <a:lnTo>
                      <a:pt x="0" y="41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0730" name="Line 8">
                <a:extLst>
                  <a:ext uri="{FF2B5EF4-FFF2-40B4-BE49-F238E27FC236}">
                    <a16:creationId xmlns:a16="http://schemas.microsoft.com/office/drawing/2014/main" id="{EECE1F45-ADC2-4151-B913-2D5B9D7234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" y="2204"/>
                <a:ext cx="156" cy="1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1" name="Line 9">
                <a:extLst>
                  <a:ext uri="{FF2B5EF4-FFF2-40B4-BE49-F238E27FC236}">
                    <a16:creationId xmlns:a16="http://schemas.microsoft.com/office/drawing/2014/main" id="{86728299-3854-4B4B-8921-416B5342E1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9" y="2060"/>
                <a:ext cx="29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732" name="Oval 10">
                <a:extLst>
                  <a:ext uri="{FF2B5EF4-FFF2-40B4-BE49-F238E27FC236}">
                    <a16:creationId xmlns:a16="http://schemas.microsoft.com/office/drawing/2014/main" id="{572A96EF-0C3A-494A-A2D8-DEFC7C3AE9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1833"/>
                <a:ext cx="155" cy="15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30728" name="Rectangle 11">
              <a:extLst>
                <a:ext uri="{FF2B5EF4-FFF2-40B4-BE49-F238E27FC236}">
                  <a16:creationId xmlns:a16="http://schemas.microsoft.com/office/drawing/2014/main" id="{F0877999-1C51-494D-816B-B993B3F73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" y="2165"/>
              <a:ext cx="103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>
                  <a:solidFill>
                    <a:srgbClr val="000000"/>
                  </a:solidFill>
                  <a:latin typeface="Courier" charset="0"/>
                </a:rPr>
                <a:t>Passenger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</p:grpSp>
      <p:sp>
        <p:nvSpPr>
          <p:cNvPr id="97293" name="AutoShape 13">
            <a:extLst>
              <a:ext uri="{FF2B5EF4-FFF2-40B4-BE49-F238E27FC236}">
                <a16:creationId xmlns:a16="http://schemas.microsoft.com/office/drawing/2014/main" id="{F7A171E9-FA8E-43B9-AD19-9AD5CDBB04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363" y="4889500"/>
            <a:ext cx="1670050" cy="633413"/>
          </a:xfrm>
          <a:prstGeom prst="wedgeRoundRectCallout">
            <a:avLst>
              <a:gd name="adj1" fmla="val 92014"/>
              <a:gd name="adj2" fmla="val -59273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/>
              <a:t>Name</a:t>
            </a:r>
          </a:p>
        </p:txBody>
      </p:sp>
      <p:sp>
        <p:nvSpPr>
          <p:cNvPr id="97294" name="AutoShape 14">
            <a:extLst>
              <a:ext uri="{FF2B5EF4-FFF2-40B4-BE49-F238E27FC236}">
                <a16:creationId xmlns:a16="http://schemas.microsoft.com/office/drawing/2014/main" id="{416FDBAA-5F3D-4EA7-A123-834CFB5E2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5263" y="3649663"/>
            <a:ext cx="2243137" cy="846137"/>
          </a:xfrm>
          <a:prstGeom prst="wedgeRoundRectCallout">
            <a:avLst>
              <a:gd name="adj1" fmla="val -91472"/>
              <a:gd name="adj2" fmla="val 68199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/>
              <a:t>Optional </a:t>
            </a:r>
          </a:p>
          <a:p>
            <a:r>
              <a:rPr lang="en-US" altLang="en-US" sz="2000"/>
              <a:t>Description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E6AE75F-A64B-438C-B04F-659F9853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2133E4-5B4C-4694-95A3-A662C059EDE7}" type="slidenum">
              <a:rPr lang="nl-NL" altLang="fr-FR" smtClean="0"/>
              <a:pPr>
                <a:defRPr/>
              </a:pPr>
              <a:t>8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28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284" grpId="0" build="p" autoUpdateAnimBg="0"/>
      <p:bldP spid="97293" grpId="0" animBg="1"/>
      <p:bldP spid="9729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4B71C0F6-A342-4055-836A-45E737F83F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91580" y="-315416"/>
            <a:ext cx="7772400" cy="1143000"/>
          </a:xfrm>
        </p:spPr>
        <p:txBody>
          <a:bodyPr/>
          <a:lstStyle/>
          <a:p>
            <a:r>
              <a:rPr lang="en-US" altLang="en-US" dirty="0"/>
              <a:t>Use Case</a:t>
            </a:r>
          </a:p>
        </p:txBody>
      </p:sp>
      <p:sp>
        <p:nvSpPr>
          <p:cNvPr id="96260" name="Rectangle 4">
            <a:extLst>
              <a:ext uri="{FF2B5EF4-FFF2-40B4-BE49-F238E27FC236}">
                <a16:creationId xmlns:a16="http://schemas.microsoft.com/office/drawing/2014/main" id="{18AD7BBD-3C5C-4867-B343-36EB9F10260A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140075" y="808038"/>
            <a:ext cx="5670550" cy="4800600"/>
          </a:xfrm>
        </p:spPr>
        <p:txBody>
          <a:bodyPr/>
          <a:lstStyle/>
          <a:p>
            <a:pPr marL="381000" indent="-381000">
              <a:buFont typeface="Times" panose="02020603050405020304" pitchFamily="18" charset="0"/>
              <a:buNone/>
            </a:pPr>
            <a:r>
              <a:rPr lang="en-US" altLang="en-US" sz="2400"/>
              <a:t>• A use case represents a class of functionality provided by the system </a:t>
            </a:r>
          </a:p>
          <a:p>
            <a:pPr marL="381000" indent="-381000">
              <a:buFont typeface="Times" panose="02020603050405020304" pitchFamily="18" charset="0"/>
              <a:buNone/>
            </a:pPr>
            <a:r>
              <a:rPr lang="en-US" altLang="en-US" sz="2400"/>
              <a:t>• Use cases can be described textually, with a focus on the event flow between actor and system</a:t>
            </a:r>
          </a:p>
          <a:p>
            <a:pPr marL="381000" indent="-381000">
              <a:buFont typeface="Times" panose="02020603050405020304" pitchFamily="18" charset="0"/>
              <a:buNone/>
            </a:pPr>
            <a:r>
              <a:rPr lang="en-US" altLang="en-US" sz="2400"/>
              <a:t>• The textual use case description consists of 6 parts: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/>
              <a:t>Unique name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/>
              <a:t>Participating actors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/>
              <a:t>Entry conditions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/>
              <a:t>Exit conditions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/>
              <a:t>Flow of events</a:t>
            </a:r>
          </a:p>
          <a:p>
            <a:pPr marL="800100" lvl="1" indent="-342900">
              <a:buFont typeface="Arial" panose="020B0604020202020204" pitchFamily="34" charset="0"/>
              <a:buAutoNum type="arabicPeriod"/>
            </a:pPr>
            <a:r>
              <a:rPr lang="en-US" altLang="en-US" sz="2000"/>
              <a:t>Special requirements.</a:t>
            </a:r>
          </a:p>
        </p:txBody>
      </p:sp>
      <p:grpSp>
        <p:nvGrpSpPr>
          <p:cNvPr id="32772" name="Group 5">
            <a:extLst>
              <a:ext uri="{FF2B5EF4-FFF2-40B4-BE49-F238E27FC236}">
                <a16:creationId xmlns:a16="http://schemas.microsoft.com/office/drawing/2014/main" id="{C6A16F75-A04B-4BDE-9BB8-A1B60D6E9A76}"/>
              </a:ext>
            </a:extLst>
          </p:cNvPr>
          <p:cNvGrpSpPr>
            <a:grpSpLocks/>
          </p:cNvGrpSpPr>
          <p:nvPr/>
        </p:nvGrpSpPr>
        <p:grpSpPr bwMode="auto">
          <a:xfrm>
            <a:off x="325438" y="2505075"/>
            <a:ext cx="2560637" cy="1168400"/>
            <a:chOff x="2212" y="1949"/>
            <a:chExt cx="1084" cy="495"/>
          </a:xfrm>
        </p:grpSpPr>
        <p:sp>
          <p:nvSpPr>
            <p:cNvPr id="32773" name="Oval 6">
              <a:extLst>
                <a:ext uri="{FF2B5EF4-FFF2-40B4-BE49-F238E27FC236}">
                  <a16:creationId xmlns:a16="http://schemas.microsoft.com/office/drawing/2014/main" id="{FA231159-A726-4BCB-8BDC-E28023D47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" y="1949"/>
              <a:ext cx="753" cy="32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2774" name="Rectangle 7">
              <a:extLst>
                <a:ext uri="{FF2B5EF4-FFF2-40B4-BE49-F238E27FC236}">
                  <a16:creationId xmlns:a16="http://schemas.microsoft.com/office/drawing/2014/main" id="{51E0FCC8-17CC-4D45-A0AA-427EAA69E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" y="2289"/>
              <a:ext cx="1084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>
                  <a:solidFill>
                    <a:srgbClr val="000000"/>
                  </a:solidFill>
                  <a:latin typeface="Courier" charset="0"/>
                </a:rPr>
                <a:t>PurchaseTicket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DAFA366-EB2B-4337-AF2A-2075C7566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2133E4-5B4C-4694-95A3-A662C059EDE7}" type="slidenum">
              <a:rPr lang="nl-NL" altLang="fr-FR" smtClean="0"/>
              <a:pPr>
                <a:defRPr/>
              </a:pPr>
              <a:t>9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626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0" grpId="0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E87ADCE4-7126-45C5-940E-907BBD46F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152636"/>
            <a:ext cx="7772400" cy="1143000"/>
          </a:xfrm>
        </p:spPr>
        <p:txBody>
          <a:bodyPr/>
          <a:lstStyle/>
          <a:p>
            <a:r>
              <a:rPr lang="en-US" altLang="en-US" dirty="0"/>
              <a:t>Textual Use Case </a:t>
            </a:r>
            <a:br>
              <a:rPr lang="en-US" altLang="en-US" dirty="0"/>
            </a:br>
            <a:r>
              <a:rPr lang="en-US" altLang="en-US" dirty="0"/>
              <a:t>Description Example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F22B04FC-8D71-416D-A589-CCE82A869C2A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473200"/>
            <a:ext cx="3922713" cy="4800600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en-US" sz="2000" i="1" dirty="0">
                <a:solidFill>
                  <a:srgbClr val="FF3300"/>
                </a:solidFill>
              </a:rPr>
              <a:t>1. Name:</a:t>
            </a:r>
            <a:r>
              <a:rPr lang="en-US" altLang="en-US" sz="2000" dirty="0"/>
              <a:t> </a:t>
            </a:r>
            <a:r>
              <a:rPr lang="en-US" altLang="en-US" sz="2000" dirty="0">
                <a:latin typeface="Courier" charset="0"/>
              </a:rPr>
              <a:t>Purchase ticket</a:t>
            </a:r>
            <a:endParaRPr lang="en-US" altLang="en-US" sz="2000" dirty="0"/>
          </a:p>
          <a:p>
            <a:pPr>
              <a:buFont typeface="Times" panose="02020603050405020304" pitchFamily="18" charset="0"/>
              <a:buNone/>
            </a:pPr>
            <a:endParaRPr lang="en-US" altLang="en-US" sz="2000" dirty="0"/>
          </a:p>
          <a:p>
            <a:pPr>
              <a:buFont typeface="Times" panose="02020603050405020304" pitchFamily="18" charset="0"/>
              <a:buNone/>
            </a:pPr>
            <a:r>
              <a:rPr lang="en-US" altLang="en-US" sz="2000" i="1" dirty="0">
                <a:solidFill>
                  <a:srgbClr val="FF3300"/>
                </a:solidFill>
              </a:rPr>
              <a:t>2. Participating actor:</a:t>
            </a:r>
            <a:r>
              <a:rPr lang="en-US" altLang="en-US" sz="2000" dirty="0"/>
              <a:t> </a:t>
            </a:r>
            <a:r>
              <a:rPr lang="en-US" altLang="en-US" sz="2000" dirty="0">
                <a:latin typeface="Courier" charset="0"/>
              </a:rPr>
              <a:t>Passenger</a:t>
            </a:r>
            <a:endParaRPr lang="en-US" altLang="en-US" sz="2000" dirty="0"/>
          </a:p>
          <a:p>
            <a:pPr>
              <a:buFont typeface="Times" panose="02020603050405020304" pitchFamily="18" charset="0"/>
              <a:buNone/>
            </a:pPr>
            <a:endParaRPr lang="en-US" altLang="en-US" sz="2000" dirty="0"/>
          </a:p>
          <a:p>
            <a:pPr>
              <a:buFont typeface="Times" panose="02020603050405020304" pitchFamily="18" charset="0"/>
              <a:buNone/>
            </a:pPr>
            <a:r>
              <a:rPr lang="en-US" altLang="en-US" sz="2000" i="1" dirty="0">
                <a:solidFill>
                  <a:srgbClr val="FF3300"/>
                </a:solidFill>
              </a:rPr>
              <a:t>3. Entry condition:</a:t>
            </a:r>
            <a:r>
              <a:rPr lang="en-US" altLang="en-US" sz="2000" dirty="0"/>
              <a:t> </a:t>
            </a:r>
          </a:p>
          <a:p>
            <a:r>
              <a:rPr lang="en-US" altLang="en-US" sz="2000" dirty="0">
                <a:latin typeface="Courier" charset="0"/>
              </a:rPr>
              <a:t>Passenger</a:t>
            </a:r>
            <a:r>
              <a:rPr lang="en-US" altLang="en-US" sz="2000" dirty="0"/>
              <a:t> stands in front of ticket distributor</a:t>
            </a:r>
          </a:p>
          <a:p>
            <a:r>
              <a:rPr lang="en-US" altLang="en-US" sz="2000" dirty="0">
                <a:latin typeface="Courier" charset="0"/>
              </a:rPr>
              <a:t>Passenger</a:t>
            </a:r>
            <a:r>
              <a:rPr lang="en-US" altLang="en-US" sz="2000" dirty="0"/>
              <a:t> has sufficient money to purchase ticket</a:t>
            </a:r>
          </a:p>
          <a:p>
            <a:endParaRPr lang="en-US" altLang="en-US" sz="2000" dirty="0"/>
          </a:p>
          <a:p>
            <a:pPr>
              <a:buFont typeface="Times" panose="02020603050405020304" pitchFamily="18" charset="0"/>
              <a:buNone/>
            </a:pPr>
            <a:r>
              <a:rPr lang="en-US" altLang="en-US" sz="2000" i="1" dirty="0">
                <a:solidFill>
                  <a:srgbClr val="FF3300"/>
                </a:solidFill>
              </a:rPr>
              <a:t>4. Exit condition:</a:t>
            </a:r>
            <a:endParaRPr lang="en-US" altLang="en-US" sz="2000" i="1" dirty="0"/>
          </a:p>
          <a:p>
            <a:r>
              <a:rPr lang="en-US" altLang="en-US" sz="2000" dirty="0">
                <a:latin typeface="Courier" charset="0"/>
              </a:rPr>
              <a:t>Passenger</a:t>
            </a:r>
            <a:r>
              <a:rPr lang="en-US" altLang="en-US" sz="2000" dirty="0"/>
              <a:t> has ticket</a:t>
            </a:r>
          </a:p>
        </p:txBody>
      </p:sp>
      <p:sp>
        <p:nvSpPr>
          <p:cNvPr id="98308" name="Rectangle 4">
            <a:extLst>
              <a:ext uri="{FF2B5EF4-FFF2-40B4-BE49-F238E27FC236}">
                <a16:creationId xmlns:a16="http://schemas.microsoft.com/office/drawing/2014/main" id="{AE663CF3-7985-4BC7-9D4A-D78B748AC860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11688" y="1511300"/>
            <a:ext cx="3922712" cy="4800600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en-US" sz="2000" i="1" dirty="0">
                <a:solidFill>
                  <a:srgbClr val="FF3300"/>
                </a:solidFill>
              </a:rPr>
              <a:t>5. Flow of events:</a:t>
            </a:r>
            <a:endParaRPr lang="en-US" altLang="en-US" sz="2000" dirty="0"/>
          </a:p>
          <a:p>
            <a:pPr lvl="1">
              <a:buFont typeface="Times" panose="02020603050405020304" pitchFamily="18" charset="0"/>
              <a:buNone/>
            </a:pPr>
            <a:r>
              <a:rPr lang="en-US" altLang="en-US" sz="1800" dirty="0"/>
              <a:t>1. </a:t>
            </a:r>
            <a:r>
              <a:rPr lang="en-US" altLang="en-US" sz="1800" dirty="0">
                <a:latin typeface="Courier" charset="0"/>
              </a:rPr>
              <a:t>Passenger</a:t>
            </a:r>
            <a:r>
              <a:rPr lang="en-US" altLang="en-US" sz="1800" dirty="0"/>
              <a:t> selects the number of zones to be traveled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en-US" altLang="en-US" sz="1800" dirty="0"/>
              <a:t>2.   T</a:t>
            </a:r>
            <a:r>
              <a:rPr lang="en-US" altLang="en-US" sz="1800" dirty="0">
                <a:latin typeface="ヒラギノ角ゴ Pro W3" charset="-128"/>
              </a:rPr>
              <a:t>icket </a:t>
            </a:r>
            <a:r>
              <a:rPr lang="en-US" altLang="en-US" sz="1800" dirty="0"/>
              <a:t>Distributor displays the amount due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en-US" altLang="en-US" sz="1800" dirty="0"/>
              <a:t>3. </a:t>
            </a:r>
            <a:r>
              <a:rPr lang="en-US" altLang="en-US" sz="1800" dirty="0">
                <a:latin typeface="Courier" charset="0"/>
              </a:rPr>
              <a:t>Passenger</a:t>
            </a:r>
            <a:r>
              <a:rPr lang="en-US" altLang="en-US" sz="1800" dirty="0"/>
              <a:t> inserts money, at least the amount due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en-US" altLang="en-US" sz="1800" dirty="0"/>
              <a:t>4. Ticket Distributor returns change</a:t>
            </a:r>
          </a:p>
          <a:p>
            <a:pPr lvl="1">
              <a:buFont typeface="Times" panose="02020603050405020304" pitchFamily="18" charset="0"/>
              <a:buNone/>
            </a:pPr>
            <a:r>
              <a:rPr lang="en-US" altLang="en-US" sz="1800" dirty="0"/>
              <a:t>5. Ticket Distributor issues ticket</a:t>
            </a:r>
          </a:p>
          <a:p>
            <a:pPr>
              <a:buFont typeface="Times" panose="02020603050405020304" pitchFamily="18" charset="0"/>
              <a:buNone/>
            </a:pPr>
            <a:r>
              <a:rPr lang="en-US" altLang="en-US" sz="2000" i="1" dirty="0"/>
              <a:t>6. Special requirements: None.</a:t>
            </a:r>
            <a:endParaRPr lang="en-US" altLang="en-US" sz="2000" dirty="0"/>
          </a:p>
          <a:p>
            <a:endParaRPr lang="en-US" altLang="en-US" sz="2000" dirty="0"/>
          </a:p>
        </p:txBody>
      </p:sp>
      <p:sp>
        <p:nvSpPr>
          <p:cNvPr id="98309" name="Text Box 5">
            <a:extLst>
              <a:ext uri="{FF2B5EF4-FFF2-40B4-BE49-F238E27FC236}">
                <a16:creationId xmlns:a16="http://schemas.microsoft.com/office/drawing/2014/main" id="{AAFC69C7-E410-47F5-B91E-3FCF281E2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8338" y="48641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b="0"/>
          </a:p>
        </p:txBody>
      </p:sp>
      <p:sp>
        <p:nvSpPr>
          <p:cNvPr id="98310" name="Text Box 6">
            <a:extLst>
              <a:ext uri="{FF2B5EF4-FFF2-40B4-BE49-F238E27FC236}">
                <a16:creationId xmlns:a16="http://schemas.microsoft.com/office/drawing/2014/main" id="{40C75729-AC47-4436-91F1-C06A61CA4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0088" y="5570538"/>
            <a:ext cx="184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2800" b="0"/>
          </a:p>
        </p:txBody>
      </p:sp>
      <p:grpSp>
        <p:nvGrpSpPr>
          <p:cNvPr id="34823" name="Group 7">
            <a:extLst>
              <a:ext uri="{FF2B5EF4-FFF2-40B4-BE49-F238E27FC236}">
                <a16:creationId xmlns:a16="http://schemas.microsoft.com/office/drawing/2014/main" id="{3C6E5575-EE78-49A6-9B30-231CE5F3ABAE}"/>
              </a:ext>
            </a:extLst>
          </p:cNvPr>
          <p:cNvGrpSpPr>
            <a:grpSpLocks/>
          </p:cNvGrpSpPr>
          <p:nvPr/>
        </p:nvGrpSpPr>
        <p:grpSpPr bwMode="auto">
          <a:xfrm>
            <a:off x="4792663" y="150813"/>
            <a:ext cx="1096962" cy="1179512"/>
            <a:chOff x="1021" y="1337"/>
            <a:chExt cx="1118" cy="1044"/>
          </a:xfrm>
        </p:grpSpPr>
        <p:grpSp>
          <p:nvGrpSpPr>
            <p:cNvPr id="34828" name="Group 8">
              <a:extLst>
                <a:ext uri="{FF2B5EF4-FFF2-40B4-BE49-F238E27FC236}">
                  <a16:creationId xmlns:a16="http://schemas.microsoft.com/office/drawing/2014/main" id="{B261874C-BBE1-4017-B814-DE2667BC3F0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7" y="1337"/>
              <a:ext cx="445" cy="783"/>
              <a:chOff x="659" y="1833"/>
              <a:chExt cx="299" cy="526"/>
            </a:xfrm>
          </p:grpSpPr>
          <p:sp>
            <p:nvSpPr>
              <p:cNvPr id="34830" name="Freeform 9">
                <a:extLst>
                  <a:ext uri="{FF2B5EF4-FFF2-40B4-BE49-F238E27FC236}">
                    <a16:creationId xmlns:a16="http://schemas.microsoft.com/office/drawing/2014/main" id="{6E80D36E-642A-4FD5-AD51-56FFEA7918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" y="1941"/>
                <a:ext cx="143" cy="418"/>
              </a:xfrm>
              <a:custGeom>
                <a:avLst/>
                <a:gdLst>
                  <a:gd name="T0" fmla="*/ 143 w 143"/>
                  <a:gd name="T1" fmla="*/ 0 h 418"/>
                  <a:gd name="T2" fmla="*/ 143 w 143"/>
                  <a:gd name="T3" fmla="*/ 263 h 418"/>
                  <a:gd name="T4" fmla="*/ 0 w 143"/>
                  <a:gd name="T5" fmla="*/ 418 h 418"/>
                  <a:gd name="T6" fmla="*/ 0 60000 65536"/>
                  <a:gd name="T7" fmla="*/ 0 60000 65536"/>
                  <a:gd name="T8" fmla="*/ 0 60000 65536"/>
                  <a:gd name="T9" fmla="*/ 0 w 143"/>
                  <a:gd name="T10" fmla="*/ 0 h 418"/>
                  <a:gd name="T11" fmla="*/ 143 w 143"/>
                  <a:gd name="T12" fmla="*/ 418 h 4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" h="418">
                    <a:moveTo>
                      <a:pt x="143" y="0"/>
                    </a:moveTo>
                    <a:lnTo>
                      <a:pt x="143" y="263"/>
                    </a:lnTo>
                    <a:lnTo>
                      <a:pt x="0" y="41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4831" name="Line 10">
                <a:extLst>
                  <a:ext uri="{FF2B5EF4-FFF2-40B4-BE49-F238E27FC236}">
                    <a16:creationId xmlns:a16="http://schemas.microsoft.com/office/drawing/2014/main" id="{FCE35898-9F90-4211-92C0-D7088F4616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" y="2204"/>
                <a:ext cx="156" cy="1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32" name="Line 11">
                <a:extLst>
                  <a:ext uri="{FF2B5EF4-FFF2-40B4-BE49-F238E27FC236}">
                    <a16:creationId xmlns:a16="http://schemas.microsoft.com/office/drawing/2014/main" id="{0A523398-C8DD-42FD-A997-91AA759CC7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9" y="2060"/>
                <a:ext cx="29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833" name="Oval 12">
                <a:extLst>
                  <a:ext uri="{FF2B5EF4-FFF2-40B4-BE49-F238E27FC236}">
                    <a16:creationId xmlns:a16="http://schemas.microsoft.com/office/drawing/2014/main" id="{4428CD3D-35CB-42F2-A39F-30F4035741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1833"/>
                <a:ext cx="155" cy="15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34829" name="Rectangle 13">
              <a:extLst>
                <a:ext uri="{FF2B5EF4-FFF2-40B4-BE49-F238E27FC236}">
                  <a16:creationId xmlns:a16="http://schemas.microsoft.com/office/drawing/2014/main" id="{44848BE3-87A5-4C9D-8767-D7A6C8E85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21" y="2165"/>
              <a:ext cx="1118" cy="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Passenger</a:t>
              </a:r>
              <a:endParaRPr lang="en-US" altLang="en-US" sz="16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34824" name="Group 14">
            <a:extLst>
              <a:ext uri="{FF2B5EF4-FFF2-40B4-BE49-F238E27FC236}">
                <a16:creationId xmlns:a16="http://schemas.microsoft.com/office/drawing/2014/main" id="{6709FE42-89E8-4A3F-AEA1-A36A3DE582A8}"/>
              </a:ext>
            </a:extLst>
          </p:cNvPr>
          <p:cNvGrpSpPr>
            <a:grpSpLocks/>
          </p:cNvGrpSpPr>
          <p:nvPr/>
        </p:nvGrpSpPr>
        <p:grpSpPr bwMode="auto">
          <a:xfrm>
            <a:off x="6580188" y="377825"/>
            <a:ext cx="1706562" cy="831850"/>
            <a:chOff x="2212" y="1949"/>
            <a:chExt cx="976" cy="482"/>
          </a:xfrm>
        </p:grpSpPr>
        <p:sp>
          <p:nvSpPr>
            <p:cNvPr id="34826" name="Oval 15">
              <a:extLst>
                <a:ext uri="{FF2B5EF4-FFF2-40B4-BE49-F238E27FC236}">
                  <a16:creationId xmlns:a16="http://schemas.microsoft.com/office/drawing/2014/main" id="{BB7F2CB1-4EF6-4CE6-BAB7-BFAC508CE9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9" y="1949"/>
              <a:ext cx="753" cy="32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4827" name="Rectangle 16">
              <a:extLst>
                <a:ext uri="{FF2B5EF4-FFF2-40B4-BE49-F238E27FC236}">
                  <a16:creationId xmlns:a16="http://schemas.microsoft.com/office/drawing/2014/main" id="{D0485E2D-DAA3-4115-8072-A5228E7F5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" y="2289"/>
              <a:ext cx="976" cy="1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600" dirty="0" err="1">
                  <a:solidFill>
                    <a:srgbClr val="000000"/>
                  </a:solidFill>
                  <a:latin typeface="Courier" charset="0"/>
                </a:rPr>
                <a:t>PurchaseTicket</a:t>
              </a:r>
              <a:endParaRPr lang="en-US" altLang="en-US" sz="1600" b="0" dirty="0">
                <a:solidFill>
                  <a:schemeClr val="tx1"/>
                </a:solidFill>
              </a:endParaRPr>
            </a:p>
          </p:txBody>
        </p:sp>
      </p:grpSp>
      <p:sp>
        <p:nvSpPr>
          <p:cNvPr id="34825" name="Line 17">
            <a:extLst>
              <a:ext uri="{FF2B5EF4-FFF2-40B4-BE49-F238E27FC236}">
                <a16:creationId xmlns:a16="http://schemas.microsoft.com/office/drawing/2014/main" id="{BEDF3C06-4A98-45FD-AE0C-F2A0E077AD4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0375" y="628650"/>
            <a:ext cx="127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F080286-D33C-4021-A0A6-BBB88DD91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2133E4-5B4C-4694-95A3-A662C059EDE7}" type="slidenum">
              <a:rPr lang="nl-NL" altLang="fr-FR" smtClean="0"/>
              <a:pPr>
                <a:defRPr/>
              </a:pPr>
              <a:t>10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0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07" grpId="0" build="p" autoUpdateAnimBg="0"/>
      <p:bldP spid="98308" grpId="0" build="p" autoUpdateAnimBg="0"/>
      <p:bldP spid="98309" grpId="0" autoUpdateAnimBg="0"/>
      <p:bldP spid="98310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>
            <a:extLst>
              <a:ext uri="{FF2B5EF4-FFF2-40B4-BE49-F238E27FC236}">
                <a16:creationId xmlns:a16="http://schemas.microsoft.com/office/drawing/2014/main" id="{C190F461-1A2C-4DB4-B908-E9F622AC6D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Uses Cases can be related</a:t>
            </a:r>
          </a:p>
        </p:txBody>
      </p:sp>
      <p:sp>
        <p:nvSpPr>
          <p:cNvPr id="234502" name="Rectangle 6">
            <a:extLst>
              <a:ext uri="{FF2B5EF4-FFF2-40B4-BE49-F238E27FC236}">
                <a16:creationId xmlns:a16="http://schemas.microsoft.com/office/drawing/2014/main" id="{3867BD6D-AA31-4F08-8C42-629F4BD800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>
                <a:solidFill>
                  <a:srgbClr val="FF3300"/>
                </a:solidFill>
              </a:rPr>
              <a:t>Extends Relationship</a:t>
            </a:r>
            <a:endParaRPr lang="en-US" altLang="en-US"/>
          </a:p>
          <a:p>
            <a:pPr lvl="1"/>
            <a:r>
              <a:rPr lang="en-US" altLang="en-US"/>
              <a:t>To represent seldom invoked use cases or exceptional functionality</a:t>
            </a:r>
          </a:p>
          <a:p>
            <a:r>
              <a:rPr lang="en-US" altLang="en-US">
                <a:solidFill>
                  <a:srgbClr val="FF3300"/>
                </a:solidFill>
              </a:rPr>
              <a:t>Includes Relationship</a:t>
            </a:r>
            <a:endParaRPr lang="en-US" altLang="en-US"/>
          </a:p>
          <a:p>
            <a:pPr lvl="1"/>
            <a:r>
              <a:rPr lang="en-US" altLang="en-US"/>
              <a:t>To represent functional behavior common to more than one use case.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7E5C817-D15E-4176-A69A-DB8EA64FF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11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5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02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89E078AD-2581-4457-B071-C676BE31B7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5556" y="-243408"/>
            <a:ext cx="7772400" cy="1143000"/>
          </a:xfrm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i="1" dirty="0"/>
              <a:t>&lt;&lt;extends&gt;&gt;</a:t>
            </a:r>
            <a:r>
              <a:rPr lang="en-US" altLang="en-US" sz="2600" i="1" dirty="0"/>
              <a:t> </a:t>
            </a:r>
            <a:r>
              <a:rPr lang="en-US" altLang="en-US" dirty="0"/>
              <a:t>Relationship</a:t>
            </a:r>
          </a:p>
        </p:txBody>
      </p:sp>
      <p:sp>
        <p:nvSpPr>
          <p:cNvPr id="99332" name="Rectangle 4">
            <a:extLst>
              <a:ext uri="{FF2B5EF4-FFF2-40B4-BE49-F238E27FC236}">
                <a16:creationId xmlns:a16="http://schemas.microsoft.com/office/drawing/2014/main" id="{D038A3B9-01F2-421D-9EE0-438440BA455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857250"/>
            <a:ext cx="4470400" cy="4800600"/>
          </a:xfrm>
        </p:spPr>
        <p:txBody>
          <a:bodyPr/>
          <a:lstStyle/>
          <a:p>
            <a:r>
              <a:rPr lang="en-US" altLang="en-US" sz="2000">
                <a:latin typeface="Courier" charset="0"/>
              </a:rPr>
              <a:t>&lt;&lt;extends&gt;&gt;</a:t>
            </a:r>
            <a:r>
              <a:rPr lang="en-US" altLang="en-US" sz="2000"/>
              <a:t> relationships model exceptional or seldom invoked cases</a:t>
            </a:r>
          </a:p>
          <a:p>
            <a:r>
              <a:rPr lang="en-US" altLang="en-US" sz="2000"/>
              <a:t>The exceptional event flows are factored out of the main event flow for clarity</a:t>
            </a:r>
          </a:p>
          <a:p>
            <a:r>
              <a:rPr lang="en-US" altLang="en-US" sz="2000"/>
              <a:t>The direction of an </a:t>
            </a:r>
            <a:r>
              <a:rPr lang="en-US" altLang="en-US" sz="2000">
                <a:latin typeface="Courier" charset="0"/>
              </a:rPr>
              <a:t>&lt;&lt;extends&gt;&gt;</a:t>
            </a:r>
            <a:r>
              <a:rPr lang="en-US" altLang="en-US" sz="2000"/>
              <a:t> relationship is to the extended use case </a:t>
            </a:r>
          </a:p>
          <a:p>
            <a:r>
              <a:rPr lang="en-US" altLang="en-US" sz="2000"/>
              <a:t>Use cases representing exceptional flows can extend more than one use case.</a:t>
            </a:r>
          </a:p>
          <a:p>
            <a:endParaRPr lang="en-US" altLang="en-US" sz="2000"/>
          </a:p>
        </p:txBody>
      </p:sp>
      <p:grpSp>
        <p:nvGrpSpPr>
          <p:cNvPr id="38916" name="Group 47">
            <a:extLst>
              <a:ext uri="{FF2B5EF4-FFF2-40B4-BE49-F238E27FC236}">
                <a16:creationId xmlns:a16="http://schemas.microsoft.com/office/drawing/2014/main" id="{A0484B72-20DB-45FF-ADC6-A012BE02F878}"/>
              </a:ext>
            </a:extLst>
          </p:cNvPr>
          <p:cNvGrpSpPr>
            <a:grpSpLocks/>
          </p:cNvGrpSpPr>
          <p:nvPr/>
        </p:nvGrpSpPr>
        <p:grpSpPr bwMode="auto">
          <a:xfrm>
            <a:off x="2135188" y="1271588"/>
            <a:ext cx="1920875" cy="2357437"/>
            <a:chOff x="945" y="801"/>
            <a:chExt cx="1210" cy="1485"/>
          </a:xfrm>
        </p:grpSpPr>
        <p:grpSp>
          <p:nvGrpSpPr>
            <p:cNvPr id="38941" name="Group 18">
              <a:extLst>
                <a:ext uri="{FF2B5EF4-FFF2-40B4-BE49-F238E27FC236}">
                  <a16:creationId xmlns:a16="http://schemas.microsoft.com/office/drawing/2014/main" id="{0C15A40B-0702-4D46-BC66-621DE967AA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60" y="801"/>
              <a:ext cx="778" cy="694"/>
              <a:chOff x="1616" y="801"/>
              <a:chExt cx="778" cy="694"/>
            </a:xfrm>
          </p:grpSpPr>
          <p:grpSp>
            <p:nvGrpSpPr>
              <p:cNvPr id="38946" name="Group 6">
                <a:extLst>
                  <a:ext uri="{FF2B5EF4-FFF2-40B4-BE49-F238E27FC236}">
                    <a16:creationId xmlns:a16="http://schemas.microsoft.com/office/drawing/2014/main" id="{29A057BB-8FF8-4CF4-8A85-F1C344D4B3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863" y="801"/>
                <a:ext cx="280" cy="493"/>
                <a:chOff x="659" y="1833"/>
                <a:chExt cx="299" cy="526"/>
              </a:xfrm>
            </p:grpSpPr>
            <p:sp>
              <p:nvSpPr>
                <p:cNvPr id="38948" name="Freeform 7">
                  <a:extLst>
                    <a:ext uri="{FF2B5EF4-FFF2-40B4-BE49-F238E27FC236}">
                      <a16:creationId xmlns:a16="http://schemas.microsoft.com/office/drawing/2014/main" id="{D0A83BC4-E2E4-4C21-BE68-761E78099E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9" y="1941"/>
                  <a:ext cx="143" cy="418"/>
                </a:xfrm>
                <a:custGeom>
                  <a:avLst/>
                  <a:gdLst>
                    <a:gd name="T0" fmla="*/ 143 w 143"/>
                    <a:gd name="T1" fmla="*/ 0 h 418"/>
                    <a:gd name="T2" fmla="*/ 143 w 143"/>
                    <a:gd name="T3" fmla="*/ 263 h 418"/>
                    <a:gd name="T4" fmla="*/ 0 w 143"/>
                    <a:gd name="T5" fmla="*/ 418 h 418"/>
                    <a:gd name="T6" fmla="*/ 0 60000 65536"/>
                    <a:gd name="T7" fmla="*/ 0 60000 65536"/>
                    <a:gd name="T8" fmla="*/ 0 60000 65536"/>
                    <a:gd name="T9" fmla="*/ 0 w 143"/>
                    <a:gd name="T10" fmla="*/ 0 h 418"/>
                    <a:gd name="T11" fmla="*/ 143 w 143"/>
                    <a:gd name="T12" fmla="*/ 418 h 41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3" h="418">
                      <a:moveTo>
                        <a:pt x="143" y="0"/>
                      </a:moveTo>
                      <a:lnTo>
                        <a:pt x="143" y="263"/>
                      </a:lnTo>
                      <a:lnTo>
                        <a:pt x="0" y="418"/>
                      </a:lnTo>
                    </a:path>
                  </a:pathLst>
                </a:cu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38949" name="Line 8">
                  <a:extLst>
                    <a:ext uri="{FF2B5EF4-FFF2-40B4-BE49-F238E27FC236}">
                      <a16:creationId xmlns:a16="http://schemas.microsoft.com/office/drawing/2014/main" id="{CC623FA6-8276-46E5-82D7-5184364090F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02" y="2204"/>
                  <a:ext cx="156" cy="155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0" name="Line 9">
                  <a:extLst>
                    <a:ext uri="{FF2B5EF4-FFF2-40B4-BE49-F238E27FC236}">
                      <a16:creationId xmlns:a16="http://schemas.microsoft.com/office/drawing/2014/main" id="{5E793019-F8F0-4F07-8F1A-6C745FC196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59" y="2060"/>
                  <a:ext cx="299" cy="1"/>
                </a:xfrm>
                <a:prstGeom prst="lin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8951" name="Oval 10">
                  <a:extLst>
                    <a:ext uri="{FF2B5EF4-FFF2-40B4-BE49-F238E27FC236}">
                      <a16:creationId xmlns:a16="http://schemas.microsoft.com/office/drawing/2014/main" id="{8F8D9F86-C772-4948-AAB5-AF584A324E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31" y="1833"/>
                  <a:ext cx="155" cy="156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</p:grpSp>
          <p:sp>
            <p:nvSpPr>
              <p:cNvPr id="38947" name="Rectangle 11">
                <a:extLst>
                  <a:ext uri="{FF2B5EF4-FFF2-40B4-BE49-F238E27FC236}">
                    <a16:creationId xmlns:a16="http://schemas.microsoft.com/office/drawing/2014/main" id="{79E20A84-CCD9-4AFA-983F-1E060CDCCA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16" y="1322"/>
                <a:ext cx="77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Passenger</a:t>
                </a:r>
                <a:endParaRPr lang="en-US" altLang="en-US" sz="1800" b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8942" name="Group 17">
              <a:extLst>
                <a:ext uri="{FF2B5EF4-FFF2-40B4-BE49-F238E27FC236}">
                  <a16:creationId xmlns:a16="http://schemas.microsoft.com/office/drawing/2014/main" id="{53A84C4A-9B7A-4A18-B2C1-84F7DDA46D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45" y="1795"/>
              <a:ext cx="1210" cy="491"/>
              <a:chOff x="1401" y="1795"/>
              <a:chExt cx="1210" cy="491"/>
            </a:xfrm>
          </p:grpSpPr>
          <p:sp>
            <p:nvSpPr>
              <p:cNvPr id="38944" name="Oval 13">
                <a:extLst>
                  <a:ext uri="{FF2B5EF4-FFF2-40B4-BE49-F238E27FC236}">
                    <a16:creationId xmlns:a16="http://schemas.microsoft.com/office/drawing/2014/main" id="{7DA6C143-1F3F-4A33-80D7-F5F3C0B22C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0" y="1795"/>
                <a:ext cx="706" cy="301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38945" name="Rectangle 14">
                <a:extLst>
                  <a:ext uri="{FF2B5EF4-FFF2-40B4-BE49-F238E27FC236}">
                    <a16:creationId xmlns:a16="http://schemas.microsoft.com/office/drawing/2014/main" id="{B5B96284-8F17-4553-AAB2-C36BD10DCC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1" y="2113"/>
                <a:ext cx="121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PurchaseTicket</a:t>
                </a:r>
                <a:endParaRPr lang="en-US" altLang="en-US" sz="1800" b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8943" name="Line 15">
              <a:extLst>
                <a:ext uri="{FF2B5EF4-FFF2-40B4-BE49-F238E27FC236}">
                  <a16:creationId xmlns:a16="http://schemas.microsoft.com/office/drawing/2014/main" id="{5F9B8DF4-02AD-46D0-A2B9-C452567426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6" y="1543"/>
              <a:ext cx="1" cy="2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37">
            <a:extLst>
              <a:ext uri="{FF2B5EF4-FFF2-40B4-BE49-F238E27FC236}">
                <a16:creationId xmlns:a16="http://schemas.microsoft.com/office/drawing/2014/main" id="{39A872D4-EE3C-4AA6-B7CF-25C89C7140E3}"/>
              </a:ext>
            </a:extLst>
          </p:cNvPr>
          <p:cNvGrpSpPr>
            <a:grpSpLocks/>
          </p:cNvGrpSpPr>
          <p:nvPr/>
        </p:nvGrpSpPr>
        <p:grpSpPr bwMode="auto">
          <a:xfrm>
            <a:off x="5984875" y="4900613"/>
            <a:ext cx="1120775" cy="779462"/>
            <a:chOff x="1762" y="2595"/>
            <a:chExt cx="706" cy="491"/>
          </a:xfrm>
        </p:grpSpPr>
        <p:sp>
          <p:nvSpPr>
            <p:cNvPr id="38939" name="Oval 33">
              <a:extLst>
                <a:ext uri="{FF2B5EF4-FFF2-40B4-BE49-F238E27FC236}">
                  <a16:creationId xmlns:a16="http://schemas.microsoft.com/office/drawing/2014/main" id="{14AD6EFC-61EE-4B0D-915A-520CCE8E3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62" y="2595"/>
              <a:ext cx="706" cy="30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40" name="Rectangle 34">
              <a:extLst>
                <a:ext uri="{FF2B5EF4-FFF2-40B4-BE49-F238E27FC236}">
                  <a16:creationId xmlns:a16="http://schemas.microsoft.com/office/drawing/2014/main" id="{EDEE612B-A80B-4EE1-8303-07657F45DF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3" y="2913"/>
              <a:ext cx="605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TimeOut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59">
            <a:extLst>
              <a:ext uri="{FF2B5EF4-FFF2-40B4-BE49-F238E27FC236}">
                <a16:creationId xmlns:a16="http://schemas.microsoft.com/office/drawing/2014/main" id="{64EF133F-151A-4EA6-BD78-4F02A394B810}"/>
              </a:ext>
            </a:extLst>
          </p:cNvPr>
          <p:cNvGrpSpPr>
            <a:grpSpLocks/>
          </p:cNvGrpSpPr>
          <p:nvPr/>
        </p:nvGrpSpPr>
        <p:grpSpPr bwMode="auto">
          <a:xfrm>
            <a:off x="3598863" y="3821113"/>
            <a:ext cx="2281237" cy="1463675"/>
            <a:chOff x="2307" y="2351"/>
            <a:chExt cx="1437" cy="922"/>
          </a:xfrm>
        </p:grpSpPr>
        <p:sp>
          <p:nvSpPr>
            <p:cNvPr id="38937" name="Line 43">
              <a:extLst>
                <a:ext uri="{FF2B5EF4-FFF2-40B4-BE49-F238E27FC236}">
                  <a16:creationId xmlns:a16="http://schemas.microsoft.com/office/drawing/2014/main" id="{6D0A424B-C287-47AD-8FA9-AD91742FF9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7" y="2351"/>
              <a:ext cx="1423" cy="75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8" name="Text Box 44">
              <a:extLst>
                <a:ext uri="{FF2B5EF4-FFF2-40B4-BE49-F238E27FC236}">
                  <a16:creationId xmlns:a16="http://schemas.microsoft.com/office/drawing/2014/main" id="{7A4D1542-0C02-4D4A-9B1B-BF0480388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3" y="3061"/>
              <a:ext cx="9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&lt;&lt;extends&gt;&gt;</a:t>
              </a:r>
            </a:p>
          </p:txBody>
        </p:sp>
      </p:grpSp>
      <p:grpSp>
        <p:nvGrpSpPr>
          <p:cNvPr id="8" name="Group 53">
            <a:extLst>
              <a:ext uri="{FF2B5EF4-FFF2-40B4-BE49-F238E27FC236}">
                <a16:creationId xmlns:a16="http://schemas.microsoft.com/office/drawing/2014/main" id="{E3CACEA4-967E-4A9D-A95F-43F84FA96A30}"/>
              </a:ext>
            </a:extLst>
          </p:cNvPr>
          <p:cNvGrpSpPr>
            <a:grpSpLocks/>
          </p:cNvGrpSpPr>
          <p:nvPr/>
        </p:nvGrpSpPr>
        <p:grpSpPr bwMode="auto">
          <a:xfrm>
            <a:off x="4162425" y="5707063"/>
            <a:ext cx="1120775" cy="779462"/>
            <a:chOff x="2550" y="3595"/>
            <a:chExt cx="706" cy="491"/>
          </a:xfrm>
        </p:grpSpPr>
        <p:sp>
          <p:nvSpPr>
            <p:cNvPr id="38935" name="Oval 27">
              <a:extLst>
                <a:ext uri="{FF2B5EF4-FFF2-40B4-BE49-F238E27FC236}">
                  <a16:creationId xmlns:a16="http://schemas.microsoft.com/office/drawing/2014/main" id="{0748EE68-FDE7-4A8D-A4F9-B6D2D62A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0" y="3595"/>
              <a:ext cx="706" cy="30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36" name="Rectangle 28">
              <a:extLst>
                <a:ext uri="{FF2B5EF4-FFF2-40B4-BE49-F238E27FC236}">
                  <a16:creationId xmlns:a16="http://schemas.microsoft.com/office/drawing/2014/main" id="{1F60C824-93D5-46FF-913B-719680DD6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8" y="3913"/>
              <a:ext cx="6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NoChange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57">
            <a:extLst>
              <a:ext uri="{FF2B5EF4-FFF2-40B4-BE49-F238E27FC236}">
                <a16:creationId xmlns:a16="http://schemas.microsoft.com/office/drawing/2014/main" id="{41C6BEAA-5845-4FC3-8D6F-9585581CC475}"/>
              </a:ext>
            </a:extLst>
          </p:cNvPr>
          <p:cNvGrpSpPr>
            <a:grpSpLocks/>
          </p:cNvGrpSpPr>
          <p:nvPr/>
        </p:nvGrpSpPr>
        <p:grpSpPr bwMode="auto">
          <a:xfrm>
            <a:off x="2970213" y="3795713"/>
            <a:ext cx="1617662" cy="1844675"/>
            <a:chOff x="1871" y="2391"/>
            <a:chExt cx="1019" cy="1162"/>
          </a:xfrm>
        </p:grpSpPr>
        <p:sp>
          <p:nvSpPr>
            <p:cNvPr id="38933" name="Line 42">
              <a:extLst>
                <a:ext uri="{FF2B5EF4-FFF2-40B4-BE49-F238E27FC236}">
                  <a16:creationId xmlns:a16="http://schemas.microsoft.com/office/drawing/2014/main" id="{3A01DEE1-6535-4231-9FF6-7638839B1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91" y="2391"/>
              <a:ext cx="799" cy="11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4" name="Text Box 45">
              <a:extLst>
                <a:ext uri="{FF2B5EF4-FFF2-40B4-BE49-F238E27FC236}">
                  <a16:creationId xmlns:a16="http://schemas.microsoft.com/office/drawing/2014/main" id="{77676AA8-09A5-4E87-9744-FA8B55C13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1" y="3341"/>
              <a:ext cx="9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&lt;&lt;extends&gt;&gt;</a:t>
              </a:r>
            </a:p>
          </p:txBody>
        </p:sp>
      </p:grpSp>
      <p:grpSp>
        <p:nvGrpSpPr>
          <p:cNvPr id="10" name="Group 35">
            <a:extLst>
              <a:ext uri="{FF2B5EF4-FFF2-40B4-BE49-F238E27FC236}">
                <a16:creationId xmlns:a16="http://schemas.microsoft.com/office/drawing/2014/main" id="{3A511E5F-029C-4B39-9E15-DF1BC263B46D}"/>
              </a:ext>
            </a:extLst>
          </p:cNvPr>
          <p:cNvGrpSpPr>
            <a:grpSpLocks/>
          </p:cNvGrpSpPr>
          <p:nvPr/>
        </p:nvGrpSpPr>
        <p:grpSpPr bwMode="auto">
          <a:xfrm>
            <a:off x="222250" y="4799013"/>
            <a:ext cx="1384300" cy="779462"/>
            <a:chOff x="518" y="2443"/>
            <a:chExt cx="872" cy="491"/>
          </a:xfrm>
        </p:grpSpPr>
        <p:sp>
          <p:nvSpPr>
            <p:cNvPr id="38931" name="Oval 21">
              <a:extLst>
                <a:ext uri="{FF2B5EF4-FFF2-40B4-BE49-F238E27FC236}">
                  <a16:creationId xmlns:a16="http://schemas.microsoft.com/office/drawing/2014/main" id="{872D7F6B-4FFB-4F4F-BD2B-611036466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8" y="2443"/>
              <a:ext cx="706" cy="30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32" name="Rectangle 22">
              <a:extLst>
                <a:ext uri="{FF2B5EF4-FFF2-40B4-BE49-F238E27FC236}">
                  <a16:creationId xmlns:a16="http://schemas.microsoft.com/office/drawing/2014/main" id="{A7135F1D-38E7-4641-BE1C-1F07D7D6B0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" y="2761"/>
              <a:ext cx="86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OutOfOrder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11" name="Group 55">
            <a:extLst>
              <a:ext uri="{FF2B5EF4-FFF2-40B4-BE49-F238E27FC236}">
                <a16:creationId xmlns:a16="http://schemas.microsoft.com/office/drawing/2014/main" id="{EA0C6FB4-376F-4908-9AF2-BC29E505A56A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3757613"/>
            <a:ext cx="2152650" cy="968375"/>
            <a:chOff x="295" y="2367"/>
            <a:chExt cx="1356" cy="610"/>
          </a:xfrm>
        </p:grpSpPr>
        <p:sp>
          <p:nvSpPr>
            <p:cNvPr id="38929" name="Line 40">
              <a:extLst>
                <a:ext uri="{FF2B5EF4-FFF2-40B4-BE49-F238E27FC236}">
                  <a16:creationId xmlns:a16="http://schemas.microsoft.com/office/drawing/2014/main" id="{CD0CE3BD-5B2A-452A-887A-E25CBF0391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0" y="2367"/>
              <a:ext cx="921" cy="61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30" name="Text Box 46">
              <a:extLst>
                <a:ext uri="{FF2B5EF4-FFF2-40B4-BE49-F238E27FC236}">
                  <a16:creationId xmlns:a16="http://schemas.microsoft.com/office/drawing/2014/main" id="{B56CD055-E060-4A91-AA23-966385BBBC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" y="2501"/>
              <a:ext cx="9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&lt;&lt;extends&gt;&gt;</a:t>
              </a:r>
            </a:p>
          </p:txBody>
        </p:sp>
      </p:grpSp>
      <p:grpSp>
        <p:nvGrpSpPr>
          <p:cNvPr id="12" name="Group 38">
            <a:extLst>
              <a:ext uri="{FF2B5EF4-FFF2-40B4-BE49-F238E27FC236}">
                <a16:creationId xmlns:a16="http://schemas.microsoft.com/office/drawing/2014/main" id="{D6FAD1BE-BA94-44A0-B0F7-5DEE067275E8}"/>
              </a:ext>
            </a:extLst>
          </p:cNvPr>
          <p:cNvGrpSpPr>
            <a:grpSpLocks/>
          </p:cNvGrpSpPr>
          <p:nvPr/>
        </p:nvGrpSpPr>
        <p:grpSpPr bwMode="auto">
          <a:xfrm>
            <a:off x="2071688" y="5707063"/>
            <a:ext cx="1120775" cy="779462"/>
            <a:chOff x="724" y="3067"/>
            <a:chExt cx="706" cy="491"/>
          </a:xfrm>
        </p:grpSpPr>
        <p:sp>
          <p:nvSpPr>
            <p:cNvPr id="38927" name="Oval 24">
              <a:extLst>
                <a:ext uri="{FF2B5EF4-FFF2-40B4-BE49-F238E27FC236}">
                  <a16:creationId xmlns:a16="http://schemas.microsoft.com/office/drawing/2014/main" id="{1FF2500E-B513-4586-96DD-9723D41CB5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" y="3067"/>
              <a:ext cx="706" cy="30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38928" name="Rectangle 25">
              <a:extLst>
                <a:ext uri="{FF2B5EF4-FFF2-40B4-BE49-F238E27FC236}">
                  <a16:creationId xmlns:a16="http://schemas.microsoft.com/office/drawing/2014/main" id="{7D5C38EF-34E2-4370-BFE5-41262A39D4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6" y="3385"/>
              <a:ext cx="51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Cancel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56">
            <a:extLst>
              <a:ext uri="{FF2B5EF4-FFF2-40B4-BE49-F238E27FC236}">
                <a16:creationId xmlns:a16="http://schemas.microsoft.com/office/drawing/2014/main" id="{79108A2D-FD9B-4BFF-8D36-C730026D56B3}"/>
              </a:ext>
            </a:extLst>
          </p:cNvPr>
          <p:cNvGrpSpPr>
            <a:grpSpLocks/>
          </p:cNvGrpSpPr>
          <p:nvPr/>
        </p:nvGrpSpPr>
        <p:grpSpPr bwMode="auto">
          <a:xfrm>
            <a:off x="1463675" y="3783013"/>
            <a:ext cx="1525588" cy="1844675"/>
            <a:chOff x="922" y="2383"/>
            <a:chExt cx="961" cy="1162"/>
          </a:xfrm>
        </p:grpSpPr>
        <p:sp>
          <p:nvSpPr>
            <p:cNvPr id="38925" name="Line 41">
              <a:extLst>
                <a:ext uri="{FF2B5EF4-FFF2-40B4-BE49-F238E27FC236}">
                  <a16:creationId xmlns:a16="http://schemas.microsoft.com/office/drawing/2014/main" id="{7A8B8F96-B2FF-4BD9-AE09-A35AA04555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49" y="2383"/>
              <a:ext cx="89" cy="11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926" name="Text Box 48">
              <a:extLst>
                <a:ext uri="{FF2B5EF4-FFF2-40B4-BE49-F238E27FC236}">
                  <a16:creationId xmlns:a16="http://schemas.microsoft.com/office/drawing/2014/main" id="{A34F7518-E573-48F3-BEF5-6542297BFA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2" y="2917"/>
              <a:ext cx="9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&lt;&lt;extends&gt;&gt;</a:t>
              </a:r>
            </a:p>
          </p:txBody>
        </p: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B7DA6B8-EBA8-4113-AAD8-C6AB3418C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2133E4-5B4C-4694-95A3-A662C059EDE7}" type="slidenum">
              <a:rPr lang="nl-NL" altLang="fr-FR" smtClean="0"/>
              <a:pPr>
                <a:defRPr/>
              </a:pPr>
              <a:t>12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2" grpId="0" build="p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2D9E16F1-9965-403D-834E-C2FD34B44A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-171400"/>
            <a:ext cx="7772400" cy="1143000"/>
          </a:xfrm>
        </p:spPr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i="1" dirty="0">
                <a:latin typeface="Courier" charset="0"/>
              </a:rPr>
              <a:t>&lt;&lt;includes&gt;&gt;</a:t>
            </a:r>
            <a:r>
              <a:rPr lang="en-US" altLang="en-US" sz="2600" i="1" dirty="0">
                <a:latin typeface="Courier" charset="0"/>
              </a:rPr>
              <a:t> </a:t>
            </a:r>
            <a:r>
              <a:rPr lang="en-US" altLang="en-US" dirty="0"/>
              <a:t>Relationship</a:t>
            </a:r>
          </a:p>
        </p:txBody>
      </p:sp>
      <p:sp>
        <p:nvSpPr>
          <p:cNvPr id="100356" name="Rectangle 4">
            <a:extLst>
              <a:ext uri="{FF2B5EF4-FFF2-40B4-BE49-F238E27FC236}">
                <a16:creationId xmlns:a16="http://schemas.microsoft.com/office/drawing/2014/main" id="{80D2B2D7-039B-4005-9B3F-54DDD6C3FA9B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953000" y="1085850"/>
            <a:ext cx="4191000" cy="4800600"/>
          </a:xfrm>
        </p:spPr>
        <p:txBody>
          <a:bodyPr/>
          <a:lstStyle/>
          <a:p>
            <a:r>
              <a:rPr lang="en-US" altLang="en-US" sz="2000">
                <a:latin typeface="Courier" charset="0"/>
              </a:rPr>
              <a:t>&lt;&lt;includes&gt;&gt;</a:t>
            </a:r>
            <a:r>
              <a:rPr lang="en-US" altLang="en-US" sz="2000"/>
              <a:t> relationship represents common functionality needed in more than one use case</a:t>
            </a:r>
          </a:p>
          <a:p>
            <a:r>
              <a:rPr lang="en-US" altLang="en-US" sz="2000">
                <a:latin typeface="Courier" charset="0"/>
              </a:rPr>
              <a:t>&lt;&lt;includes&gt;&gt;</a:t>
            </a:r>
            <a:r>
              <a:rPr lang="en-US" altLang="en-US" sz="2000"/>
              <a:t> behavior is factored out for reuse, not because it is an exception</a:t>
            </a:r>
          </a:p>
          <a:p>
            <a:r>
              <a:rPr lang="en-US" altLang="en-US" sz="2000"/>
              <a:t>The direction of a </a:t>
            </a:r>
            <a:r>
              <a:rPr lang="en-US" altLang="en-US" sz="2000">
                <a:latin typeface="Courier" charset="0"/>
              </a:rPr>
              <a:t>&lt;&lt;includes&gt;&gt;</a:t>
            </a:r>
            <a:r>
              <a:rPr lang="en-US" altLang="en-US" sz="2000"/>
              <a:t> relationship is to the using use case (unlike  the direction of the </a:t>
            </a:r>
            <a:r>
              <a:rPr lang="en-US" altLang="en-US" sz="2000">
                <a:latin typeface="Courier" charset="0"/>
              </a:rPr>
              <a:t>&lt;&lt;extends&gt;&gt;</a:t>
            </a:r>
            <a:r>
              <a:rPr lang="en-US" altLang="en-US" sz="2000"/>
              <a:t> relationship).</a:t>
            </a:r>
          </a:p>
        </p:txBody>
      </p:sp>
      <p:grpSp>
        <p:nvGrpSpPr>
          <p:cNvPr id="40964" name="Group 6">
            <a:extLst>
              <a:ext uri="{FF2B5EF4-FFF2-40B4-BE49-F238E27FC236}">
                <a16:creationId xmlns:a16="http://schemas.microsoft.com/office/drawing/2014/main" id="{42610C0B-14CE-4F16-881F-78E014552C53}"/>
              </a:ext>
            </a:extLst>
          </p:cNvPr>
          <p:cNvGrpSpPr>
            <a:grpSpLocks/>
          </p:cNvGrpSpPr>
          <p:nvPr/>
        </p:nvGrpSpPr>
        <p:grpSpPr bwMode="auto">
          <a:xfrm>
            <a:off x="876300" y="1284288"/>
            <a:ext cx="1235075" cy="1101725"/>
            <a:chOff x="1616" y="801"/>
            <a:chExt cx="778" cy="694"/>
          </a:xfrm>
        </p:grpSpPr>
        <p:grpSp>
          <p:nvGrpSpPr>
            <p:cNvPr id="41000" name="Group 7">
              <a:extLst>
                <a:ext uri="{FF2B5EF4-FFF2-40B4-BE49-F238E27FC236}">
                  <a16:creationId xmlns:a16="http://schemas.microsoft.com/office/drawing/2014/main" id="{321F6CD1-A296-4CB0-B142-E0CF5B0862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3" y="801"/>
              <a:ext cx="280" cy="493"/>
              <a:chOff x="659" y="1833"/>
              <a:chExt cx="299" cy="526"/>
            </a:xfrm>
          </p:grpSpPr>
          <p:sp>
            <p:nvSpPr>
              <p:cNvPr id="41002" name="Freeform 8">
                <a:extLst>
                  <a:ext uri="{FF2B5EF4-FFF2-40B4-BE49-F238E27FC236}">
                    <a16:creationId xmlns:a16="http://schemas.microsoft.com/office/drawing/2014/main" id="{2CBA59FC-0041-4FBC-8B1A-33A8299BC9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" y="1941"/>
                <a:ext cx="143" cy="418"/>
              </a:xfrm>
              <a:custGeom>
                <a:avLst/>
                <a:gdLst>
                  <a:gd name="T0" fmla="*/ 143 w 143"/>
                  <a:gd name="T1" fmla="*/ 0 h 418"/>
                  <a:gd name="T2" fmla="*/ 143 w 143"/>
                  <a:gd name="T3" fmla="*/ 263 h 418"/>
                  <a:gd name="T4" fmla="*/ 0 w 143"/>
                  <a:gd name="T5" fmla="*/ 418 h 418"/>
                  <a:gd name="T6" fmla="*/ 0 60000 65536"/>
                  <a:gd name="T7" fmla="*/ 0 60000 65536"/>
                  <a:gd name="T8" fmla="*/ 0 60000 65536"/>
                  <a:gd name="T9" fmla="*/ 0 w 143"/>
                  <a:gd name="T10" fmla="*/ 0 h 418"/>
                  <a:gd name="T11" fmla="*/ 143 w 143"/>
                  <a:gd name="T12" fmla="*/ 418 h 4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" h="418">
                    <a:moveTo>
                      <a:pt x="143" y="0"/>
                    </a:moveTo>
                    <a:lnTo>
                      <a:pt x="143" y="263"/>
                    </a:lnTo>
                    <a:lnTo>
                      <a:pt x="0" y="418"/>
                    </a:lnTo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1003" name="Line 9">
                <a:extLst>
                  <a:ext uri="{FF2B5EF4-FFF2-40B4-BE49-F238E27FC236}">
                    <a16:creationId xmlns:a16="http://schemas.microsoft.com/office/drawing/2014/main" id="{80FBB23E-876F-4871-B8FA-407B303274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02" y="2204"/>
                <a:ext cx="156" cy="15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4" name="Line 10">
                <a:extLst>
                  <a:ext uri="{FF2B5EF4-FFF2-40B4-BE49-F238E27FC236}">
                    <a16:creationId xmlns:a16="http://schemas.microsoft.com/office/drawing/2014/main" id="{E10D89F0-E983-4817-B8AF-AEC8CA5538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59" y="2060"/>
                <a:ext cx="299" cy="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05" name="Oval 11">
                <a:extLst>
                  <a:ext uri="{FF2B5EF4-FFF2-40B4-BE49-F238E27FC236}">
                    <a16:creationId xmlns:a16="http://schemas.microsoft.com/office/drawing/2014/main" id="{3F6A2C5B-BCAC-4AE9-B108-19C6F50B3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1833"/>
                <a:ext cx="155" cy="15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41001" name="Rectangle 12">
              <a:extLst>
                <a:ext uri="{FF2B5EF4-FFF2-40B4-BE49-F238E27FC236}">
                  <a16:creationId xmlns:a16="http://schemas.microsoft.com/office/drawing/2014/main" id="{60CA436C-3975-4A57-98FA-E0F7BDD2E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6" y="1322"/>
              <a:ext cx="77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Passenger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40965" name="Group 38">
            <a:extLst>
              <a:ext uri="{FF2B5EF4-FFF2-40B4-BE49-F238E27FC236}">
                <a16:creationId xmlns:a16="http://schemas.microsoft.com/office/drawing/2014/main" id="{6179BE69-055F-4811-8025-77BA5FD3274A}"/>
              </a:ext>
            </a:extLst>
          </p:cNvPr>
          <p:cNvGrpSpPr>
            <a:grpSpLocks/>
          </p:cNvGrpSpPr>
          <p:nvPr/>
        </p:nvGrpSpPr>
        <p:grpSpPr bwMode="auto">
          <a:xfrm>
            <a:off x="153988" y="2862263"/>
            <a:ext cx="2743200" cy="779462"/>
            <a:chOff x="337" y="1803"/>
            <a:chExt cx="1728" cy="491"/>
          </a:xfrm>
        </p:grpSpPr>
        <p:sp>
          <p:nvSpPr>
            <p:cNvPr id="40998" name="Oval 14">
              <a:extLst>
                <a:ext uri="{FF2B5EF4-FFF2-40B4-BE49-F238E27FC236}">
                  <a16:creationId xmlns:a16="http://schemas.microsoft.com/office/drawing/2014/main" id="{3FDD4EB2-08BD-4486-B1D9-832DCE3DE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" y="1803"/>
              <a:ext cx="706" cy="30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999" name="Rectangle 15">
              <a:extLst>
                <a:ext uri="{FF2B5EF4-FFF2-40B4-BE49-F238E27FC236}">
                  <a16:creationId xmlns:a16="http://schemas.microsoft.com/office/drawing/2014/main" id="{B7FB1C42-51D0-413A-9C15-7C19C70F32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" y="2121"/>
              <a:ext cx="1728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PurchaseSingleTicket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sp>
        <p:nvSpPr>
          <p:cNvPr id="40966" name="Line 16">
            <a:extLst>
              <a:ext uri="{FF2B5EF4-FFF2-40B4-BE49-F238E27FC236}">
                <a16:creationId xmlns:a16="http://schemas.microsoft.com/office/drawing/2014/main" id="{C4DB77F3-3E71-4592-9F67-1CF7069AFDB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89075" y="2462213"/>
            <a:ext cx="1588" cy="3206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53">
            <a:extLst>
              <a:ext uri="{FF2B5EF4-FFF2-40B4-BE49-F238E27FC236}">
                <a16:creationId xmlns:a16="http://schemas.microsoft.com/office/drawing/2014/main" id="{EA822059-EAF2-4345-BAA8-F88FC7CA436E}"/>
              </a:ext>
            </a:extLst>
          </p:cNvPr>
          <p:cNvGrpSpPr>
            <a:grpSpLocks/>
          </p:cNvGrpSpPr>
          <p:nvPr/>
        </p:nvGrpSpPr>
        <p:grpSpPr bwMode="auto">
          <a:xfrm>
            <a:off x="2227263" y="2017713"/>
            <a:ext cx="2722562" cy="1166812"/>
            <a:chOff x="1403" y="1271"/>
            <a:chExt cx="1715" cy="735"/>
          </a:xfrm>
        </p:grpSpPr>
        <p:sp>
          <p:nvSpPr>
            <p:cNvPr id="40995" name="Oval 18">
              <a:extLst>
                <a:ext uri="{FF2B5EF4-FFF2-40B4-BE49-F238E27FC236}">
                  <a16:creationId xmlns:a16="http://schemas.microsoft.com/office/drawing/2014/main" id="{1D4A22AB-1287-4090-B53A-1B7436C68E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7" y="1515"/>
              <a:ext cx="706" cy="30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996" name="Rectangle 19">
              <a:extLst>
                <a:ext uri="{FF2B5EF4-FFF2-40B4-BE49-F238E27FC236}">
                  <a16:creationId xmlns:a16="http://schemas.microsoft.com/office/drawing/2014/main" id="{3D39FABE-D822-48A6-95A6-3D4714FC4C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9" y="1833"/>
              <a:ext cx="1469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PurchaseMultiCard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  <p:sp>
          <p:nvSpPr>
            <p:cNvPr id="40997" name="Line 20">
              <a:extLst>
                <a:ext uri="{FF2B5EF4-FFF2-40B4-BE49-F238E27FC236}">
                  <a16:creationId xmlns:a16="http://schemas.microsoft.com/office/drawing/2014/main" id="{6AA3F8BB-B942-498D-B477-5BCD3D8C63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3" y="1271"/>
              <a:ext cx="703" cy="2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42">
            <a:extLst>
              <a:ext uri="{FF2B5EF4-FFF2-40B4-BE49-F238E27FC236}">
                <a16:creationId xmlns:a16="http://schemas.microsoft.com/office/drawing/2014/main" id="{1668EA1A-9E43-401B-B10D-0B944D9F7D29}"/>
              </a:ext>
            </a:extLst>
          </p:cNvPr>
          <p:cNvGrpSpPr>
            <a:grpSpLocks/>
          </p:cNvGrpSpPr>
          <p:nvPr/>
        </p:nvGrpSpPr>
        <p:grpSpPr bwMode="auto">
          <a:xfrm>
            <a:off x="3190875" y="3236913"/>
            <a:ext cx="1957388" cy="1069975"/>
            <a:chOff x="2010" y="2039"/>
            <a:chExt cx="1233" cy="674"/>
          </a:xfrm>
        </p:grpSpPr>
        <p:sp>
          <p:nvSpPr>
            <p:cNvPr id="40993" name="Line 36">
              <a:extLst>
                <a:ext uri="{FF2B5EF4-FFF2-40B4-BE49-F238E27FC236}">
                  <a16:creationId xmlns:a16="http://schemas.microsoft.com/office/drawing/2014/main" id="{3E1AB6BB-7331-48F5-B6DA-E1F6A565E4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0" y="2039"/>
              <a:ext cx="329" cy="67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4" name="Text Box 39">
              <a:extLst>
                <a:ext uri="{FF2B5EF4-FFF2-40B4-BE49-F238E27FC236}">
                  <a16:creationId xmlns:a16="http://schemas.microsoft.com/office/drawing/2014/main" id="{6A656E12-36F5-4B07-A82B-B894C0B0E8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5" y="2301"/>
              <a:ext cx="103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&lt;&lt;includes&gt;&gt;</a:t>
              </a:r>
            </a:p>
          </p:txBody>
        </p:sp>
      </p:grpSp>
      <p:grpSp>
        <p:nvGrpSpPr>
          <p:cNvPr id="7" name="Group 33">
            <a:extLst>
              <a:ext uri="{FF2B5EF4-FFF2-40B4-BE49-F238E27FC236}">
                <a16:creationId xmlns:a16="http://schemas.microsoft.com/office/drawing/2014/main" id="{E91EA2D8-CD32-4DA3-9D0D-8DC39AF7E38F}"/>
              </a:ext>
            </a:extLst>
          </p:cNvPr>
          <p:cNvGrpSpPr>
            <a:grpSpLocks/>
          </p:cNvGrpSpPr>
          <p:nvPr/>
        </p:nvGrpSpPr>
        <p:grpSpPr bwMode="auto">
          <a:xfrm>
            <a:off x="2198688" y="4386263"/>
            <a:ext cx="1646237" cy="779462"/>
            <a:chOff x="1337" y="2763"/>
            <a:chExt cx="1037" cy="491"/>
          </a:xfrm>
        </p:grpSpPr>
        <p:sp>
          <p:nvSpPr>
            <p:cNvPr id="40991" name="Oval 22">
              <a:extLst>
                <a:ext uri="{FF2B5EF4-FFF2-40B4-BE49-F238E27FC236}">
                  <a16:creationId xmlns:a16="http://schemas.microsoft.com/office/drawing/2014/main" id="{64FD2200-048E-436B-A509-4EA33E49A6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0" y="2763"/>
              <a:ext cx="706" cy="301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0992" name="Rectangle 23">
              <a:extLst>
                <a:ext uri="{FF2B5EF4-FFF2-40B4-BE49-F238E27FC236}">
                  <a16:creationId xmlns:a16="http://schemas.microsoft.com/office/drawing/2014/main" id="{6214CA2A-C51D-490D-91B4-CEF70C217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7" y="3081"/>
              <a:ext cx="1037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CollectMoney</a:t>
              </a:r>
              <a:endParaRPr lang="en-US" altLang="en-US" sz="18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45">
            <a:extLst>
              <a:ext uri="{FF2B5EF4-FFF2-40B4-BE49-F238E27FC236}">
                <a16:creationId xmlns:a16="http://schemas.microsoft.com/office/drawing/2014/main" id="{38381C4A-9E03-436E-9420-77AD76959CDE}"/>
              </a:ext>
            </a:extLst>
          </p:cNvPr>
          <p:cNvGrpSpPr>
            <a:grpSpLocks/>
          </p:cNvGrpSpPr>
          <p:nvPr/>
        </p:nvGrpSpPr>
        <p:grpSpPr bwMode="auto">
          <a:xfrm>
            <a:off x="754063" y="3706813"/>
            <a:ext cx="2030412" cy="625475"/>
            <a:chOff x="475" y="2335"/>
            <a:chExt cx="1279" cy="394"/>
          </a:xfrm>
        </p:grpSpPr>
        <p:sp>
          <p:nvSpPr>
            <p:cNvPr id="40989" name="Line 35">
              <a:extLst>
                <a:ext uri="{FF2B5EF4-FFF2-40B4-BE49-F238E27FC236}">
                  <a16:creationId xmlns:a16="http://schemas.microsoft.com/office/drawing/2014/main" id="{440A033F-5DA2-4E3E-814A-5623751DA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9" y="2335"/>
              <a:ext cx="695" cy="39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90" name="Text Box 40">
              <a:extLst>
                <a:ext uri="{FF2B5EF4-FFF2-40B4-BE49-F238E27FC236}">
                  <a16:creationId xmlns:a16="http://schemas.microsoft.com/office/drawing/2014/main" id="{CBC350E6-22B2-4C37-93AC-168275DFA7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2509"/>
              <a:ext cx="103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&lt;&lt;includes&gt;&gt;</a:t>
              </a:r>
            </a:p>
          </p:txBody>
        </p:sp>
      </p:grpSp>
      <p:grpSp>
        <p:nvGrpSpPr>
          <p:cNvPr id="9" name="Group 52">
            <a:extLst>
              <a:ext uri="{FF2B5EF4-FFF2-40B4-BE49-F238E27FC236}">
                <a16:creationId xmlns:a16="http://schemas.microsoft.com/office/drawing/2014/main" id="{462CDD7B-456C-4F26-A1CE-C93DE44813C9}"/>
              </a:ext>
            </a:extLst>
          </p:cNvPr>
          <p:cNvGrpSpPr>
            <a:grpSpLocks/>
          </p:cNvGrpSpPr>
          <p:nvPr/>
        </p:nvGrpSpPr>
        <p:grpSpPr bwMode="auto">
          <a:xfrm>
            <a:off x="366713" y="5011738"/>
            <a:ext cx="5548312" cy="1382712"/>
            <a:chOff x="231" y="3157"/>
            <a:chExt cx="3495" cy="871"/>
          </a:xfrm>
        </p:grpSpPr>
        <p:grpSp>
          <p:nvGrpSpPr>
            <p:cNvPr id="40972" name="Group 43">
              <a:extLst>
                <a:ext uri="{FF2B5EF4-FFF2-40B4-BE49-F238E27FC236}">
                  <a16:creationId xmlns:a16="http://schemas.microsoft.com/office/drawing/2014/main" id="{2E00B749-1DFB-4868-9ABA-D3087D64F40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" y="3157"/>
              <a:ext cx="1044" cy="801"/>
              <a:chOff x="231" y="3157"/>
              <a:chExt cx="1044" cy="801"/>
            </a:xfrm>
          </p:grpSpPr>
          <p:grpSp>
            <p:nvGrpSpPr>
              <p:cNvPr id="40984" name="Group 24">
                <a:extLst>
                  <a:ext uri="{FF2B5EF4-FFF2-40B4-BE49-F238E27FC236}">
                    <a16:creationId xmlns:a16="http://schemas.microsoft.com/office/drawing/2014/main" id="{BB90B140-70F4-446C-9140-30C3D8D6C4F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8" y="3467"/>
                <a:ext cx="706" cy="491"/>
                <a:chOff x="518" y="2443"/>
                <a:chExt cx="706" cy="491"/>
              </a:xfrm>
            </p:grpSpPr>
            <p:sp>
              <p:nvSpPr>
                <p:cNvPr id="40987" name="Oval 25">
                  <a:extLst>
                    <a:ext uri="{FF2B5EF4-FFF2-40B4-BE49-F238E27FC236}">
                      <a16:creationId xmlns:a16="http://schemas.microsoft.com/office/drawing/2014/main" id="{D05A2719-4195-4224-8474-0AACCFA57E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" y="2443"/>
                  <a:ext cx="706" cy="301"/>
                </a:xfrm>
                <a:prstGeom prst="ellips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0988" name="Rectangle 26">
                  <a:extLst>
                    <a:ext uri="{FF2B5EF4-FFF2-40B4-BE49-F238E27FC236}">
                      <a16:creationId xmlns:a16="http://schemas.microsoft.com/office/drawing/2014/main" id="{324D0B9A-8F66-40A7-AC3C-A5DCF393C1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6" y="2761"/>
                  <a:ext cx="691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l"/>
                  <a:r>
                    <a:rPr lang="en-US" altLang="en-US" sz="1800">
                      <a:solidFill>
                        <a:srgbClr val="000000"/>
                      </a:solidFill>
                      <a:latin typeface="Courier" charset="0"/>
                    </a:rPr>
                    <a:t>NoChange</a:t>
                  </a:r>
                  <a:endParaRPr lang="en-US" altLang="en-US" sz="1800" b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0985" name="Line 30">
                <a:extLst>
                  <a:ext uri="{FF2B5EF4-FFF2-40B4-BE49-F238E27FC236}">
                    <a16:creationId xmlns:a16="http://schemas.microsoft.com/office/drawing/2014/main" id="{4865F7F9-F1A0-4E3B-98ED-58A4148ED9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970" y="3207"/>
                <a:ext cx="305" cy="19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86" name="Text Box 31">
                <a:extLst>
                  <a:ext uri="{FF2B5EF4-FFF2-40B4-BE49-F238E27FC236}">
                    <a16:creationId xmlns:a16="http://schemas.microsoft.com/office/drawing/2014/main" id="{0991778C-B561-4FAF-927B-26C4E3826F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1" y="3157"/>
                <a:ext cx="96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Courier" charset="0"/>
                  </a:rPr>
                  <a:t>&lt;&lt;extends&gt;&gt;</a:t>
                </a:r>
              </a:p>
            </p:txBody>
          </p:sp>
        </p:grpSp>
        <p:grpSp>
          <p:nvGrpSpPr>
            <p:cNvPr id="40973" name="Group 44">
              <a:extLst>
                <a:ext uri="{FF2B5EF4-FFF2-40B4-BE49-F238E27FC236}">
                  <a16:creationId xmlns:a16="http://schemas.microsoft.com/office/drawing/2014/main" id="{61D2AF42-C1D9-4A8A-9DB2-85A3BC701F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69" y="3197"/>
              <a:ext cx="1157" cy="761"/>
              <a:chOff x="2499" y="3197"/>
              <a:chExt cx="1157" cy="761"/>
            </a:xfrm>
          </p:grpSpPr>
          <p:grpSp>
            <p:nvGrpSpPr>
              <p:cNvPr id="40979" name="Group 27">
                <a:extLst>
                  <a:ext uri="{FF2B5EF4-FFF2-40B4-BE49-F238E27FC236}">
                    <a16:creationId xmlns:a16="http://schemas.microsoft.com/office/drawing/2014/main" id="{A50C9480-F6C4-47D1-BC94-AC9732DFDC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86" y="3467"/>
                <a:ext cx="706" cy="491"/>
                <a:chOff x="1762" y="2595"/>
                <a:chExt cx="706" cy="491"/>
              </a:xfrm>
            </p:grpSpPr>
            <p:sp>
              <p:nvSpPr>
                <p:cNvPr id="40982" name="Oval 28">
                  <a:extLst>
                    <a:ext uri="{FF2B5EF4-FFF2-40B4-BE49-F238E27FC236}">
                      <a16:creationId xmlns:a16="http://schemas.microsoft.com/office/drawing/2014/main" id="{40894547-8404-4257-9EF9-009E5A0EA8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2" y="2595"/>
                  <a:ext cx="706" cy="301"/>
                </a:xfrm>
                <a:prstGeom prst="ellipse">
                  <a:avLst/>
                </a:prstGeom>
                <a:noFill/>
                <a:ln w="1905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0983" name="Rectangle 29">
                  <a:extLst>
                    <a:ext uri="{FF2B5EF4-FFF2-40B4-BE49-F238E27FC236}">
                      <a16:creationId xmlns:a16="http://schemas.microsoft.com/office/drawing/2014/main" id="{D4AEFB2A-FED2-4ECC-BC09-7E8136C438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13" y="2913"/>
                  <a:ext cx="518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l"/>
                  <a:r>
                    <a:rPr lang="en-US" altLang="en-US" sz="1800">
                      <a:solidFill>
                        <a:srgbClr val="000000"/>
                      </a:solidFill>
                      <a:latin typeface="Courier" charset="0"/>
                    </a:rPr>
                    <a:t>Cancel</a:t>
                  </a:r>
                  <a:endParaRPr lang="en-US" altLang="en-US" sz="1800" b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40980" name="Line 32">
                <a:extLst>
                  <a:ext uri="{FF2B5EF4-FFF2-40B4-BE49-F238E27FC236}">
                    <a16:creationId xmlns:a16="http://schemas.microsoft.com/office/drawing/2014/main" id="{1A47CE48-CD80-456D-A28D-68ED471495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9" y="3239"/>
                <a:ext cx="287" cy="18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 type="arrow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981" name="Text Box 34">
                <a:extLst>
                  <a:ext uri="{FF2B5EF4-FFF2-40B4-BE49-F238E27FC236}">
                    <a16:creationId xmlns:a16="http://schemas.microsoft.com/office/drawing/2014/main" id="{52DEC2EA-D21E-4AE4-980F-40A9F77C0CD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95" y="3197"/>
                <a:ext cx="961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600">
                    <a:solidFill>
                      <a:srgbClr val="000000"/>
                    </a:solidFill>
                    <a:latin typeface="Courier" charset="0"/>
                  </a:rPr>
                  <a:t>&lt;&lt;extends&gt;&gt;</a:t>
                </a:r>
              </a:p>
            </p:txBody>
          </p:sp>
        </p:grpSp>
        <p:grpSp>
          <p:nvGrpSpPr>
            <p:cNvPr id="40974" name="Group 47">
              <a:extLst>
                <a:ext uri="{FF2B5EF4-FFF2-40B4-BE49-F238E27FC236}">
                  <a16:creationId xmlns:a16="http://schemas.microsoft.com/office/drawing/2014/main" id="{33A190BE-75EB-47F6-97FC-C1324B4378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94" y="3537"/>
              <a:ext cx="706" cy="491"/>
              <a:chOff x="1762" y="2595"/>
              <a:chExt cx="706" cy="491"/>
            </a:xfrm>
          </p:grpSpPr>
          <p:sp>
            <p:nvSpPr>
              <p:cNvPr id="40977" name="Oval 48">
                <a:extLst>
                  <a:ext uri="{FF2B5EF4-FFF2-40B4-BE49-F238E27FC236}">
                    <a16:creationId xmlns:a16="http://schemas.microsoft.com/office/drawing/2014/main" id="{175374BD-D17E-4241-83D6-942CC70853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2" y="2595"/>
                <a:ext cx="706" cy="301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0978" name="Rectangle 49">
                <a:extLst>
                  <a:ext uri="{FF2B5EF4-FFF2-40B4-BE49-F238E27FC236}">
                    <a16:creationId xmlns:a16="http://schemas.microsoft.com/office/drawing/2014/main" id="{01FCCC7A-7253-43F6-AFF8-81EEDF6F0C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3" y="2913"/>
                <a:ext cx="51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Cancel</a:t>
                </a:r>
                <a:endParaRPr lang="en-US" altLang="en-US" sz="1800" b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0975" name="Line 50">
              <a:extLst>
                <a:ext uri="{FF2B5EF4-FFF2-40B4-BE49-F238E27FC236}">
                  <a16:creationId xmlns:a16="http://schemas.microsoft.com/office/drawing/2014/main" id="{75FDCB0B-7CAD-4055-9763-5BD3B1952F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95" y="3238"/>
              <a:ext cx="85" cy="28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arrow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976" name="Text Box 51">
              <a:extLst>
                <a:ext uri="{FF2B5EF4-FFF2-40B4-BE49-F238E27FC236}">
                  <a16:creationId xmlns:a16="http://schemas.microsoft.com/office/drawing/2014/main" id="{B345CE22-856B-445D-B98A-7EDB17D08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7" y="3281"/>
              <a:ext cx="9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600">
                  <a:solidFill>
                    <a:srgbClr val="000000"/>
                  </a:solidFill>
                  <a:latin typeface="Courier" charset="0"/>
                </a:rPr>
                <a:t>&lt;&lt;extends&gt;&gt;</a:t>
              </a:r>
            </a:p>
          </p:txBody>
        </p: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617AC52-EEC9-4C94-8B48-3CDB0CC4A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2133E4-5B4C-4694-95A3-A662C059EDE7}" type="slidenum">
              <a:rPr lang="nl-NL" altLang="fr-FR" smtClean="0"/>
              <a:pPr>
                <a:defRPr/>
              </a:pPr>
              <a:t>13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6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el 1">
            <a:extLst>
              <a:ext uri="{FF2B5EF4-FFF2-40B4-BE49-F238E27FC236}">
                <a16:creationId xmlns:a16="http://schemas.microsoft.com/office/drawing/2014/main" id="{D5EE743B-16BC-47AC-8CE8-218ACD418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552" y="-279412"/>
            <a:ext cx="7772400" cy="1143000"/>
          </a:xfrm>
        </p:spPr>
        <p:txBody>
          <a:bodyPr/>
          <a:lstStyle/>
          <a:p>
            <a:r>
              <a:rPr lang="en-US" altLang="en-US" dirty="0"/>
              <a:t>Use Case Models can be packaged</a:t>
            </a:r>
            <a:endParaRPr lang="de-DE" altLang="en-US" dirty="0"/>
          </a:p>
        </p:txBody>
      </p:sp>
      <p:pic>
        <p:nvPicPr>
          <p:cNvPr id="43011" name="Inhaltsplatzhalter 7" descr="UseCaseDiagram_1_Course.pdf">
            <a:extLst>
              <a:ext uri="{FF2B5EF4-FFF2-40B4-BE49-F238E27FC236}">
                <a16:creationId xmlns:a16="http://schemas.microsoft.com/office/drawing/2014/main" id="{0072D95E-9084-4A9A-AD1C-F99286D02A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1646238"/>
            <a:ext cx="7696200" cy="3822700"/>
          </a:xfrm>
        </p:spPr>
      </p:pic>
      <p:sp>
        <p:nvSpPr>
          <p:cNvPr id="43012" name="AutoShape 5">
            <a:extLst>
              <a:ext uri="{FF2B5EF4-FFF2-40B4-BE49-F238E27FC236}">
                <a16:creationId xmlns:a16="http://schemas.microsoft.com/office/drawing/2014/main" id="{74EAAAFF-80C0-4260-84F2-AC281D1CE6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2971800"/>
            <a:ext cx="838200" cy="609600"/>
          </a:xfrm>
          <a:prstGeom prst="wedgeRoundRectCallout">
            <a:avLst>
              <a:gd name="adj1" fmla="val -91319"/>
              <a:gd name="adj2" fmla="val 90366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0">
                <a:cs typeface="Helvetica" panose="020B0604020202020204" pitchFamily="34" charset="0"/>
              </a:rPr>
              <a:t>Actor.</a:t>
            </a:r>
          </a:p>
        </p:txBody>
      </p:sp>
      <p:sp>
        <p:nvSpPr>
          <p:cNvPr id="43013" name="AutoShape 9">
            <a:extLst>
              <a:ext uri="{FF2B5EF4-FFF2-40B4-BE49-F238E27FC236}">
                <a16:creationId xmlns:a16="http://schemas.microsoft.com/office/drawing/2014/main" id="{B4CF6D5E-7444-444F-A712-A00AA7A2B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1143000"/>
            <a:ext cx="1398588" cy="609600"/>
          </a:xfrm>
          <a:prstGeom prst="wedgeRoundRectCallout">
            <a:avLst>
              <a:gd name="adj1" fmla="val -140806"/>
              <a:gd name="adj2" fmla="val 159116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0">
                <a:cs typeface="Helvetica" panose="020B0604020202020204" pitchFamily="34" charset="0"/>
              </a:rPr>
              <a:t>Use Case</a:t>
            </a:r>
          </a:p>
        </p:txBody>
      </p:sp>
      <p:sp>
        <p:nvSpPr>
          <p:cNvPr id="43014" name="AutoShape 9">
            <a:extLst>
              <a:ext uri="{FF2B5EF4-FFF2-40B4-BE49-F238E27FC236}">
                <a16:creationId xmlns:a16="http://schemas.microsoft.com/office/drawing/2014/main" id="{71CA1F6B-7489-4B61-9D96-B67BE8C98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1800" y="4495800"/>
            <a:ext cx="2084388" cy="609600"/>
          </a:xfrm>
          <a:prstGeom prst="wedgeRoundRectCallout">
            <a:avLst>
              <a:gd name="adj1" fmla="val -66880"/>
              <a:gd name="adj2" fmla="val -13106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 b="0">
                <a:cs typeface="Helvetica" panose="020B0604020202020204" pitchFamily="34" charset="0"/>
              </a:rPr>
              <a:t>System boundary</a:t>
            </a:r>
          </a:p>
        </p:txBody>
      </p:sp>
      <p:sp>
        <p:nvSpPr>
          <p:cNvPr id="43015" name="AutoShape 9">
            <a:extLst>
              <a:ext uri="{FF2B5EF4-FFF2-40B4-BE49-F238E27FC236}">
                <a16:creationId xmlns:a16="http://schemas.microsoft.com/office/drawing/2014/main" id="{7156CA41-01EA-4D16-895D-9D1722CB34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2363" y="962025"/>
            <a:ext cx="1400175" cy="533400"/>
          </a:xfrm>
          <a:prstGeom prst="wedgeRoundRectCallout">
            <a:avLst>
              <a:gd name="adj1" fmla="val -47579"/>
              <a:gd name="adj2" fmla="val 89671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0">
                <a:cs typeface="Helvetica" panose="020B0604020202020204" pitchFamily="34" charset="0"/>
              </a:rPr>
              <a:t>Classifier</a:t>
            </a:r>
          </a:p>
        </p:txBody>
      </p:sp>
      <p:cxnSp>
        <p:nvCxnSpPr>
          <p:cNvPr id="43016" name="Gerade Verbindung 9">
            <a:extLst>
              <a:ext uri="{FF2B5EF4-FFF2-40B4-BE49-F238E27FC236}">
                <a16:creationId xmlns:a16="http://schemas.microsoft.com/office/drawing/2014/main" id="{49E9AC76-C7C6-4B3F-87DF-FDCD19D3077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22600" y="5384800"/>
            <a:ext cx="3408363" cy="15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198A264-C9D6-4083-B11C-0E8ACF399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14</a:t>
            </a:fld>
            <a:endParaRPr lang="nl-NL" altLang="fr-F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0194967-21DE-4F80-9298-F647F72035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5516" y="-99392"/>
            <a:ext cx="8172908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Historical Remark: UML 1 used packages</a:t>
            </a:r>
          </a:p>
        </p:txBody>
      </p:sp>
      <p:grpSp>
        <p:nvGrpSpPr>
          <p:cNvPr id="44035" name="Group 45">
            <a:extLst>
              <a:ext uri="{FF2B5EF4-FFF2-40B4-BE49-F238E27FC236}">
                <a16:creationId xmlns:a16="http://schemas.microsoft.com/office/drawing/2014/main" id="{DE4E78CC-3D7D-45D2-B6F4-1479AF4EA0C2}"/>
              </a:ext>
            </a:extLst>
          </p:cNvPr>
          <p:cNvGrpSpPr>
            <a:grpSpLocks/>
          </p:cNvGrpSpPr>
          <p:nvPr/>
        </p:nvGrpSpPr>
        <p:grpSpPr bwMode="auto">
          <a:xfrm>
            <a:off x="612775" y="2392363"/>
            <a:ext cx="1539875" cy="1190625"/>
            <a:chOff x="356" y="1993"/>
            <a:chExt cx="970" cy="750"/>
          </a:xfrm>
        </p:grpSpPr>
        <p:sp>
          <p:nvSpPr>
            <p:cNvPr id="44071" name="Freeform 13">
              <a:extLst>
                <a:ext uri="{FF2B5EF4-FFF2-40B4-BE49-F238E27FC236}">
                  <a16:creationId xmlns:a16="http://schemas.microsoft.com/office/drawing/2014/main" id="{18E9A3D0-FA21-484C-9B2B-45820CDE6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" y="2101"/>
              <a:ext cx="143" cy="418"/>
            </a:xfrm>
            <a:custGeom>
              <a:avLst/>
              <a:gdLst>
                <a:gd name="T0" fmla="*/ 143 w 143"/>
                <a:gd name="T1" fmla="*/ 0 h 418"/>
                <a:gd name="T2" fmla="*/ 143 w 143"/>
                <a:gd name="T3" fmla="*/ 263 h 418"/>
                <a:gd name="T4" fmla="*/ 0 w 143"/>
                <a:gd name="T5" fmla="*/ 418 h 418"/>
                <a:gd name="T6" fmla="*/ 0 60000 65536"/>
                <a:gd name="T7" fmla="*/ 0 60000 65536"/>
                <a:gd name="T8" fmla="*/ 0 60000 65536"/>
                <a:gd name="T9" fmla="*/ 0 w 143"/>
                <a:gd name="T10" fmla="*/ 0 h 418"/>
                <a:gd name="T11" fmla="*/ 143 w 143"/>
                <a:gd name="T12" fmla="*/ 418 h 4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3" h="418">
                  <a:moveTo>
                    <a:pt x="143" y="0"/>
                  </a:moveTo>
                  <a:lnTo>
                    <a:pt x="143" y="263"/>
                  </a:lnTo>
                  <a:lnTo>
                    <a:pt x="0" y="41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4072" name="Line 14">
              <a:extLst>
                <a:ext uri="{FF2B5EF4-FFF2-40B4-BE49-F238E27FC236}">
                  <a16:creationId xmlns:a16="http://schemas.microsoft.com/office/drawing/2014/main" id="{C659E963-245F-4B31-8B2F-8206FF832A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" y="2364"/>
              <a:ext cx="156" cy="1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3" name="Line 15">
              <a:extLst>
                <a:ext uri="{FF2B5EF4-FFF2-40B4-BE49-F238E27FC236}">
                  <a16:creationId xmlns:a16="http://schemas.microsoft.com/office/drawing/2014/main" id="{3FCCE26A-7FB6-42DA-8187-AF73944CD1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" y="2220"/>
              <a:ext cx="29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74" name="Oval 16">
              <a:extLst>
                <a:ext uri="{FF2B5EF4-FFF2-40B4-BE49-F238E27FC236}">
                  <a16:creationId xmlns:a16="http://schemas.microsoft.com/office/drawing/2014/main" id="{D5B76E92-FAA5-4AB0-BEF9-396B6F7E9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" y="1993"/>
              <a:ext cx="155" cy="15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4075" name="Rectangle 17">
              <a:extLst>
                <a:ext uri="{FF2B5EF4-FFF2-40B4-BE49-F238E27FC236}">
                  <a16:creationId xmlns:a16="http://schemas.microsoft.com/office/drawing/2014/main" id="{F064B99B-F6FC-499D-AA84-63A9C0400B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" y="2549"/>
              <a:ext cx="97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Instructor</a:t>
              </a:r>
              <a:endParaRPr lang="en-US" altLang="en-US" sz="2000" b="0">
                <a:solidFill>
                  <a:schemeClr val="tx1"/>
                </a:solidFill>
              </a:endParaRPr>
            </a:p>
          </p:txBody>
        </p:sp>
      </p:grpSp>
      <p:sp>
        <p:nvSpPr>
          <p:cNvPr id="44036" name="Line 30">
            <a:extLst>
              <a:ext uri="{FF2B5EF4-FFF2-40B4-BE49-F238E27FC236}">
                <a16:creationId xmlns:a16="http://schemas.microsoft.com/office/drawing/2014/main" id="{BC779995-1EC7-452A-8FA2-7BA7E07822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00225" y="2747963"/>
            <a:ext cx="1633538" cy="33813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3978" name="AutoShape 10">
            <a:extLst>
              <a:ext uri="{FF2B5EF4-FFF2-40B4-BE49-F238E27FC236}">
                <a16:creationId xmlns:a16="http://schemas.microsoft.com/office/drawing/2014/main" id="{1C83ACB2-5F82-4F03-9AD8-20BECECFF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5725" y="1222375"/>
            <a:ext cx="1352550" cy="609600"/>
          </a:xfrm>
          <a:prstGeom prst="wedgeRoundRectCallout">
            <a:avLst>
              <a:gd name="adj1" fmla="val 65847"/>
              <a:gd name="adj2" fmla="val 72134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0"/>
              <a:t>Package</a:t>
            </a:r>
          </a:p>
        </p:txBody>
      </p:sp>
      <p:grpSp>
        <p:nvGrpSpPr>
          <p:cNvPr id="3" name="Group 52">
            <a:extLst>
              <a:ext uri="{FF2B5EF4-FFF2-40B4-BE49-F238E27FC236}">
                <a16:creationId xmlns:a16="http://schemas.microsoft.com/office/drawing/2014/main" id="{D71E0367-1317-4CD2-BD6C-CF09185EEBC9}"/>
              </a:ext>
            </a:extLst>
          </p:cNvPr>
          <p:cNvGrpSpPr>
            <a:grpSpLocks/>
          </p:cNvGrpSpPr>
          <p:nvPr/>
        </p:nvGrpSpPr>
        <p:grpSpPr bwMode="auto">
          <a:xfrm>
            <a:off x="2884488" y="1677988"/>
            <a:ext cx="2833687" cy="3476625"/>
            <a:chOff x="1817" y="1057"/>
            <a:chExt cx="1588" cy="2190"/>
          </a:xfrm>
        </p:grpSpPr>
        <p:sp>
          <p:nvSpPr>
            <p:cNvPr id="44062" name="Rectangle 23">
              <a:extLst>
                <a:ext uri="{FF2B5EF4-FFF2-40B4-BE49-F238E27FC236}">
                  <a16:creationId xmlns:a16="http://schemas.microsoft.com/office/drawing/2014/main" id="{00689006-BC3B-4451-9A32-78F19AA0B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7" y="1301"/>
              <a:ext cx="1588" cy="1946"/>
            </a:xfrm>
            <a:prstGeom prst="rect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44063" name="Group 42">
              <a:extLst>
                <a:ext uri="{FF2B5EF4-FFF2-40B4-BE49-F238E27FC236}">
                  <a16:creationId xmlns:a16="http://schemas.microsoft.com/office/drawing/2014/main" id="{8152E327-7540-468A-B7DA-C89DA340BF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9" y="1106"/>
              <a:ext cx="1005" cy="183"/>
              <a:chOff x="2722" y="3694"/>
              <a:chExt cx="778" cy="277"/>
            </a:xfrm>
          </p:grpSpPr>
          <p:grpSp>
            <p:nvGrpSpPr>
              <p:cNvPr id="44065" name="Group 38">
                <a:extLst>
                  <a:ext uri="{FF2B5EF4-FFF2-40B4-BE49-F238E27FC236}">
                    <a16:creationId xmlns:a16="http://schemas.microsoft.com/office/drawing/2014/main" id="{6D190DE3-413D-46ED-B58E-B0601BD887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22" y="3694"/>
                <a:ext cx="384" cy="275"/>
                <a:chOff x="2722" y="3694"/>
                <a:chExt cx="384" cy="275"/>
              </a:xfrm>
            </p:grpSpPr>
            <p:sp>
              <p:nvSpPr>
                <p:cNvPr id="44069" name="Line 36">
                  <a:extLst>
                    <a:ext uri="{FF2B5EF4-FFF2-40B4-BE49-F238E27FC236}">
                      <a16:creationId xmlns:a16="http://schemas.microsoft.com/office/drawing/2014/main" id="{123E1818-D9C2-4FB8-8239-AFC34FC12C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722" y="3694"/>
                  <a:ext cx="78" cy="27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070" name="Line 37">
                  <a:extLst>
                    <a:ext uri="{FF2B5EF4-FFF2-40B4-BE49-F238E27FC236}">
                      <a16:creationId xmlns:a16="http://schemas.microsoft.com/office/drawing/2014/main" id="{95E62836-CA7D-46B6-A355-D3553C031B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08" y="3694"/>
                  <a:ext cx="29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44066" name="Group 39">
                <a:extLst>
                  <a:ext uri="{FF2B5EF4-FFF2-40B4-BE49-F238E27FC236}">
                    <a16:creationId xmlns:a16="http://schemas.microsoft.com/office/drawing/2014/main" id="{F875B692-3121-4505-941A-BE49600E2A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3116" y="3696"/>
                <a:ext cx="384" cy="275"/>
                <a:chOff x="2722" y="3694"/>
                <a:chExt cx="384" cy="275"/>
              </a:xfrm>
            </p:grpSpPr>
            <p:sp>
              <p:nvSpPr>
                <p:cNvPr id="44067" name="Line 40">
                  <a:extLst>
                    <a:ext uri="{FF2B5EF4-FFF2-40B4-BE49-F238E27FC236}">
                      <a16:creationId xmlns:a16="http://schemas.microsoft.com/office/drawing/2014/main" id="{C124872D-6D7B-4D33-8EFB-EBDD23B5B98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722" y="3694"/>
                  <a:ext cx="78" cy="27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4068" name="Line 41">
                  <a:extLst>
                    <a:ext uri="{FF2B5EF4-FFF2-40B4-BE49-F238E27FC236}">
                      <a16:creationId xmlns:a16="http://schemas.microsoft.com/office/drawing/2014/main" id="{8ADF7C26-042D-4DC9-89DC-31C78794778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08" y="3694"/>
                  <a:ext cx="29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44064" name="Text Box 43">
              <a:extLst>
                <a:ext uri="{FF2B5EF4-FFF2-40B4-BE49-F238E27FC236}">
                  <a16:creationId xmlns:a16="http://schemas.microsoft.com/office/drawing/2014/main" id="{FAB5A30D-F504-4665-9183-91E9D6CEC3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9" y="1057"/>
              <a:ext cx="707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 Course</a:t>
              </a:r>
              <a:endParaRPr lang="en-US" altLang="en-US" sz="2000" b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59">
            <a:extLst>
              <a:ext uri="{FF2B5EF4-FFF2-40B4-BE49-F238E27FC236}">
                <a16:creationId xmlns:a16="http://schemas.microsoft.com/office/drawing/2014/main" id="{37B67473-29F5-4E35-8682-7EE9FCE59666}"/>
              </a:ext>
            </a:extLst>
          </p:cNvPr>
          <p:cNvGrpSpPr>
            <a:grpSpLocks/>
          </p:cNvGrpSpPr>
          <p:nvPr/>
        </p:nvGrpSpPr>
        <p:grpSpPr bwMode="auto">
          <a:xfrm>
            <a:off x="3376613" y="2425700"/>
            <a:ext cx="1846262" cy="2743200"/>
            <a:chOff x="2127" y="1528"/>
            <a:chExt cx="1163" cy="1728"/>
          </a:xfrm>
        </p:grpSpPr>
        <p:sp>
          <p:nvSpPr>
            <p:cNvPr id="44055" name="Rectangle 25">
              <a:extLst>
                <a:ext uri="{FF2B5EF4-FFF2-40B4-BE49-F238E27FC236}">
                  <a16:creationId xmlns:a16="http://schemas.microsoft.com/office/drawing/2014/main" id="{35866FB4-55F6-4077-9019-9D2368168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7" y="1868"/>
              <a:ext cx="1066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GiveLecture</a:t>
              </a:r>
              <a:endParaRPr lang="en-US" altLang="en-US" sz="2000" b="0">
                <a:solidFill>
                  <a:schemeClr val="tx1"/>
                </a:solidFill>
              </a:endParaRPr>
            </a:p>
          </p:txBody>
        </p:sp>
        <p:sp>
          <p:nvSpPr>
            <p:cNvPr id="44056" name="Oval 24">
              <a:extLst>
                <a:ext uri="{FF2B5EF4-FFF2-40B4-BE49-F238E27FC236}">
                  <a16:creationId xmlns:a16="http://schemas.microsoft.com/office/drawing/2014/main" id="{A91AFDA3-01CD-4C5F-96E0-1E86AD1497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3" y="1528"/>
              <a:ext cx="753" cy="32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44057" name="Group 46">
              <a:extLst>
                <a:ext uri="{FF2B5EF4-FFF2-40B4-BE49-F238E27FC236}">
                  <a16:creationId xmlns:a16="http://schemas.microsoft.com/office/drawing/2014/main" id="{8D5705B1-FB15-40E6-B4F6-3F6BF195E1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7" y="2125"/>
              <a:ext cx="1163" cy="534"/>
              <a:chOff x="2127" y="2125"/>
              <a:chExt cx="1163" cy="534"/>
            </a:xfrm>
          </p:grpSpPr>
          <p:sp>
            <p:nvSpPr>
              <p:cNvPr id="44060" name="Oval 26">
                <a:extLst>
                  <a:ext uri="{FF2B5EF4-FFF2-40B4-BE49-F238E27FC236}">
                    <a16:creationId xmlns:a16="http://schemas.microsoft.com/office/drawing/2014/main" id="{6366D990-B4C4-46AF-A64A-E263DBAEC3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3" y="2125"/>
                <a:ext cx="753" cy="322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4061" name="Rectangle 27">
                <a:extLst>
                  <a:ext uri="{FF2B5EF4-FFF2-40B4-BE49-F238E27FC236}">
                    <a16:creationId xmlns:a16="http://schemas.microsoft.com/office/drawing/2014/main" id="{BC7FC595-6276-4F28-9A57-98884FE047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7" y="2465"/>
                <a:ext cx="1163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2000">
                    <a:solidFill>
                      <a:srgbClr val="000000"/>
                    </a:solidFill>
                    <a:latin typeface="Courier" charset="0"/>
                  </a:rPr>
                  <a:t>HoldExercise</a:t>
                </a:r>
                <a:endParaRPr lang="en-US" altLang="en-US" sz="2000" b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4058" name="Rectangle 29">
              <a:extLst>
                <a:ext uri="{FF2B5EF4-FFF2-40B4-BE49-F238E27FC236}">
                  <a16:creationId xmlns:a16="http://schemas.microsoft.com/office/drawing/2014/main" id="{E82E60B4-8C5B-4D54-AF70-7FAFB90C3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5" y="3062"/>
              <a:ext cx="970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DoHomework</a:t>
              </a:r>
              <a:endParaRPr lang="en-US" altLang="en-US" sz="2000" b="0">
                <a:solidFill>
                  <a:schemeClr val="tx1"/>
                </a:solidFill>
              </a:endParaRPr>
            </a:p>
          </p:txBody>
        </p:sp>
        <p:sp>
          <p:nvSpPr>
            <p:cNvPr id="44059" name="Oval 28">
              <a:extLst>
                <a:ext uri="{FF2B5EF4-FFF2-40B4-BE49-F238E27FC236}">
                  <a16:creationId xmlns:a16="http://schemas.microsoft.com/office/drawing/2014/main" id="{487424AD-D6AE-42A7-ACA1-67BFA8FD90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23" y="2722"/>
              <a:ext cx="753" cy="322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44040" name="Freeform 18">
            <a:extLst>
              <a:ext uri="{FF2B5EF4-FFF2-40B4-BE49-F238E27FC236}">
                <a16:creationId xmlns:a16="http://schemas.microsoft.com/office/drawing/2014/main" id="{4F8CE0C0-F0C2-4816-BE37-CF9E860E1C81}"/>
              </a:ext>
            </a:extLst>
          </p:cNvPr>
          <p:cNvSpPr>
            <a:spLocks/>
          </p:cNvSpPr>
          <p:nvPr/>
        </p:nvSpPr>
        <p:spPr bwMode="auto">
          <a:xfrm>
            <a:off x="7226300" y="3335338"/>
            <a:ext cx="227013" cy="663575"/>
          </a:xfrm>
          <a:custGeom>
            <a:avLst/>
            <a:gdLst>
              <a:gd name="T0" fmla="*/ 2147483647 w 143"/>
              <a:gd name="T1" fmla="*/ 0 h 418"/>
              <a:gd name="T2" fmla="*/ 2147483647 w 143"/>
              <a:gd name="T3" fmla="*/ 2147483647 h 418"/>
              <a:gd name="T4" fmla="*/ 0 w 143"/>
              <a:gd name="T5" fmla="*/ 2147483647 h 418"/>
              <a:gd name="T6" fmla="*/ 0 60000 65536"/>
              <a:gd name="T7" fmla="*/ 0 60000 65536"/>
              <a:gd name="T8" fmla="*/ 0 60000 65536"/>
              <a:gd name="T9" fmla="*/ 0 w 143"/>
              <a:gd name="T10" fmla="*/ 0 h 418"/>
              <a:gd name="T11" fmla="*/ 143 w 143"/>
              <a:gd name="T12" fmla="*/ 418 h 4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3" h="418">
                <a:moveTo>
                  <a:pt x="143" y="0"/>
                </a:moveTo>
                <a:lnTo>
                  <a:pt x="143" y="263"/>
                </a:lnTo>
                <a:lnTo>
                  <a:pt x="0" y="418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44041" name="Line 19">
            <a:extLst>
              <a:ext uri="{FF2B5EF4-FFF2-40B4-BE49-F238E27FC236}">
                <a16:creationId xmlns:a16="http://schemas.microsoft.com/office/drawing/2014/main" id="{1B708B5B-DFAC-4F7B-9CEE-8BDE2ECD0946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3313" y="3752850"/>
            <a:ext cx="246062" cy="246063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2" name="Line 20">
            <a:extLst>
              <a:ext uri="{FF2B5EF4-FFF2-40B4-BE49-F238E27FC236}">
                <a16:creationId xmlns:a16="http://schemas.microsoft.com/office/drawing/2014/main" id="{A50710EC-5AF8-4647-8C8F-CDFAA7C8D4D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26300" y="3524250"/>
            <a:ext cx="47307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3" name="Oval 21">
            <a:extLst>
              <a:ext uri="{FF2B5EF4-FFF2-40B4-BE49-F238E27FC236}">
                <a16:creationId xmlns:a16="http://schemas.microsoft.com/office/drawing/2014/main" id="{4A37A0E0-0F86-459C-91A6-9DDE30F78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3163888"/>
            <a:ext cx="247650" cy="24765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44044" name="Rectangle 22">
            <a:extLst>
              <a:ext uri="{FF2B5EF4-FFF2-40B4-BE49-F238E27FC236}">
                <a16:creationId xmlns:a16="http://schemas.microsoft.com/office/drawing/2014/main" id="{2DB5E932-6436-4BE9-A100-54E6D202A2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1813" y="4046538"/>
            <a:ext cx="1077912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2000">
                <a:solidFill>
                  <a:srgbClr val="000000"/>
                </a:solidFill>
                <a:latin typeface="Courier" charset="0"/>
              </a:rPr>
              <a:t>Student</a:t>
            </a:r>
            <a:endParaRPr lang="en-US" altLang="en-US" sz="2000" b="0">
              <a:solidFill>
                <a:schemeClr val="tx1"/>
              </a:solidFill>
            </a:endParaRPr>
          </a:p>
        </p:txBody>
      </p:sp>
      <p:sp>
        <p:nvSpPr>
          <p:cNvPr id="44045" name="Line 32">
            <a:extLst>
              <a:ext uri="{FF2B5EF4-FFF2-40B4-BE49-F238E27FC236}">
                <a16:creationId xmlns:a16="http://schemas.microsoft.com/office/drawing/2014/main" id="{54CF5BC6-4547-482C-A4A2-828DCABBC2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716463" y="3829050"/>
            <a:ext cx="2562225" cy="6873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6" name="Line 47">
            <a:extLst>
              <a:ext uri="{FF2B5EF4-FFF2-40B4-BE49-F238E27FC236}">
                <a16:creationId xmlns:a16="http://schemas.microsoft.com/office/drawing/2014/main" id="{355E47FC-A96B-484F-8835-208925767534}"/>
              </a:ext>
            </a:extLst>
          </p:cNvPr>
          <p:cNvSpPr>
            <a:spLocks noChangeShapeType="1"/>
          </p:cNvSpPr>
          <p:nvPr/>
        </p:nvSpPr>
        <p:spPr bwMode="auto">
          <a:xfrm>
            <a:off x="4665663" y="2789238"/>
            <a:ext cx="2676525" cy="92551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4047" name="Line 60">
            <a:extLst>
              <a:ext uri="{FF2B5EF4-FFF2-40B4-BE49-F238E27FC236}">
                <a16:creationId xmlns:a16="http://schemas.microsoft.com/office/drawing/2014/main" id="{8B019BA2-CCBE-49BC-9798-6064C352F5D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03763" y="3586163"/>
            <a:ext cx="2600325" cy="14922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4048" name="Group 45">
            <a:extLst>
              <a:ext uri="{FF2B5EF4-FFF2-40B4-BE49-F238E27FC236}">
                <a16:creationId xmlns:a16="http://schemas.microsoft.com/office/drawing/2014/main" id="{B97B549D-9B4D-4936-99E6-8B57BEBF7C13}"/>
              </a:ext>
            </a:extLst>
          </p:cNvPr>
          <p:cNvGrpSpPr>
            <a:grpSpLocks/>
          </p:cNvGrpSpPr>
          <p:nvPr/>
        </p:nvGrpSpPr>
        <p:grpSpPr bwMode="auto">
          <a:xfrm>
            <a:off x="798513" y="3895725"/>
            <a:ext cx="1385887" cy="1498600"/>
            <a:chOff x="356" y="1993"/>
            <a:chExt cx="873" cy="944"/>
          </a:xfrm>
        </p:grpSpPr>
        <p:sp>
          <p:nvSpPr>
            <p:cNvPr id="44050" name="Freeform 13">
              <a:extLst>
                <a:ext uri="{FF2B5EF4-FFF2-40B4-BE49-F238E27FC236}">
                  <a16:creationId xmlns:a16="http://schemas.microsoft.com/office/drawing/2014/main" id="{B1E59C64-0EFB-4A41-B252-6E178B0D3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1" y="2101"/>
              <a:ext cx="143" cy="418"/>
            </a:xfrm>
            <a:custGeom>
              <a:avLst/>
              <a:gdLst>
                <a:gd name="T0" fmla="*/ 143 w 143"/>
                <a:gd name="T1" fmla="*/ 0 h 418"/>
                <a:gd name="T2" fmla="*/ 143 w 143"/>
                <a:gd name="T3" fmla="*/ 263 h 418"/>
                <a:gd name="T4" fmla="*/ 0 w 143"/>
                <a:gd name="T5" fmla="*/ 418 h 418"/>
                <a:gd name="T6" fmla="*/ 0 60000 65536"/>
                <a:gd name="T7" fmla="*/ 0 60000 65536"/>
                <a:gd name="T8" fmla="*/ 0 60000 65536"/>
                <a:gd name="T9" fmla="*/ 0 w 143"/>
                <a:gd name="T10" fmla="*/ 0 h 418"/>
                <a:gd name="T11" fmla="*/ 143 w 143"/>
                <a:gd name="T12" fmla="*/ 418 h 4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3" h="418">
                  <a:moveTo>
                    <a:pt x="143" y="0"/>
                  </a:moveTo>
                  <a:lnTo>
                    <a:pt x="143" y="263"/>
                  </a:lnTo>
                  <a:lnTo>
                    <a:pt x="0" y="418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4051" name="Line 14">
              <a:extLst>
                <a:ext uri="{FF2B5EF4-FFF2-40B4-BE49-F238E27FC236}">
                  <a16:creationId xmlns:a16="http://schemas.microsoft.com/office/drawing/2014/main" id="{95615A14-962D-4016-87BD-9568C9868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" y="2364"/>
              <a:ext cx="156" cy="15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2" name="Line 15">
              <a:extLst>
                <a:ext uri="{FF2B5EF4-FFF2-40B4-BE49-F238E27FC236}">
                  <a16:creationId xmlns:a16="http://schemas.microsoft.com/office/drawing/2014/main" id="{5D8C3034-4317-4814-B7E1-CD62EA1782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1" y="2220"/>
              <a:ext cx="299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3" name="Oval 16">
              <a:extLst>
                <a:ext uri="{FF2B5EF4-FFF2-40B4-BE49-F238E27FC236}">
                  <a16:creationId xmlns:a16="http://schemas.microsoft.com/office/drawing/2014/main" id="{DB1BD961-3F58-4C41-BF65-B83EC3F49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" y="1993"/>
              <a:ext cx="155" cy="156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4054" name="Rectangle 17">
              <a:extLst>
                <a:ext uri="{FF2B5EF4-FFF2-40B4-BE49-F238E27FC236}">
                  <a16:creationId xmlns:a16="http://schemas.microsoft.com/office/drawing/2014/main" id="{4778F175-9813-4DC1-ADB1-F0CDDD6EB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" y="2549"/>
              <a:ext cx="87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Teaching </a:t>
              </a:r>
            </a:p>
            <a:p>
              <a:pPr algn="l"/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Assistent</a:t>
              </a:r>
              <a:endParaRPr lang="en-US" altLang="en-US" sz="2000">
                <a:solidFill>
                  <a:schemeClr val="tx1"/>
                </a:solidFill>
              </a:endParaRPr>
            </a:p>
          </p:txBody>
        </p:sp>
      </p:grpSp>
      <p:sp>
        <p:nvSpPr>
          <p:cNvPr id="44049" name="Line 31">
            <a:extLst>
              <a:ext uri="{FF2B5EF4-FFF2-40B4-BE49-F238E27FC236}">
                <a16:creationId xmlns:a16="http://schemas.microsoft.com/office/drawing/2014/main" id="{C55142A7-1BEE-4DA1-89AD-92031E36EA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81188" y="3790950"/>
            <a:ext cx="1649412" cy="9032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0269192-460E-4F28-A72D-8BBB95BA5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15</a:t>
            </a:fld>
            <a:endParaRPr lang="nl-NL" alt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8" grpId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28C0CC7-1048-45A8-9EF9-37632FCFFA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1540" y="0"/>
            <a:ext cx="7772400" cy="1143000"/>
          </a:xfrm>
        </p:spPr>
        <p:txBody>
          <a:bodyPr/>
          <a:lstStyle/>
          <a:p>
            <a:r>
              <a:rPr lang="en-US" altLang="en-US" dirty="0"/>
              <a:t>Class Diagrams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DEBDF1CD-BAE6-40A8-BFE9-5351B86614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88950" y="1284288"/>
            <a:ext cx="8001000" cy="2827337"/>
          </a:xfrm>
          <a:noFill/>
        </p:spPr>
        <p:txBody>
          <a:bodyPr/>
          <a:lstStyle/>
          <a:p>
            <a:r>
              <a:rPr lang="en-US" altLang="en-US"/>
              <a:t>Class diagrams represent the structure of the system</a:t>
            </a:r>
          </a:p>
          <a:p>
            <a:r>
              <a:rPr lang="en-US" altLang="en-US"/>
              <a:t>Used</a:t>
            </a:r>
          </a:p>
          <a:p>
            <a:pPr lvl="1"/>
            <a:r>
              <a:rPr lang="en-US" altLang="en-US"/>
              <a:t>during requirements analysis to model application domain concepts</a:t>
            </a:r>
          </a:p>
          <a:p>
            <a:pPr lvl="1"/>
            <a:r>
              <a:rPr lang="en-US" altLang="en-US"/>
              <a:t>during system design to model subsystems</a:t>
            </a:r>
          </a:p>
          <a:p>
            <a:pPr lvl="1"/>
            <a:r>
              <a:rPr lang="en-US" altLang="en-US"/>
              <a:t>during object design to specify the detailed behavior and attributes of classes.</a:t>
            </a:r>
          </a:p>
          <a:p>
            <a:endParaRPr lang="en-US" altLang="en-US"/>
          </a:p>
        </p:txBody>
      </p:sp>
      <p:grpSp>
        <p:nvGrpSpPr>
          <p:cNvPr id="2" name="Group 47">
            <a:extLst>
              <a:ext uri="{FF2B5EF4-FFF2-40B4-BE49-F238E27FC236}">
                <a16:creationId xmlns:a16="http://schemas.microsoft.com/office/drawing/2014/main" id="{E7898764-4281-43EA-B5EE-BD3AC7E0C614}"/>
              </a:ext>
            </a:extLst>
          </p:cNvPr>
          <p:cNvGrpSpPr>
            <a:grpSpLocks/>
          </p:cNvGrpSpPr>
          <p:nvPr/>
        </p:nvGrpSpPr>
        <p:grpSpPr bwMode="auto">
          <a:xfrm>
            <a:off x="538163" y="4516438"/>
            <a:ext cx="8199437" cy="1419225"/>
            <a:chOff x="339" y="2845"/>
            <a:chExt cx="5165" cy="894"/>
          </a:xfrm>
        </p:grpSpPr>
        <p:sp>
          <p:nvSpPr>
            <p:cNvPr id="46085" name="Text Box 5">
              <a:extLst>
                <a:ext uri="{FF2B5EF4-FFF2-40B4-BE49-F238E27FC236}">
                  <a16:creationId xmlns:a16="http://schemas.microsoft.com/office/drawing/2014/main" id="{0DA64E91-F662-486C-8515-1D7031454D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3087"/>
              <a:ext cx="2085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Courier" charset="0"/>
                </a:rPr>
                <a:t>Table</a:t>
              </a:r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 zone2price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Enumeration getZones()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Price getPrice(Zone)</a:t>
              </a:r>
            </a:p>
          </p:txBody>
        </p:sp>
        <p:grpSp>
          <p:nvGrpSpPr>
            <p:cNvPr id="46086" name="Group 6">
              <a:extLst>
                <a:ext uri="{FF2B5EF4-FFF2-40B4-BE49-F238E27FC236}">
                  <a16:creationId xmlns:a16="http://schemas.microsoft.com/office/drawing/2014/main" id="{CC6E7916-07AB-4E0B-911C-1289BC44ED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" y="2845"/>
              <a:ext cx="2102" cy="282"/>
              <a:chOff x="554" y="1413"/>
              <a:chExt cx="1390" cy="282"/>
            </a:xfrm>
          </p:grpSpPr>
          <p:sp>
            <p:nvSpPr>
              <p:cNvPr id="46100" name="Rectangle 7">
                <a:extLst>
                  <a:ext uri="{FF2B5EF4-FFF2-40B4-BE49-F238E27FC236}">
                    <a16:creationId xmlns:a16="http://schemas.microsoft.com/office/drawing/2014/main" id="{37248CEC-C1DA-44E8-9501-F5F7DBEAF1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13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6101" name="Rectangle 8">
                <a:extLst>
                  <a:ext uri="{FF2B5EF4-FFF2-40B4-BE49-F238E27FC236}">
                    <a16:creationId xmlns:a16="http://schemas.microsoft.com/office/drawing/2014/main" id="{1919A168-5465-468B-99C0-73ACBEDA6E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7" y="1507"/>
                <a:ext cx="74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TarifSchedule</a:t>
                </a:r>
              </a:p>
            </p:txBody>
          </p:sp>
        </p:grpSp>
        <p:sp>
          <p:nvSpPr>
            <p:cNvPr id="46087" name="Rectangle 9">
              <a:extLst>
                <a:ext uri="{FF2B5EF4-FFF2-40B4-BE49-F238E27FC236}">
                  <a16:creationId xmlns:a16="http://schemas.microsoft.com/office/drawing/2014/main" id="{A5939D29-792A-4105-B4CC-44D5B2C4E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" y="3130"/>
              <a:ext cx="2103" cy="16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088" name="Rectangle 10">
              <a:extLst>
                <a:ext uri="{FF2B5EF4-FFF2-40B4-BE49-F238E27FC236}">
                  <a16:creationId xmlns:a16="http://schemas.microsoft.com/office/drawing/2014/main" id="{E010E669-A81A-414A-98B3-93E005A64B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" y="3298"/>
              <a:ext cx="2101" cy="37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089" name="Line 22">
              <a:extLst>
                <a:ext uri="{FF2B5EF4-FFF2-40B4-BE49-F238E27FC236}">
                  <a16:creationId xmlns:a16="http://schemas.microsoft.com/office/drawing/2014/main" id="{D09761CB-5563-43E5-A417-8500E45AEE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" y="3256"/>
              <a:ext cx="14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090" name="Text Box 29">
              <a:extLst>
                <a:ext uri="{FF2B5EF4-FFF2-40B4-BE49-F238E27FC236}">
                  <a16:creationId xmlns:a16="http://schemas.microsoft.com/office/drawing/2014/main" id="{A415579B-431C-455D-86B0-2C3C13B03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21" y="3288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b="0">
                  <a:solidFill>
                    <a:schemeClr val="tx1"/>
                  </a:solidFill>
                </a:rPr>
                <a:t>*</a:t>
              </a:r>
              <a:endParaRPr lang="en-US" altLang="en-US" b="0"/>
            </a:p>
          </p:txBody>
        </p:sp>
        <p:sp>
          <p:nvSpPr>
            <p:cNvPr id="46091" name="Text Box 31">
              <a:extLst>
                <a:ext uri="{FF2B5EF4-FFF2-40B4-BE49-F238E27FC236}">
                  <a16:creationId xmlns:a16="http://schemas.microsoft.com/office/drawing/2014/main" id="{BB8C02F0-EAB6-490B-A5FA-29CD4C0520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0" y="3304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b="0">
                  <a:solidFill>
                    <a:schemeClr val="tx1"/>
                  </a:solidFill>
                </a:rPr>
                <a:t>*</a:t>
              </a:r>
              <a:endParaRPr lang="en-US" altLang="en-US" b="0"/>
            </a:p>
          </p:txBody>
        </p:sp>
        <p:grpSp>
          <p:nvGrpSpPr>
            <p:cNvPr id="46092" name="Group 36">
              <a:extLst>
                <a:ext uri="{FF2B5EF4-FFF2-40B4-BE49-F238E27FC236}">
                  <a16:creationId xmlns:a16="http://schemas.microsoft.com/office/drawing/2014/main" id="{416CD602-878F-4FE7-A081-7ECBD276F8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4" y="2911"/>
              <a:ext cx="1650" cy="282"/>
              <a:chOff x="554" y="1413"/>
              <a:chExt cx="1390" cy="282"/>
            </a:xfrm>
          </p:grpSpPr>
          <p:sp>
            <p:nvSpPr>
              <p:cNvPr id="46098" name="Rectangle 37">
                <a:extLst>
                  <a:ext uri="{FF2B5EF4-FFF2-40B4-BE49-F238E27FC236}">
                    <a16:creationId xmlns:a16="http://schemas.microsoft.com/office/drawing/2014/main" id="{CDD1839B-A3EA-4D2D-84CD-A1C708824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13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6099" name="Rectangle 38">
                <a:extLst>
                  <a:ext uri="{FF2B5EF4-FFF2-40B4-BE49-F238E27FC236}">
                    <a16:creationId xmlns:a16="http://schemas.microsoft.com/office/drawing/2014/main" id="{E1D29464-C2CD-4E15-86C2-D176148952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3" y="1507"/>
                <a:ext cx="292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Trip</a:t>
                </a:r>
              </a:p>
            </p:txBody>
          </p:sp>
        </p:grpSp>
        <p:sp>
          <p:nvSpPr>
            <p:cNvPr id="46093" name="Rectangle 39">
              <a:extLst>
                <a:ext uri="{FF2B5EF4-FFF2-40B4-BE49-F238E27FC236}">
                  <a16:creationId xmlns:a16="http://schemas.microsoft.com/office/drawing/2014/main" id="{E06B6B44-D746-4E55-B05A-E11C8666F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" y="3192"/>
              <a:ext cx="1649" cy="36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6094" name="Rectangle 40">
              <a:extLst>
                <a:ext uri="{FF2B5EF4-FFF2-40B4-BE49-F238E27FC236}">
                  <a16:creationId xmlns:a16="http://schemas.microsoft.com/office/drawing/2014/main" id="{1A2D5262-B179-477D-8F1B-B8C427F28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4" y="3553"/>
              <a:ext cx="1649" cy="186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46095" name="Group 41">
              <a:extLst>
                <a:ext uri="{FF2B5EF4-FFF2-40B4-BE49-F238E27FC236}">
                  <a16:creationId xmlns:a16="http://schemas.microsoft.com/office/drawing/2014/main" id="{88E4834B-5AB8-4A93-8A27-EAFFE01E53D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43" y="3174"/>
              <a:ext cx="1037" cy="361"/>
              <a:chOff x="1743" y="1368"/>
              <a:chExt cx="1325" cy="361"/>
            </a:xfrm>
          </p:grpSpPr>
          <p:sp>
            <p:nvSpPr>
              <p:cNvPr id="46096" name="Rectangle 42">
                <a:extLst>
                  <a:ext uri="{FF2B5EF4-FFF2-40B4-BE49-F238E27FC236}">
                    <a16:creationId xmlns:a16="http://schemas.microsoft.com/office/drawing/2014/main" id="{CA86E22A-174F-4C13-865D-1EB4CB359B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3" y="1368"/>
                <a:ext cx="884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587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6097" name="Rectangle 43">
                <a:extLst>
                  <a:ext uri="{FF2B5EF4-FFF2-40B4-BE49-F238E27FC236}">
                    <a16:creationId xmlns:a16="http://schemas.microsoft.com/office/drawing/2014/main" id="{FD0683D5-4CCA-410B-AE7F-95FE023A0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3" y="1383"/>
                <a:ext cx="1325" cy="3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zone:Zone</a:t>
                </a:r>
              </a:p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Price: Price</a:t>
                </a:r>
              </a:p>
            </p:txBody>
          </p:sp>
        </p:grpSp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799250E-3FB8-42AC-85A6-DD8D5D3F3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16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C94C79C1-2F64-4AB2-AA2C-EFA967C300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Classes</a:t>
            </a:r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20F49F80-59B2-4A83-9C5E-506655619BAE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4311650"/>
            <a:ext cx="8001000" cy="6826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/>
              <a:t>A </a:t>
            </a:r>
            <a:r>
              <a:rPr lang="en-US" altLang="en-US" sz="2000" b="1" i="1"/>
              <a:t>class</a:t>
            </a:r>
            <a:r>
              <a:rPr lang="en-US" altLang="en-US" sz="2000"/>
              <a:t> represents a concept</a:t>
            </a:r>
          </a:p>
          <a:p>
            <a:pPr>
              <a:lnSpc>
                <a:spcPct val="80000"/>
              </a:lnSpc>
            </a:pPr>
            <a:r>
              <a:rPr lang="en-US" altLang="en-US" sz="2000"/>
              <a:t>A class encapsulates state </a:t>
            </a:r>
            <a:r>
              <a:rPr lang="en-US" altLang="en-US" sz="2000" b="1" i="1"/>
              <a:t>(attributes)</a:t>
            </a:r>
            <a:r>
              <a:rPr lang="en-US" altLang="en-US" sz="2000"/>
              <a:t> and behavior </a:t>
            </a:r>
            <a:r>
              <a:rPr lang="en-US" altLang="en-US" sz="2000" b="1" i="1"/>
              <a:t>(operations)</a:t>
            </a: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45784D99-B51E-4C08-9E34-9C2E572CF6DE}"/>
              </a:ext>
            </a:extLst>
          </p:cNvPr>
          <p:cNvGrpSpPr>
            <a:grpSpLocks/>
          </p:cNvGrpSpPr>
          <p:nvPr/>
        </p:nvGrpSpPr>
        <p:grpSpPr bwMode="auto">
          <a:xfrm>
            <a:off x="5187950" y="922338"/>
            <a:ext cx="3635375" cy="1306512"/>
            <a:chOff x="3212" y="1405"/>
            <a:chExt cx="2290" cy="823"/>
          </a:xfrm>
        </p:grpSpPr>
        <p:sp>
          <p:nvSpPr>
            <p:cNvPr id="48151" name="Text Box 13">
              <a:extLst>
                <a:ext uri="{FF2B5EF4-FFF2-40B4-BE49-F238E27FC236}">
                  <a16:creationId xmlns:a16="http://schemas.microsoft.com/office/drawing/2014/main" id="{03FD6539-AC73-402A-8F91-08DF810EF22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1" y="1647"/>
              <a:ext cx="2241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2EFF2C"/>
                  </a:solidFill>
                  <a:latin typeface="Courier" charset="0"/>
                </a:rPr>
                <a:t>Table</a:t>
              </a:r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 zone2price</a:t>
              </a:r>
            </a:p>
            <a:p>
              <a:pPr algn="l"/>
              <a:r>
                <a:rPr lang="en-US" altLang="en-US" sz="1800">
                  <a:solidFill>
                    <a:srgbClr val="2EFF2C"/>
                  </a:solidFill>
                  <a:latin typeface="Courier" charset="0"/>
                </a:rPr>
                <a:t>Enumeration</a:t>
              </a:r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 getZones()</a:t>
              </a:r>
            </a:p>
            <a:p>
              <a:pPr algn="l"/>
              <a:r>
                <a:rPr lang="en-US" altLang="en-US" sz="1800">
                  <a:solidFill>
                    <a:srgbClr val="2EFF2C"/>
                  </a:solidFill>
                  <a:latin typeface="Courier" charset="0"/>
                </a:rPr>
                <a:t>Price</a:t>
              </a:r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 getPrice(</a:t>
              </a:r>
              <a:r>
                <a:rPr lang="en-US" altLang="en-US" sz="1800">
                  <a:solidFill>
                    <a:srgbClr val="2EFF2C"/>
                  </a:solidFill>
                  <a:latin typeface="Courier" charset="0"/>
                </a:rPr>
                <a:t>Zone</a:t>
              </a:r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)</a:t>
              </a:r>
            </a:p>
          </p:txBody>
        </p:sp>
        <p:sp>
          <p:nvSpPr>
            <p:cNvPr id="48152" name="Rectangle 14">
              <a:extLst>
                <a:ext uri="{FF2B5EF4-FFF2-40B4-BE49-F238E27FC236}">
                  <a16:creationId xmlns:a16="http://schemas.microsoft.com/office/drawing/2014/main" id="{6D9D87E7-5E67-4D18-96BA-350BADDE19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2" y="1405"/>
              <a:ext cx="2254" cy="28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8153" name="Rectangle 15">
              <a:extLst>
                <a:ext uri="{FF2B5EF4-FFF2-40B4-BE49-F238E27FC236}">
                  <a16:creationId xmlns:a16="http://schemas.microsoft.com/office/drawing/2014/main" id="{E3A3E6C1-9784-4DE5-8945-222DB73C1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7" y="1499"/>
              <a:ext cx="112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TarifSchedule</a:t>
              </a:r>
            </a:p>
          </p:txBody>
        </p:sp>
        <p:sp>
          <p:nvSpPr>
            <p:cNvPr id="48154" name="Rectangle 16">
              <a:extLst>
                <a:ext uri="{FF2B5EF4-FFF2-40B4-BE49-F238E27FC236}">
                  <a16:creationId xmlns:a16="http://schemas.microsoft.com/office/drawing/2014/main" id="{C9B8CBD2-600B-4CEF-AE8F-3D923FFFA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4" y="1690"/>
              <a:ext cx="2251" cy="16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8155" name="Rectangle 17">
              <a:extLst>
                <a:ext uri="{FF2B5EF4-FFF2-40B4-BE49-F238E27FC236}">
                  <a16:creationId xmlns:a16="http://schemas.microsoft.com/office/drawing/2014/main" id="{0320211D-2083-4720-B772-385A9D849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" y="1858"/>
              <a:ext cx="2251" cy="370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3" name="Group 32">
            <a:extLst>
              <a:ext uri="{FF2B5EF4-FFF2-40B4-BE49-F238E27FC236}">
                <a16:creationId xmlns:a16="http://schemas.microsoft.com/office/drawing/2014/main" id="{1BF7A36C-17FB-4F9F-B50C-BECFBDE66D38}"/>
              </a:ext>
            </a:extLst>
          </p:cNvPr>
          <p:cNvGrpSpPr>
            <a:grpSpLocks/>
          </p:cNvGrpSpPr>
          <p:nvPr/>
        </p:nvGrpSpPr>
        <p:grpSpPr bwMode="auto">
          <a:xfrm>
            <a:off x="873125" y="1676400"/>
            <a:ext cx="4295775" cy="2222500"/>
            <a:chOff x="550" y="1056"/>
            <a:chExt cx="2706" cy="1400"/>
          </a:xfrm>
        </p:grpSpPr>
        <p:grpSp>
          <p:nvGrpSpPr>
            <p:cNvPr id="48141" name="Group 28">
              <a:extLst>
                <a:ext uri="{FF2B5EF4-FFF2-40B4-BE49-F238E27FC236}">
                  <a16:creationId xmlns:a16="http://schemas.microsoft.com/office/drawing/2014/main" id="{65AAD893-4E10-4100-AA47-D427E20D86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0" y="1413"/>
              <a:ext cx="1416" cy="823"/>
              <a:chOff x="550" y="1413"/>
              <a:chExt cx="1416" cy="823"/>
            </a:xfrm>
          </p:grpSpPr>
          <p:sp>
            <p:nvSpPr>
              <p:cNvPr id="48145" name="Text Box 6">
                <a:extLst>
                  <a:ext uri="{FF2B5EF4-FFF2-40B4-BE49-F238E27FC236}">
                    <a16:creationId xmlns:a16="http://schemas.microsoft.com/office/drawing/2014/main" id="{B49BF732-5E71-45AF-8782-462A15C2BB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4" y="1655"/>
                <a:ext cx="1382" cy="5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zone2price</a:t>
                </a:r>
              </a:p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getZones()</a:t>
                </a:r>
              </a:p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getPrice()</a:t>
                </a:r>
              </a:p>
            </p:txBody>
          </p:sp>
          <p:grpSp>
            <p:nvGrpSpPr>
              <p:cNvPr id="48146" name="Group 24">
                <a:extLst>
                  <a:ext uri="{FF2B5EF4-FFF2-40B4-BE49-F238E27FC236}">
                    <a16:creationId xmlns:a16="http://schemas.microsoft.com/office/drawing/2014/main" id="{F8FE9FF0-49CB-41B3-96F0-6148464B6DB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54" y="1413"/>
                <a:ext cx="1390" cy="282"/>
                <a:chOff x="554" y="1413"/>
                <a:chExt cx="1390" cy="282"/>
              </a:xfrm>
            </p:grpSpPr>
            <p:sp>
              <p:nvSpPr>
                <p:cNvPr id="48149" name="Rectangle 7">
                  <a:extLst>
                    <a:ext uri="{FF2B5EF4-FFF2-40B4-BE49-F238E27FC236}">
                      <a16:creationId xmlns:a16="http://schemas.microsoft.com/office/drawing/2014/main" id="{0218D426-9447-499F-87AA-5654B2B5C3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4" y="1413"/>
                  <a:ext cx="1390" cy="282"/>
                </a:xfrm>
                <a:prstGeom prst="rect">
                  <a:avLst/>
                </a:prstGeom>
                <a:noFill/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48150" name="Rectangle 8">
                  <a:extLst>
                    <a:ext uri="{FF2B5EF4-FFF2-40B4-BE49-F238E27FC236}">
                      <a16:creationId xmlns:a16="http://schemas.microsoft.com/office/drawing/2014/main" id="{C36173F4-3A4A-4B81-BEBA-EAA22E0FCC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87" y="1507"/>
                  <a:ext cx="1123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en-US" sz="1800">
                      <a:solidFill>
                        <a:srgbClr val="000000"/>
                      </a:solidFill>
                      <a:latin typeface="Courier" charset="0"/>
                    </a:rPr>
                    <a:t>TarifSchedule</a:t>
                  </a:r>
                </a:p>
              </p:txBody>
            </p:sp>
          </p:grpSp>
          <p:sp>
            <p:nvSpPr>
              <p:cNvPr id="48147" name="Rectangle 9">
                <a:extLst>
                  <a:ext uri="{FF2B5EF4-FFF2-40B4-BE49-F238E27FC236}">
                    <a16:creationId xmlns:a16="http://schemas.microsoft.com/office/drawing/2014/main" id="{5C5FCEEB-F2D0-4528-817A-D8C7DEDBC0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" y="1698"/>
                <a:ext cx="1394" cy="16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48148" name="Rectangle 10">
                <a:extLst>
                  <a:ext uri="{FF2B5EF4-FFF2-40B4-BE49-F238E27FC236}">
                    <a16:creationId xmlns:a16="http://schemas.microsoft.com/office/drawing/2014/main" id="{358EBDCE-4791-4AD8-A273-CCDEDE6B87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3" y="1866"/>
                <a:ext cx="1393" cy="370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48142" name="AutoShape 19">
              <a:extLst>
                <a:ext uri="{FF2B5EF4-FFF2-40B4-BE49-F238E27FC236}">
                  <a16:creationId xmlns:a16="http://schemas.microsoft.com/office/drawing/2014/main" id="{4533DC7D-978B-4B93-B4E8-9D5EDDBE03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12" y="1056"/>
              <a:ext cx="784" cy="384"/>
            </a:xfrm>
            <a:prstGeom prst="wedgeRoundRectCallout">
              <a:avLst>
                <a:gd name="adj1" fmla="val -91329"/>
                <a:gd name="adj2" fmla="val 86718"/>
                <a:gd name="adj3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b="0"/>
                <a:t>Name</a:t>
              </a:r>
            </a:p>
          </p:txBody>
        </p:sp>
        <p:sp>
          <p:nvSpPr>
            <p:cNvPr id="48143" name="AutoShape 20">
              <a:extLst>
                <a:ext uri="{FF2B5EF4-FFF2-40B4-BE49-F238E27FC236}">
                  <a16:creationId xmlns:a16="http://schemas.microsoft.com/office/drawing/2014/main" id="{D6F1A2E8-1D2B-4319-A7DB-A359219F8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" y="1568"/>
              <a:ext cx="1064" cy="384"/>
            </a:xfrm>
            <a:prstGeom prst="wedgeRoundRectCallout">
              <a:avLst>
                <a:gd name="adj1" fmla="val -68421"/>
                <a:gd name="adj2" fmla="val 9634"/>
                <a:gd name="adj3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b="0"/>
                <a:t>Attributes</a:t>
              </a:r>
            </a:p>
          </p:txBody>
        </p:sp>
        <p:sp>
          <p:nvSpPr>
            <p:cNvPr id="48144" name="AutoShape 21">
              <a:extLst>
                <a:ext uri="{FF2B5EF4-FFF2-40B4-BE49-F238E27FC236}">
                  <a16:creationId xmlns:a16="http://schemas.microsoft.com/office/drawing/2014/main" id="{6C27FFBC-E776-432E-8CC8-4A24F0504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2" y="2072"/>
              <a:ext cx="1064" cy="384"/>
            </a:xfrm>
            <a:prstGeom prst="wedgeRoundRectCallout">
              <a:avLst>
                <a:gd name="adj1" fmla="val -72931"/>
                <a:gd name="adj2" fmla="val -59116"/>
                <a:gd name="adj3" fmla="val 16667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b="0"/>
                <a:t>Operations</a:t>
              </a:r>
            </a:p>
          </p:txBody>
        </p:sp>
      </p:grpSp>
      <p:sp>
        <p:nvSpPr>
          <p:cNvPr id="113687" name="AutoShape 23">
            <a:extLst>
              <a:ext uri="{FF2B5EF4-FFF2-40B4-BE49-F238E27FC236}">
                <a16:creationId xmlns:a16="http://schemas.microsoft.com/office/drawing/2014/main" id="{F214E839-47BA-4E4E-B907-26C9FB0FC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0300" y="2451100"/>
            <a:ext cx="1689100" cy="609600"/>
          </a:xfrm>
          <a:prstGeom prst="wedgeRoundRectCallout">
            <a:avLst>
              <a:gd name="adj1" fmla="val -74435"/>
              <a:gd name="adj2" fmla="val -94532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0"/>
              <a:t>Signature</a:t>
            </a:r>
          </a:p>
        </p:txBody>
      </p:sp>
      <p:grpSp>
        <p:nvGrpSpPr>
          <p:cNvPr id="6" name="Group 25">
            <a:extLst>
              <a:ext uri="{FF2B5EF4-FFF2-40B4-BE49-F238E27FC236}">
                <a16:creationId xmlns:a16="http://schemas.microsoft.com/office/drawing/2014/main" id="{62F9537B-90F0-4482-A192-442D0C2E2DCF}"/>
              </a:ext>
            </a:extLst>
          </p:cNvPr>
          <p:cNvGrpSpPr>
            <a:grpSpLocks/>
          </p:cNvGrpSpPr>
          <p:nvPr/>
        </p:nvGrpSpPr>
        <p:grpSpPr bwMode="auto">
          <a:xfrm>
            <a:off x="6315075" y="3309938"/>
            <a:ext cx="2206625" cy="447675"/>
            <a:chOff x="554" y="1413"/>
            <a:chExt cx="1390" cy="282"/>
          </a:xfrm>
        </p:grpSpPr>
        <p:sp>
          <p:nvSpPr>
            <p:cNvPr id="48139" name="Rectangle 26">
              <a:extLst>
                <a:ext uri="{FF2B5EF4-FFF2-40B4-BE49-F238E27FC236}">
                  <a16:creationId xmlns:a16="http://schemas.microsoft.com/office/drawing/2014/main" id="{E30031C0-F18B-4340-92FB-3097DCC4B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4" y="1413"/>
              <a:ext cx="1390" cy="282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48140" name="Rectangle 27">
              <a:extLst>
                <a:ext uri="{FF2B5EF4-FFF2-40B4-BE49-F238E27FC236}">
                  <a16:creationId xmlns:a16="http://schemas.microsoft.com/office/drawing/2014/main" id="{14ED726D-8187-4D2D-9692-44A76176B5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" y="1507"/>
              <a:ext cx="112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TarifSchedule</a:t>
              </a:r>
            </a:p>
          </p:txBody>
        </p:sp>
      </p:grpSp>
      <p:sp>
        <p:nvSpPr>
          <p:cNvPr id="113693" name="Rectangle 29">
            <a:extLst>
              <a:ext uri="{FF2B5EF4-FFF2-40B4-BE49-F238E27FC236}">
                <a16:creationId xmlns:a16="http://schemas.microsoft.com/office/drawing/2014/main" id="{30DB9E5C-BD50-4E71-9A6A-88A80A96C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500" y="6015038"/>
            <a:ext cx="6688138" cy="38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The class name is the only mandatory information</a:t>
            </a:r>
          </a:p>
        </p:txBody>
      </p:sp>
      <p:sp>
        <p:nvSpPr>
          <p:cNvPr id="113694" name="Rectangle 30">
            <a:extLst>
              <a:ext uri="{FF2B5EF4-FFF2-40B4-BE49-F238E27FC236}">
                <a16:creationId xmlns:a16="http://schemas.microsoft.com/office/drawing/2014/main" id="{4F10503A-1CC6-4703-8963-BCC314FDE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0313" y="5191125"/>
            <a:ext cx="65659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Each attribute has a </a:t>
            </a:r>
            <a:r>
              <a:rPr lang="en-US" altLang="en-US" sz="2000" i="1">
                <a:solidFill>
                  <a:schemeClr val="tx1"/>
                </a:solidFill>
                <a:latin typeface="Verdana" panose="020B0604030504040204" pitchFamily="34" charset="0"/>
              </a:rPr>
              <a:t>type</a:t>
            </a:r>
            <a:endParaRPr lang="en-US" altLang="en-US" sz="2000" b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pPr algn="l"/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Each operation has a </a:t>
            </a:r>
            <a:r>
              <a:rPr lang="en-US" altLang="en-US" sz="2000" i="1">
                <a:solidFill>
                  <a:schemeClr val="tx1"/>
                </a:solidFill>
                <a:latin typeface="Verdana" panose="020B0604030504040204" pitchFamily="34" charset="0"/>
              </a:rPr>
              <a:t>signature</a:t>
            </a:r>
            <a:endParaRPr lang="en-US" altLang="en-US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13695" name="AutoShape 31">
            <a:extLst>
              <a:ext uri="{FF2B5EF4-FFF2-40B4-BE49-F238E27FC236}">
                <a16:creationId xmlns:a16="http://schemas.microsoft.com/office/drawing/2014/main" id="{D838FE3F-EFB1-43B4-8709-BCE19D5EE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0700" y="403225"/>
            <a:ext cx="1689100" cy="609600"/>
          </a:xfrm>
          <a:prstGeom prst="wedgeRoundRectCallout">
            <a:avLst>
              <a:gd name="adj1" fmla="val 84023"/>
              <a:gd name="adj2" fmla="val 126301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0"/>
              <a:t>Type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667" grpId="0" build="p" autoUpdateAnimBg="0"/>
      <p:bldP spid="113687" grpId="0" animBg="1" autoUpdateAnimBg="0"/>
      <p:bldP spid="113693" grpId="0" build="p" autoUpdateAnimBg="0"/>
      <p:bldP spid="113694" grpId="0" build="p" autoUpdateAnimBg="0"/>
      <p:bldP spid="113695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87E188EF-F0DA-4C89-BE77-C72079407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3588" y="6842"/>
            <a:ext cx="7772400" cy="1143000"/>
          </a:xfrm>
        </p:spPr>
        <p:txBody>
          <a:bodyPr/>
          <a:lstStyle/>
          <a:p>
            <a:r>
              <a:rPr lang="en-US" altLang="en-US" dirty="0"/>
              <a:t>Actor vs Class vs Object</a:t>
            </a:r>
          </a:p>
        </p:txBody>
      </p:sp>
      <p:sp>
        <p:nvSpPr>
          <p:cNvPr id="134148" name="Rectangle 4">
            <a:extLst>
              <a:ext uri="{FF2B5EF4-FFF2-40B4-BE49-F238E27FC236}">
                <a16:creationId xmlns:a16="http://schemas.microsoft.com/office/drawing/2014/main" id="{0F18CEB9-84AF-4268-8854-46E8652801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447800"/>
            <a:ext cx="7772400" cy="5005536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FF3300"/>
                </a:solidFill>
              </a:rPr>
              <a:t>Actor</a:t>
            </a:r>
            <a:r>
              <a:rPr lang="en-US" altLang="en-US" b="1" dirty="0"/>
              <a:t> </a:t>
            </a:r>
          </a:p>
          <a:p>
            <a:pPr lvl="1"/>
            <a:r>
              <a:rPr lang="en-US" altLang="en-US" dirty="0"/>
              <a:t>An entity outside the system to be modeled, interacting with the system (“Passenger”)</a:t>
            </a:r>
          </a:p>
          <a:p>
            <a:r>
              <a:rPr lang="en-US" altLang="en-US" b="1" dirty="0">
                <a:solidFill>
                  <a:srgbClr val="FF3300"/>
                </a:solidFill>
              </a:rPr>
              <a:t>Class</a:t>
            </a:r>
            <a:endParaRPr lang="en-US" altLang="en-US" b="1" dirty="0"/>
          </a:p>
          <a:p>
            <a:pPr lvl="1"/>
            <a:r>
              <a:rPr lang="en-US" altLang="en-US" dirty="0"/>
              <a:t>An abstraction modeling an entity in the application or solution domain</a:t>
            </a:r>
          </a:p>
          <a:p>
            <a:pPr lvl="1"/>
            <a:r>
              <a:rPr lang="en-US" altLang="en-US" dirty="0"/>
              <a:t>The class is part of the system model (“User”, “Ticket distributor”, “Server”)</a:t>
            </a:r>
          </a:p>
          <a:p>
            <a:r>
              <a:rPr lang="en-US" altLang="en-US" b="1" dirty="0">
                <a:solidFill>
                  <a:srgbClr val="FF3300"/>
                </a:solidFill>
              </a:rPr>
              <a:t>Object</a:t>
            </a:r>
            <a:endParaRPr lang="en-US" altLang="en-US" b="1" dirty="0"/>
          </a:p>
          <a:p>
            <a:pPr lvl="1"/>
            <a:r>
              <a:rPr lang="en-US" altLang="en-US" dirty="0"/>
              <a:t>A specific instance of a class (“Joe, the passenger who is purchasing a ticket from the ticket distributor”).  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89826B3-9C55-4E28-BDB0-2B39F9EF7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18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48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38250C3A-8D95-44E5-9AE4-818FC41B2E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Instances</a:t>
            </a:r>
          </a:p>
        </p:txBody>
      </p:sp>
      <p:sp>
        <p:nvSpPr>
          <p:cNvPr id="118788" name="Rectangle 4">
            <a:extLst>
              <a:ext uri="{FF2B5EF4-FFF2-40B4-BE49-F238E27FC236}">
                <a16:creationId xmlns:a16="http://schemas.microsoft.com/office/drawing/2014/main" id="{0133F28E-180A-48E3-BD8E-B47462AEC2C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4017963"/>
            <a:ext cx="8001000" cy="987425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2000"/>
              <a:t>An </a:t>
            </a:r>
            <a:r>
              <a:rPr lang="en-US" altLang="en-US" sz="2000" b="1" i="1"/>
              <a:t>instance</a:t>
            </a:r>
            <a:r>
              <a:rPr lang="en-US" altLang="en-US" sz="2000"/>
              <a:t> represents a phenomenon</a:t>
            </a:r>
          </a:p>
          <a:p>
            <a:pPr>
              <a:lnSpc>
                <a:spcPct val="80000"/>
              </a:lnSpc>
            </a:pPr>
            <a:r>
              <a:rPr lang="en-US" altLang="en-US" sz="2000"/>
              <a:t>The attributes are represented with their </a:t>
            </a:r>
            <a:r>
              <a:rPr lang="en-US" altLang="en-US" sz="2000" b="1" i="1"/>
              <a:t>values</a:t>
            </a:r>
            <a:endParaRPr lang="en-US" altLang="en-US" sz="2000"/>
          </a:p>
          <a:p>
            <a:pPr>
              <a:lnSpc>
                <a:spcPct val="80000"/>
              </a:lnSpc>
            </a:pPr>
            <a:r>
              <a:rPr lang="en-US" altLang="en-US" sz="2000"/>
              <a:t>The name of an instance is </a:t>
            </a:r>
            <a:r>
              <a:rPr lang="en-US" altLang="en-US" sz="2000" u="sng"/>
              <a:t>underlined</a:t>
            </a:r>
            <a:r>
              <a:rPr lang="en-US" altLang="en-US" sz="2000"/>
              <a:t> </a:t>
            </a:r>
          </a:p>
          <a:p>
            <a:pPr>
              <a:lnSpc>
                <a:spcPct val="80000"/>
              </a:lnSpc>
            </a:pPr>
            <a:r>
              <a:rPr lang="en-US" altLang="en-US" sz="2000"/>
              <a:t>The name can contain only the class name of the instance (anonymous instance)</a:t>
            </a:r>
            <a:endParaRPr lang="en-US" altLang="en-US" sz="1800"/>
          </a:p>
          <a:p>
            <a:pPr>
              <a:lnSpc>
                <a:spcPct val="80000"/>
              </a:lnSpc>
            </a:pPr>
            <a:endParaRPr lang="en-US" altLang="en-US" sz="1800"/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58036134-4847-4FE1-9351-0E4FC4901DCA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392238"/>
            <a:ext cx="3556000" cy="1616075"/>
            <a:chOff x="1150" y="941"/>
            <a:chExt cx="2240" cy="1018"/>
          </a:xfrm>
        </p:grpSpPr>
        <p:sp>
          <p:nvSpPr>
            <p:cNvPr id="52237" name="Text Box 6">
              <a:extLst>
                <a:ext uri="{FF2B5EF4-FFF2-40B4-BE49-F238E27FC236}">
                  <a16:creationId xmlns:a16="http://schemas.microsoft.com/office/drawing/2014/main" id="{B9970ADC-BD13-4ECF-B8CD-8ACE48EA01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9" y="1183"/>
              <a:ext cx="2191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zone2price = {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{‘1’, 0.20},</a:t>
              </a:r>
              <a:br>
                <a:rPr lang="en-US" altLang="en-US" sz="1800">
                  <a:solidFill>
                    <a:srgbClr val="000000"/>
                  </a:solidFill>
                  <a:latin typeface="Courier" charset="0"/>
                </a:rPr>
              </a:br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{‘2’, 0.40},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{‘3’, 0.60}}</a:t>
              </a:r>
            </a:p>
          </p:txBody>
        </p:sp>
        <p:grpSp>
          <p:nvGrpSpPr>
            <p:cNvPr id="52238" name="Group 7">
              <a:extLst>
                <a:ext uri="{FF2B5EF4-FFF2-40B4-BE49-F238E27FC236}">
                  <a16:creationId xmlns:a16="http://schemas.microsoft.com/office/drawing/2014/main" id="{68950274-62AC-428A-97C4-67075B3CC8A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1" y="941"/>
              <a:ext cx="2204" cy="282"/>
              <a:chOff x="554" y="1413"/>
              <a:chExt cx="1390" cy="282"/>
            </a:xfrm>
          </p:grpSpPr>
          <p:sp>
            <p:nvSpPr>
              <p:cNvPr id="52240" name="Rectangle 8">
                <a:extLst>
                  <a:ext uri="{FF2B5EF4-FFF2-40B4-BE49-F238E27FC236}">
                    <a16:creationId xmlns:a16="http://schemas.microsoft.com/office/drawing/2014/main" id="{89D59628-6C7C-4AC1-9B1E-E6DBE54FEF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13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2241" name="Rectangle 9">
                <a:extLst>
                  <a:ext uri="{FF2B5EF4-FFF2-40B4-BE49-F238E27FC236}">
                    <a16:creationId xmlns:a16="http://schemas.microsoft.com/office/drawing/2014/main" id="{9E65EA2B-E094-4536-94E0-726F8890F9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" y="1507"/>
                <a:ext cx="125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800" u="sng">
                    <a:solidFill>
                      <a:srgbClr val="000000"/>
                    </a:solidFill>
                    <a:latin typeface="Courier" charset="0"/>
                  </a:rPr>
                  <a:t>tarif2006:TarifSchedule</a:t>
                </a:r>
              </a:p>
            </p:txBody>
          </p:sp>
        </p:grpSp>
        <p:sp>
          <p:nvSpPr>
            <p:cNvPr id="52239" name="Rectangle 11">
              <a:extLst>
                <a:ext uri="{FF2B5EF4-FFF2-40B4-BE49-F238E27FC236}">
                  <a16:creationId xmlns:a16="http://schemas.microsoft.com/office/drawing/2014/main" id="{51D173FE-0755-4F26-B5D8-85635D3CD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" y="1221"/>
              <a:ext cx="2208" cy="738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89C16B29-966D-4E71-84A8-231B4BF4698C}"/>
              </a:ext>
            </a:extLst>
          </p:cNvPr>
          <p:cNvGrpSpPr>
            <a:grpSpLocks/>
          </p:cNvGrpSpPr>
          <p:nvPr/>
        </p:nvGrpSpPr>
        <p:grpSpPr bwMode="auto">
          <a:xfrm>
            <a:off x="4856163" y="1409700"/>
            <a:ext cx="3556000" cy="1616075"/>
            <a:chOff x="1150" y="941"/>
            <a:chExt cx="2240" cy="1018"/>
          </a:xfrm>
        </p:grpSpPr>
        <p:sp>
          <p:nvSpPr>
            <p:cNvPr id="52232" name="Text Box 14">
              <a:extLst>
                <a:ext uri="{FF2B5EF4-FFF2-40B4-BE49-F238E27FC236}">
                  <a16:creationId xmlns:a16="http://schemas.microsoft.com/office/drawing/2014/main" id="{F179FACB-E4A1-4475-BA79-B1BE6FF6E3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9" y="1183"/>
              <a:ext cx="2191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zone2price = {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{‘1’, 0.20},</a:t>
              </a:r>
              <a:br>
                <a:rPr lang="en-US" altLang="en-US" sz="1800">
                  <a:solidFill>
                    <a:srgbClr val="000000"/>
                  </a:solidFill>
                  <a:latin typeface="Courier" charset="0"/>
                </a:rPr>
              </a:br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{‘2’, 0.40},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{‘3’, 0.60}}</a:t>
              </a:r>
            </a:p>
          </p:txBody>
        </p:sp>
        <p:grpSp>
          <p:nvGrpSpPr>
            <p:cNvPr id="52233" name="Group 15">
              <a:extLst>
                <a:ext uri="{FF2B5EF4-FFF2-40B4-BE49-F238E27FC236}">
                  <a16:creationId xmlns:a16="http://schemas.microsoft.com/office/drawing/2014/main" id="{8B3362D8-DB1A-4C50-B885-38A7AF43D9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1" y="941"/>
              <a:ext cx="2204" cy="282"/>
              <a:chOff x="554" y="1413"/>
              <a:chExt cx="1390" cy="282"/>
            </a:xfrm>
          </p:grpSpPr>
          <p:sp>
            <p:nvSpPr>
              <p:cNvPr id="52235" name="Rectangle 16">
                <a:extLst>
                  <a:ext uri="{FF2B5EF4-FFF2-40B4-BE49-F238E27FC236}">
                    <a16:creationId xmlns:a16="http://schemas.microsoft.com/office/drawing/2014/main" id="{C82256B6-8134-4B0F-9617-BF7A16DD80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13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2236" name="Rectangle 17">
                <a:extLst>
                  <a:ext uri="{FF2B5EF4-FFF2-40B4-BE49-F238E27FC236}">
                    <a16:creationId xmlns:a16="http://schemas.microsoft.com/office/drawing/2014/main" id="{08FC8AD7-CB12-48A2-AA3E-1469BED0B7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7" y="1507"/>
                <a:ext cx="76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800" u="sng">
                    <a:solidFill>
                      <a:srgbClr val="000000"/>
                    </a:solidFill>
                    <a:latin typeface="Courier" charset="0"/>
                  </a:rPr>
                  <a:t>:TarifSchedule</a:t>
                </a:r>
              </a:p>
            </p:txBody>
          </p:sp>
        </p:grpSp>
        <p:sp>
          <p:nvSpPr>
            <p:cNvPr id="52234" name="Rectangle 18">
              <a:extLst>
                <a:ext uri="{FF2B5EF4-FFF2-40B4-BE49-F238E27FC236}">
                  <a16:creationId xmlns:a16="http://schemas.microsoft.com/office/drawing/2014/main" id="{2D9EBF64-FA93-4987-8EE8-DCA9AEEECD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50" y="1221"/>
              <a:ext cx="2208" cy="738"/>
            </a:xfrm>
            <a:prstGeom prst="rect">
              <a:avLst/>
            </a:prstGeom>
            <a:noFill/>
            <a:ln w="158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52230" name="Rectangle 19">
            <a:extLst>
              <a:ext uri="{FF2B5EF4-FFF2-40B4-BE49-F238E27FC236}">
                <a16:creationId xmlns:a16="http://schemas.microsoft.com/office/drawing/2014/main" id="{06017596-0E5D-4B14-8AE4-7324CFB2F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4718050"/>
            <a:ext cx="8255000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en-US" altLang="en-US" b="0">
              <a:solidFill>
                <a:schemeClr val="tx1"/>
              </a:solidFill>
              <a:latin typeface="Times" panose="02020603050405020304" pitchFamily="18" charset="0"/>
            </a:endParaRPr>
          </a:p>
          <a:p>
            <a:pPr algn="l"/>
            <a:endParaRPr lang="en-US" altLang="en-US" sz="2000" b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pPr algn="l"/>
            <a:endParaRPr lang="en-US" altLang="en-US" b="0">
              <a:solidFill>
                <a:schemeClr val="tx1"/>
              </a:solidFill>
              <a:latin typeface="Times" panose="02020603050405020304" pitchFamily="18" charset="0"/>
            </a:endParaRPr>
          </a:p>
        </p:txBody>
      </p:sp>
      <p:sp>
        <p:nvSpPr>
          <p:cNvPr id="118804" name="Line 20">
            <a:extLst>
              <a:ext uri="{FF2B5EF4-FFF2-40B4-BE49-F238E27FC236}">
                <a16:creationId xmlns:a16="http://schemas.microsoft.com/office/drawing/2014/main" id="{CDE357BB-41C8-4A92-B571-421308D27CC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744788" y="2565400"/>
            <a:ext cx="3835400" cy="180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8" grpId="0" build="p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20EDD0D2-D408-499F-BB84-7F0866ABE3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Associations</a:t>
            </a:r>
          </a:p>
        </p:txBody>
      </p:sp>
      <p:sp>
        <p:nvSpPr>
          <p:cNvPr id="115716" name="Rectangle 4">
            <a:extLst>
              <a:ext uri="{FF2B5EF4-FFF2-40B4-BE49-F238E27FC236}">
                <a16:creationId xmlns:a16="http://schemas.microsoft.com/office/drawing/2014/main" id="{B9ED6FC8-0D4A-4A0E-8B24-A7FF705976D8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95300" y="3929063"/>
            <a:ext cx="8255000" cy="446087"/>
          </a:xfrm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en-US" sz="2000"/>
              <a:t>Associations denote relationships between classes</a:t>
            </a:r>
          </a:p>
        </p:txBody>
      </p:sp>
      <p:grpSp>
        <p:nvGrpSpPr>
          <p:cNvPr id="2" name="Group 47">
            <a:extLst>
              <a:ext uri="{FF2B5EF4-FFF2-40B4-BE49-F238E27FC236}">
                <a16:creationId xmlns:a16="http://schemas.microsoft.com/office/drawing/2014/main" id="{D5EB5D66-790B-444D-A7C7-A062947BC6E1}"/>
              </a:ext>
            </a:extLst>
          </p:cNvPr>
          <p:cNvGrpSpPr>
            <a:grpSpLocks/>
          </p:cNvGrpSpPr>
          <p:nvPr/>
        </p:nvGrpSpPr>
        <p:grpSpPr bwMode="auto">
          <a:xfrm>
            <a:off x="568325" y="1900238"/>
            <a:ext cx="7820025" cy="1511300"/>
            <a:chOff x="358" y="1197"/>
            <a:chExt cx="4926" cy="952"/>
          </a:xfrm>
        </p:grpSpPr>
        <p:sp>
          <p:nvSpPr>
            <p:cNvPr id="54278" name="Line 19">
              <a:extLst>
                <a:ext uri="{FF2B5EF4-FFF2-40B4-BE49-F238E27FC236}">
                  <a16:creationId xmlns:a16="http://schemas.microsoft.com/office/drawing/2014/main" id="{8EC333F5-CB6B-47FF-93BE-560E18B8E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64" y="1608"/>
              <a:ext cx="14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4279" name="Group 46">
              <a:extLst>
                <a:ext uri="{FF2B5EF4-FFF2-40B4-BE49-F238E27FC236}">
                  <a16:creationId xmlns:a16="http://schemas.microsoft.com/office/drawing/2014/main" id="{CF45FD97-5DCA-49FA-BF24-B57B12D033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8" y="1197"/>
              <a:ext cx="4926" cy="952"/>
              <a:chOff x="358" y="1197"/>
              <a:chExt cx="4926" cy="952"/>
            </a:xfrm>
          </p:grpSpPr>
          <p:sp>
            <p:nvSpPr>
              <p:cNvPr id="54283" name="Rectangle 38">
                <a:extLst>
                  <a:ext uri="{FF2B5EF4-FFF2-40B4-BE49-F238E27FC236}">
                    <a16:creationId xmlns:a16="http://schemas.microsoft.com/office/drawing/2014/main" id="{884F6CA3-4E69-44C7-9357-BCF861BF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4" y="1533"/>
                <a:ext cx="1390" cy="386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4284" name="Rectangle 39">
                <a:extLst>
                  <a:ext uri="{FF2B5EF4-FFF2-40B4-BE49-F238E27FC236}">
                    <a16:creationId xmlns:a16="http://schemas.microsoft.com/office/drawing/2014/main" id="{8296421A-2B9E-41C4-850F-D50E16DFA2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3" y="1590"/>
                <a:ext cx="432" cy="51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Price</a:t>
                </a:r>
                <a:b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</a:br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Zone</a:t>
                </a:r>
              </a:p>
              <a:p>
                <a:endParaRPr lang="en-US" altLang="en-US" sz="1800">
                  <a:solidFill>
                    <a:srgbClr val="000000"/>
                  </a:solidFill>
                  <a:latin typeface="Courier" charset="0"/>
                </a:endParaRPr>
              </a:p>
            </p:txBody>
          </p:sp>
          <p:sp>
            <p:nvSpPr>
              <p:cNvPr id="54285" name="Text Box 7">
                <a:extLst>
                  <a:ext uri="{FF2B5EF4-FFF2-40B4-BE49-F238E27FC236}">
                    <a16:creationId xmlns:a16="http://schemas.microsoft.com/office/drawing/2014/main" id="{4A8CAC9F-A704-4D0A-B908-53A7A802D3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9" y="1439"/>
                <a:ext cx="2085" cy="5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endParaRPr lang="en-US" altLang="en-US" sz="1800">
                  <a:solidFill>
                    <a:srgbClr val="000000"/>
                  </a:solidFill>
                  <a:latin typeface="Courier" charset="0"/>
                </a:endParaRPr>
              </a:p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Enumeration getZones()</a:t>
                </a:r>
              </a:p>
              <a:p>
                <a:pPr algn="l"/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Price getPrice(Zone)</a:t>
                </a:r>
              </a:p>
            </p:txBody>
          </p:sp>
          <p:grpSp>
            <p:nvGrpSpPr>
              <p:cNvPr id="54286" name="Group 8">
                <a:extLst>
                  <a:ext uri="{FF2B5EF4-FFF2-40B4-BE49-F238E27FC236}">
                    <a16:creationId xmlns:a16="http://schemas.microsoft.com/office/drawing/2014/main" id="{321DE786-A7F4-4D1A-A503-886E11CC4C7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4" y="1197"/>
                <a:ext cx="2102" cy="282"/>
                <a:chOff x="554" y="1413"/>
                <a:chExt cx="1390" cy="282"/>
              </a:xfrm>
            </p:grpSpPr>
            <p:sp>
              <p:nvSpPr>
                <p:cNvPr id="54295" name="Rectangle 9">
                  <a:extLst>
                    <a:ext uri="{FF2B5EF4-FFF2-40B4-BE49-F238E27FC236}">
                      <a16:creationId xmlns:a16="http://schemas.microsoft.com/office/drawing/2014/main" id="{4E6AFEE4-474C-4449-9B16-5324B513B1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4" y="1413"/>
                  <a:ext cx="1390" cy="282"/>
                </a:xfrm>
                <a:prstGeom prst="rect">
                  <a:avLst/>
                </a:prstGeom>
                <a:noFill/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296" name="Rectangle 10">
                  <a:extLst>
                    <a:ext uri="{FF2B5EF4-FFF2-40B4-BE49-F238E27FC236}">
                      <a16:creationId xmlns:a16="http://schemas.microsoft.com/office/drawing/2014/main" id="{04F4FBBD-9C4A-4FF6-A3BA-C0989354857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7" y="1507"/>
                  <a:ext cx="742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en-US" sz="1800">
                      <a:solidFill>
                        <a:srgbClr val="000000"/>
                      </a:solidFill>
                      <a:latin typeface="Courier" charset="0"/>
                    </a:rPr>
                    <a:t>TarifSchedule</a:t>
                  </a:r>
                </a:p>
              </p:txBody>
            </p:sp>
          </p:grpSp>
          <p:sp>
            <p:nvSpPr>
              <p:cNvPr id="54287" name="Rectangle 11">
                <a:extLst>
                  <a:ext uri="{FF2B5EF4-FFF2-40B4-BE49-F238E27FC236}">
                    <a16:creationId xmlns:a16="http://schemas.microsoft.com/office/drawing/2014/main" id="{AEF939D7-6BBE-4572-A384-58A53CDF4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" y="1482"/>
                <a:ext cx="2103" cy="16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4288" name="Rectangle 12">
                <a:extLst>
                  <a:ext uri="{FF2B5EF4-FFF2-40B4-BE49-F238E27FC236}">
                    <a16:creationId xmlns:a16="http://schemas.microsoft.com/office/drawing/2014/main" id="{3E1D3BB2-C845-4D9A-9390-C677F404F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" y="1650"/>
                <a:ext cx="2101" cy="370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grpSp>
            <p:nvGrpSpPr>
              <p:cNvPr id="54289" name="Group 13">
                <a:extLst>
                  <a:ext uri="{FF2B5EF4-FFF2-40B4-BE49-F238E27FC236}">
                    <a16:creationId xmlns:a16="http://schemas.microsoft.com/office/drawing/2014/main" id="{62580069-A724-4A70-B48A-2790F3083A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94" y="1253"/>
                <a:ext cx="1390" cy="282"/>
                <a:chOff x="554" y="1413"/>
                <a:chExt cx="1390" cy="282"/>
              </a:xfrm>
            </p:grpSpPr>
            <p:sp>
              <p:nvSpPr>
                <p:cNvPr id="54293" name="Rectangle 14">
                  <a:extLst>
                    <a:ext uri="{FF2B5EF4-FFF2-40B4-BE49-F238E27FC236}">
                      <a16:creationId xmlns:a16="http://schemas.microsoft.com/office/drawing/2014/main" id="{D1B6252C-BAA7-4913-B8A5-EF673BD1B7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4" y="1413"/>
                  <a:ext cx="1390" cy="282"/>
                </a:xfrm>
                <a:prstGeom prst="rect">
                  <a:avLst/>
                </a:prstGeom>
                <a:noFill/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294" name="Rectangle 15">
                  <a:extLst>
                    <a:ext uri="{FF2B5EF4-FFF2-40B4-BE49-F238E27FC236}">
                      <a16:creationId xmlns:a16="http://schemas.microsoft.com/office/drawing/2014/main" id="{62C6247F-BC64-47BC-806B-AE4596D9B4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47" y="1507"/>
                  <a:ext cx="605" cy="17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r>
                    <a:rPr lang="en-US" altLang="en-US" sz="1800">
                      <a:solidFill>
                        <a:srgbClr val="000000"/>
                      </a:solidFill>
                      <a:latin typeface="Courier" charset="0"/>
                    </a:rPr>
                    <a:t>TripLeg</a:t>
                  </a:r>
                </a:p>
              </p:txBody>
            </p:sp>
          </p:grpSp>
          <p:grpSp>
            <p:nvGrpSpPr>
              <p:cNvPr id="54290" name="Group 40">
                <a:extLst>
                  <a:ext uri="{FF2B5EF4-FFF2-40B4-BE49-F238E27FC236}">
                    <a16:creationId xmlns:a16="http://schemas.microsoft.com/office/drawing/2014/main" id="{14D96728-23DF-4DD7-A4EC-2990ABBAA89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94" y="1917"/>
                <a:ext cx="1390" cy="232"/>
                <a:chOff x="554" y="1413"/>
                <a:chExt cx="1390" cy="368"/>
              </a:xfrm>
            </p:grpSpPr>
            <p:sp>
              <p:nvSpPr>
                <p:cNvPr id="54291" name="Rectangle 41">
                  <a:extLst>
                    <a:ext uri="{FF2B5EF4-FFF2-40B4-BE49-F238E27FC236}">
                      <a16:creationId xmlns:a16="http://schemas.microsoft.com/office/drawing/2014/main" id="{9F1D615D-4D64-4D17-95A7-BC29DD4805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4" y="1413"/>
                  <a:ext cx="1390" cy="282"/>
                </a:xfrm>
                <a:prstGeom prst="rect">
                  <a:avLst/>
                </a:prstGeom>
                <a:noFill/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4292" name="Rectangle 42">
                  <a:extLst>
                    <a:ext uri="{FF2B5EF4-FFF2-40B4-BE49-F238E27FC236}">
                      <a16:creationId xmlns:a16="http://schemas.microsoft.com/office/drawing/2014/main" id="{55B3195D-998B-4374-B4EE-EE3DC166FE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9" y="1506"/>
                  <a:ext cx="0" cy="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de-DE" altLang="en-US" sz="1800">
                    <a:solidFill>
                      <a:srgbClr val="000000"/>
                    </a:solidFill>
                    <a:latin typeface="Courier" charset="0"/>
                  </a:endParaRPr>
                </a:p>
              </p:txBody>
            </p:sp>
          </p:grpSp>
        </p:grpSp>
        <p:grpSp>
          <p:nvGrpSpPr>
            <p:cNvPr id="54280" name="Group 45">
              <a:extLst>
                <a:ext uri="{FF2B5EF4-FFF2-40B4-BE49-F238E27FC236}">
                  <a16:creationId xmlns:a16="http://schemas.microsoft.com/office/drawing/2014/main" id="{7532FC05-2E38-4C40-8C83-081A074491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37" y="1640"/>
              <a:ext cx="1239" cy="344"/>
              <a:chOff x="2537" y="1640"/>
              <a:chExt cx="1239" cy="344"/>
            </a:xfrm>
          </p:grpSpPr>
          <p:sp>
            <p:nvSpPr>
              <p:cNvPr id="54281" name="Text Box 26">
                <a:extLst>
                  <a:ext uri="{FF2B5EF4-FFF2-40B4-BE49-F238E27FC236}">
                    <a16:creationId xmlns:a16="http://schemas.microsoft.com/office/drawing/2014/main" id="{BAF7A17F-E64C-4F69-838E-FFE04790AF1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7" y="1640"/>
                <a:ext cx="19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b="0">
                    <a:solidFill>
                      <a:schemeClr val="tx1"/>
                    </a:solidFill>
                  </a:rPr>
                  <a:t>*</a:t>
                </a:r>
                <a:endParaRPr lang="en-US" altLang="en-US" b="0"/>
              </a:p>
            </p:txBody>
          </p:sp>
          <p:sp>
            <p:nvSpPr>
              <p:cNvPr id="54282" name="Text Box 43">
                <a:extLst>
                  <a:ext uri="{FF2B5EF4-FFF2-40B4-BE49-F238E27FC236}">
                    <a16:creationId xmlns:a16="http://schemas.microsoft.com/office/drawing/2014/main" id="{73D6A7A0-EBEC-4097-A8FC-3BBCD29DE21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85" y="1696"/>
                <a:ext cx="19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b="0">
                    <a:solidFill>
                      <a:schemeClr val="tx1"/>
                    </a:solidFill>
                  </a:rPr>
                  <a:t>*</a:t>
                </a:r>
                <a:endParaRPr lang="en-US" altLang="en-US" b="0"/>
              </a:p>
            </p:txBody>
          </p:sp>
        </p:grpSp>
      </p:grpSp>
      <p:sp>
        <p:nvSpPr>
          <p:cNvPr id="115756" name="Rectangle 44">
            <a:extLst>
              <a:ext uri="{FF2B5EF4-FFF2-40B4-BE49-F238E27FC236}">
                <a16:creationId xmlns:a16="http://schemas.microsoft.com/office/drawing/2014/main" id="{3724F5FB-FF29-4907-9CEA-857934D97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8950" y="4152900"/>
            <a:ext cx="8255000" cy="928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endParaRPr lang="en-US" altLang="en-US" b="0">
              <a:solidFill>
                <a:schemeClr val="tx1"/>
              </a:solidFill>
              <a:latin typeface="Times" panose="02020603050405020304" pitchFamily="18" charset="0"/>
            </a:endParaRPr>
          </a:p>
          <a:p>
            <a:pPr algn="l"/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The multiplicity of an association end denotes how many objects the instance of a class can legitimately reference.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57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6" grpId="0" build="p" autoUpdateAnimBg="0"/>
      <p:bldP spid="115756" grpId="0" build="p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4B9DD63B-F4E6-4474-8FB1-866671B792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548" y="-135396"/>
            <a:ext cx="7772400" cy="1143000"/>
          </a:xfrm>
          <a:noFill/>
        </p:spPr>
        <p:txBody>
          <a:bodyPr/>
          <a:lstStyle/>
          <a:p>
            <a:r>
              <a:rPr lang="en-US" altLang="en-US" dirty="0"/>
              <a:t>1-to-1 and 1-to-many Associations</a:t>
            </a:r>
          </a:p>
        </p:txBody>
      </p:sp>
      <p:sp>
        <p:nvSpPr>
          <p:cNvPr id="148497" name="Rectangle 17">
            <a:extLst>
              <a:ext uri="{FF2B5EF4-FFF2-40B4-BE49-F238E27FC236}">
                <a16:creationId xmlns:a16="http://schemas.microsoft.com/office/drawing/2014/main" id="{A153AB28-16BC-4E6C-BC5D-47F258A9C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1650" y="2798763"/>
            <a:ext cx="24415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Times" panose="02020603050405020304" pitchFamily="18" charset="0"/>
              </a:rPr>
              <a:t>1-to-1 association</a:t>
            </a:r>
          </a:p>
        </p:txBody>
      </p:sp>
      <p:sp>
        <p:nvSpPr>
          <p:cNvPr id="148498" name="Rectangle 18">
            <a:extLst>
              <a:ext uri="{FF2B5EF4-FFF2-40B4-BE49-F238E27FC236}">
                <a16:creationId xmlns:a16="http://schemas.microsoft.com/office/drawing/2014/main" id="{06F18A1D-68E4-484F-B3DA-95B9F8C9D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5630863"/>
            <a:ext cx="301783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Times" panose="02020603050405020304" pitchFamily="18" charset="0"/>
              </a:rPr>
              <a:t>1-to-many association</a:t>
            </a:r>
          </a:p>
        </p:txBody>
      </p:sp>
      <p:grpSp>
        <p:nvGrpSpPr>
          <p:cNvPr id="2" name="Group 38">
            <a:extLst>
              <a:ext uri="{FF2B5EF4-FFF2-40B4-BE49-F238E27FC236}">
                <a16:creationId xmlns:a16="http://schemas.microsoft.com/office/drawing/2014/main" id="{2C833666-ADAC-49BB-8F59-AB7BE2D1E44F}"/>
              </a:ext>
            </a:extLst>
          </p:cNvPr>
          <p:cNvGrpSpPr>
            <a:grpSpLocks/>
          </p:cNvGrpSpPr>
          <p:nvPr/>
        </p:nvGrpSpPr>
        <p:grpSpPr bwMode="auto">
          <a:xfrm>
            <a:off x="1384300" y="3314700"/>
            <a:ext cx="6197600" cy="2082800"/>
            <a:chOff x="872" y="2088"/>
            <a:chExt cx="3904" cy="1312"/>
          </a:xfrm>
        </p:grpSpPr>
        <p:grpSp>
          <p:nvGrpSpPr>
            <p:cNvPr id="56341" name="Group 34">
              <a:extLst>
                <a:ext uri="{FF2B5EF4-FFF2-40B4-BE49-F238E27FC236}">
                  <a16:creationId xmlns:a16="http://schemas.microsoft.com/office/drawing/2014/main" id="{852BBCE9-8D03-4E83-9489-622ED2B479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72" y="2088"/>
              <a:ext cx="3904" cy="1312"/>
              <a:chOff x="872" y="2088"/>
              <a:chExt cx="3904" cy="1312"/>
            </a:xfrm>
          </p:grpSpPr>
          <p:sp>
            <p:nvSpPr>
              <p:cNvPr id="56343" name="Rectangle 10">
                <a:extLst>
                  <a:ext uri="{FF2B5EF4-FFF2-40B4-BE49-F238E27FC236}">
                    <a16:creationId xmlns:a16="http://schemas.microsoft.com/office/drawing/2014/main" id="{56DCE2F0-E0F1-4AC0-B3A7-D0F4FB5ABF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2" y="2264"/>
                <a:ext cx="688" cy="105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344" name="Rectangle 11">
                <a:extLst>
                  <a:ext uri="{FF2B5EF4-FFF2-40B4-BE49-F238E27FC236}">
                    <a16:creationId xmlns:a16="http://schemas.microsoft.com/office/drawing/2014/main" id="{31A5EC76-940B-4209-80A6-FF10C0F5B9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7" y="2459"/>
                <a:ext cx="619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>
                    <a:solidFill>
                      <a:srgbClr val="000000"/>
                    </a:solidFill>
                  </a:rPr>
                  <a:t>Polygon</a:t>
                </a:r>
              </a:p>
            </p:txBody>
          </p:sp>
          <p:sp>
            <p:nvSpPr>
              <p:cNvPr id="56345" name="Rectangle 12">
                <a:extLst>
                  <a:ext uri="{FF2B5EF4-FFF2-40B4-BE49-F238E27FC236}">
                    <a16:creationId xmlns:a16="http://schemas.microsoft.com/office/drawing/2014/main" id="{3695E7A8-53DB-4830-B61B-78AC20719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" y="3035"/>
                <a:ext cx="477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 b="0">
                    <a:solidFill>
                      <a:srgbClr val="000000"/>
                    </a:solidFill>
                  </a:rPr>
                  <a:t>draw()</a:t>
                </a:r>
              </a:p>
            </p:txBody>
          </p:sp>
          <p:sp>
            <p:nvSpPr>
              <p:cNvPr id="56346" name="Rectangle 13">
                <a:extLst>
                  <a:ext uri="{FF2B5EF4-FFF2-40B4-BE49-F238E27FC236}">
                    <a16:creationId xmlns:a16="http://schemas.microsoft.com/office/drawing/2014/main" id="{84A64DF7-D0E4-4D76-B0D8-41C7447D0B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" y="2088"/>
                <a:ext cx="784" cy="1312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347" name="Rectangle 14">
                <a:extLst>
                  <a:ext uri="{FF2B5EF4-FFF2-40B4-BE49-F238E27FC236}">
                    <a16:creationId xmlns:a16="http://schemas.microsoft.com/office/drawing/2014/main" id="{C7F4F898-8C0D-4F6D-B01B-7DB8F6EC71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87" y="2275"/>
                <a:ext cx="434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>
                    <a:solidFill>
                      <a:srgbClr val="000000"/>
                    </a:solidFill>
                  </a:rPr>
                  <a:t>Point</a:t>
                </a:r>
              </a:p>
            </p:txBody>
          </p:sp>
          <p:sp>
            <p:nvSpPr>
              <p:cNvPr id="56348" name="Rectangle 15">
                <a:extLst>
                  <a:ext uri="{FF2B5EF4-FFF2-40B4-BE49-F238E27FC236}">
                    <a16:creationId xmlns:a16="http://schemas.microsoft.com/office/drawing/2014/main" id="{1EFE0A42-CDEE-41AF-9875-92C7959931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4" y="2691"/>
                <a:ext cx="648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 b="0">
                    <a:solidFill>
                      <a:srgbClr val="000000"/>
                    </a:solidFill>
                  </a:rPr>
                  <a:t>x: Integer</a:t>
                </a:r>
              </a:p>
            </p:txBody>
          </p:sp>
          <p:sp>
            <p:nvSpPr>
              <p:cNvPr id="56349" name="Rectangle 16">
                <a:extLst>
                  <a:ext uri="{FF2B5EF4-FFF2-40B4-BE49-F238E27FC236}">
                    <a16:creationId xmlns:a16="http://schemas.microsoft.com/office/drawing/2014/main" id="{585A9171-1917-4C51-9EB8-F398EC066D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4" y="2955"/>
                <a:ext cx="648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 b="0">
                    <a:solidFill>
                      <a:srgbClr val="000000"/>
                    </a:solidFill>
                  </a:rPr>
                  <a:t>y: Integer</a:t>
                </a:r>
              </a:p>
            </p:txBody>
          </p:sp>
          <p:sp>
            <p:nvSpPr>
              <p:cNvPr id="56350" name="Line 24">
                <a:extLst>
                  <a:ext uri="{FF2B5EF4-FFF2-40B4-BE49-F238E27FC236}">
                    <a16:creationId xmlns:a16="http://schemas.microsoft.com/office/drawing/2014/main" id="{45A38F0A-5170-42BA-8DCA-05D199C8B4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0" y="2676"/>
                <a:ext cx="6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51" name="Line 25">
                <a:extLst>
                  <a:ext uri="{FF2B5EF4-FFF2-40B4-BE49-F238E27FC236}">
                    <a16:creationId xmlns:a16="http://schemas.microsoft.com/office/drawing/2014/main" id="{27800091-53EB-4D8E-8FF6-177048103F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0" y="2916"/>
                <a:ext cx="6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52" name="Line 26">
                <a:extLst>
                  <a:ext uri="{FF2B5EF4-FFF2-40B4-BE49-F238E27FC236}">
                    <a16:creationId xmlns:a16="http://schemas.microsoft.com/office/drawing/2014/main" id="{B041AB71-F1D8-4B96-853F-85082CD371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572" y="2652"/>
                <a:ext cx="241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53" name="Line 27">
                <a:extLst>
                  <a:ext uri="{FF2B5EF4-FFF2-40B4-BE49-F238E27FC236}">
                    <a16:creationId xmlns:a16="http://schemas.microsoft.com/office/drawing/2014/main" id="{48243639-B77D-4840-B4C4-6559BBC48B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8" y="2544"/>
                <a:ext cx="7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54" name="Line 28">
                <a:extLst>
                  <a:ext uri="{FF2B5EF4-FFF2-40B4-BE49-F238E27FC236}">
                    <a16:creationId xmlns:a16="http://schemas.microsoft.com/office/drawing/2014/main" id="{2F798715-D9DD-40F4-A570-A02ED684BB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88" y="3204"/>
                <a:ext cx="78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6342" name="Rectangle 29">
              <a:extLst>
                <a:ext uri="{FF2B5EF4-FFF2-40B4-BE49-F238E27FC236}">
                  <a16:creationId xmlns:a16="http://schemas.microsoft.com/office/drawing/2014/main" id="{B6427C69-CD4A-49E9-807E-ABFB4FFF17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1" y="2392"/>
              <a:ext cx="239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4000">
                  <a:solidFill>
                    <a:schemeClr val="tx1"/>
                  </a:solidFill>
                </a:rPr>
                <a:t>*</a:t>
              </a:r>
            </a:p>
          </p:txBody>
        </p:sp>
      </p:grpSp>
      <p:grpSp>
        <p:nvGrpSpPr>
          <p:cNvPr id="4" name="Group 37">
            <a:extLst>
              <a:ext uri="{FF2B5EF4-FFF2-40B4-BE49-F238E27FC236}">
                <a16:creationId xmlns:a16="http://schemas.microsoft.com/office/drawing/2014/main" id="{5C67AB67-C394-46B0-8FDF-C096D4BD841C}"/>
              </a:ext>
            </a:extLst>
          </p:cNvPr>
          <p:cNvGrpSpPr>
            <a:grpSpLocks/>
          </p:cNvGrpSpPr>
          <p:nvPr/>
        </p:nvGrpSpPr>
        <p:grpSpPr bwMode="auto">
          <a:xfrm>
            <a:off x="2025650" y="1231900"/>
            <a:ext cx="5016500" cy="1358900"/>
            <a:chOff x="1276" y="776"/>
            <a:chExt cx="3160" cy="856"/>
          </a:xfrm>
        </p:grpSpPr>
        <p:grpSp>
          <p:nvGrpSpPr>
            <p:cNvPr id="56327" name="Group 31">
              <a:extLst>
                <a:ext uri="{FF2B5EF4-FFF2-40B4-BE49-F238E27FC236}">
                  <a16:creationId xmlns:a16="http://schemas.microsoft.com/office/drawing/2014/main" id="{8FF55B53-838F-41D0-834E-1A4BB28446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76" y="776"/>
              <a:ext cx="3160" cy="856"/>
              <a:chOff x="1276" y="776"/>
              <a:chExt cx="3160" cy="856"/>
            </a:xfrm>
          </p:grpSpPr>
          <p:sp>
            <p:nvSpPr>
              <p:cNvPr id="56330" name="Rectangle 3">
                <a:extLst>
                  <a:ext uri="{FF2B5EF4-FFF2-40B4-BE49-F238E27FC236}">
                    <a16:creationId xmlns:a16="http://schemas.microsoft.com/office/drawing/2014/main" id="{D15F4CCA-3C4E-475B-97D1-EE20FD392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0" y="776"/>
                <a:ext cx="752" cy="85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331" name="Rectangle 4">
                <a:extLst>
                  <a:ext uri="{FF2B5EF4-FFF2-40B4-BE49-F238E27FC236}">
                    <a16:creationId xmlns:a16="http://schemas.microsoft.com/office/drawing/2014/main" id="{1E49E572-5C96-4086-AB03-130658172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3" y="915"/>
                <a:ext cx="605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>
                    <a:solidFill>
                      <a:srgbClr val="000000"/>
                    </a:solidFill>
                  </a:rPr>
                  <a:t>Country</a:t>
                </a:r>
              </a:p>
            </p:txBody>
          </p:sp>
          <p:sp>
            <p:nvSpPr>
              <p:cNvPr id="56332" name="Rectangle 5">
                <a:extLst>
                  <a:ext uri="{FF2B5EF4-FFF2-40B4-BE49-F238E27FC236}">
                    <a16:creationId xmlns:a16="http://schemas.microsoft.com/office/drawing/2014/main" id="{4889D56F-33F3-4AA3-9F63-62336B0D30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3" y="1251"/>
                <a:ext cx="804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 b="0">
                    <a:solidFill>
                      <a:srgbClr val="000000"/>
                    </a:solidFill>
                  </a:rPr>
                  <a:t>name:String</a:t>
                </a:r>
              </a:p>
            </p:txBody>
          </p:sp>
          <p:sp>
            <p:nvSpPr>
              <p:cNvPr id="56333" name="Rectangle 6">
                <a:extLst>
                  <a:ext uri="{FF2B5EF4-FFF2-40B4-BE49-F238E27FC236}">
                    <a16:creationId xmlns:a16="http://schemas.microsoft.com/office/drawing/2014/main" id="{07BE0E5D-2992-4A7C-B311-D5A1DC9A7C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2" y="776"/>
                <a:ext cx="752" cy="85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6334" name="Rectangle 7">
                <a:extLst>
                  <a:ext uri="{FF2B5EF4-FFF2-40B4-BE49-F238E27FC236}">
                    <a16:creationId xmlns:a16="http://schemas.microsoft.com/office/drawing/2014/main" id="{11EC1400-6CAA-41A4-8FCE-E59FEF5225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0" y="915"/>
                <a:ext cx="356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>
                    <a:solidFill>
                      <a:srgbClr val="000000"/>
                    </a:solidFill>
                  </a:rPr>
                  <a:t>City</a:t>
                </a:r>
              </a:p>
            </p:txBody>
          </p:sp>
          <p:sp>
            <p:nvSpPr>
              <p:cNvPr id="56335" name="Rectangle 8">
                <a:extLst>
                  <a:ext uri="{FF2B5EF4-FFF2-40B4-BE49-F238E27FC236}">
                    <a16:creationId xmlns:a16="http://schemas.microsoft.com/office/drawing/2014/main" id="{57CD88CE-D2DF-4C76-BC4C-2FFA3EABC7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2" y="1251"/>
                <a:ext cx="804" cy="2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600" b="0">
                    <a:solidFill>
                      <a:srgbClr val="000000"/>
                    </a:solidFill>
                  </a:rPr>
                  <a:t>name:String</a:t>
                </a:r>
              </a:p>
            </p:txBody>
          </p:sp>
          <p:sp>
            <p:nvSpPr>
              <p:cNvPr id="56336" name="Line 19">
                <a:extLst>
                  <a:ext uri="{FF2B5EF4-FFF2-40B4-BE49-F238E27FC236}">
                    <a16:creationId xmlns:a16="http://schemas.microsoft.com/office/drawing/2014/main" id="{4A7A10F7-4277-4615-A95C-859E78A372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6" y="1116"/>
                <a:ext cx="7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37" name="Line 20">
                <a:extLst>
                  <a:ext uri="{FF2B5EF4-FFF2-40B4-BE49-F238E27FC236}">
                    <a16:creationId xmlns:a16="http://schemas.microsoft.com/office/drawing/2014/main" id="{35F0F719-E9C9-456B-BFF9-4742A30991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76" y="1488"/>
                <a:ext cx="77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38" name="Line 21">
                <a:extLst>
                  <a:ext uri="{FF2B5EF4-FFF2-40B4-BE49-F238E27FC236}">
                    <a16:creationId xmlns:a16="http://schemas.microsoft.com/office/drawing/2014/main" id="{26E3DD57-F978-4C1E-962F-6709B5E64C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44" y="1212"/>
                <a:ext cx="15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39" name="Line 22">
                <a:extLst>
                  <a:ext uri="{FF2B5EF4-FFF2-40B4-BE49-F238E27FC236}">
                    <a16:creationId xmlns:a16="http://schemas.microsoft.com/office/drawing/2014/main" id="{4BC9EA55-0170-4066-8987-498127A8AC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0" y="1104"/>
                <a:ext cx="7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340" name="Line 23">
                <a:extLst>
                  <a:ext uri="{FF2B5EF4-FFF2-40B4-BE49-F238E27FC236}">
                    <a16:creationId xmlns:a16="http://schemas.microsoft.com/office/drawing/2014/main" id="{F9817596-094C-454F-BF6F-C75BA52B76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28" y="1464"/>
                <a:ext cx="76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56328" name="Rectangle 35">
              <a:extLst>
                <a:ext uri="{FF2B5EF4-FFF2-40B4-BE49-F238E27FC236}">
                  <a16:creationId xmlns:a16="http://schemas.microsoft.com/office/drawing/2014/main" id="{E4B90C17-29C6-45BE-9324-D8AEA453E1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90" y="898"/>
              <a:ext cx="185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600">
                  <a:solidFill>
                    <a:schemeClr val="tx1"/>
                  </a:solidFill>
                </a:rPr>
                <a:t>1</a:t>
              </a:r>
              <a:endParaRPr lang="en-US" altLang="en-US" sz="4000">
                <a:solidFill>
                  <a:schemeClr val="tx1"/>
                </a:solidFill>
              </a:endParaRPr>
            </a:p>
          </p:txBody>
        </p:sp>
        <p:sp>
          <p:nvSpPr>
            <p:cNvPr id="56329" name="Rectangle 36">
              <a:extLst>
                <a:ext uri="{FF2B5EF4-FFF2-40B4-BE49-F238E27FC236}">
                  <a16:creationId xmlns:a16="http://schemas.microsoft.com/office/drawing/2014/main" id="{D6BD8281-CAF5-490A-81CC-E9C58D4A7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2" y="957"/>
              <a:ext cx="185" cy="2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600">
                  <a:solidFill>
                    <a:schemeClr val="tx1"/>
                  </a:solidFill>
                </a:rPr>
                <a:t>1</a:t>
              </a:r>
              <a:endParaRPr lang="en-US" altLang="en-US" sz="4000">
                <a:solidFill>
                  <a:schemeClr val="tx1"/>
                </a:solidFill>
              </a:endParaRPr>
            </a:p>
          </p:txBody>
        </p:sp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44EFDC3-6F59-4BE0-B4C5-54137734A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21</a:t>
            </a:fld>
            <a:endParaRPr lang="nl-NL" alt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4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97" grpId="0" build="p" autoUpdateAnimBg="0"/>
      <p:bldP spid="148498" grpId="0" build="p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576FA5B0-E108-477F-9385-585353B32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" y="222250"/>
            <a:ext cx="8153400" cy="86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3000">
                <a:solidFill>
                  <a:schemeClr val="tx2"/>
                </a:solidFill>
                <a:latin typeface="Century Gothic" panose="020B0502020202020204" pitchFamily="34" charset="0"/>
              </a:rPr>
              <a:t>Many-to-many Associations</a:t>
            </a:r>
          </a:p>
        </p:txBody>
      </p:sp>
      <p:sp>
        <p:nvSpPr>
          <p:cNvPr id="58371" name="Rectangle 7">
            <a:extLst>
              <a:ext uri="{FF2B5EF4-FFF2-40B4-BE49-F238E27FC236}">
                <a16:creationId xmlns:a16="http://schemas.microsoft.com/office/drawing/2014/main" id="{CD41A1C1-E712-44F3-9668-FAFEA37EB3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0" y="2047875"/>
            <a:ext cx="1727200" cy="6477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de-DE" altLang="en-US"/>
          </a:p>
        </p:txBody>
      </p:sp>
      <p:sp>
        <p:nvSpPr>
          <p:cNvPr id="58372" name="Rectangle 8">
            <a:extLst>
              <a:ext uri="{FF2B5EF4-FFF2-40B4-BE49-F238E27FC236}">
                <a16:creationId xmlns:a16="http://schemas.microsoft.com/office/drawing/2014/main" id="{09526E00-7C4D-4538-9DE4-C9EB9598A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6588" y="2116138"/>
            <a:ext cx="1346200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400">
                <a:solidFill>
                  <a:srgbClr val="000000"/>
                </a:solidFill>
                <a:latin typeface="Times" panose="02020603050405020304" pitchFamily="18" charset="0"/>
              </a:rPr>
              <a:t>StockExchange</a:t>
            </a:r>
          </a:p>
        </p:txBody>
      </p:sp>
      <p:sp>
        <p:nvSpPr>
          <p:cNvPr id="58373" name="Rectangle 9">
            <a:extLst>
              <a:ext uri="{FF2B5EF4-FFF2-40B4-BE49-F238E27FC236}">
                <a16:creationId xmlns:a16="http://schemas.microsoft.com/office/drawing/2014/main" id="{2F842A44-F025-469B-A872-72C2D03BB4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1997075"/>
            <a:ext cx="1485900" cy="8636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de-DE" altLang="en-US"/>
          </a:p>
        </p:txBody>
      </p:sp>
      <p:sp>
        <p:nvSpPr>
          <p:cNvPr id="58374" name="Rectangle 10">
            <a:extLst>
              <a:ext uri="{FF2B5EF4-FFF2-40B4-BE49-F238E27FC236}">
                <a16:creationId xmlns:a16="http://schemas.microsoft.com/office/drawing/2014/main" id="{ABA54008-7D48-49F2-BF57-1DE1654DD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2488" y="2065338"/>
            <a:ext cx="922337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400">
                <a:solidFill>
                  <a:srgbClr val="000000"/>
                </a:solidFill>
                <a:latin typeface="Times" panose="02020603050405020304" pitchFamily="18" charset="0"/>
              </a:rPr>
              <a:t>Company</a:t>
            </a:r>
          </a:p>
        </p:txBody>
      </p:sp>
      <p:sp>
        <p:nvSpPr>
          <p:cNvPr id="58375" name="Rectangle 11">
            <a:extLst>
              <a:ext uri="{FF2B5EF4-FFF2-40B4-BE49-F238E27FC236}">
                <a16:creationId xmlns:a16="http://schemas.microsoft.com/office/drawing/2014/main" id="{1B1662FE-E3EF-473B-98C9-39A70FD51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6900" y="2425700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de-DE" altLang="en-US"/>
          </a:p>
        </p:txBody>
      </p:sp>
      <p:sp>
        <p:nvSpPr>
          <p:cNvPr id="58376" name="Rectangle 12">
            <a:extLst>
              <a:ext uri="{FF2B5EF4-FFF2-40B4-BE49-F238E27FC236}">
                <a16:creationId xmlns:a16="http://schemas.microsoft.com/office/drawing/2014/main" id="{8D6C4283-32A3-4914-B45C-F8D46E033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5325" y="2420938"/>
            <a:ext cx="1198563" cy="25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400">
                <a:solidFill>
                  <a:srgbClr val="000000"/>
                </a:solidFill>
                <a:latin typeface="Times" panose="02020603050405020304" pitchFamily="18" charset="0"/>
              </a:rPr>
              <a:t>tickerSymbol</a:t>
            </a:r>
          </a:p>
        </p:txBody>
      </p:sp>
      <p:sp>
        <p:nvSpPr>
          <p:cNvPr id="58377" name="Rectangle 13">
            <a:extLst>
              <a:ext uri="{FF2B5EF4-FFF2-40B4-BE49-F238E27FC236}">
                <a16:creationId xmlns:a16="http://schemas.microsoft.com/office/drawing/2014/main" id="{7ECC773F-D828-42C1-B305-6787CDAFA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286000"/>
            <a:ext cx="682625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800" i="1">
                <a:solidFill>
                  <a:srgbClr val="3333FF"/>
                </a:solidFill>
                <a:latin typeface="Times" panose="02020603050405020304" pitchFamily="18" charset="0"/>
              </a:rPr>
              <a:t>Lists </a:t>
            </a:r>
          </a:p>
        </p:txBody>
      </p:sp>
      <p:sp>
        <p:nvSpPr>
          <p:cNvPr id="58378" name="Line 14">
            <a:extLst>
              <a:ext uri="{FF2B5EF4-FFF2-40B4-BE49-F238E27FC236}">
                <a16:creationId xmlns:a16="http://schemas.microsoft.com/office/drawing/2014/main" id="{9E5BF1E1-238A-4F3A-B708-608CBE4D4A6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8000" y="2352675"/>
            <a:ext cx="1720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79" name="Line 15">
            <a:extLst>
              <a:ext uri="{FF2B5EF4-FFF2-40B4-BE49-F238E27FC236}">
                <a16:creationId xmlns:a16="http://schemas.microsoft.com/office/drawing/2014/main" id="{8993B8FC-F71E-4F03-BC9B-937CB992B9C3}"/>
              </a:ext>
            </a:extLst>
          </p:cNvPr>
          <p:cNvSpPr>
            <a:spLocks noChangeShapeType="1"/>
          </p:cNvSpPr>
          <p:nvPr/>
        </p:nvSpPr>
        <p:spPr bwMode="auto">
          <a:xfrm>
            <a:off x="1778000" y="2581275"/>
            <a:ext cx="1720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0" name="Line 16">
            <a:extLst>
              <a:ext uri="{FF2B5EF4-FFF2-40B4-BE49-F238E27FC236}">
                <a16:creationId xmlns:a16="http://schemas.microsoft.com/office/drawing/2014/main" id="{CE5CEE45-CB48-4202-B38C-D8FD196E10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3250" y="2409825"/>
            <a:ext cx="147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1" name="Line 17">
            <a:extLst>
              <a:ext uri="{FF2B5EF4-FFF2-40B4-BE49-F238E27FC236}">
                <a16:creationId xmlns:a16="http://schemas.microsoft.com/office/drawing/2014/main" id="{86767B3D-B5D2-41E9-B154-1F3F80AA7C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83250" y="2733675"/>
            <a:ext cx="147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2" name="Line 18">
            <a:extLst>
              <a:ext uri="{FF2B5EF4-FFF2-40B4-BE49-F238E27FC236}">
                <a16:creationId xmlns:a16="http://schemas.microsoft.com/office/drawing/2014/main" id="{6566EB74-8AC2-4A93-8F75-B47EE6EB7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1550" y="2257425"/>
            <a:ext cx="21542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383" name="Rectangle 19">
            <a:extLst>
              <a:ext uri="{FF2B5EF4-FFF2-40B4-BE49-F238E27FC236}">
                <a16:creationId xmlns:a16="http://schemas.microsoft.com/office/drawing/2014/main" id="{8791B9F1-C5A8-42A2-A4DC-9373A51DD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2888" y="1965325"/>
            <a:ext cx="373062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/>
              <a:t>*</a:t>
            </a:r>
          </a:p>
        </p:txBody>
      </p:sp>
      <p:sp>
        <p:nvSpPr>
          <p:cNvPr id="58384" name="Rectangle 20">
            <a:extLst>
              <a:ext uri="{FF2B5EF4-FFF2-40B4-BE49-F238E27FC236}">
                <a16:creationId xmlns:a16="http://schemas.microsoft.com/office/drawing/2014/main" id="{01C3E717-046C-4AE6-AA2E-A492CF8C2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7425" y="1963738"/>
            <a:ext cx="373063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/>
              <a:t>*</a:t>
            </a:r>
          </a:p>
        </p:txBody>
      </p:sp>
      <p:sp>
        <p:nvSpPr>
          <p:cNvPr id="58385" name="Rectangle 51">
            <a:extLst>
              <a:ext uri="{FF2B5EF4-FFF2-40B4-BE49-F238E27FC236}">
                <a16:creationId xmlns:a16="http://schemas.microsoft.com/office/drawing/2014/main" id="{ECE9A415-B7EB-4502-BD19-DBB8A5E509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581400"/>
            <a:ext cx="62150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sz="2000" b="0">
                <a:solidFill>
                  <a:srgbClr val="000000"/>
                </a:solidFill>
                <a:latin typeface="Verdana" panose="020B0604030504040204" pitchFamily="34" charset="0"/>
              </a:rPr>
              <a:t> A stock exchange lists many companies.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b="0">
                <a:solidFill>
                  <a:srgbClr val="000000"/>
                </a:solidFill>
                <a:latin typeface="Verdana" panose="020B0604030504040204" pitchFamily="34" charset="0"/>
              </a:rPr>
              <a:t> Each company is identified by a ticker symbol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B68A4DF2-6403-4B88-80C8-4CE8F44F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B74DAC-13EB-464A-8E43-97F7CF7CC79C}" type="slidenum">
              <a:rPr lang="nl-NL" altLang="fr-FR" smtClean="0"/>
              <a:pPr>
                <a:defRPr/>
              </a:pPr>
              <a:t>22</a:t>
            </a:fld>
            <a:endParaRPr lang="nl-NL" altLang="fr-F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ED1A2F64-F305-4579-8C8F-1F0531758B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9532" y="-135396"/>
            <a:ext cx="8327268" cy="1143000"/>
          </a:xfrm>
          <a:noFill/>
        </p:spPr>
        <p:txBody>
          <a:bodyPr>
            <a:normAutofit fontScale="90000"/>
          </a:bodyPr>
          <a:lstStyle/>
          <a:p>
            <a:r>
              <a:rPr lang="en-US" altLang="en-US" dirty="0"/>
              <a:t>From Problem Statement To  Object Model</a:t>
            </a:r>
          </a:p>
        </p:txBody>
      </p:sp>
      <p:sp>
        <p:nvSpPr>
          <p:cNvPr id="59395" name="Rectangle 6">
            <a:extLst>
              <a:ext uri="{FF2B5EF4-FFF2-40B4-BE49-F238E27FC236}">
                <a16:creationId xmlns:a16="http://schemas.microsoft.com/office/drawing/2014/main" id="{187800A6-BF90-4FED-99A4-F064A87E0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0875" y="1865313"/>
            <a:ext cx="2571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b="0">
                <a:solidFill>
                  <a:srgbClr val="000000"/>
                </a:solidFill>
                <a:latin typeface="Times" panose="02020603050405020304" pitchFamily="18" charset="0"/>
              </a:rPr>
              <a:t> </a:t>
            </a:r>
          </a:p>
        </p:txBody>
      </p:sp>
      <p:sp>
        <p:nvSpPr>
          <p:cNvPr id="59396" name="Rectangle 7">
            <a:extLst>
              <a:ext uri="{FF2B5EF4-FFF2-40B4-BE49-F238E27FC236}">
                <a16:creationId xmlns:a16="http://schemas.microsoft.com/office/drawing/2014/main" id="{88297B25-A28B-4B4A-92B0-2A575E9B3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538" y="1457325"/>
            <a:ext cx="7505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2" name="Group 25">
            <a:extLst>
              <a:ext uri="{FF2B5EF4-FFF2-40B4-BE49-F238E27FC236}">
                <a16:creationId xmlns:a16="http://schemas.microsoft.com/office/drawing/2014/main" id="{58B216A9-E09E-4DBB-935C-E2B7298EEC6F}"/>
              </a:ext>
            </a:extLst>
          </p:cNvPr>
          <p:cNvGrpSpPr>
            <a:grpSpLocks/>
          </p:cNvGrpSpPr>
          <p:nvPr/>
        </p:nvGrpSpPr>
        <p:grpSpPr bwMode="auto">
          <a:xfrm>
            <a:off x="696913" y="3333750"/>
            <a:ext cx="7172325" cy="2527300"/>
            <a:chOff x="439" y="2100"/>
            <a:chExt cx="4518" cy="1592"/>
          </a:xfrm>
        </p:grpSpPr>
        <p:sp>
          <p:nvSpPr>
            <p:cNvPr id="59399" name="Rectangle 8">
              <a:extLst>
                <a:ext uri="{FF2B5EF4-FFF2-40B4-BE49-F238E27FC236}">
                  <a16:creationId xmlns:a16="http://schemas.microsoft.com/office/drawing/2014/main" id="{038D6398-CC0D-471F-89E5-0E9FFE0557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" y="2100"/>
              <a:ext cx="1208" cy="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2000" b="0" i="1">
                  <a:solidFill>
                    <a:srgbClr val="000000"/>
                  </a:solidFill>
                </a:rPr>
                <a:t>Class Diagram:</a:t>
              </a:r>
            </a:p>
          </p:txBody>
        </p:sp>
        <p:grpSp>
          <p:nvGrpSpPr>
            <p:cNvPr id="59400" name="Group 22">
              <a:extLst>
                <a:ext uri="{FF2B5EF4-FFF2-40B4-BE49-F238E27FC236}">
                  <a16:creationId xmlns:a16="http://schemas.microsoft.com/office/drawing/2014/main" id="{C762ED60-3FCF-49C8-869A-D7F6E1EA07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5" y="2660"/>
              <a:ext cx="4122" cy="1032"/>
              <a:chOff x="835" y="2660"/>
              <a:chExt cx="4122" cy="1032"/>
            </a:xfrm>
          </p:grpSpPr>
          <p:sp>
            <p:nvSpPr>
              <p:cNvPr id="59401" name="Rectangle 9">
                <a:extLst>
                  <a:ext uri="{FF2B5EF4-FFF2-40B4-BE49-F238E27FC236}">
                    <a16:creationId xmlns:a16="http://schemas.microsoft.com/office/drawing/2014/main" id="{833CDFB1-0BB4-461D-9B18-5D4A882B14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720"/>
                <a:ext cx="1334" cy="77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9402" name="Rectangle 10">
                <a:extLst>
                  <a:ext uri="{FF2B5EF4-FFF2-40B4-BE49-F238E27FC236}">
                    <a16:creationId xmlns:a16="http://schemas.microsoft.com/office/drawing/2014/main" id="{F6A59341-85EC-47F9-AB01-C489BDE697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5" y="2778"/>
                <a:ext cx="1373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>
                    <a:solidFill>
                      <a:srgbClr val="0033CC"/>
                    </a:solidFill>
                    <a:latin typeface="Times" panose="02020603050405020304" pitchFamily="18" charset="0"/>
                  </a:rPr>
                  <a:t>StockExchange</a:t>
                </a:r>
                <a:endParaRPr lang="en-US" altLang="en-US">
                  <a:solidFill>
                    <a:srgbClr val="000000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59403" name="Rectangle 11">
                <a:extLst>
                  <a:ext uri="{FF2B5EF4-FFF2-40B4-BE49-F238E27FC236}">
                    <a16:creationId xmlns:a16="http://schemas.microsoft.com/office/drawing/2014/main" id="{3CE7EF6A-31ED-48D9-BC89-7D7213CC59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6" y="2660"/>
                <a:ext cx="1188" cy="1032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9404" name="Rectangle 12">
                <a:extLst>
                  <a:ext uri="{FF2B5EF4-FFF2-40B4-BE49-F238E27FC236}">
                    <a16:creationId xmlns:a16="http://schemas.microsoft.com/office/drawing/2014/main" id="{262AEC4F-5BAA-457D-AFBF-3603FEA248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0" y="2718"/>
                <a:ext cx="914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>
                    <a:solidFill>
                      <a:srgbClr val="0033CC"/>
                    </a:solidFill>
                    <a:latin typeface="Times" panose="02020603050405020304" pitchFamily="18" charset="0"/>
                  </a:rPr>
                  <a:t>Company</a:t>
                </a:r>
                <a:endParaRPr lang="en-US" altLang="en-US">
                  <a:solidFill>
                    <a:srgbClr val="000000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59405" name="Rectangle 13">
                <a:extLst>
                  <a:ext uri="{FF2B5EF4-FFF2-40B4-BE49-F238E27FC236}">
                    <a16:creationId xmlns:a16="http://schemas.microsoft.com/office/drawing/2014/main" id="{94EDDA86-92E0-4119-BE80-F8282BDB04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3140"/>
                <a:ext cx="1213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>
                    <a:solidFill>
                      <a:srgbClr val="0033CC"/>
                    </a:solidFill>
                    <a:latin typeface="Times" panose="02020603050405020304" pitchFamily="18" charset="0"/>
                  </a:rPr>
                  <a:t>tickerSymbol</a:t>
                </a:r>
                <a:endParaRPr lang="en-US" altLang="en-US">
                  <a:solidFill>
                    <a:srgbClr val="000000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59406" name="Rectangle 14">
                <a:extLst>
                  <a:ext uri="{FF2B5EF4-FFF2-40B4-BE49-F238E27FC236}">
                    <a16:creationId xmlns:a16="http://schemas.microsoft.com/office/drawing/2014/main" id="{74FECDC0-5202-4B31-8881-7AF9196EB8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98" y="2978"/>
                <a:ext cx="535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i="1">
                    <a:solidFill>
                      <a:srgbClr val="3333FF"/>
                    </a:solidFill>
                    <a:latin typeface="Times" panose="02020603050405020304" pitchFamily="18" charset="0"/>
                  </a:rPr>
                  <a:t>Lists</a:t>
                </a:r>
                <a:r>
                  <a:rPr lang="en-US" altLang="en-US">
                    <a:solidFill>
                      <a:srgbClr val="000000"/>
                    </a:solidFill>
                    <a:latin typeface="Times" panose="02020603050405020304" pitchFamily="18" charset="0"/>
                  </a:rPr>
                  <a:t> </a:t>
                </a:r>
              </a:p>
            </p:txBody>
          </p:sp>
          <p:sp>
            <p:nvSpPr>
              <p:cNvPr id="59407" name="Line 15">
                <a:extLst>
                  <a:ext uri="{FF2B5EF4-FFF2-40B4-BE49-F238E27FC236}">
                    <a16:creationId xmlns:a16="http://schemas.microsoft.com/office/drawing/2014/main" id="{785FD415-1FBD-4DF0-9EB6-1AFF4858CA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086"/>
                <a:ext cx="132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08" name="Line 16">
                <a:extLst>
                  <a:ext uri="{FF2B5EF4-FFF2-40B4-BE49-F238E27FC236}">
                    <a16:creationId xmlns:a16="http://schemas.microsoft.com/office/drawing/2014/main" id="{44E663D6-5F4A-4708-AD7A-610A9C2D7A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3357"/>
                <a:ext cx="1343" cy="3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09" name="Line 17">
                <a:extLst>
                  <a:ext uri="{FF2B5EF4-FFF2-40B4-BE49-F238E27FC236}">
                    <a16:creationId xmlns:a16="http://schemas.microsoft.com/office/drawing/2014/main" id="{2B64D5E8-5276-49B4-8A3E-6176711451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1" y="3153"/>
                <a:ext cx="118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10" name="Line 18">
                <a:extLst>
                  <a:ext uri="{FF2B5EF4-FFF2-40B4-BE49-F238E27FC236}">
                    <a16:creationId xmlns:a16="http://schemas.microsoft.com/office/drawing/2014/main" id="{E7E8FA9F-A738-4090-B059-E93D91CAF9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61" y="3538"/>
                <a:ext cx="118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11" name="Line 19">
                <a:extLst>
                  <a:ext uri="{FF2B5EF4-FFF2-40B4-BE49-F238E27FC236}">
                    <a16:creationId xmlns:a16="http://schemas.microsoft.com/office/drawing/2014/main" id="{1B60897A-EEE0-4571-AC21-F20AC615A1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2" y="2973"/>
                <a:ext cx="155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9412" name="Rectangle 20">
                <a:extLst>
                  <a:ext uri="{FF2B5EF4-FFF2-40B4-BE49-F238E27FC236}">
                    <a16:creationId xmlns:a16="http://schemas.microsoft.com/office/drawing/2014/main" id="{4906187C-B18C-4299-9149-6D78B5B7E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6" y="2752"/>
                <a:ext cx="189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>
                    <a:solidFill>
                      <a:schemeClr val="tx1"/>
                    </a:solidFill>
                  </a:rPr>
                  <a:t>*</a:t>
                </a:r>
              </a:p>
            </p:txBody>
          </p:sp>
          <p:sp>
            <p:nvSpPr>
              <p:cNvPr id="59413" name="Rectangle 21">
                <a:extLst>
                  <a:ext uri="{FF2B5EF4-FFF2-40B4-BE49-F238E27FC236}">
                    <a16:creationId xmlns:a16="http://schemas.microsoft.com/office/drawing/2014/main" id="{C15EFA89-01B9-4919-8543-7F36ED18CE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35" y="2752"/>
                <a:ext cx="189" cy="28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>
                    <a:solidFill>
                      <a:schemeClr val="tx1"/>
                    </a:solidFill>
                  </a:rPr>
                  <a:t>*</a:t>
                </a:r>
              </a:p>
            </p:txBody>
          </p:sp>
        </p:grpSp>
      </p:grpSp>
      <p:sp>
        <p:nvSpPr>
          <p:cNvPr id="59398" name="Rectangle 23">
            <a:extLst>
              <a:ext uri="{FF2B5EF4-FFF2-40B4-BE49-F238E27FC236}">
                <a16:creationId xmlns:a16="http://schemas.microsoft.com/office/drawing/2014/main" id="{0F22DCB3-B7C3-415B-8B59-F5FA2244A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963" y="1384300"/>
            <a:ext cx="8026400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b="0" i="1">
                <a:solidFill>
                  <a:srgbClr val="000000"/>
                </a:solidFill>
                <a:latin typeface="Times" panose="02020603050405020304" pitchFamily="18" charset="0"/>
              </a:rPr>
              <a:t>Problem Statement: A </a:t>
            </a:r>
            <a:r>
              <a:rPr lang="en-US" altLang="en-US" b="0" i="1">
                <a:solidFill>
                  <a:srgbClr val="0033CC"/>
                </a:solidFill>
                <a:latin typeface="Times" panose="02020603050405020304" pitchFamily="18" charset="0"/>
              </a:rPr>
              <a:t>stock exchange lists</a:t>
            </a:r>
            <a:r>
              <a:rPr lang="en-US" altLang="en-US" b="0" i="1">
                <a:solidFill>
                  <a:srgbClr val="000000"/>
                </a:solidFill>
                <a:latin typeface="Times" panose="02020603050405020304" pitchFamily="18" charset="0"/>
              </a:rPr>
              <a:t> many </a:t>
            </a:r>
            <a:r>
              <a:rPr lang="en-US" altLang="en-US" b="0" i="1">
                <a:solidFill>
                  <a:srgbClr val="0033CC"/>
                </a:solidFill>
                <a:latin typeface="Times" panose="02020603050405020304" pitchFamily="18" charset="0"/>
              </a:rPr>
              <a:t>companies</a:t>
            </a:r>
            <a:r>
              <a:rPr lang="en-US" altLang="en-US" b="0" i="1">
                <a:solidFill>
                  <a:srgbClr val="000000"/>
                </a:solidFill>
                <a:latin typeface="Times" panose="02020603050405020304" pitchFamily="18" charset="0"/>
              </a:rPr>
              <a:t>. Each company is uniquely identified by a </a:t>
            </a:r>
            <a:r>
              <a:rPr lang="en-US" altLang="en-US" b="0" i="1">
                <a:solidFill>
                  <a:srgbClr val="0033CC"/>
                </a:solidFill>
                <a:latin typeface="Times" panose="02020603050405020304" pitchFamily="18" charset="0"/>
              </a:rPr>
              <a:t>ticker symbol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27DF030-3A51-4F07-A5A5-6FBB7C08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23</a:t>
            </a:fld>
            <a:endParaRPr lang="nl-NL" alt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D87F5071-037B-4F05-B7AF-14BED0E383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-135396"/>
            <a:ext cx="7772400" cy="1143000"/>
          </a:xfrm>
          <a:noFill/>
        </p:spPr>
        <p:txBody>
          <a:bodyPr/>
          <a:lstStyle/>
          <a:p>
            <a:r>
              <a:rPr lang="en-US" altLang="en-US" dirty="0"/>
              <a:t>From Problem Statement to Code</a:t>
            </a:r>
          </a:p>
        </p:txBody>
      </p:sp>
      <p:sp>
        <p:nvSpPr>
          <p:cNvPr id="61443" name="Rectangle 12">
            <a:extLst>
              <a:ext uri="{FF2B5EF4-FFF2-40B4-BE49-F238E27FC236}">
                <a16:creationId xmlns:a16="http://schemas.microsoft.com/office/drawing/2014/main" id="{9D71C7F1-A601-4806-BB91-0317E51FD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1185863"/>
            <a:ext cx="4857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b="0" i="1">
                <a:solidFill>
                  <a:srgbClr val="000000"/>
                </a:solidFill>
                <a:latin typeface="Times" panose="02020603050405020304" pitchFamily="18" charset="0"/>
              </a:rPr>
              <a:t>Pr</a:t>
            </a:r>
          </a:p>
        </p:txBody>
      </p:sp>
      <p:sp>
        <p:nvSpPr>
          <p:cNvPr id="61444" name="Rectangle 13">
            <a:extLst>
              <a:ext uri="{FF2B5EF4-FFF2-40B4-BE49-F238E27FC236}">
                <a16:creationId xmlns:a16="http://schemas.microsoft.com/office/drawing/2014/main" id="{0FFD092C-ED44-4FE4-96B2-935166CB9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13" y="1185863"/>
            <a:ext cx="220345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b="0" i="1">
                <a:solidFill>
                  <a:srgbClr val="000000"/>
                </a:solidFill>
                <a:latin typeface="Times" panose="02020603050405020304" pitchFamily="18" charset="0"/>
              </a:rPr>
              <a:t>oblem Statement</a:t>
            </a:r>
          </a:p>
        </p:txBody>
      </p:sp>
      <p:sp>
        <p:nvSpPr>
          <p:cNvPr id="61445" name="Rectangle 14">
            <a:extLst>
              <a:ext uri="{FF2B5EF4-FFF2-40B4-BE49-F238E27FC236}">
                <a16:creationId xmlns:a16="http://schemas.microsoft.com/office/drawing/2014/main" id="{3BFFDA82-6CE1-44B2-A89A-723658612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013" y="1185863"/>
            <a:ext cx="3413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b="0">
                <a:solidFill>
                  <a:srgbClr val="000000"/>
                </a:solidFill>
                <a:latin typeface="Times" panose="02020603050405020304" pitchFamily="18" charset="0"/>
              </a:rPr>
              <a:t>: </a:t>
            </a:r>
          </a:p>
        </p:txBody>
      </p:sp>
      <p:sp>
        <p:nvSpPr>
          <p:cNvPr id="61446" name="Rectangle 15">
            <a:extLst>
              <a:ext uri="{FF2B5EF4-FFF2-40B4-BE49-F238E27FC236}">
                <a16:creationId xmlns:a16="http://schemas.microsoft.com/office/drawing/2014/main" id="{64594851-E402-4338-A5C7-46EF024B0B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8650" y="1185863"/>
            <a:ext cx="40163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b="0">
                <a:solidFill>
                  <a:srgbClr val="000000"/>
                </a:solidFill>
                <a:latin typeface="Times" panose="02020603050405020304" pitchFamily="18" charset="0"/>
              </a:rPr>
              <a:t>A</a:t>
            </a:r>
          </a:p>
        </p:txBody>
      </p:sp>
      <p:sp>
        <p:nvSpPr>
          <p:cNvPr id="61447" name="Rectangle 16">
            <a:extLst>
              <a:ext uri="{FF2B5EF4-FFF2-40B4-BE49-F238E27FC236}">
                <a16:creationId xmlns:a16="http://schemas.microsoft.com/office/drawing/2014/main" id="{030C85DA-ECC9-41D1-BF8D-9B01FC2D4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1185863"/>
            <a:ext cx="497998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b="0">
                <a:solidFill>
                  <a:srgbClr val="000000"/>
                </a:solidFill>
                <a:latin typeface="Times" panose="02020603050405020304" pitchFamily="18" charset="0"/>
              </a:rPr>
              <a:t> stock exchange lists many companies. </a:t>
            </a:r>
          </a:p>
        </p:txBody>
      </p:sp>
      <p:sp>
        <p:nvSpPr>
          <p:cNvPr id="61448" name="Rectangle 17">
            <a:extLst>
              <a:ext uri="{FF2B5EF4-FFF2-40B4-BE49-F238E27FC236}">
                <a16:creationId xmlns:a16="http://schemas.microsoft.com/office/drawing/2014/main" id="{658A6494-8C1F-47CC-93D1-F28CB0887B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925" y="1516063"/>
            <a:ext cx="58277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b="0">
                <a:solidFill>
                  <a:srgbClr val="000000"/>
                </a:solidFill>
                <a:latin typeface="Times" panose="02020603050405020304" pitchFamily="18" charset="0"/>
              </a:rPr>
              <a:t>Each company is identified by a ticker symbol</a:t>
            </a:r>
          </a:p>
        </p:txBody>
      </p:sp>
      <p:sp>
        <p:nvSpPr>
          <p:cNvPr id="61449" name="Rectangle 18">
            <a:extLst>
              <a:ext uri="{FF2B5EF4-FFF2-40B4-BE49-F238E27FC236}">
                <a16:creationId xmlns:a16="http://schemas.microsoft.com/office/drawing/2014/main" id="{945C80E6-C8D3-49C4-AC87-807B244B72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260600"/>
            <a:ext cx="2030412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2000" i="1">
                <a:solidFill>
                  <a:srgbClr val="000000"/>
                </a:solidFill>
              </a:rPr>
              <a:t>Class Diagram:</a:t>
            </a:r>
          </a:p>
        </p:txBody>
      </p:sp>
      <p:sp>
        <p:nvSpPr>
          <p:cNvPr id="161797" name="Rectangle 5">
            <a:extLst>
              <a:ext uri="{FF2B5EF4-FFF2-40B4-BE49-F238E27FC236}">
                <a16:creationId xmlns:a16="http://schemas.microsoft.com/office/drawing/2014/main" id="{B7DA5CEE-1907-4E94-90A9-B04F6D098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5025" y="4281488"/>
            <a:ext cx="4551363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en-US" sz="1800">
                <a:solidFill>
                  <a:srgbClr val="0033CC"/>
                </a:solidFill>
                <a:latin typeface="Times" panose="02020603050405020304" pitchFamily="18" charset="0"/>
              </a:rPr>
              <a:t> private Vector m_Company = new Vector();</a:t>
            </a:r>
            <a:endParaRPr lang="en-US" altLang="en-US" sz="180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161801" name="Rectangle 9">
            <a:extLst>
              <a:ext uri="{FF2B5EF4-FFF2-40B4-BE49-F238E27FC236}">
                <a16:creationId xmlns:a16="http://schemas.microsoft.com/office/drawing/2014/main" id="{091E1A68-09F3-4F33-AEDC-CAD9C537D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5025" y="5500688"/>
            <a:ext cx="291782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en-US" sz="1800">
                <a:solidFill>
                  <a:srgbClr val="000000"/>
                </a:solidFill>
                <a:latin typeface="Times" panose="02020603050405020304" pitchFamily="18" charset="0"/>
              </a:rPr>
              <a:t> </a:t>
            </a:r>
            <a:r>
              <a:rPr lang="en-US" altLang="en-US" sz="1800">
                <a:latin typeface="Times" panose="02020603050405020304" pitchFamily="18" charset="0"/>
              </a:rPr>
              <a:t>public int m_tickerSymbol;</a:t>
            </a:r>
            <a:endParaRPr lang="en-US" altLang="en-US" sz="180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161802" name="Rectangle 10">
            <a:extLst>
              <a:ext uri="{FF2B5EF4-FFF2-40B4-BE49-F238E27FC236}">
                <a16:creationId xmlns:a16="http://schemas.microsoft.com/office/drawing/2014/main" id="{23D2958E-8373-47FB-8719-2B82BC1D6E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5025" y="5724525"/>
            <a:ext cx="5097463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en-US" sz="1800">
                <a:solidFill>
                  <a:srgbClr val="000000"/>
                </a:solidFill>
                <a:latin typeface="Times" panose="02020603050405020304" pitchFamily="18" charset="0"/>
              </a:rPr>
              <a:t> </a:t>
            </a:r>
            <a:r>
              <a:rPr lang="en-US" altLang="en-US" sz="1800">
                <a:solidFill>
                  <a:srgbClr val="0033CC"/>
                </a:solidFill>
                <a:latin typeface="Times" panose="02020603050405020304" pitchFamily="18" charset="0"/>
              </a:rPr>
              <a:t>private Vector m_StockExchange = new Vector();</a:t>
            </a:r>
            <a:endParaRPr lang="en-US" altLang="en-US" sz="1800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58D70155-5BB2-4BFE-B1B2-A3AC04B3DA20}"/>
              </a:ext>
            </a:extLst>
          </p:cNvPr>
          <p:cNvGrpSpPr>
            <a:grpSpLocks/>
          </p:cNvGrpSpPr>
          <p:nvPr/>
        </p:nvGrpSpPr>
        <p:grpSpPr bwMode="auto">
          <a:xfrm>
            <a:off x="620713" y="3492500"/>
            <a:ext cx="4344987" cy="2951163"/>
            <a:chOff x="391" y="2200"/>
            <a:chExt cx="2737" cy="1859"/>
          </a:xfrm>
        </p:grpSpPr>
        <p:sp>
          <p:nvSpPr>
            <p:cNvPr id="61473" name="Rectangle 3">
              <a:extLst>
                <a:ext uri="{FF2B5EF4-FFF2-40B4-BE49-F238E27FC236}">
                  <a16:creationId xmlns:a16="http://schemas.microsoft.com/office/drawing/2014/main" id="{1C9DBEBA-45E5-4C0F-B8EB-B189BD3115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6" y="2387"/>
              <a:ext cx="1802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en-US" sz="1800">
                  <a:solidFill>
                    <a:srgbClr val="000000"/>
                  </a:solidFill>
                  <a:latin typeface="Times" panose="02020603050405020304" pitchFamily="18" charset="0"/>
                </a:rPr>
                <a:t>public class StockExchange</a:t>
              </a:r>
            </a:p>
          </p:txBody>
        </p:sp>
        <p:sp>
          <p:nvSpPr>
            <p:cNvPr id="61474" name="Rectangle 4">
              <a:extLst>
                <a:ext uri="{FF2B5EF4-FFF2-40B4-BE49-F238E27FC236}">
                  <a16:creationId xmlns:a16="http://schemas.microsoft.com/office/drawing/2014/main" id="{1FBEB2A3-664B-4CAD-94EB-B4AB31DA7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6" y="2515"/>
              <a:ext cx="171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en-US" sz="1800">
                  <a:solidFill>
                    <a:srgbClr val="000000"/>
                  </a:solidFill>
                  <a:latin typeface="Times" panose="02020603050405020304" pitchFamily="18" charset="0"/>
                </a:rPr>
                <a:t>{</a:t>
              </a:r>
            </a:p>
          </p:txBody>
        </p:sp>
        <p:sp>
          <p:nvSpPr>
            <p:cNvPr id="61475" name="Rectangle 6">
              <a:extLst>
                <a:ext uri="{FF2B5EF4-FFF2-40B4-BE49-F238E27FC236}">
                  <a16:creationId xmlns:a16="http://schemas.microsoft.com/office/drawing/2014/main" id="{CAF5EA44-6AD6-43CD-A264-5F1A2CA84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6" y="2899"/>
              <a:ext cx="219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en-US" sz="1800">
                  <a:solidFill>
                    <a:srgbClr val="000000"/>
                  </a:solidFill>
                  <a:latin typeface="Times" panose="02020603050405020304" pitchFamily="18" charset="0"/>
                </a:rPr>
                <a:t>};</a:t>
              </a:r>
            </a:p>
          </p:txBody>
        </p:sp>
        <p:sp>
          <p:nvSpPr>
            <p:cNvPr id="61476" name="Rectangle 7">
              <a:extLst>
                <a:ext uri="{FF2B5EF4-FFF2-40B4-BE49-F238E27FC236}">
                  <a16:creationId xmlns:a16="http://schemas.microsoft.com/office/drawing/2014/main" id="{15635904-3F0A-49B9-BB87-A5BF8585C6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6" y="3155"/>
              <a:ext cx="1458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en-US" sz="1800">
                  <a:solidFill>
                    <a:srgbClr val="000000"/>
                  </a:solidFill>
                  <a:latin typeface="Times" panose="02020603050405020304" pitchFamily="18" charset="0"/>
                </a:rPr>
                <a:t>public class Company</a:t>
              </a:r>
            </a:p>
          </p:txBody>
        </p:sp>
        <p:sp>
          <p:nvSpPr>
            <p:cNvPr id="61477" name="Rectangle 8">
              <a:extLst>
                <a:ext uri="{FF2B5EF4-FFF2-40B4-BE49-F238E27FC236}">
                  <a16:creationId xmlns:a16="http://schemas.microsoft.com/office/drawing/2014/main" id="{8CEF89DC-1FD5-47FD-B799-BB65211D02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6" y="3283"/>
              <a:ext cx="171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en-US" sz="1800">
                  <a:solidFill>
                    <a:srgbClr val="000000"/>
                  </a:solidFill>
                  <a:latin typeface="Times" panose="02020603050405020304" pitchFamily="18" charset="0"/>
                </a:rPr>
                <a:t>{</a:t>
              </a:r>
            </a:p>
          </p:txBody>
        </p:sp>
        <p:sp>
          <p:nvSpPr>
            <p:cNvPr id="61478" name="Rectangle 11">
              <a:extLst>
                <a:ext uri="{FF2B5EF4-FFF2-40B4-BE49-F238E27FC236}">
                  <a16:creationId xmlns:a16="http://schemas.microsoft.com/office/drawing/2014/main" id="{0A91FFC1-191B-4CB4-8425-99342B5E6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6" y="3795"/>
              <a:ext cx="219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en-US" sz="1800">
                  <a:solidFill>
                    <a:srgbClr val="000000"/>
                  </a:solidFill>
                  <a:latin typeface="Times" panose="02020603050405020304" pitchFamily="18" charset="0"/>
                </a:rPr>
                <a:t>};</a:t>
              </a:r>
            </a:p>
          </p:txBody>
        </p:sp>
        <p:sp>
          <p:nvSpPr>
            <p:cNvPr id="61479" name="Rectangle 19">
              <a:extLst>
                <a:ext uri="{FF2B5EF4-FFF2-40B4-BE49-F238E27FC236}">
                  <a16:creationId xmlns:a16="http://schemas.microsoft.com/office/drawing/2014/main" id="{76E5559F-A2F5-42C4-A6D1-81A87B776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" y="2200"/>
              <a:ext cx="914" cy="2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120000"/>
                </a:lnSpc>
              </a:pPr>
              <a:r>
                <a:rPr lang="en-US" altLang="en-US" sz="2000" i="1">
                  <a:solidFill>
                    <a:srgbClr val="000000"/>
                  </a:solidFill>
                </a:rPr>
                <a:t>Java Code</a:t>
              </a:r>
            </a:p>
          </p:txBody>
        </p:sp>
      </p:grpSp>
      <p:sp>
        <p:nvSpPr>
          <p:cNvPr id="61454" name="Rectangle 20">
            <a:extLst>
              <a:ext uri="{FF2B5EF4-FFF2-40B4-BE49-F238E27FC236}">
                <a16:creationId xmlns:a16="http://schemas.microsoft.com/office/drawing/2014/main" id="{91146EB4-EBF9-4C05-A78B-92E215380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600" y="2628900"/>
            <a:ext cx="1727200" cy="6477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1455" name="Rectangle 21">
            <a:extLst>
              <a:ext uri="{FF2B5EF4-FFF2-40B4-BE49-F238E27FC236}">
                <a16:creationId xmlns:a16="http://schemas.microsoft.com/office/drawing/2014/main" id="{90DC1901-B854-48B2-B332-6BA94B4D2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4188" y="2697163"/>
            <a:ext cx="13462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400">
                <a:solidFill>
                  <a:srgbClr val="000000"/>
                </a:solidFill>
                <a:latin typeface="Times" panose="02020603050405020304" pitchFamily="18" charset="0"/>
              </a:rPr>
              <a:t>StockExchange</a:t>
            </a:r>
          </a:p>
        </p:txBody>
      </p:sp>
      <p:sp>
        <p:nvSpPr>
          <p:cNvPr id="61456" name="Rectangle 22">
            <a:extLst>
              <a:ext uri="{FF2B5EF4-FFF2-40B4-BE49-F238E27FC236}">
                <a16:creationId xmlns:a16="http://schemas.microsoft.com/office/drawing/2014/main" id="{9C9D21E3-778B-4D23-83CB-14AD6138C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2578100"/>
            <a:ext cx="1485900" cy="8636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1457" name="Rectangle 23">
            <a:extLst>
              <a:ext uri="{FF2B5EF4-FFF2-40B4-BE49-F238E27FC236}">
                <a16:creationId xmlns:a16="http://schemas.microsoft.com/office/drawing/2014/main" id="{9B67C7C1-91CB-42E5-B50C-9E056E5C74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0088" y="2646363"/>
            <a:ext cx="922337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400">
                <a:solidFill>
                  <a:srgbClr val="000000"/>
                </a:solidFill>
                <a:latin typeface="Times" panose="02020603050405020304" pitchFamily="18" charset="0"/>
              </a:rPr>
              <a:t>Company</a:t>
            </a:r>
          </a:p>
        </p:txBody>
      </p:sp>
      <p:sp>
        <p:nvSpPr>
          <p:cNvPr id="61458" name="Rectangle 24">
            <a:extLst>
              <a:ext uri="{FF2B5EF4-FFF2-40B4-BE49-F238E27FC236}">
                <a16:creationId xmlns:a16="http://schemas.microsoft.com/office/drawing/2014/main" id="{7D86DC4C-576F-4680-8C23-B3EAD6330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4500" y="3006725"/>
            <a:ext cx="2921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61817" name="Rectangle 25">
            <a:extLst>
              <a:ext uri="{FF2B5EF4-FFF2-40B4-BE49-F238E27FC236}">
                <a16:creationId xmlns:a16="http://schemas.microsoft.com/office/drawing/2014/main" id="{965DDC01-E6A5-453C-B177-03779E8F3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2925" y="3001963"/>
            <a:ext cx="1198563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400">
                <a:latin typeface="Times" panose="02020603050405020304" pitchFamily="18" charset="0"/>
              </a:rPr>
              <a:t>tickerSymbol</a:t>
            </a:r>
          </a:p>
        </p:txBody>
      </p:sp>
      <p:sp>
        <p:nvSpPr>
          <p:cNvPr id="61460" name="Rectangle 26">
            <a:extLst>
              <a:ext uri="{FF2B5EF4-FFF2-40B4-BE49-F238E27FC236}">
                <a16:creationId xmlns:a16="http://schemas.microsoft.com/office/drawing/2014/main" id="{AA0585C0-E7C4-47E8-AC04-C23C69C70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2867025"/>
            <a:ext cx="682625" cy="363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 i="1">
                <a:solidFill>
                  <a:srgbClr val="3333FF"/>
                </a:solidFill>
                <a:latin typeface="Times" panose="02020603050405020304" pitchFamily="18" charset="0"/>
              </a:rPr>
              <a:t>Lists </a:t>
            </a:r>
          </a:p>
        </p:txBody>
      </p:sp>
      <p:sp>
        <p:nvSpPr>
          <p:cNvPr id="61461" name="Line 27">
            <a:extLst>
              <a:ext uri="{FF2B5EF4-FFF2-40B4-BE49-F238E27FC236}">
                <a16:creationId xmlns:a16="http://schemas.microsoft.com/office/drawing/2014/main" id="{E702663A-1D34-4E2F-8925-8AB3AE9D13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5600" y="2933700"/>
            <a:ext cx="1720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62" name="Line 28">
            <a:extLst>
              <a:ext uri="{FF2B5EF4-FFF2-40B4-BE49-F238E27FC236}">
                <a16:creationId xmlns:a16="http://schemas.microsoft.com/office/drawing/2014/main" id="{395A5A17-58A7-4701-990F-88D98FD86597}"/>
              </a:ext>
            </a:extLst>
          </p:cNvPr>
          <p:cNvSpPr>
            <a:spLocks noChangeShapeType="1"/>
          </p:cNvSpPr>
          <p:nvPr/>
        </p:nvSpPr>
        <p:spPr bwMode="auto">
          <a:xfrm>
            <a:off x="1625600" y="3162300"/>
            <a:ext cx="1720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63" name="Line 29">
            <a:extLst>
              <a:ext uri="{FF2B5EF4-FFF2-40B4-BE49-F238E27FC236}">
                <a16:creationId xmlns:a16="http://schemas.microsoft.com/office/drawing/2014/main" id="{B934BF31-56DC-45E3-817B-3B2D5F1E9D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0850" y="2990850"/>
            <a:ext cx="147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64" name="Line 30">
            <a:extLst>
              <a:ext uri="{FF2B5EF4-FFF2-40B4-BE49-F238E27FC236}">
                <a16:creationId xmlns:a16="http://schemas.microsoft.com/office/drawing/2014/main" id="{C0546B3A-F53F-446A-8482-C4B5670C94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30850" y="3314700"/>
            <a:ext cx="1473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65" name="Line 31">
            <a:extLst>
              <a:ext uri="{FF2B5EF4-FFF2-40B4-BE49-F238E27FC236}">
                <a16:creationId xmlns:a16="http://schemas.microsoft.com/office/drawing/2014/main" id="{E2BB2485-AC03-44A5-94BA-AEFBB049D5C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59150" y="2838450"/>
            <a:ext cx="21542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66" name="Rectangle 32">
            <a:extLst>
              <a:ext uri="{FF2B5EF4-FFF2-40B4-BE49-F238E27FC236}">
                <a16:creationId xmlns:a16="http://schemas.microsoft.com/office/drawing/2014/main" id="{4D7DB155-F560-48BB-BF1D-0C0E71210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488" y="2546350"/>
            <a:ext cx="300037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1467" name="Rectangle 33">
            <a:extLst>
              <a:ext uri="{FF2B5EF4-FFF2-40B4-BE49-F238E27FC236}">
                <a16:creationId xmlns:a16="http://schemas.microsoft.com/office/drawing/2014/main" id="{B3767170-9BF6-4916-A700-612D526F0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5025" y="2544763"/>
            <a:ext cx="30003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161826" name="Oval 34">
            <a:extLst>
              <a:ext uri="{FF2B5EF4-FFF2-40B4-BE49-F238E27FC236}">
                <a16:creationId xmlns:a16="http://schemas.microsoft.com/office/drawing/2014/main" id="{14B5FBF5-6376-4596-80FB-C3AEC0C98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7700" y="2349500"/>
            <a:ext cx="609600" cy="647700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61829" name="Oval 37">
            <a:extLst>
              <a:ext uri="{FF2B5EF4-FFF2-40B4-BE49-F238E27FC236}">
                <a16:creationId xmlns:a16="http://schemas.microsoft.com/office/drawing/2014/main" id="{E1C71CD3-7386-4EDE-882C-32EE4B7242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4025" y="5678488"/>
            <a:ext cx="760413" cy="544512"/>
          </a:xfrm>
          <a:prstGeom prst="ellips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61830" name="Oval 38">
            <a:extLst>
              <a:ext uri="{FF2B5EF4-FFF2-40B4-BE49-F238E27FC236}">
                <a16:creationId xmlns:a16="http://schemas.microsoft.com/office/drawing/2014/main" id="{316191DF-A049-44D8-A0FC-C97F39E4E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0300" y="2419350"/>
            <a:ext cx="609600" cy="6477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61831" name="Oval 39">
            <a:extLst>
              <a:ext uri="{FF2B5EF4-FFF2-40B4-BE49-F238E27FC236}">
                <a16:creationId xmlns:a16="http://schemas.microsoft.com/office/drawing/2014/main" id="{B8E36CCC-B8B9-4D2C-8121-6939E789C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1325" y="4221163"/>
            <a:ext cx="760413" cy="544512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61832" name="Text Box 40">
            <a:extLst>
              <a:ext uri="{FF2B5EF4-FFF2-40B4-BE49-F238E27FC236}">
                <a16:creationId xmlns:a16="http://schemas.microsoft.com/office/drawing/2014/main" id="{79906D47-174C-4D03-9323-BC5E5E494B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6538" y="4398963"/>
            <a:ext cx="2352675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Associations</a:t>
            </a:r>
          </a:p>
          <a:p>
            <a:r>
              <a:rPr lang="en-US" altLang="en-US"/>
              <a:t>are mapped to </a:t>
            </a:r>
          </a:p>
          <a:p>
            <a:r>
              <a:rPr lang="en-US" altLang="en-US"/>
              <a:t>Attributes!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53D8AB1E-7185-424C-A053-F5337A523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24</a:t>
            </a:fld>
            <a:endParaRPr lang="nl-NL" altLang="fr-FR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1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18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1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7" grpId="0" build="p" autoUpdateAnimBg="0"/>
      <p:bldP spid="161801" grpId="0" build="allAtOnce"/>
      <p:bldP spid="161802" grpId="0" build="p" autoUpdateAnimBg="0"/>
      <p:bldP spid="161817" grpId="0" build="allAtOnce"/>
      <p:bldP spid="161826" grpId="0" animBg="1"/>
      <p:bldP spid="161829" grpId="0" animBg="1"/>
      <p:bldP spid="161830" grpId="0" animBg="1"/>
      <p:bldP spid="161831" grpId="0" animBg="1"/>
      <p:bldP spid="161832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36DE2A20-C1B6-4EBA-8F26-73700ED797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Qualifiers</a:t>
            </a:r>
          </a:p>
        </p:txBody>
      </p:sp>
      <p:sp>
        <p:nvSpPr>
          <p:cNvPr id="63491" name="Rectangle 4">
            <a:extLst>
              <a:ext uri="{FF2B5EF4-FFF2-40B4-BE49-F238E27FC236}">
                <a16:creationId xmlns:a16="http://schemas.microsoft.com/office/drawing/2014/main" id="{A5A4AC1A-E1C5-4A85-B435-7043C6B478E5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15950" y="4457700"/>
            <a:ext cx="8001000" cy="842963"/>
          </a:xfrm>
        </p:spPr>
        <p:txBody>
          <a:bodyPr/>
          <a:lstStyle/>
          <a:p>
            <a:r>
              <a:rPr lang="en-US" altLang="en-US"/>
              <a:t>Qualifiers can be used to reduce the multiplicity of an association</a:t>
            </a:r>
            <a:endParaRPr lang="en-US" altLang="en-US" sz="2000"/>
          </a:p>
        </p:txBody>
      </p:sp>
      <p:grpSp>
        <p:nvGrpSpPr>
          <p:cNvPr id="2" name="Group 97">
            <a:extLst>
              <a:ext uri="{FF2B5EF4-FFF2-40B4-BE49-F238E27FC236}">
                <a16:creationId xmlns:a16="http://schemas.microsoft.com/office/drawing/2014/main" id="{F07867AC-1B2B-4A04-9411-5A4F2D7BA893}"/>
              </a:ext>
            </a:extLst>
          </p:cNvPr>
          <p:cNvGrpSpPr>
            <a:grpSpLocks/>
          </p:cNvGrpSpPr>
          <p:nvPr/>
        </p:nvGrpSpPr>
        <p:grpSpPr bwMode="auto">
          <a:xfrm>
            <a:off x="358775" y="1292225"/>
            <a:ext cx="8493125" cy="1323975"/>
            <a:chOff x="226" y="814"/>
            <a:chExt cx="5350" cy="834"/>
          </a:xfrm>
        </p:grpSpPr>
        <p:grpSp>
          <p:nvGrpSpPr>
            <p:cNvPr id="63504" name="Group 54">
              <a:extLst>
                <a:ext uri="{FF2B5EF4-FFF2-40B4-BE49-F238E27FC236}">
                  <a16:creationId xmlns:a16="http://schemas.microsoft.com/office/drawing/2014/main" id="{573EBA51-1652-44C6-997D-E0B7102085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3" y="1164"/>
              <a:ext cx="1560" cy="326"/>
              <a:chOff x="276" y="969"/>
              <a:chExt cx="1560" cy="326"/>
            </a:xfrm>
          </p:grpSpPr>
          <p:sp>
            <p:nvSpPr>
              <p:cNvPr id="63514" name="Rectangle 13">
                <a:extLst>
                  <a:ext uri="{FF2B5EF4-FFF2-40B4-BE49-F238E27FC236}">
                    <a16:creationId xmlns:a16="http://schemas.microsoft.com/office/drawing/2014/main" id="{BD228D14-2A4F-48C0-ACEE-F92CFECA6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" y="969"/>
                <a:ext cx="1560" cy="326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3515" name="Rectangle 14">
                <a:extLst>
                  <a:ext uri="{FF2B5EF4-FFF2-40B4-BE49-F238E27FC236}">
                    <a16:creationId xmlns:a16="http://schemas.microsoft.com/office/drawing/2014/main" id="{B32AD875-313D-4E97-BAA5-A3FB58C8B0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1" y="1074"/>
                <a:ext cx="86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  <a:latin typeface="Courier" charset="0"/>
                  </a:rPr>
                  <a:t>Directory</a:t>
                </a:r>
                <a:endParaRPr lang="en-US" altLang="en-US" sz="2800" b="0"/>
              </a:p>
            </p:txBody>
          </p:sp>
        </p:grpSp>
        <p:grpSp>
          <p:nvGrpSpPr>
            <p:cNvPr id="63505" name="Group 53">
              <a:extLst>
                <a:ext uri="{FF2B5EF4-FFF2-40B4-BE49-F238E27FC236}">
                  <a16:creationId xmlns:a16="http://schemas.microsoft.com/office/drawing/2014/main" id="{EF75C3EB-B212-418B-B478-7C4B67B7CC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16" y="994"/>
              <a:ext cx="1560" cy="654"/>
              <a:chOff x="3878" y="799"/>
              <a:chExt cx="1560" cy="654"/>
            </a:xfrm>
          </p:grpSpPr>
          <p:sp>
            <p:nvSpPr>
              <p:cNvPr id="63510" name="Rectangle 15">
                <a:extLst>
                  <a:ext uri="{FF2B5EF4-FFF2-40B4-BE49-F238E27FC236}">
                    <a16:creationId xmlns:a16="http://schemas.microsoft.com/office/drawing/2014/main" id="{5A469F4C-4392-4F6D-81B7-43724DAE86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799"/>
                <a:ext cx="1560" cy="326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3511" name="Rectangle 16">
                <a:extLst>
                  <a:ext uri="{FF2B5EF4-FFF2-40B4-BE49-F238E27FC236}">
                    <a16:creationId xmlns:a16="http://schemas.microsoft.com/office/drawing/2014/main" id="{80A012D9-3837-4558-9DAC-17554EA35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03" y="904"/>
                <a:ext cx="384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  <a:latin typeface="Courier" charset="0"/>
                  </a:rPr>
                  <a:t>File</a:t>
                </a:r>
                <a:endParaRPr lang="en-US" altLang="en-US" sz="2800" b="0"/>
              </a:p>
            </p:txBody>
          </p:sp>
          <p:sp>
            <p:nvSpPr>
              <p:cNvPr id="63512" name="Rectangle 18">
                <a:extLst>
                  <a:ext uri="{FF2B5EF4-FFF2-40B4-BE49-F238E27FC236}">
                    <a16:creationId xmlns:a16="http://schemas.microsoft.com/office/drawing/2014/main" id="{C54B2099-8EA0-42DD-948E-DDF413A5A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78" y="1127"/>
                <a:ext cx="1560" cy="326"/>
              </a:xfrm>
              <a:prstGeom prst="rect">
                <a:avLst/>
              </a:prstGeom>
              <a:noFill/>
              <a:ln w="222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3513" name="Rectangle 19">
                <a:extLst>
                  <a:ext uri="{FF2B5EF4-FFF2-40B4-BE49-F238E27FC236}">
                    <a16:creationId xmlns:a16="http://schemas.microsoft.com/office/drawing/2014/main" id="{58568828-098E-4EF7-89E6-05894C58E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1" y="1173"/>
                <a:ext cx="768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2000">
                    <a:solidFill>
                      <a:srgbClr val="000000"/>
                    </a:solidFill>
                    <a:latin typeface="Courier" charset="0"/>
                  </a:rPr>
                  <a:t>filename</a:t>
                </a:r>
                <a:endParaRPr lang="en-US" altLang="en-US" sz="2800" b="0"/>
              </a:p>
            </p:txBody>
          </p:sp>
        </p:grpSp>
        <p:sp>
          <p:nvSpPr>
            <p:cNvPr id="63506" name="Rectangle 22">
              <a:extLst>
                <a:ext uri="{FF2B5EF4-FFF2-40B4-BE49-F238E27FC236}">
                  <a16:creationId xmlns:a16="http://schemas.microsoft.com/office/drawing/2014/main" id="{45EFF9EA-3885-45C2-9C7A-67D87ECAE8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" y="814"/>
              <a:ext cx="1985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b="0">
                  <a:solidFill>
                    <a:srgbClr val="000000"/>
                  </a:solidFill>
                  <a:latin typeface="Verdana" panose="020B0604030504040204" pitchFamily="34" charset="0"/>
                </a:rPr>
                <a:t>Without qualification</a:t>
              </a:r>
              <a:endParaRPr lang="en-US" altLang="en-US" sz="2800" b="0"/>
            </a:p>
          </p:txBody>
        </p:sp>
        <p:sp>
          <p:nvSpPr>
            <p:cNvPr id="63507" name="Line 17">
              <a:extLst>
                <a:ext uri="{FF2B5EF4-FFF2-40B4-BE49-F238E27FC236}">
                  <a16:creationId xmlns:a16="http://schemas.microsoft.com/office/drawing/2014/main" id="{4AB83E18-A30E-4164-9DC9-A363283F90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45" y="1320"/>
              <a:ext cx="2066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08" name="Rectangle 21">
              <a:extLst>
                <a:ext uri="{FF2B5EF4-FFF2-40B4-BE49-F238E27FC236}">
                  <a16:creationId xmlns:a16="http://schemas.microsoft.com/office/drawing/2014/main" id="{C548D584-175F-4FFD-A437-8C0ED10E89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38" y="1134"/>
              <a:ext cx="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1</a:t>
              </a:r>
              <a:endParaRPr lang="en-US" altLang="en-US" sz="2800" b="0"/>
            </a:p>
          </p:txBody>
        </p:sp>
        <p:sp>
          <p:nvSpPr>
            <p:cNvPr id="63509" name="Rectangle 28">
              <a:extLst>
                <a:ext uri="{FF2B5EF4-FFF2-40B4-BE49-F238E27FC236}">
                  <a16:creationId xmlns:a16="http://schemas.microsoft.com/office/drawing/2014/main" id="{B6E86A40-1582-4C6F-99A2-DF8A2070F3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4" y="1134"/>
              <a:ext cx="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*</a:t>
              </a:r>
              <a:endParaRPr lang="en-US" altLang="en-US" sz="2800" b="0"/>
            </a:p>
          </p:txBody>
        </p:sp>
      </p:grpSp>
      <p:sp>
        <p:nvSpPr>
          <p:cNvPr id="124953" name="Rectangle 25">
            <a:extLst>
              <a:ext uri="{FF2B5EF4-FFF2-40B4-BE49-F238E27FC236}">
                <a16:creationId xmlns:a16="http://schemas.microsoft.com/office/drawing/2014/main" id="{CE860C59-B545-4A7F-8BEB-149096559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50" y="2736850"/>
            <a:ext cx="265271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0">
                <a:solidFill>
                  <a:srgbClr val="000000"/>
                </a:solidFill>
                <a:latin typeface="Verdana" panose="020B0604030504040204" pitchFamily="34" charset="0"/>
              </a:rPr>
              <a:t>With qualification</a:t>
            </a:r>
            <a:endParaRPr lang="en-US" altLang="en-US" sz="2800" b="0"/>
          </a:p>
        </p:txBody>
      </p:sp>
      <p:sp>
        <p:nvSpPr>
          <p:cNvPr id="124957" name="Rectangle 29">
            <a:extLst>
              <a:ext uri="{FF2B5EF4-FFF2-40B4-BE49-F238E27FC236}">
                <a16:creationId xmlns:a16="http://schemas.microsoft.com/office/drawing/2014/main" id="{91FB56D3-334E-469C-8D2F-7E12A5C01A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9763" y="3279775"/>
            <a:ext cx="609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2000">
                <a:solidFill>
                  <a:srgbClr val="000000"/>
                </a:solidFill>
                <a:latin typeface="Courier" charset="0"/>
              </a:rPr>
              <a:t>0..1</a:t>
            </a:r>
            <a:endParaRPr lang="en-US" altLang="en-US" sz="2800" b="0"/>
          </a:p>
        </p:txBody>
      </p:sp>
      <p:grpSp>
        <p:nvGrpSpPr>
          <p:cNvPr id="5" name="Group 101">
            <a:extLst>
              <a:ext uri="{FF2B5EF4-FFF2-40B4-BE49-F238E27FC236}">
                <a16:creationId xmlns:a16="http://schemas.microsoft.com/office/drawing/2014/main" id="{27A63241-639E-4CE3-B934-0FB4BD65FD77}"/>
              </a:ext>
            </a:extLst>
          </p:cNvPr>
          <p:cNvGrpSpPr>
            <a:grpSpLocks/>
          </p:cNvGrpSpPr>
          <p:nvPr/>
        </p:nvGrpSpPr>
        <p:grpSpPr bwMode="auto">
          <a:xfrm>
            <a:off x="623888" y="3324225"/>
            <a:ext cx="8194675" cy="552450"/>
            <a:chOff x="393" y="2094"/>
            <a:chExt cx="5162" cy="348"/>
          </a:xfrm>
        </p:grpSpPr>
        <p:sp>
          <p:nvSpPr>
            <p:cNvPr id="63496" name="Rectangle 6">
              <a:extLst>
                <a:ext uri="{FF2B5EF4-FFF2-40B4-BE49-F238E27FC236}">
                  <a16:creationId xmlns:a16="http://schemas.microsoft.com/office/drawing/2014/main" id="{B361F3E4-669E-4DCB-98C2-CD41624DDB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" y="2116"/>
              <a:ext cx="1560" cy="326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3497" name="Rectangle 7">
              <a:extLst>
                <a:ext uri="{FF2B5EF4-FFF2-40B4-BE49-F238E27FC236}">
                  <a16:creationId xmlns:a16="http://schemas.microsoft.com/office/drawing/2014/main" id="{08A2BB06-BD34-4685-89F7-7B9136DA72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8" y="2222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Directory</a:t>
              </a:r>
              <a:endParaRPr lang="en-US" altLang="en-US" sz="2800" b="0"/>
            </a:p>
          </p:txBody>
        </p:sp>
        <p:sp>
          <p:nvSpPr>
            <p:cNvPr id="63498" name="Rectangle 8">
              <a:extLst>
                <a:ext uri="{FF2B5EF4-FFF2-40B4-BE49-F238E27FC236}">
                  <a16:creationId xmlns:a16="http://schemas.microsoft.com/office/drawing/2014/main" id="{AA7B2BED-75C2-4050-92D5-C2E890667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" y="2116"/>
              <a:ext cx="1560" cy="326"/>
            </a:xfrm>
            <a:prstGeom prst="rect">
              <a:avLst/>
            </a:prstGeom>
            <a:noFill/>
            <a:ln w="222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3499" name="Rectangle 9">
              <a:extLst>
                <a:ext uri="{FF2B5EF4-FFF2-40B4-BE49-F238E27FC236}">
                  <a16:creationId xmlns:a16="http://schemas.microsoft.com/office/drawing/2014/main" id="{DAD282EC-9797-4662-ADBE-1157CA043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0" y="2222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File</a:t>
              </a:r>
              <a:endParaRPr lang="en-US" altLang="en-US" sz="2800" b="0"/>
            </a:p>
          </p:txBody>
        </p:sp>
        <p:sp>
          <p:nvSpPr>
            <p:cNvPr id="63500" name="Line 10">
              <a:extLst>
                <a:ext uri="{FF2B5EF4-FFF2-40B4-BE49-F238E27FC236}">
                  <a16:creationId xmlns:a16="http://schemas.microsoft.com/office/drawing/2014/main" id="{B2579DE3-A75D-44CD-A640-55B7C0CD15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16" y="2258"/>
              <a:ext cx="865" cy="1"/>
            </a:xfrm>
            <a:prstGeom prst="line">
              <a:avLst/>
            </a:prstGeom>
            <a:noFill/>
            <a:ln w="222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501" name="Rectangle 30">
              <a:extLst>
                <a:ext uri="{FF2B5EF4-FFF2-40B4-BE49-F238E27FC236}">
                  <a16:creationId xmlns:a16="http://schemas.microsoft.com/office/drawing/2014/main" id="{684238C0-B6F2-4005-9315-1A35FDF7B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9" y="2094"/>
              <a:ext cx="9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1</a:t>
              </a:r>
              <a:endParaRPr lang="en-US" altLang="en-US" sz="2800" b="0"/>
            </a:p>
          </p:txBody>
        </p:sp>
        <p:sp>
          <p:nvSpPr>
            <p:cNvPr id="63502" name="Rectangle 12">
              <a:extLst>
                <a:ext uri="{FF2B5EF4-FFF2-40B4-BE49-F238E27FC236}">
                  <a16:creationId xmlns:a16="http://schemas.microsoft.com/office/drawing/2014/main" id="{44BB2310-411D-472E-806F-EFEB177DD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4" y="2173"/>
              <a:ext cx="1192" cy="213"/>
            </a:xfrm>
            <a:prstGeom prst="rect">
              <a:avLst/>
            </a:prstGeom>
            <a:solidFill>
              <a:schemeClr val="bg1"/>
            </a:solidFill>
            <a:ln w="222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3503" name="Rectangle 11">
              <a:extLst>
                <a:ext uri="{FF2B5EF4-FFF2-40B4-BE49-F238E27FC236}">
                  <a16:creationId xmlns:a16="http://schemas.microsoft.com/office/drawing/2014/main" id="{5CEDFA77-90D6-4D39-A541-0525CB881F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6" y="2222"/>
              <a:ext cx="7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filename</a:t>
              </a:r>
              <a:endParaRPr lang="en-US" altLang="en-US" sz="2800" b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4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4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4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49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53" grpId="0" build="p" autoUpdateAnimBg="0"/>
      <p:bldP spid="124957" grpId="0" build="allAtOnce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F3F30397-D134-459B-AA5F-CC66AF9D11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552" y="-99392"/>
            <a:ext cx="7772400" cy="1143000"/>
          </a:xfrm>
        </p:spPr>
        <p:txBody>
          <a:bodyPr/>
          <a:lstStyle/>
          <a:p>
            <a:r>
              <a:rPr lang="en-US" altLang="en-US" dirty="0"/>
              <a:t>Qualification: Another Example</a:t>
            </a:r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1A97A081-6B95-41E3-937B-AD0AD0C0083B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078288"/>
            <a:ext cx="7246938" cy="2154237"/>
            <a:chOff x="528" y="2569"/>
            <a:chExt cx="4565" cy="1357"/>
          </a:xfrm>
        </p:grpSpPr>
        <p:grpSp>
          <p:nvGrpSpPr>
            <p:cNvPr id="65555" name="Group 6">
              <a:extLst>
                <a:ext uri="{FF2B5EF4-FFF2-40B4-BE49-F238E27FC236}">
                  <a16:creationId xmlns:a16="http://schemas.microsoft.com/office/drawing/2014/main" id="{4562FCB6-5E7C-491B-A6F2-8E647ABD4C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2592"/>
              <a:ext cx="4565" cy="1334"/>
              <a:chOff x="528" y="2595"/>
              <a:chExt cx="4593" cy="1519"/>
            </a:xfrm>
          </p:grpSpPr>
          <p:sp>
            <p:nvSpPr>
              <p:cNvPr id="65557" name="Rectangle 7">
                <a:extLst>
                  <a:ext uri="{FF2B5EF4-FFF2-40B4-BE49-F238E27FC236}">
                    <a16:creationId xmlns:a16="http://schemas.microsoft.com/office/drawing/2014/main" id="{79B04706-46B1-4C72-B846-0A83E0CF01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71" y="2690"/>
                <a:ext cx="240" cy="5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4000">
                    <a:solidFill>
                      <a:schemeClr val="tx1"/>
                    </a:solidFill>
                  </a:rPr>
                  <a:t>*</a:t>
                </a:r>
              </a:p>
            </p:txBody>
          </p:sp>
          <p:sp>
            <p:nvSpPr>
              <p:cNvPr id="65558" name="Rectangle 8">
                <a:extLst>
                  <a:ext uri="{FF2B5EF4-FFF2-40B4-BE49-F238E27FC236}">
                    <a16:creationId xmlns:a16="http://schemas.microsoft.com/office/drawing/2014/main" id="{6FF77F88-3C87-4A24-B623-5BDF79B129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8" y="2692"/>
                <a:ext cx="1475" cy="1136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5559" name="Rectangle 9">
                <a:extLst>
                  <a:ext uri="{FF2B5EF4-FFF2-40B4-BE49-F238E27FC236}">
                    <a16:creationId xmlns:a16="http://schemas.microsoft.com/office/drawing/2014/main" id="{2700EC4F-0A29-4EED-AC8E-32C91C8B57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2" y="2874"/>
                <a:ext cx="1381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>
                    <a:solidFill>
                      <a:srgbClr val="000000"/>
                    </a:solidFill>
                    <a:latin typeface="Times" panose="02020603050405020304" pitchFamily="18" charset="0"/>
                  </a:rPr>
                  <a:t>StockExchange</a:t>
                </a:r>
              </a:p>
            </p:txBody>
          </p:sp>
          <p:sp>
            <p:nvSpPr>
              <p:cNvPr id="65560" name="Rectangle 10">
                <a:extLst>
                  <a:ext uri="{FF2B5EF4-FFF2-40B4-BE49-F238E27FC236}">
                    <a16:creationId xmlns:a16="http://schemas.microsoft.com/office/drawing/2014/main" id="{F1EF3D14-78AD-4F7F-AAF5-D16C2B7FB0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3" y="2604"/>
                <a:ext cx="1268" cy="1510"/>
              </a:xfrm>
              <a:prstGeom prst="rect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5561" name="Rectangle 11">
                <a:extLst>
                  <a:ext uri="{FF2B5EF4-FFF2-40B4-BE49-F238E27FC236}">
                    <a16:creationId xmlns:a16="http://schemas.microsoft.com/office/drawing/2014/main" id="{2839A4CE-7ECD-42E5-B80E-F76F1025C7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5" y="2701"/>
                <a:ext cx="919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>
                    <a:solidFill>
                      <a:srgbClr val="000000"/>
                    </a:solidFill>
                    <a:latin typeface="Times" panose="02020603050405020304" pitchFamily="18" charset="0"/>
                  </a:rPr>
                  <a:t>Company</a:t>
                </a:r>
              </a:p>
            </p:txBody>
          </p:sp>
          <p:sp>
            <p:nvSpPr>
              <p:cNvPr id="65562" name="Rectangle 12">
                <a:extLst>
                  <a:ext uri="{FF2B5EF4-FFF2-40B4-BE49-F238E27FC236}">
                    <a16:creationId xmlns:a16="http://schemas.microsoft.com/office/drawing/2014/main" id="{D6A8C11C-769F-4E7F-95CC-84392F440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1" y="2595"/>
                <a:ext cx="538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0487" tIns="44450" rIns="90487" bIns="4445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i="1">
                    <a:solidFill>
                      <a:srgbClr val="3333FF"/>
                    </a:solidFill>
                    <a:latin typeface="Times" panose="02020603050405020304" pitchFamily="18" charset="0"/>
                  </a:rPr>
                  <a:t>Lists </a:t>
                </a:r>
                <a:endParaRPr lang="en-US" altLang="en-US">
                  <a:solidFill>
                    <a:srgbClr val="000000"/>
                  </a:solidFill>
                  <a:latin typeface="Times" panose="02020603050405020304" pitchFamily="18" charset="0"/>
                </a:endParaRPr>
              </a:p>
            </p:txBody>
          </p:sp>
          <p:sp>
            <p:nvSpPr>
              <p:cNvPr id="65563" name="Line 13">
                <a:extLst>
                  <a:ext uri="{FF2B5EF4-FFF2-40B4-BE49-F238E27FC236}">
                    <a16:creationId xmlns:a16="http://schemas.microsoft.com/office/drawing/2014/main" id="{57DC9955-F1FB-47D8-89D0-0DD3BF445C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3227"/>
                <a:ext cx="146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64" name="Line 14">
                <a:extLst>
                  <a:ext uri="{FF2B5EF4-FFF2-40B4-BE49-F238E27FC236}">
                    <a16:creationId xmlns:a16="http://schemas.microsoft.com/office/drawing/2014/main" id="{BD2E1D0B-DBA0-4593-8A09-047CF308C3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8" y="3623"/>
                <a:ext cx="148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65" name="Line 15">
                <a:extLst>
                  <a:ext uri="{FF2B5EF4-FFF2-40B4-BE49-F238E27FC236}">
                    <a16:creationId xmlns:a16="http://schemas.microsoft.com/office/drawing/2014/main" id="{DCDF7FED-07C8-46E7-BDFB-B181978E43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8" y="3326"/>
                <a:ext cx="125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66" name="Line 16">
                <a:extLst>
                  <a:ext uri="{FF2B5EF4-FFF2-40B4-BE49-F238E27FC236}">
                    <a16:creationId xmlns:a16="http://schemas.microsoft.com/office/drawing/2014/main" id="{729FA85F-6520-4D92-B5BE-673B19CBBE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8" y="3887"/>
                <a:ext cx="125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5567" name="Line 17">
                <a:extLst>
                  <a:ext uri="{FF2B5EF4-FFF2-40B4-BE49-F238E27FC236}">
                    <a16:creationId xmlns:a16="http://schemas.microsoft.com/office/drawing/2014/main" id="{84AEEB35-CE77-4719-810D-413D0E3C45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2" y="2977"/>
                <a:ext cx="1839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65556" name="Rectangle 18">
              <a:extLst>
                <a:ext uri="{FF2B5EF4-FFF2-40B4-BE49-F238E27FC236}">
                  <a16:creationId xmlns:a16="http://schemas.microsoft.com/office/drawing/2014/main" id="{BBB85A82-65B3-40C4-893D-152048B735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5" y="2569"/>
              <a:ext cx="239" cy="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4000">
                  <a:solidFill>
                    <a:schemeClr val="tx1"/>
                  </a:solidFill>
                </a:rPr>
                <a:t>*</a:t>
              </a:r>
            </a:p>
          </p:txBody>
        </p:sp>
      </p:grpSp>
      <p:sp>
        <p:nvSpPr>
          <p:cNvPr id="231444" name="Rectangle 20">
            <a:extLst>
              <a:ext uri="{FF2B5EF4-FFF2-40B4-BE49-F238E27FC236}">
                <a16:creationId xmlns:a16="http://schemas.microsoft.com/office/drawing/2014/main" id="{5A3591CE-34FE-4887-A9C7-F0730C3790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1350" y="4468813"/>
            <a:ext cx="1355725" cy="34607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600">
                <a:solidFill>
                  <a:srgbClr val="000000"/>
                </a:solidFill>
                <a:latin typeface="Times" panose="02020603050405020304" pitchFamily="18" charset="0"/>
              </a:rPr>
              <a:t>tickerSymbol</a:t>
            </a:r>
          </a:p>
        </p:txBody>
      </p:sp>
      <p:sp>
        <p:nvSpPr>
          <p:cNvPr id="231443" name="Rectangle 19">
            <a:extLst>
              <a:ext uri="{FF2B5EF4-FFF2-40B4-BE49-F238E27FC236}">
                <a16:creationId xmlns:a16="http://schemas.microsoft.com/office/drawing/2014/main" id="{4E9D3A9C-C8C0-4B5A-87AF-5909B4C3F5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5150" y="4244975"/>
            <a:ext cx="307975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5542" name="Rectangle 21">
            <a:extLst>
              <a:ext uri="{FF2B5EF4-FFF2-40B4-BE49-F238E27FC236}">
                <a16:creationId xmlns:a16="http://schemas.microsoft.com/office/drawing/2014/main" id="{ABE159EC-0873-418D-8026-08A0082D4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1935163"/>
            <a:ext cx="2341563" cy="18034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5543" name="Rectangle 22">
            <a:extLst>
              <a:ext uri="{FF2B5EF4-FFF2-40B4-BE49-F238E27FC236}">
                <a16:creationId xmlns:a16="http://schemas.microsoft.com/office/drawing/2014/main" id="{FF5845C2-5BC6-4A00-8584-833131A8A8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2224088"/>
            <a:ext cx="217963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Times" panose="02020603050405020304" pitchFamily="18" charset="0"/>
              </a:rPr>
              <a:t>StockExchange</a:t>
            </a:r>
          </a:p>
        </p:txBody>
      </p:sp>
      <p:sp>
        <p:nvSpPr>
          <p:cNvPr id="65544" name="Rectangle 23">
            <a:extLst>
              <a:ext uri="{FF2B5EF4-FFF2-40B4-BE49-F238E27FC236}">
                <a16:creationId xmlns:a16="http://schemas.microsoft.com/office/drawing/2014/main" id="{5609FEBA-5D68-4BDB-BB47-F2D1A8BA8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238" y="1358900"/>
            <a:ext cx="2012950" cy="23971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65545" name="Rectangle 24">
            <a:extLst>
              <a:ext uri="{FF2B5EF4-FFF2-40B4-BE49-F238E27FC236}">
                <a16:creationId xmlns:a16="http://schemas.microsoft.com/office/drawing/2014/main" id="{126F9CAE-97E1-4889-B4F7-AF86A31DF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2538" y="1441450"/>
            <a:ext cx="14509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Times" panose="02020603050405020304" pitchFamily="18" charset="0"/>
              </a:rPr>
              <a:t>Company</a:t>
            </a:r>
          </a:p>
        </p:txBody>
      </p:sp>
      <p:sp>
        <p:nvSpPr>
          <p:cNvPr id="65546" name="Rectangle 25">
            <a:extLst>
              <a:ext uri="{FF2B5EF4-FFF2-40B4-BE49-F238E27FC236}">
                <a16:creationId xmlns:a16="http://schemas.microsoft.com/office/drawing/2014/main" id="{C83C9552-E4F5-4B38-909A-068893C30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0750" y="2179638"/>
            <a:ext cx="192563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>
                <a:solidFill>
                  <a:srgbClr val="000000"/>
                </a:solidFill>
                <a:latin typeface="Times" panose="02020603050405020304" pitchFamily="18" charset="0"/>
              </a:rPr>
              <a:t>tickerSymbol</a:t>
            </a:r>
          </a:p>
        </p:txBody>
      </p:sp>
      <p:sp>
        <p:nvSpPr>
          <p:cNvPr id="65547" name="Rectangle 26">
            <a:extLst>
              <a:ext uri="{FF2B5EF4-FFF2-40B4-BE49-F238E27FC236}">
                <a16:creationId xmlns:a16="http://schemas.microsoft.com/office/drawing/2014/main" id="{913BCEBD-B655-4A93-82B4-5B707B9C93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89413" y="1925638"/>
            <a:ext cx="8493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i="1">
                <a:solidFill>
                  <a:srgbClr val="3333FF"/>
                </a:solidFill>
                <a:latin typeface="Times" panose="02020603050405020304" pitchFamily="18" charset="0"/>
              </a:rPr>
              <a:t>Lists </a:t>
            </a:r>
            <a:endParaRPr lang="en-US" altLang="en-US">
              <a:solidFill>
                <a:srgbClr val="000000"/>
              </a:solidFill>
              <a:latin typeface="Times" panose="02020603050405020304" pitchFamily="18" charset="0"/>
            </a:endParaRPr>
          </a:p>
        </p:txBody>
      </p:sp>
      <p:sp>
        <p:nvSpPr>
          <p:cNvPr id="65548" name="Line 27">
            <a:extLst>
              <a:ext uri="{FF2B5EF4-FFF2-40B4-BE49-F238E27FC236}">
                <a16:creationId xmlns:a16="http://schemas.microsoft.com/office/drawing/2014/main" id="{317E63EF-2A34-4591-B29C-CC19DE2993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2784475"/>
            <a:ext cx="2332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49" name="Line 28">
            <a:extLst>
              <a:ext uri="{FF2B5EF4-FFF2-40B4-BE49-F238E27FC236}">
                <a16:creationId xmlns:a16="http://schemas.microsoft.com/office/drawing/2014/main" id="{1EAA56AD-568A-4A48-8D1A-B4F9CBB578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3413125"/>
            <a:ext cx="23590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50" name="Line 29">
            <a:extLst>
              <a:ext uri="{FF2B5EF4-FFF2-40B4-BE49-F238E27FC236}">
                <a16:creationId xmlns:a16="http://schemas.microsoft.com/office/drawing/2014/main" id="{516E3343-2D7A-4282-B96E-CF933ACA29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2175" y="2060575"/>
            <a:ext cx="1997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51" name="Line 30">
            <a:extLst>
              <a:ext uri="{FF2B5EF4-FFF2-40B4-BE49-F238E27FC236}">
                <a16:creationId xmlns:a16="http://schemas.microsoft.com/office/drawing/2014/main" id="{18D016DA-15DE-4053-BB18-1961C09994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72175" y="2951163"/>
            <a:ext cx="19970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52" name="Line 31">
            <a:extLst>
              <a:ext uri="{FF2B5EF4-FFF2-40B4-BE49-F238E27FC236}">
                <a16:creationId xmlns:a16="http://schemas.microsoft.com/office/drawing/2014/main" id="{8FE2D300-B0F1-4C58-B17C-998930ECCC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1650" y="2522538"/>
            <a:ext cx="2919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5553" name="Rectangle 32">
            <a:extLst>
              <a:ext uri="{FF2B5EF4-FFF2-40B4-BE49-F238E27FC236}">
                <a16:creationId xmlns:a16="http://schemas.microsoft.com/office/drawing/2014/main" id="{FAF2E667-F4C8-4E6A-84D9-439F3C0F8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2750" y="1922463"/>
            <a:ext cx="379413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400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65554" name="Rectangle 33">
            <a:extLst>
              <a:ext uri="{FF2B5EF4-FFF2-40B4-BE49-F238E27FC236}">
                <a16:creationId xmlns:a16="http://schemas.microsoft.com/office/drawing/2014/main" id="{DD90A989-FFFC-4211-AF60-187B7173F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8325" y="1874838"/>
            <a:ext cx="379413" cy="698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7" tIns="44450" rIns="90487" bIns="4445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4000">
                <a:solidFill>
                  <a:schemeClr val="tx1"/>
                </a:solidFill>
              </a:rPr>
              <a:t>*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182D6F4-A973-41F8-9E43-4E62CDEF4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DB8F8F0-60BB-4CCE-B36C-02F619DC1251}" type="slidenum">
              <a:rPr lang="nl-NL" altLang="fr-FR" smtClean="0"/>
              <a:pPr>
                <a:defRPr/>
              </a:pPr>
              <a:t>26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3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14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15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1444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1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1444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7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31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314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 tmFilter="0,0; .5, 1; 1, 1"/>
                                        <p:tgtEl>
                                          <p:spTgt spid="23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1444" grpId="0" animBg="1"/>
      <p:bldP spid="23144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742142C9-2BDE-4646-B832-6F3DA074FA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548" y="152636"/>
            <a:ext cx="7937500" cy="762000"/>
          </a:xfrm>
        </p:spPr>
        <p:txBody>
          <a:bodyPr/>
          <a:lstStyle/>
          <a:p>
            <a:r>
              <a:rPr lang="en-US" altLang="en-US" dirty="0"/>
              <a:t>Aggregation</a:t>
            </a:r>
          </a:p>
        </p:txBody>
      </p:sp>
      <p:sp>
        <p:nvSpPr>
          <p:cNvPr id="120836" name="Rectangle 4">
            <a:extLst>
              <a:ext uri="{FF2B5EF4-FFF2-40B4-BE49-F238E27FC236}">
                <a16:creationId xmlns:a16="http://schemas.microsoft.com/office/drawing/2014/main" id="{F443D371-7ECA-425A-8A43-B14C8362E1D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33388" y="963613"/>
            <a:ext cx="7823200" cy="1468437"/>
          </a:xfrm>
        </p:spPr>
        <p:txBody>
          <a:bodyPr/>
          <a:lstStyle/>
          <a:p>
            <a:r>
              <a:rPr lang="en-US" altLang="en-US" sz="2000"/>
              <a:t>An </a:t>
            </a:r>
            <a:r>
              <a:rPr lang="en-US" altLang="en-US" sz="2000" i="1">
                <a:solidFill>
                  <a:srgbClr val="1615B1"/>
                </a:solidFill>
              </a:rPr>
              <a:t>aggregation</a:t>
            </a:r>
            <a:r>
              <a:rPr lang="en-US" altLang="en-US" sz="2000"/>
              <a:t> is a special case of association denoting a “consists-of” hierarchy</a:t>
            </a:r>
          </a:p>
          <a:p>
            <a:r>
              <a:rPr lang="en-US" altLang="en-US" sz="2000"/>
              <a:t>The </a:t>
            </a:r>
            <a:r>
              <a:rPr lang="en-US" altLang="en-US" sz="2000" i="1"/>
              <a:t>aggregate</a:t>
            </a:r>
            <a:r>
              <a:rPr lang="en-US" altLang="en-US" sz="2000"/>
              <a:t> is the parent class, </a:t>
            </a:r>
            <a:br>
              <a:rPr lang="en-US" altLang="en-US" sz="2000"/>
            </a:br>
            <a:r>
              <a:rPr lang="en-US" altLang="en-US" sz="2000"/>
              <a:t>the components are the children classes</a:t>
            </a:r>
          </a:p>
        </p:txBody>
      </p:sp>
      <p:grpSp>
        <p:nvGrpSpPr>
          <p:cNvPr id="2" name="Group 130">
            <a:extLst>
              <a:ext uri="{FF2B5EF4-FFF2-40B4-BE49-F238E27FC236}">
                <a16:creationId xmlns:a16="http://schemas.microsoft.com/office/drawing/2014/main" id="{74E57CF5-BC33-4DDC-99FA-21397060DC61}"/>
              </a:ext>
            </a:extLst>
          </p:cNvPr>
          <p:cNvGrpSpPr>
            <a:grpSpLocks/>
          </p:cNvGrpSpPr>
          <p:nvPr/>
        </p:nvGrpSpPr>
        <p:grpSpPr bwMode="auto">
          <a:xfrm>
            <a:off x="5434013" y="1354138"/>
            <a:ext cx="3033712" cy="2295525"/>
            <a:chOff x="3760" y="1244"/>
            <a:chExt cx="1196" cy="1112"/>
          </a:xfrm>
        </p:grpSpPr>
        <p:sp>
          <p:nvSpPr>
            <p:cNvPr id="67600" name="Rectangle 110">
              <a:extLst>
                <a:ext uri="{FF2B5EF4-FFF2-40B4-BE49-F238E27FC236}">
                  <a16:creationId xmlns:a16="http://schemas.microsoft.com/office/drawing/2014/main" id="{A0D93358-3F1C-4198-9AE1-B671EA3C89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" y="1244"/>
              <a:ext cx="728" cy="304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7601" name="Rectangle 111">
              <a:extLst>
                <a:ext uri="{FF2B5EF4-FFF2-40B4-BE49-F238E27FC236}">
                  <a16:creationId xmlns:a16="http://schemas.microsoft.com/office/drawing/2014/main" id="{CCBE94BF-85D1-4131-B950-18E780EAB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1" y="1284"/>
              <a:ext cx="720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700">
                  <a:solidFill>
                    <a:srgbClr val="000000"/>
                  </a:solidFill>
                </a:rPr>
                <a:t>Exhaust system</a:t>
              </a:r>
            </a:p>
          </p:txBody>
        </p:sp>
        <p:sp>
          <p:nvSpPr>
            <p:cNvPr id="67602" name="Rectangle 112">
              <a:extLst>
                <a:ext uri="{FF2B5EF4-FFF2-40B4-BE49-F238E27FC236}">
                  <a16:creationId xmlns:a16="http://schemas.microsoft.com/office/drawing/2014/main" id="{EBA18747-AA0C-4153-9F46-4ABE8E5021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0" y="1948"/>
              <a:ext cx="400" cy="40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7603" name="Rectangle 113">
              <a:extLst>
                <a:ext uri="{FF2B5EF4-FFF2-40B4-BE49-F238E27FC236}">
                  <a16:creationId xmlns:a16="http://schemas.microsoft.com/office/drawing/2014/main" id="{1591D718-4245-478B-AC0A-DC841F615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8" y="1988"/>
              <a:ext cx="355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700">
                  <a:solidFill>
                    <a:srgbClr val="000000"/>
                  </a:solidFill>
                </a:rPr>
                <a:t>Muffler</a:t>
              </a:r>
            </a:p>
          </p:txBody>
        </p:sp>
        <p:sp>
          <p:nvSpPr>
            <p:cNvPr id="67604" name="Rectangle 114">
              <a:extLst>
                <a:ext uri="{FF2B5EF4-FFF2-40B4-BE49-F238E27FC236}">
                  <a16:creationId xmlns:a16="http://schemas.microsoft.com/office/drawing/2014/main" id="{A5A4674A-E381-4DC2-8237-C7AE979FB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0" y="2148"/>
              <a:ext cx="402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700" b="0">
                  <a:solidFill>
                    <a:srgbClr val="000000"/>
                  </a:solidFill>
                </a:rPr>
                <a:t>diameter</a:t>
              </a:r>
            </a:p>
          </p:txBody>
        </p:sp>
        <p:sp>
          <p:nvSpPr>
            <p:cNvPr id="67605" name="Rectangle 115">
              <a:extLst>
                <a:ext uri="{FF2B5EF4-FFF2-40B4-BE49-F238E27FC236}">
                  <a16:creationId xmlns:a16="http://schemas.microsoft.com/office/drawing/2014/main" id="{C49EB8FE-C650-4CA8-8743-F89A1C759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" y="1956"/>
              <a:ext cx="392" cy="400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7606" name="Rectangle 116">
              <a:extLst>
                <a:ext uri="{FF2B5EF4-FFF2-40B4-BE49-F238E27FC236}">
                  <a16:creationId xmlns:a16="http://schemas.microsoft.com/office/drawing/2014/main" id="{C1678544-B747-43A5-9530-639E1E5BBC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8" y="1996"/>
              <a:ext cx="393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700">
                  <a:solidFill>
                    <a:srgbClr val="000000"/>
                  </a:solidFill>
                </a:rPr>
                <a:t>Tailpipe</a:t>
              </a:r>
            </a:p>
          </p:txBody>
        </p:sp>
        <p:sp>
          <p:nvSpPr>
            <p:cNvPr id="67607" name="Rectangle 117">
              <a:extLst>
                <a:ext uri="{FF2B5EF4-FFF2-40B4-BE49-F238E27FC236}">
                  <a16:creationId xmlns:a16="http://schemas.microsoft.com/office/drawing/2014/main" id="{7A91AFF4-A880-43BC-A6AA-0E1E3B08F0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37" y="2156"/>
              <a:ext cx="403" cy="1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700" b="0">
                  <a:solidFill>
                    <a:srgbClr val="000000"/>
                  </a:solidFill>
                </a:rPr>
                <a:t>diameter</a:t>
              </a:r>
            </a:p>
          </p:txBody>
        </p:sp>
        <p:sp>
          <p:nvSpPr>
            <p:cNvPr id="67608" name="Line 118">
              <a:extLst>
                <a:ext uri="{FF2B5EF4-FFF2-40B4-BE49-F238E27FC236}">
                  <a16:creationId xmlns:a16="http://schemas.microsoft.com/office/drawing/2014/main" id="{B6F9AB92-1150-4F37-A78C-46BEED6BA5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2" y="1420"/>
              <a:ext cx="7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09" name="Line 119">
              <a:extLst>
                <a:ext uri="{FF2B5EF4-FFF2-40B4-BE49-F238E27FC236}">
                  <a16:creationId xmlns:a16="http://schemas.microsoft.com/office/drawing/2014/main" id="{3B9AD4CA-65E1-4A09-A17B-C79E6F95C5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2" y="1492"/>
              <a:ext cx="7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0" name="Line 120">
              <a:extLst>
                <a:ext uri="{FF2B5EF4-FFF2-40B4-BE49-F238E27FC236}">
                  <a16:creationId xmlns:a16="http://schemas.microsoft.com/office/drawing/2014/main" id="{99E4BCBE-0940-49AC-B9CC-0B2722AF33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6" y="2128"/>
              <a:ext cx="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1" name="Line 121">
              <a:extLst>
                <a:ext uri="{FF2B5EF4-FFF2-40B4-BE49-F238E27FC236}">
                  <a16:creationId xmlns:a16="http://schemas.microsoft.com/office/drawing/2014/main" id="{5028C580-8F70-4CAB-924E-B8E084885A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" y="2308"/>
              <a:ext cx="4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2" name="Line 122">
              <a:extLst>
                <a:ext uri="{FF2B5EF4-FFF2-40B4-BE49-F238E27FC236}">
                  <a16:creationId xmlns:a16="http://schemas.microsoft.com/office/drawing/2014/main" id="{D6354FF3-A8D1-4CEC-942A-EBE72E96F4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4" y="2140"/>
              <a:ext cx="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3" name="Line 123">
              <a:extLst>
                <a:ext uri="{FF2B5EF4-FFF2-40B4-BE49-F238E27FC236}">
                  <a16:creationId xmlns:a16="http://schemas.microsoft.com/office/drawing/2014/main" id="{2BA412CE-6BE3-4675-9CC8-4B5888662C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4" y="2308"/>
              <a:ext cx="3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4" name="AutoShape 124">
              <a:extLst>
                <a:ext uri="{FF2B5EF4-FFF2-40B4-BE49-F238E27FC236}">
                  <a16:creationId xmlns:a16="http://schemas.microsoft.com/office/drawing/2014/main" id="{443DA47F-AFE0-48ED-9A3B-C3A27F952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20" y="1568"/>
              <a:ext cx="76" cy="64"/>
            </a:xfrm>
            <a:prstGeom prst="diamond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7615" name="AutoShape 125">
              <a:extLst>
                <a:ext uri="{FF2B5EF4-FFF2-40B4-BE49-F238E27FC236}">
                  <a16:creationId xmlns:a16="http://schemas.microsoft.com/office/drawing/2014/main" id="{C8F182B0-615E-464D-A077-6EC13EA36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" y="1568"/>
              <a:ext cx="76" cy="64"/>
            </a:xfrm>
            <a:prstGeom prst="diamond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7616" name="Line 126">
              <a:extLst>
                <a:ext uri="{FF2B5EF4-FFF2-40B4-BE49-F238E27FC236}">
                  <a16:creationId xmlns:a16="http://schemas.microsoft.com/office/drawing/2014/main" id="{2680FC68-7894-46DA-85EA-0FCA1804D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1628"/>
              <a:ext cx="0" cy="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7" name="Line 127">
              <a:extLst>
                <a:ext uri="{FF2B5EF4-FFF2-40B4-BE49-F238E27FC236}">
                  <a16:creationId xmlns:a16="http://schemas.microsoft.com/office/drawing/2014/main" id="{957479DC-FAB4-42F1-9CB3-24D7EB569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4" y="1628"/>
              <a:ext cx="0" cy="3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618" name="Rectangle 128">
              <a:extLst>
                <a:ext uri="{FF2B5EF4-FFF2-40B4-BE49-F238E27FC236}">
                  <a16:creationId xmlns:a16="http://schemas.microsoft.com/office/drawing/2014/main" id="{550C7B2C-DA1B-410E-93A4-7869945A7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2" y="1749"/>
              <a:ext cx="318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 b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7619" name="Rectangle 129">
              <a:extLst>
                <a:ext uri="{FF2B5EF4-FFF2-40B4-BE49-F238E27FC236}">
                  <a16:creationId xmlns:a16="http://schemas.microsoft.com/office/drawing/2014/main" id="{5B9BF0CA-5CDC-472E-A949-1CCAD1654D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1733"/>
              <a:ext cx="318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7" tIns="44450" rIns="90487" bIns="4445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 b="0">
                  <a:solidFill>
                    <a:srgbClr val="000000"/>
                  </a:solidFill>
                </a:rPr>
                <a:t>0..2</a:t>
              </a:r>
              <a:endParaRPr lang="en-US" altLang="en-US" sz="2800" b="0">
                <a:solidFill>
                  <a:srgbClr val="000000"/>
                </a:solidFill>
              </a:endParaRPr>
            </a:p>
          </p:txBody>
        </p:sp>
      </p:grpSp>
      <p:grpSp>
        <p:nvGrpSpPr>
          <p:cNvPr id="3" name="Group 155">
            <a:extLst>
              <a:ext uri="{FF2B5EF4-FFF2-40B4-BE49-F238E27FC236}">
                <a16:creationId xmlns:a16="http://schemas.microsoft.com/office/drawing/2014/main" id="{2FBEB9A4-55C6-4F2D-AC4E-9BCB8736D139}"/>
              </a:ext>
            </a:extLst>
          </p:cNvPr>
          <p:cNvGrpSpPr>
            <a:grpSpLocks/>
          </p:cNvGrpSpPr>
          <p:nvPr/>
        </p:nvGrpSpPr>
        <p:grpSpPr bwMode="auto">
          <a:xfrm>
            <a:off x="2195736" y="5157192"/>
            <a:ext cx="5178425" cy="1379537"/>
            <a:chOff x="1400" y="3346"/>
            <a:chExt cx="3262" cy="869"/>
          </a:xfrm>
        </p:grpSpPr>
        <p:grpSp>
          <p:nvGrpSpPr>
            <p:cNvPr id="67591" name="Group 15">
              <a:extLst>
                <a:ext uri="{FF2B5EF4-FFF2-40B4-BE49-F238E27FC236}">
                  <a16:creationId xmlns:a16="http://schemas.microsoft.com/office/drawing/2014/main" id="{56BA7AA4-E296-47A9-88B4-645DEC824A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0" y="3346"/>
              <a:ext cx="1390" cy="282"/>
              <a:chOff x="554" y="1434"/>
              <a:chExt cx="1390" cy="282"/>
            </a:xfrm>
          </p:grpSpPr>
          <p:sp>
            <p:nvSpPr>
              <p:cNvPr id="67598" name="Rectangle 16">
                <a:extLst>
                  <a:ext uri="{FF2B5EF4-FFF2-40B4-BE49-F238E27FC236}">
                    <a16:creationId xmlns:a16="http://schemas.microsoft.com/office/drawing/2014/main" id="{4939BA21-032E-42EE-8506-4DFBB6FCA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34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7599" name="Rectangle 17">
                <a:extLst>
                  <a:ext uri="{FF2B5EF4-FFF2-40B4-BE49-F238E27FC236}">
                    <a16:creationId xmlns:a16="http://schemas.microsoft.com/office/drawing/2014/main" id="{3F898E75-78DF-4DE6-AED4-D489EBFAB5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87" y="1507"/>
                <a:ext cx="1123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TicketMachine</a:t>
                </a:r>
              </a:p>
            </p:txBody>
          </p:sp>
        </p:grpSp>
        <p:grpSp>
          <p:nvGrpSpPr>
            <p:cNvPr id="67592" name="Group 18">
              <a:extLst>
                <a:ext uri="{FF2B5EF4-FFF2-40B4-BE49-F238E27FC236}">
                  <a16:creationId xmlns:a16="http://schemas.microsoft.com/office/drawing/2014/main" id="{E3141FCF-44F1-4B9D-8580-8DF4F4EAB7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72" y="3933"/>
              <a:ext cx="1390" cy="282"/>
              <a:chOff x="554" y="1413"/>
              <a:chExt cx="1390" cy="282"/>
            </a:xfrm>
          </p:grpSpPr>
          <p:sp>
            <p:nvSpPr>
              <p:cNvPr id="67596" name="Rectangle 19">
                <a:extLst>
                  <a:ext uri="{FF2B5EF4-FFF2-40B4-BE49-F238E27FC236}">
                    <a16:creationId xmlns:a16="http://schemas.microsoft.com/office/drawing/2014/main" id="{470F9E32-948F-455B-BC4E-8E57C5AEA6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13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7597" name="Rectangle 20">
                <a:extLst>
                  <a:ext uri="{FF2B5EF4-FFF2-40B4-BE49-F238E27FC236}">
                    <a16:creationId xmlns:a16="http://schemas.microsoft.com/office/drawing/2014/main" id="{C02E5AA5-8092-4060-8A73-3AA5759EF0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07"/>
                <a:ext cx="86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ZoneButton</a:t>
                </a:r>
              </a:p>
            </p:txBody>
          </p:sp>
        </p:grpSp>
        <p:cxnSp>
          <p:nvCxnSpPr>
            <p:cNvPr id="67593" name="AutoShape 21">
              <a:extLst>
                <a:ext uri="{FF2B5EF4-FFF2-40B4-BE49-F238E27FC236}">
                  <a16:creationId xmlns:a16="http://schemas.microsoft.com/office/drawing/2014/main" id="{1A25639C-DB2D-4186-BE8B-3FAE1674E77C}"/>
                </a:ext>
              </a:extLst>
            </p:cNvPr>
            <p:cNvCxnSpPr>
              <a:cxnSpLocks noChangeShapeType="1"/>
              <a:stCxn id="67598" idx="2"/>
              <a:endCxn id="67596" idx="1"/>
            </p:cNvCxnSpPr>
            <p:nvPr/>
          </p:nvCxnSpPr>
          <p:spPr bwMode="auto">
            <a:xfrm rot="16200000" flipH="1">
              <a:off x="2461" y="3263"/>
              <a:ext cx="446" cy="1177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7594" name="AutoShape 22">
              <a:extLst>
                <a:ext uri="{FF2B5EF4-FFF2-40B4-BE49-F238E27FC236}">
                  <a16:creationId xmlns:a16="http://schemas.microsoft.com/office/drawing/2014/main" id="{AA9C18BA-2419-4398-9660-F711DBD34A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24" y="3627"/>
              <a:ext cx="151" cy="177"/>
            </a:xfrm>
            <a:prstGeom prst="diamond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67595" name="Text Box 23">
              <a:extLst>
                <a:ext uri="{FF2B5EF4-FFF2-40B4-BE49-F238E27FC236}">
                  <a16:creationId xmlns:a16="http://schemas.microsoft.com/office/drawing/2014/main" id="{5DD6C4D4-8949-44E9-BBCD-9E9EE6707F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16" y="3796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 b="0">
                  <a:solidFill>
                    <a:schemeClr val="tx1"/>
                  </a:solidFill>
                </a:rPr>
                <a:t>3</a:t>
              </a:r>
              <a:endParaRPr lang="en-US" altLang="en-US" sz="1800" b="0"/>
            </a:p>
          </p:txBody>
        </p:sp>
      </p:grpSp>
      <p:sp>
        <p:nvSpPr>
          <p:cNvPr id="120989" name="Rectangle 157">
            <a:extLst>
              <a:ext uri="{FF2B5EF4-FFF2-40B4-BE49-F238E27FC236}">
                <a16:creationId xmlns:a16="http://schemas.microsoft.com/office/drawing/2014/main" id="{213508C1-E245-4C30-B8D6-A3E279030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888" y="3654425"/>
            <a:ext cx="7823200" cy="1306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A solid diamond denotes </a:t>
            </a:r>
            <a:r>
              <a:rPr lang="en-US" altLang="en-US" sz="2000" b="0" i="1">
                <a:solidFill>
                  <a:srgbClr val="1615B1"/>
                </a:solidFill>
                <a:latin typeface="Verdana" panose="020B0604030504040204" pitchFamily="34" charset="0"/>
              </a:rPr>
              <a:t>composition</a:t>
            </a:r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: A strong form of aggregation where the </a:t>
            </a:r>
            <a:r>
              <a:rPr lang="en-US" altLang="en-US" sz="2000" b="0" i="1">
                <a:solidFill>
                  <a:schemeClr val="tx1"/>
                </a:solidFill>
                <a:latin typeface="Verdana" panose="020B0604030504040204" pitchFamily="34" charset="0"/>
              </a:rPr>
              <a:t>life time of the component instances</a:t>
            </a:r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  is controlled by the aggregate. That is, the parts don’t exist on their won (“the whole controls/destroys the parts”)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8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836" grpId="0" build="p" autoUpdateAnimBg="0"/>
      <p:bldP spid="120989" grpId="0" build="p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9CB23096-4F07-458F-AA11-E9929A70C1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7772400" cy="1143000"/>
          </a:xfrm>
        </p:spPr>
        <p:txBody>
          <a:bodyPr/>
          <a:lstStyle/>
          <a:p>
            <a:r>
              <a:rPr lang="en-US" altLang="en-US" dirty="0"/>
              <a:t>Inheritance</a:t>
            </a:r>
          </a:p>
        </p:txBody>
      </p:sp>
      <p:sp>
        <p:nvSpPr>
          <p:cNvPr id="125955" name="Rectangle 3">
            <a:extLst>
              <a:ext uri="{FF2B5EF4-FFF2-40B4-BE49-F238E27FC236}">
                <a16:creationId xmlns:a16="http://schemas.microsoft.com/office/drawing/2014/main" id="{9AEE1194-BC86-4941-8D0A-A2BED4E1C5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3967163"/>
            <a:ext cx="8001000" cy="2128837"/>
          </a:xfrm>
        </p:spPr>
        <p:txBody>
          <a:bodyPr/>
          <a:lstStyle/>
          <a:p>
            <a:r>
              <a:rPr lang="en-US" altLang="en-US" i="1">
                <a:solidFill>
                  <a:srgbClr val="1615B1"/>
                </a:solidFill>
              </a:rPr>
              <a:t>Inheritance </a:t>
            </a:r>
            <a:r>
              <a:rPr lang="en-US" altLang="en-US"/>
              <a:t>is another special case of an association denoting a “kind-of” hierarchy </a:t>
            </a:r>
          </a:p>
          <a:p>
            <a:r>
              <a:rPr lang="en-US" altLang="en-US"/>
              <a:t>Inheritance simplifies the analysis model by introducing a taxonomy</a:t>
            </a:r>
          </a:p>
          <a:p>
            <a:r>
              <a:rPr lang="en-US" altLang="en-US"/>
              <a:t>The </a:t>
            </a:r>
            <a:r>
              <a:rPr lang="en-US" altLang="en-US" b="1"/>
              <a:t>children classes</a:t>
            </a:r>
            <a:r>
              <a:rPr lang="en-US" altLang="en-US"/>
              <a:t> inherit the attributes and operations of the </a:t>
            </a:r>
            <a:r>
              <a:rPr lang="en-US" altLang="en-US" b="1"/>
              <a:t>parent class.</a:t>
            </a:r>
            <a:endParaRPr lang="en-US" altLang="en-US"/>
          </a:p>
          <a:p>
            <a:endParaRPr lang="en-US" altLang="en-US"/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951EB883-DAE4-477C-9199-627C4CEA2803}"/>
              </a:ext>
            </a:extLst>
          </p:cNvPr>
          <p:cNvGrpSpPr>
            <a:grpSpLocks/>
          </p:cNvGrpSpPr>
          <p:nvPr/>
        </p:nvGrpSpPr>
        <p:grpSpPr bwMode="auto">
          <a:xfrm>
            <a:off x="974725" y="1620838"/>
            <a:ext cx="6931025" cy="1895475"/>
            <a:chOff x="614" y="1021"/>
            <a:chExt cx="4366" cy="1194"/>
          </a:xfrm>
        </p:grpSpPr>
        <p:grpSp>
          <p:nvGrpSpPr>
            <p:cNvPr id="69637" name="Group 5">
              <a:extLst>
                <a:ext uri="{FF2B5EF4-FFF2-40B4-BE49-F238E27FC236}">
                  <a16:creationId xmlns:a16="http://schemas.microsoft.com/office/drawing/2014/main" id="{0B2978F2-7D8B-454D-8103-ABF1F145A31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4" y="1021"/>
              <a:ext cx="1390" cy="282"/>
              <a:chOff x="554" y="1413"/>
              <a:chExt cx="1390" cy="282"/>
            </a:xfrm>
          </p:grpSpPr>
          <p:sp>
            <p:nvSpPr>
              <p:cNvPr id="69647" name="Rectangle 6">
                <a:extLst>
                  <a:ext uri="{FF2B5EF4-FFF2-40B4-BE49-F238E27FC236}">
                    <a16:creationId xmlns:a16="http://schemas.microsoft.com/office/drawing/2014/main" id="{4087E8FB-DC43-48F2-98BA-C36F7A8459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13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9648" name="Rectangle 7">
                <a:extLst>
                  <a:ext uri="{FF2B5EF4-FFF2-40B4-BE49-F238E27FC236}">
                    <a16:creationId xmlns:a16="http://schemas.microsoft.com/office/drawing/2014/main" id="{AC6E9BD4-083A-4759-A061-7FA4FF50DB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" y="1507"/>
                <a:ext cx="518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Button</a:t>
                </a:r>
                <a:endParaRPr lang="en-US" altLang="en-US" sz="1800" i="1">
                  <a:solidFill>
                    <a:srgbClr val="000000"/>
                  </a:solidFill>
                  <a:latin typeface="Courier" charset="0"/>
                </a:endParaRPr>
              </a:p>
            </p:txBody>
          </p:sp>
        </p:grpSp>
        <p:grpSp>
          <p:nvGrpSpPr>
            <p:cNvPr id="69638" name="Group 8">
              <a:extLst>
                <a:ext uri="{FF2B5EF4-FFF2-40B4-BE49-F238E27FC236}">
                  <a16:creationId xmlns:a16="http://schemas.microsoft.com/office/drawing/2014/main" id="{5893E8AD-FFEA-4354-9ACC-C61782F0C9F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0" y="1933"/>
              <a:ext cx="1390" cy="282"/>
              <a:chOff x="554" y="1413"/>
              <a:chExt cx="1390" cy="282"/>
            </a:xfrm>
          </p:grpSpPr>
          <p:sp>
            <p:nvSpPr>
              <p:cNvPr id="69645" name="Rectangle 9">
                <a:extLst>
                  <a:ext uri="{FF2B5EF4-FFF2-40B4-BE49-F238E27FC236}">
                    <a16:creationId xmlns:a16="http://schemas.microsoft.com/office/drawing/2014/main" id="{13163F00-A2F4-4A30-B7CD-416FCD326C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13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9646" name="Rectangle 10">
                <a:extLst>
                  <a:ext uri="{FF2B5EF4-FFF2-40B4-BE49-F238E27FC236}">
                    <a16:creationId xmlns:a16="http://schemas.microsoft.com/office/drawing/2014/main" id="{1BE682ED-C29A-4703-8413-73A1396A2B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" y="1507"/>
                <a:ext cx="864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ZoneButton</a:t>
                </a:r>
              </a:p>
            </p:txBody>
          </p:sp>
        </p:grpSp>
        <p:cxnSp>
          <p:nvCxnSpPr>
            <p:cNvPr id="69639" name="AutoShape 11">
              <a:extLst>
                <a:ext uri="{FF2B5EF4-FFF2-40B4-BE49-F238E27FC236}">
                  <a16:creationId xmlns:a16="http://schemas.microsoft.com/office/drawing/2014/main" id="{670A28DE-071D-409E-B64B-DE7C11D32255}"/>
                </a:ext>
              </a:extLst>
            </p:cNvPr>
            <p:cNvCxnSpPr>
              <a:cxnSpLocks noChangeShapeType="1"/>
              <a:stCxn id="69647" idx="2"/>
              <a:endCxn id="69645" idx="1"/>
            </p:cNvCxnSpPr>
            <p:nvPr/>
          </p:nvCxnSpPr>
          <p:spPr bwMode="auto">
            <a:xfrm rot="16200000" flipH="1">
              <a:off x="2784" y="1273"/>
              <a:ext cx="766" cy="836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69640" name="Group 14">
              <a:extLst>
                <a:ext uri="{FF2B5EF4-FFF2-40B4-BE49-F238E27FC236}">
                  <a16:creationId xmlns:a16="http://schemas.microsoft.com/office/drawing/2014/main" id="{40BD361E-A6BA-420C-8F90-2C66E1CEE0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4" y="1933"/>
              <a:ext cx="1390" cy="282"/>
              <a:chOff x="554" y="1413"/>
              <a:chExt cx="1390" cy="282"/>
            </a:xfrm>
          </p:grpSpPr>
          <p:sp>
            <p:nvSpPr>
              <p:cNvPr id="69643" name="Rectangle 15">
                <a:extLst>
                  <a:ext uri="{FF2B5EF4-FFF2-40B4-BE49-F238E27FC236}">
                    <a16:creationId xmlns:a16="http://schemas.microsoft.com/office/drawing/2014/main" id="{518D0E6D-115C-4804-91DE-80CE9A9F28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4" y="1413"/>
                <a:ext cx="1390" cy="282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69644" name="Rectangle 16">
                <a:extLst>
                  <a:ext uri="{FF2B5EF4-FFF2-40B4-BE49-F238E27FC236}">
                    <a16:creationId xmlns:a16="http://schemas.microsoft.com/office/drawing/2014/main" id="{EBB825E6-E294-425F-8DC3-08B2DC309F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1" y="1507"/>
                <a:ext cx="1037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en-US" sz="1800">
                    <a:solidFill>
                      <a:srgbClr val="000000"/>
                    </a:solidFill>
                    <a:latin typeface="Courier" charset="0"/>
                  </a:rPr>
                  <a:t>CancelButton</a:t>
                </a:r>
              </a:p>
            </p:txBody>
          </p:sp>
        </p:grpSp>
        <p:cxnSp>
          <p:nvCxnSpPr>
            <p:cNvPr id="69641" name="AutoShape 17">
              <a:extLst>
                <a:ext uri="{FF2B5EF4-FFF2-40B4-BE49-F238E27FC236}">
                  <a16:creationId xmlns:a16="http://schemas.microsoft.com/office/drawing/2014/main" id="{11EB897E-F828-4382-8621-1A7E3CF4F3DA}"/>
                </a:ext>
              </a:extLst>
            </p:cNvPr>
            <p:cNvCxnSpPr>
              <a:cxnSpLocks noChangeShapeType="1"/>
              <a:stCxn id="69643" idx="3"/>
              <a:endCxn id="69647" idx="2"/>
            </p:cNvCxnSpPr>
            <p:nvPr/>
          </p:nvCxnSpPr>
          <p:spPr bwMode="auto">
            <a:xfrm flipV="1">
              <a:off x="2009" y="1308"/>
              <a:ext cx="740" cy="766"/>
            </a:xfrm>
            <a:prstGeom prst="bentConnector2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9642" name="AutoShape 18">
              <a:extLst>
                <a:ext uri="{FF2B5EF4-FFF2-40B4-BE49-F238E27FC236}">
                  <a16:creationId xmlns:a16="http://schemas.microsoft.com/office/drawing/2014/main" id="{0BB8AC7F-736C-4957-BC99-E36FCDF57A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6" y="1320"/>
              <a:ext cx="278" cy="240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AF907DA-C1B3-452E-A2A7-4BB04B6B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28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5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A62A601C-4A50-4D36-8EC0-6A8CB8BACA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5556" y="-279412"/>
            <a:ext cx="7772400" cy="1143000"/>
          </a:xfrm>
        </p:spPr>
        <p:txBody>
          <a:bodyPr/>
          <a:lstStyle/>
          <a:p>
            <a:r>
              <a:rPr lang="en-US" altLang="en-US" dirty="0"/>
              <a:t>Packages	</a:t>
            </a:r>
          </a:p>
        </p:txBody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FA275279-06E7-40F3-A335-18916E4C4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4663" y="1133475"/>
            <a:ext cx="8255000" cy="4800600"/>
          </a:xfrm>
        </p:spPr>
        <p:txBody>
          <a:bodyPr/>
          <a:lstStyle/>
          <a:p>
            <a:r>
              <a:rPr lang="en-US" altLang="en-US"/>
              <a:t>Packages help  you to organize UML models to increase their readability </a:t>
            </a:r>
          </a:p>
          <a:p>
            <a:r>
              <a:rPr lang="en-US" altLang="en-US"/>
              <a:t>We can use the UML package mechanism to organize classes into subsystems  </a:t>
            </a:r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endParaRPr lang="en-US" altLang="en-US"/>
          </a:p>
          <a:p>
            <a:r>
              <a:rPr lang="en-US" altLang="en-US"/>
              <a:t>Any complex system can be decomposed into subsystems, where each subsystem is modeled as a package.</a:t>
            </a:r>
          </a:p>
          <a:p>
            <a:endParaRPr lang="en-US" altLang="en-US"/>
          </a:p>
        </p:txBody>
      </p:sp>
      <p:grpSp>
        <p:nvGrpSpPr>
          <p:cNvPr id="2" name="Group 132">
            <a:extLst>
              <a:ext uri="{FF2B5EF4-FFF2-40B4-BE49-F238E27FC236}">
                <a16:creationId xmlns:a16="http://schemas.microsoft.com/office/drawing/2014/main" id="{3D97490F-BB88-4F5D-ABA9-4A014D8F85BC}"/>
              </a:ext>
            </a:extLst>
          </p:cNvPr>
          <p:cNvGrpSpPr>
            <a:grpSpLocks/>
          </p:cNvGrpSpPr>
          <p:nvPr/>
        </p:nvGrpSpPr>
        <p:grpSpPr bwMode="auto">
          <a:xfrm>
            <a:off x="4311650" y="2676525"/>
            <a:ext cx="3311525" cy="1336675"/>
            <a:chOff x="2716" y="1686"/>
            <a:chExt cx="2086" cy="842"/>
          </a:xfrm>
        </p:grpSpPr>
        <p:sp>
          <p:nvSpPr>
            <p:cNvPr id="71701" name="Rectangle 8">
              <a:extLst>
                <a:ext uri="{FF2B5EF4-FFF2-40B4-BE49-F238E27FC236}">
                  <a16:creationId xmlns:a16="http://schemas.microsoft.com/office/drawing/2014/main" id="{AFB4CA59-F03F-4815-8207-42A70F0A21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16" y="1846"/>
              <a:ext cx="2086" cy="68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1702" name="Rectangle 9">
              <a:extLst>
                <a:ext uri="{FF2B5EF4-FFF2-40B4-BE49-F238E27FC236}">
                  <a16:creationId xmlns:a16="http://schemas.microsoft.com/office/drawing/2014/main" id="{040645F5-22CF-4CC2-95CE-540B41C38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8" y="2039"/>
              <a:ext cx="67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Account</a:t>
              </a:r>
              <a:endParaRPr lang="en-US" altLang="en-US" sz="2000" b="0"/>
            </a:p>
          </p:txBody>
        </p:sp>
        <p:sp>
          <p:nvSpPr>
            <p:cNvPr id="71703" name="Freeform 42">
              <a:extLst>
                <a:ext uri="{FF2B5EF4-FFF2-40B4-BE49-F238E27FC236}">
                  <a16:creationId xmlns:a16="http://schemas.microsoft.com/office/drawing/2014/main" id="{21B7BBCC-DE22-462D-ACFC-4B982A3F0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1686"/>
              <a:ext cx="392" cy="160"/>
            </a:xfrm>
            <a:custGeom>
              <a:avLst/>
              <a:gdLst>
                <a:gd name="T0" fmla="*/ 0 w 392"/>
                <a:gd name="T1" fmla="*/ 160 h 160"/>
                <a:gd name="T2" fmla="*/ 72 w 392"/>
                <a:gd name="T3" fmla="*/ 0 h 160"/>
                <a:gd name="T4" fmla="*/ 320 w 392"/>
                <a:gd name="T5" fmla="*/ 0 h 160"/>
                <a:gd name="T6" fmla="*/ 392 w 392"/>
                <a:gd name="T7" fmla="*/ 160 h 160"/>
                <a:gd name="T8" fmla="*/ 0 w 392"/>
                <a:gd name="T9" fmla="*/ 16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2"/>
                <a:gd name="T16" fmla="*/ 0 h 160"/>
                <a:gd name="T17" fmla="*/ 392 w 392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2" h="160">
                  <a:moveTo>
                    <a:pt x="0" y="160"/>
                  </a:moveTo>
                  <a:lnTo>
                    <a:pt x="72" y="0"/>
                  </a:lnTo>
                  <a:lnTo>
                    <a:pt x="320" y="0"/>
                  </a:lnTo>
                  <a:lnTo>
                    <a:pt x="392" y="160"/>
                  </a:lnTo>
                  <a:lnTo>
                    <a:pt x="0" y="16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71704" name="Group 88">
              <a:extLst>
                <a:ext uri="{FF2B5EF4-FFF2-40B4-BE49-F238E27FC236}">
                  <a16:creationId xmlns:a16="http://schemas.microsoft.com/office/drawing/2014/main" id="{BB66B67E-6798-443F-B557-FEA2CB9D4A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09" y="1857"/>
              <a:ext cx="647" cy="648"/>
              <a:chOff x="1114" y="583"/>
              <a:chExt cx="3350" cy="3353"/>
            </a:xfrm>
          </p:grpSpPr>
          <p:sp>
            <p:nvSpPr>
              <p:cNvPr id="71705" name="Rectangle 89">
                <a:extLst>
                  <a:ext uri="{FF2B5EF4-FFF2-40B4-BE49-F238E27FC236}">
                    <a16:creationId xmlns:a16="http://schemas.microsoft.com/office/drawing/2014/main" id="{139FCA36-0C0A-4FFE-A1BA-2B2630F8B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4" y="2488"/>
                <a:ext cx="912" cy="14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1706" name="Line 90">
                <a:extLst>
                  <a:ext uri="{FF2B5EF4-FFF2-40B4-BE49-F238E27FC236}">
                    <a16:creationId xmlns:a16="http://schemas.microsoft.com/office/drawing/2014/main" id="{49CB996C-11E7-4E16-8B0B-DA38BE81F3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4" y="2928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07" name="Line 91">
                <a:extLst>
                  <a:ext uri="{FF2B5EF4-FFF2-40B4-BE49-F238E27FC236}">
                    <a16:creationId xmlns:a16="http://schemas.microsoft.com/office/drawing/2014/main" id="{E28379B1-ABAF-434C-8329-DBC93D83AC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14" y="3432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08" name="AutoShape 92">
                <a:extLst>
                  <a:ext uri="{FF2B5EF4-FFF2-40B4-BE49-F238E27FC236}">
                    <a16:creationId xmlns:a16="http://schemas.microsoft.com/office/drawing/2014/main" id="{23F9750E-A589-4553-B55F-8374C819F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2722303">
                <a:off x="2322" y="1992"/>
                <a:ext cx="204" cy="176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1709" name="Line 93">
                <a:extLst>
                  <a:ext uri="{FF2B5EF4-FFF2-40B4-BE49-F238E27FC236}">
                    <a16:creationId xmlns:a16="http://schemas.microsoft.com/office/drawing/2014/main" id="{8D052037-1244-4EEE-A925-B2F666F507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60" y="2136"/>
                <a:ext cx="800" cy="3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10" name="Rectangle 94">
                <a:extLst>
                  <a:ext uri="{FF2B5EF4-FFF2-40B4-BE49-F238E27FC236}">
                    <a16:creationId xmlns:a16="http://schemas.microsoft.com/office/drawing/2014/main" id="{25B9517C-C35E-4E6A-B7DD-C7F18E3105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2496"/>
                <a:ext cx="912" cy="14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1711" name="Line 95">
                <a:extLst>
                  <a:ext uri="{FF2B5EF4-FFF2-40B4-BE49-F238E27FC236}">
                    <a16:creationId xmlns:a16="http://schemas.microsoft.com/office/drawing/2014/main" id="{1009CC93-3461-4C00-A1AA-B7F9EC7C68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2928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12" name="Line 96">
                <a:extLst>
                  <a:ext uri="{FF2B5EF4-FFF2-40B4-BE49-F238E27FC236}">
                    <a16:creationId xmlns:a16="http://schemas.microsoft.com/office/drawing/2014/main" id="{558A5223-AF2F-47AE-BBEC-A2AB72C66B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3432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13" name="AutoShape 97">
                <a:extLst>
                  <a:ext uri="{FF2B5EF4-FFF2-40B4-BE49-F238E27FC236}">
                    <a16:creationId xmlns:a16="http://schemas.microsoft.com/office/drawing/2014/main" id="{55AF0791-5DA5-4F7A-BA94-D5A1D58BAF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6418">
                <a:off x="2626" y="1992"/>
                <a:ext cx="204" cy="176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1714" name="Line 98">
                <a:extLst>
                  <a:ext uri="{FF2B5EF4-FFF2-40B4-BE49-F238E27FC236}">
                    <a16:creationId xmlns:a16="http://schemas.microsoft.com/office/drawing/2014/main" id="{FA0509A3-7C89-477A-A463-31CD343B63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4" y="2168"/>
                <a:ext cx="0" cy="336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15" name="Rectangle 99">
                <a:extLst>
                  <a:ext uri="{FF2B5EF4-FFF2-40B4-BE49-F238E27FC236}">
                    <a16:creationId xmlns:a16="http://schemas.microsoft.com/office/drawing/2014/main" id="{FE6DC8A9-B410-4FDD-9441-A9B3794E6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2496"/>
                <a:ext cx="912" cy="14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1716" name="Line 100">
                <a:extLst>
                  <a:ext uri="{FF2B5EF4-FFF2-40B4-BE49-F238E27FC236}">
                    <a16:creationId xmlns:a16="http://schemas.microsoft.com/office/drawing/2014/main" id="{CFE87759-E565-4C88-B5A7-423CC1924E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2928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17" name="Line 101">
                <a:extLst>
                  <a:ext uri="{FF2B5EF4-FFF2-40B4-BE49-F238E27FC236}">
                    <a16:creationId xmlns:a16="http://schemas.microsoft.com/office/drawing/2014/main" id="{F07AC3AE-C692-471A-96DE-23E930EAA1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3432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18" name="AutoShape 102">
                <a:extLst>
                  <a:ext uri="{FF2B5EF4-FFF2-40B4-BE49-F238E27FC236}">
                    <a16:creationId xmlns:a16="http://schemas.microsoft.com/office/drawing/2014/main" id="{D2742293-7CAE-4841-AB39-FAF26B4DFE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3324731">
                <a:off x="2930" y="1976"/>
                <a:ext cx="204" cy="176"/>
              </a:xfrm>
              <a:prstGeom prst="triangle">
                <a:avLst>
                  <a:gd name="adj" fmla="val 50000"/>
                </a:avLst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1719" name="Line 103">
                <a:extLst>
                  <a:ext uri="{FF2B5EF4-FFF2-40B4-BE49-F238E27FC236}">
                    <a16:creationId xmlns:a16="http://schemas.microsoft.com/office/drawing/2014/main" id="{9216A0EA-A06A-4246-93CB-E019D9869F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6" y="2112"/>
                <a:ext cx="904" cy="38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20" name="Rectangle 104">
                <a:extLst>
                  <a:ext uri="{FF2B5EF4-FFF2-40B4-BE49-F238E27FC236}">
                    <a16:creationId xmlns:a16="http://schemas.microsoft.com/office/drawing/2014/main" id="{F1D871D4-38C5-485F-A6C4-0F787B7430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4" y="583"/>
                <a:ext cx="912" cy="144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1721" name="Line 105">
                <a:extLst>
                  <a:ext uri="{FF2B5EF4-FFF2-40B4-BE49-F238E27FC236}">
                    <a16:creationId xmlns:a16="http://schemas.microsoft.com/office/drawing/2014/main" id="{488EF380-332E-47E8-B884-69F387FBA2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4" y="1015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22" name="Line 106">
                <a:extLst>
                  <a:ext uri="{FF2B5EF4-FFF2-40B4-BE49-F238E27FC236}">
                    <a16:creationId xmlns:a16="http://schemas.microsoft.com/office/drawing/2014/main" id="{7B35647B-FB13-4D72-9E84-B6D1D22BF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14" y="1519"/>
                <a:ext cx="91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4" name="Group 134">
            <a:extLst>
              <a:ext uri="{FF2B5EF4-FFF2-40B4-BE49-F238E27FC236}">
                <a16:creationId xmlns:a16="http://schemas.microsoft.com/office/drawing/2014/main" id="{0EEC63C1-589D-4BF7-9941-3B11A834D521}"/>
              </a:ext>
            </a:extLst>
          </p:cNvPr>
          <p:cNvGrpSpPr>
            <a:grpSpLocks/>
          </p:cNvGrpSpPr>
          <p:nvPr/>
        </p:nvGrpSpPr>
        <p:grpSpPr bwMode="auto">
          <a:xfrm>
            <a:off x="4870450" y="4102100"/>
            <a:ext cx="2881313" cy="1066800"/>
            <a:chOff x="3068" y="2584"/>
            <a:chExt cx="1815" cy="672"/>
          </a:xfrm>
        </p:grpSpPr>
        <p:sp>
          <p:nvSpPr>
            <p:cNvPr id="71694" name="Rectangle 12">
              <a:extLst>
                <a:ext uri="{FF2B5EF4-FFF2-40B4-BE49-F238E27FC236}">
                  <a16:creationId xmlns:a16="http://schemas.microsoft.com/office/drawing/2014/main" id="{646F559F-ACCE-42E6-9615-270868070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8" y="2744"/>
              <a:ext cx="1815" cy="512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1695" name="Rectangle 13">
              <a:extLst>
                <a:ext uri="{FF2B5EF4-FFF2-40B4-BE49-F238E27FC236}">
                  <a16:creationId xmlns:a16="http://schemas.microsoft.com/office/drawing/2014/main" id="{1E456172-FF35-4EE5-8FE9-E2477942AA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1" y="2908"/>
              <a:ext cx="76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Customer</a:t>
              </a:r>
              <a:endParaRPr lang="en-US" altLang="en-US" sz="2000" b="0"/>
            </a:p>
          </p:txBody>
        </p:sp>
        <p:sp>
          <p:nvSpPr>
            <p:cNvPr id="71696" name="Freeform 41">
              <a:extLst>
                <a:ext uri="{FF2B5EF4-FFF2-40B4-BE49-F238E27FC236}">
                  <a16:creationId xmlns:a16="http://schemas.microsoft.com/office/drawing/2014/main" id="{B9774224-43BB-493B-94D9-F4418ABE8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" y="2584"/>
              <a:ext cx="392" cy="160"/>
            </a:xfrm>
            <a:custGeom>
              <a:avLst/>
              <a:gdLst>
                <a:gd name="T0" fmla="*/ 0 w 392"/>
                <a:gd name="T1" fmla="*/ 160 h 160"/>
                <a:gd name="T2" fmla="*/ 72 w 392"/>
                <a:gd name="T3" fmla="*/ 0 h 160"/>
                <a:gd name="T4" fmla="*/ 320 w 392"/>
                <a:gd name="T5" fmla="*/ 0 h 160"/>
                <a:gd name="T6" fmla="*/ 392 w 392"/>
                <a:gd name="T7" fmla="*/ 160 h 160"/>
                <a:gd name="T8" fmla="*/ 0 w 392"/>
                <a:gd name="T9" fmla="*/ 16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2"/>
                <a:gd name="T16" fmla="*/ 0 h 160"/>
                <a:gd name="T17" fmla="*/ 392 w 392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2" h="160">
                  <a:moveTo>
                    <a:pt x="0" y="160"/>
                  </a:moveTo>
                  <a:lnTo>
                    <a:pt x="72" y="0"/>
                  </a:lnTo>
                  <a:lnTo>
                    <a:pt x="320" y="0"/>
                  </a:lnTo>
                  <a:lnTo>
                    <a:pt x="392" y="160"/>
                  </a:lnTo>
                  <a:lnTo>
                    <a:pt x="0" y="16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71697" name="Group 127">
              <a:extLst>
                <a:ext uri="{FF2B5EF4-FFF2-40B4-BE49-F238E27FC236}">
                  <a16:creationId xmlns:a16="http://schemas.microsoft.com/office/drawing/2014/main" id="{E8A30E8B-B566-46E7-A05D-6FAB4BA23B2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05" y="2857"/>
              <a:ext cx="176" cy="278"/>
              <a:chOff x="4337" y="2537"/>
              <a:chExt cx="176" cy="278"/>
            </a:xfrm>
          </p:grpSpPr>
          <p:sp>
            <p:nvSpPr>
              <p:cNvPr id="71698" name="Rectangle 123">
                <a:extLst>
                  <a:ext uri="{FF2B5EF4-FFF2-40B4-BE49-F238E27FC236}">
                    <a16:creationId xmlns:a16="http://schemas.microsoft.com/office/drawing/2014/main" id="{7897889F-129C-4232-9095-9510AD1A87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7" y="2537"/>
                <a:ext cx="176" cy="27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1699" name="Line 124">
                <a:extLst>
                  <a:ext uri="{FF2B5EF4-FFF2-40B4-BE49-F238E27FC236}">
                    <a16:creationId xmlns:a16="http://schemas.microsoft.com/office/drawing/2014/main" id="{E3B1EB43-BC73-4C8C-98A6-9DBD11F41E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7" y="2620"/>
                <a:ext cx="1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700" name="Line 125">
                <a:extLst>
                  <a:ext uri="{FF2B5EF4-FFF2-40B4-BE49-F238E27FC236}">
                    <a16:creationId xmlns:a16="http://schemas.microsoft.com/office/drawing/2014/main" id="{EB8BD835-380E-4031-B13B-5E0F5E185F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7" y="2718"/>
                <a:ext cx="1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grpSp>
        <p:nvGrpSpPr>
          <p:cNvPr id="6" name="Group 133">
            <a:extLst>
              <a:ext uri="{FF2B5EF4-FFF2-40B4-BE49-F238E27FC236}">
                <a16:creationId xmlns:a16="http://schemas.microsoft.com/office/drawing/2014/main" id="{68A78716-E544-4BF0-BF3F-7848E18DC67D}"/>
              </a:ext>
            </a:extLst>
          </p:cNvPr>
          <p:cNvGrpSpPr>
            <a:grpSpLocks/>
          </p:cNvGrpSpPr>
          <p:nvPr/>
        </p:nvGrpSpPr>
        <p:grpSpPr bwMode="auto">
          <a:xfrm>
            <a:off x="1804988" y="4038600"/>
            <a:ext cx="2520950" cy="1141413"/>
            <a:chOff x="1137" y="2544"/>
            <a:chExt cx="1588" cy="719"/>
          </a:xfrm>
        </p:grpSpPr>
        <p:sp>
          <p:nvSpPr>
            <p:cNvPr id="71687" name="Rectangle 10">
              <a:extLst>
                <a:ext uri="{FF2B5EF4-FFF2-40B4-BE49-F238E27FC236}">
                  <a16:creationId xmlns:a16="http://schemas.microsoft.com/office/drawing/2014/main" id="{9832773B-AC57-425F-8F61-015384E73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7" y="2704"/>
              <a:ext cx="1588" cy="559"/>
            </a:xfrm>
            <a:prstGeom prst="rect">
              <a:avLst/>
            </a:prstGeom>
            <a:noFill/>
            <a:ln w="127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71688" name="Rectangle 11">
              <a:extLst>
                <a:ext uri="{FF2B5EF4-FFF2-40B4-BE49-F238E27FC236}">
                  <a16:creationId xmlns:a16="http://schemas.microsoft.com/office/drawing/2014/main" id="{3329F6C1-2B1B-4E63-8C90-71F6B7DBA8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6" y="2886"/>
              <a:ext cx="3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2000">
                  <a:solidFill>
                    <a:srgbClr val="000000"/>
                  </a:solidFill>
                  <a:latin typeface="Courier" charset="0"/>
                </a:rPr>
                <a:t>Bank</a:t>
              </a:r>
              <a:endParaRPr lang="en-US" altLang="en-US" sz="2000" b="0"/>
            </a:p>
          </p:txBody>
        </p:sp>
        <p:sp>
          <p:nvSpPr>
            <p:cNvPr id="71689" name="Freeform 45">
              <a:extLst>
                <a:ext uri="{FF2B5EF4-FFF2-40B4-BE49-F238E27FC236}">
                  <a16:creationId xmlns:a16="http://schemas.microsoft.com/office/drawing/2014/main" id="{4BC1622C-7BF2-4AE1-98B5-CBD22CBED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2544"/>
              <a:ext cx="392" cy="160"/>
            </a:xfrm>
            <a:custGeom>
              <a:avLst/>
              <a:gdLst>
                <a:gd name="T0" fmla="*/ 0 w 392"/>
                <a:gd name="T1" fmla="*/ 160 h 160"/>
                <a:gd name="T2" fmla="*/ 72 w 392"/>
                <a:gd name="T3" fmla="*/ 0 h 160"/>
                <a:gd name="T4" fmla="*/ 320 w 392"/>
                <a:gd name="T5" fmla="*/ 0 h 160"/>
                <a:gd name="T6" fmla="*/ 392 w 392"/>
                <a:gd name="T7" fmla="*/ 160 h 160"/>
                <a:gd name="T8" fmla="*/ 0 w 392"/>
                <a:gd name="T9" fmla="*/ 160 h 1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92"/>
                <a:gd name="T16" fmla="*/ 0 h 160"/>
                <a:gd name="T17" fmla="*/ 392 w 392"/>
                <a:gd name="T18" fmla="*/ 160 h 1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92" h="160">
                  <a:moveTo>
                    <a:pt x="0" y="160"/>
                  </a:moveTo>
                  <a:lnTo>
                    <a:pt x="72" y="0"/>
                  </a:lnTo>
                  <a:lnTo>
                    <a:pt x="320" y="0"/>
                  </a:lnTo>
                  <a:lnTo>
                    <a:pt x="392" y="160"/>
                  </a:lnTo>
                  <a:lnTo>
                    <a:pt x="0" y="160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71690" name="Group 128">
              <a:extLst>
                <a:ext uri="{FF2B5EF4-FFF2-40B4-BE49-F238E27FC236}">
                  <a16:creationId xmlns:a16="http://schemas.microsoft.com/office/drawing/2014/main" id="{018B1769-3C17-4E18-9D54-344958C6F9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4" y="2861"/>
              <a:ext cx="176" cy="278"/>
              <a:chOff x="4337" y="2537"/>
              <a:chExt cx="176" cy="278"/>
            </a:xfrm>
          </p:grpSpPr>
          <p:sp>
            <p:nvSpPr>
              <p:cNvPr id="71691" name="Rectangle 129">
                <a:extLst>
                  <a:ext uri="{FF2B5EF4-FFF2-40B4-BE49-F238E27FC236}">
                    <a16:creationId xmlns:a16="http://schemas.microsoft.com/office/drawing/2014/main" id="{F5163EDA-E2BF-41A1-822D-A85397F8EE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7" y="2537"/>
                <a:ext cx="176" cy="27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1692" name="Line 130">
                <a:extLst>
                  <a:ext uri="{FF2B5EF4-FFF2-40B4-BE49-F238E27FC236}">
                    <a16:creationId xmlns:a16="http://schemas.microsoft.com/office/drawing/2014/main" id="{8F78EAEC-4DB7-4E0F-9DEB-A4A254AF96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7" y="2620"/>
                <a:ext cx="1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1693" name="Line 131">
                <a:extLst>
                  <a:ext uri="{FF2B5EF4-FFF2-40B4-BE49-F238E27FC236}">
                    <a16:creationId xmlns:a16="http://schemas.microsoft.com/office/drawing/2014/main" id="{025E803E-78BE-47EF-99A4-0557EBDDEB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7" y="2718"/>
                <a:ext cx="1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A70956C-31D4-4118-A200-00C863AF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29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15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517589D3-25CC-461D-BBC9-01D6D2CE51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3568" y="-171400"/>
            <a:ext cx="7772400" cy="1143000"/>
          </a:xfrm>
        </p:spPr>
        <p:txBody>
          <a:bodyPr/>
          <a:lstStyle/>
          <a:p>
            <a:r>
              <a:rPr lang="en-US" altLang="en-US" dirty="0"/>
              <a:t>Object Modeling in Practice</a:t>
            </a:r>
          </a:p>
        </p:txBody>
      </p:sp>
      <p:sp>
        <p:nvSpPr>
          <p:cNvPr id="73731" name="Text Box 13">
            <a:extLst>
              <a:ext uri="{FF2B5EF4-FFF2-40B4-BE49-F238E27FC236}">
                <a16:creationId xmlns:a16="http://schemas.microsoft.com/office/drawing/2014/main" id="{D34704B0-FF6B-46C1-AA98-EFE660A83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4956175"/>
            <a:ext cx="86852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2000">
                <a:solidFill>
                  <a:schemeClr val="tx1"/>
                </a:solidFill>
                <a:latin typeface="Verdana" panose="020B0604030504040204" pitchFamily="34" charset="0"/>
              </a:rPr>
              <a:t>Class Identification: Name of Class, Attributes and Methods</a:t>
            </a:r>
          </a:p>
        </p:txBody>
      </p:sp>
      <p:sp>
        <p:nvSpPr>
          <p:cNvPr id="149518" name="Text Box 14">
            <a:extLst>
              <a:ext uri="{FF2B5EF4-FFF2-40B4-BE49-F238E27FC236}">
                <a16:creationId xmlns:a16="http://schemas.microsoft.com/office/drawing/2014/main" id="{9B4224CA-B46A-4BEA-87E0-32C0DED20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238" y="5124450"/>
            <a:ext cx="31067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altLang="en-US" sz="1800">
                <a:solidFill>
                  <a:schemeClr val="tx1"/>
                </a:solidFill>
                <a:latin typeface="Verdana" panose="020B0604030504040204" pitchFamily="34" charset="0"/>
              </a:rPr>
              <a:t>Is </a:t>
            </a:r>
            <a:r>
              <a:rPr lang="en-US" altLang="en-US" sz="1800">
                <a:solidFill>
                  <a:srgbClr val="3333FF"/>
                </a:solidFill>
                <a:latin typeface="Verdana" panose="020B0604030504040204" pitchFamily="34" charset="0"/>
              </a:rPr>
              <a:t>Foo</a:t>
            </a:r>
            <a:r>
              <a:rPr lang="en-US" altLang="en-US" sz="1800">
                <a:solidFill>
                  <a:schemeClr val="tx1"/>
                </a:solidFill>
                <a:latin typeface="Verdana" panose="020B0604030504040204" pitchFamily="34" charset="0"/>
              </a:rPr>
              <a:t> the right name?</a:t>
            </a:r>
            <a:endParaRPr lang="en-US" altLang="en-US" sz="1800">
              <a:solidFill>
                <a:schemeClr val="tx1"/>
              </a:solidFill>
              <a:latin typeface="Palatino" charset="0"/>
            </a:endParaRP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F575A023-2CA4-4A2C-BF0E-B9D4A88396A3}"/>
              </a:ext>
            </a:extLst>
          </p:cNvPr>
          <p:cNvGrpSpPr>
            <a:grpSpLocks/>
          </p:cNvGrpSpPr>
          <p:nvPr/>
        </p:nvGrpSpPr>
        <p:grpSpPr bwMode="auto">
          <a:xfrm>
            <a:off x="3565525" y="1371600"/>
            <a:ext cx="1530350" cy="2325688"/>
            <a:chOff x="2486" y="864"/>
            <a:chExt cx="964" cy="1465"/>
          </a:xfrm>
        </p:grpSpPr>
        <p:grpSp>
          <p:nvGrpSpPr>
            <p:cNvPr id="73734" name="Group 16">
              <a:extLst>
                <a:ext uri="{FF2B5EF4-FFF2-40B4-BE49-F238E27FC236}">
                  <a16:creationId xmlns:a16="http://schemas.microsoft.com/office/drawing/2014/main" id="{5327FA0F-640A-4E19-B65C-646EE57FF5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864"/>
              <a:ext cx="912" cy="1440"/>
              <a:chOff x="1536" y="2592"/>
              <a:chExt cx="864" cy="960"/>
            </a:xfrm>
          </p:grpSpPr>
          <p:sp>
            <p:nvSpPr>
              <p:cNvPr id="73741" name="Rectangle 17">
                <a:extLst>
                  <a:ext uri="{FF2B5EF4-FFF2-40B4-BE49-F238E27FC236}">
                    <a16:creationId xmlns:a16="http://schemas.microsoft.com/office/drawing/2014/main" id="{9109AED4-0D2A-4A28-9C3B-81EE712967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3742" name="Line 18">
                <a:extLst>
                  <a:ext uri="{FF2B5EF4-FFF2-40B4-BE49-F238E27FC236}">
                    <a16:creationId xmlns:a16="http://schemas.microsoft.com/office/drawing/2014/main" id="{F8E042DF-E028-422F-9BBA-E548E931DC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3743" name="Line 19">
                <a:extLst>
                  <a:ext uri="{FF2B5EF4-FFF2-40B4-BE49-F238E27FC236}">
                    <a16:creationId xmlns:a16="http://schemas.microsoft.com/office/drawing/2014/main" id="{D7414F43-DF4A-46C0-9E02-364289E21D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3735" name="Text Box 20">
              <a:extLst>
                <a:ext uri="{FF2B5EF4-FFF2-40B4-BE49-F238E27FC236}">
                  <a16:creationId xmlns:a16="http://schemas.microsoft.com/office/drawing/2014/main" id="{04A725F7-C1FA-442B-9F5A-3DC3DBA92C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946"/>
              <a:ext cx="3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Foo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73736" name="Text Box 21">
              <a:extLst>
                <a:ext uri="{FF2B5EF4-FFF2-40B4-BE49-F238E27FC236}">
                  <a16:creationId xmlns:a16="http://schemas.microsoft.com/office/drawing/2014/main" id="{392F023F-9854-4B6C-AA2F-5DEDAF590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282"/>
              <a:ext cx="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Amount</a:t>
              </a:r>
            </a:p>
          </p:txBody>
        </p:sp>
        <p:sp>
          <p:nvSpPr>
            <p:cNvPr id="73737" name="Text Box 22">
              <a:extLst>
                <a:ext uri="{FF2B5EF4-FFF2-40B4-BE49-F238E27FC236}">
                  <a16:creationId xmlns:a16="http://schemas.microsoft.com/office/drawing/2014/main" id="{4597F1A0-A1CF-4BCD-9A1B-F40CA41562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522"/>
              <a:ext cx="9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</a:t>
              </a:r>
            </a:p>
          </p:txBody>
        </p:sp>
        <p:sp>
          <p:nvSpPr>
            <p:cNvPr id="73738" name="Text Box 23">
              <a:extLst>
                <a:ext uri="{FF2B5EF4-FFF2-40B4-BE49-F238E27FC236}">
                  <a16:creationId xmlns:a16="http://schemas.microsoft.com/office/drawing/2014/main" id="{BB556A51-13B6-40F2-A08E-835A2D86E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810"/>
              <a:ext cx="7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Deposit()</a:t>
              </a:r>
            </a:p>
          </p:txBody>
        </p:sp>
        <p:sp>
          <p:nvSpPr>
            <p:cNvPr id="73739" name="Text Box 24">
              <a:extLst>
                <a:ext uri="{FF2B5EF4-FFF2-40B4-BE49-F238E27FC236}">
                  <a16:creationId xmlns:a16="http://schemas.microsoft.com/office/drawing/2014/main" id="{883B63D5-2348-4511-8E80-32C9D328C8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954"/>
              <a:ext cx="8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Withdraw()</a:t>
              </a:r>
            </a:p>
          </p:txBody>
        </p:sp>
        <p:sp>
          <p:nvSpPr>
            <p:cNvPr id="73740" name="Text Box 25">
              <a:extLst>
                <a:ext uri="{FF2B5EF4-FFF2-40B4-BE49-F238E27FC236}">
                  <a16:creationId xmlns:a16="http://schemas.microsoft.com/office/drawing/2014/main" id="{483F970F-6DAE-49E8-9BB6-3A24401947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2098"/>
              <a:ext cx="9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GetBalance()</a:t>
              </a:r>
            </a:p>
          </p:txBody>
        </p:sp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AAB6AD1-498D-4ACF-8D32-90A3181FA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30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8" grpId="0" build="p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2">
            <a:extLst>
              <a:ext uri="{FF2B5EF4-FFF2-40B4-BE49-F238E27FC236}">
                <a16:creationId xmlns:a16="http://schemas.microsoft.com/office/drawing/2014/main" id="{88CDAD5C-E093-434C-A9D1-66848BB191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222250"/>
            <a:ext cx="9091736" cy="70485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Object Modeling in Practice:  Brainstorming </a:t>
            </a:r>
          </a:p>
        </p:txBody>
      </p:sp>
      <p:grpSp>
        <p:nvGrpSpPr>
          <p:cNvPr id="75781" name="Group 3">
            <a:extLst>
              <a:ext uri="{FF2B5EF4-FFF2-40B4-BE49-F238E27FC236}">
                <a16:creationId xmlns:a16="http://schemas.microsoft.com/office/drawing/2014/main" id="{7F1D66A1-35BD-4D80-93E4-B0DAF6FBF81B}"/>
              </a:ext>
            </a:extLst>
          </p:cNvPr>
          <p:cNvGrpSpPr>
            <a:grpSpLocks/>
          </p:cNvGrpSpPr>
          <p:nvPr/>
        </p:nvGrpSpPr>
        <p:grpSpPr bwMode="auto">
          <a:xfrm>
            <a:off x="3565525" y="1371600"/>
            <a:ext cx="1530350" cy="2325688"/>
            <a:chOff x="2486" y="864"/>
            <a:chExt cx="964" cy="1465"/>
          </a:xfrm>
        </p:grpSpPr>
        <p:grpSp>
          <p:nvGrpSpPr>
            <p:cNvPr id="75812" name="Group 4">
              <a:extLst>
                <a:ext uri="{FF2B5EF4-FFF2-40B4-BE49-F238E27FC236}">
                  <a16:creationId xmlns:a16="http://schemas.microsoft.com/office/drawing/2014/main" id="{CA444EF1-7466-496B-A2A2-06421CEB53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864"/>
              <a:ext cx="912" cy="1440"/>
              <a:chOff x="1536" y="2592"/>
              <a:chExt cx="864" cy="960"/>
            </a:xfrm>
          </p:grpSpPr>
          <p:sp>
            <p:nvSpPr>
              <p:cNvPr id="75819" name="Rectangle 5">
                <a:extLst>
                  <a:ext uri="{FF2B5EF4-FFF2-40B4-BE49-F238E27FC236}">
                    <a16:creationId xmlns:a16="http://schemas.microsoft.com/office/drawing/2014/main" id="{9640240C-EE0B-447C-9890-82CF5AEED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5820" name="Line 6">
                <a:extLst>
                  <a:ext uri="{FF2B5EF4-FFF2-40B4-BE49-F238E27FC236}">
                    <a16:creationId xmlns:a16="http://schemas.microsoft.com/office/drawing/2014/main" id="{DAA0F575-C51D-4B96-89AB-60CE7004F8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21" name="Line 7">
                <a:extLst>
                  <a:ext uri="{FF2B5EF4-FFF2-40B4-BE49-F238E27FC236}">
                    <a16:creationId xmlns:a16="http://schemas.microsoft.com/office/drawing/2014/main" id="{9FEF40B1-A5A4-4157-B578-EF6BFE16E9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5813" name="Text Box 8">
              <a:extLst>
                <a:ext uri="{FF2B5EF4-FFF2-40B4-BE49-F238E27FC236}">
                  <a16:creationId xmlns:a16="http://schemas.microsoft.com/office/drawing/2014/main" id="{D649592A-512F-4555-B51E-69A6809AB9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22" y="946"/>
              <a:ext cx="3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Foo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75814" name="Text Box 9">
              <a:extLst>
                <a:ext uri="{FF2B5EF4-FFF2-40B4-BE49-F238E27FC236}">
                  <a16:creationId xmlns:a16="http://schemas.microsoft.com/office/drawing/2014/main" id="{F2E0AEE8-952F-4B4F-A8B7-821B1947E1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282"/>
              <a:ext cx="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Amount</a:t>
              </a:r>
            </a:p>
          </p:txBody>
        </p:sp>
        <p:sp>
          <p:nvSpPr>
            <p:cNvPr id="75815" name="Text Box 10">
              <a:extLst>
                <a:ext uri="{FF2B5EF4-FFF2-40B4-BE49-F238E27FC236}">
                  <a16:creationId xmlns:a16="http://schemas.microsoft.com/office/drawing/2014/main" id="{67A18284-9358-43D7-AFE6-7A608C1027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522"/>
              <a:ext cx="9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</a:t>
              </a:r>
            </a:p>
          </p:txBody>
        </p:sp>
        <p:sp>
          <p:nvSpPr>
            <p:cNvPr id="75816" name="Text Box 11">
              <a:extLst>
                <a:ext uri="{FF2B5EF4-FFF2-40B4-BE49-F238E27FC236}">
                  <a16:creationId xmlns:a16="http://schemas.microsoft.com/office/drawing/2014/main" id="{9DE4CDB7-E2B7-4D8B-81B0-327B1B1388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810"/>
              <a:ext cx="7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Deposit()</a:t>
              </a:r>
            </a:p>
          </p:txBody>
        </p:sp>
        <p:sp>
          <p:nvSpPr>
            <p:cNvPr id="75817" name="Text Box 12">
              <a:extLst>
                <a:ext uri="{FF2B5EF4-FFF2-40B4-BE49-F238E27FC236}">
                  <a16:creationId xmlns:a16="http://schemas.microsoft.com/office/drawing/2014/main" id="{501068BE-1A70-49A4-933B-DB983A73E8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1954"/>
              <a:ext cx="8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Withdraw()</a:t>
              </a:r>
            </a:p>
          </p:txBody>
        </p:sp>
        <p:sp>
          <p:nvSpPr>
            <p:cNvPr id="75818" name="Text Box 13">
              <a:extLst>
                <a:ext uri="{FF2B5EF4-FFF2-40B4-BE49-F238E27FC236}">
                  <a16:creationId xmlns:a16="http://schemas.microsoft.com/office/drawing/2014/main" id="{CE6BD9AC-2EFE-4EC6-9B2C-225171175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6" y="2098"/>
              <a:ext cx="9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GetBalance()</a:t>
              </a:r>
            </a:p>
          </p:txBody>
        </p:sp>
      </p:grpSp>
      <p:graphicFrame>
        <p:nvGraphicFramePr>
          <p:cNvPr id="150542" name="Object 2">
            <a:extLst>
              <a:ext uri="{FF2B5EF4-FFF2-40B4-BE49-F238E27FC236}">
                <a16:creationId xmlns:a16="http://schemas.microsoft.com/office/drawing/2014/main" id="{E62969EF-D20B-4522-B3E5-D97441D433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1219200"/>
          <a:ext cx="1931988" cy="241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206" name="Clip" r:id="rId4" imgW="2768600" imgH="3467100" progId="MS_ClipArt_Gallery.2">
                  <p:embed/>
                </p:oleObj>
              </mc:Choice>
              <mc:Fallback>
                <p:oleObj name="Clip" r:id="rId4" imgW="2768600" imgH="3467100" progId="MS_ClipArt_Gallery.2">
                  <p:embed/>
                  <p:pic>
                    <p:nvPicPr>
                      <p:cNvPr id="150542" name="Object 2">
                        <a:extLst>
                          <a:ext uri="{FF2B5EF4-FFF2-40B4-BE49-F238E27FC236}">
                            <a16:creationId xmlns:a16="http://schemas.microsoft.com/office/drawing/2014/main" id="{E62969EF-D20B-4522-B3E5-D97441D433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1219200"/>
                        <a:ext cx="1931988" cy="241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15">
            <a:extLst>
              <a:ext uri="{FF2B5EF4-FFF2-40B4-BE49-F238E27FC236}">
                <a16:creationId xmlns:a16="http://schemas.microsoft.com/office/drawing/2014/main" id="{9B379C3C-4396-4D6D-B273-4DCC5F9F7071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1371600"/>
            <a:ext cx="1905000" cy="685800"/>
            <a:chOff x="2352" y="768"/>
            <a:chExt cx="1200" cy="1680"/>
          </a:xfrm>
        </p:grpSpPr>
        <p:sp>
          <p:nvSpPr>
            <p:cNvPr id="75810" name="Line 16">
              <a:extLst>
                <a:ext uri="{FF2B5EF4-FFF2-40B4-BE49-F238E27FC236}">
                  <a16:creationId xmlns:a16="http://schemas.microsoft.com/office/drawing/2014/main" id="{56EF0D27-67F4-4461-ABAB-AF7C2D3421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768"/>
              <a:ext cx="1056" cy="1584"/>
            </a:xfrm>
            <a:prstGeom prst="line">
              <a:avLst/>
            </a:prstGeom>
            <a:noFill/>
            <a:ln w="57150">
              <a:solidFill>
                <a:srgbClr val="FC012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11" name="Line 17">
              <a:extLst>
                <a:ext uri="{FF2B5EF4-FFF2-40B4-BE49-F238E27FC236}">
                  <a16:creationId xmlns:a16="http://schemas.microsoft.com/office/drawing/2014/main" id="{C3BD0DE7-0C5C-4B00-A88E-D4ECC6C9DD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768"/>
              <a:ext cx="1200" cy="1680"/>
            </a:xfrm>
            <a:prstGeom prst="line">
              <a:avLst/>
            </a:prstGeom>
            <a:noFill/>
            <a:ln w="57150">
              <a:solidFill>
                <a:srgbClr val="FC012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18">
            <a:extLst>
              <a:ext uri="{FF2B5EF4-FFF2-40B4-BE49-F238E27FC236}">
                <a16:creationId xmlns:a16="http://schemas.microsoft.com/office/drawing/2014/main" id="{41433D8B-0D29-481E-AE09-57311D26D2E7}"/>
              </a:ext>
            </a:extLst>
          </p:cNvPr>
          <p:cNvGrpSpPr>
            <a:grpSpLocks/>
          </p:cNvGrpSpPr>
          <p:nvPr/>
        </p:nvGrpSpPr>
        <p:grpSpPr bwMode="auto">
          <a:xfrm>
            <a:off x="5715000" y="3429000"/>
            <a:ext cx="1530350" cy="2325688"/>
            <a:chOff x="4080" y="810"/>
            <a:chExt cx="964" cy="1465"/>
          </a:xfrm>
        </p:grpSpPr>
        <p:grpSp>
          <p:nvGrpSpPr>
            <p:cNvPr id="75800" name="Group 19">
              <a:extLst>
                <a:ext uri="{FF2B5EF4-FFF2-40B4-BE49-F238E27FC236}">
                  <a16:creationId xmlns:a16="http://schemas.microsoft.com/office/drawing/2014/main" id="{2AEC739E-6DE6-4EFF-93C4-32997AA90EB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0" y="810"/>
              <a:ext cx="912" cy="1440"/>
              <a:chOff x="1536" y="2592"/>
              <a:chExt cx="864" cy="960"/>
            </a:xfrm>
          </p:grpSpPr>
          <p:sp>
            <p:nvSpPr>
              <p:cNvPr id="75807" name="Rectangle 20">
                <a:extLst>
                  <a:ext uri="{FF2B5EF4-FFF2-40B4-BE49-F238E27FC236}">
                    <a16:creationId xmlns:a16="http://schemas.microsoft.com/office/drawing/2014/main" id="{444882B9-972C-419E-ACD8-34539F331A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5808" name="Line 21">
                <a:extLst>
                  <a:ext uri="{FF2B5EF4-FFF2-40B4-BE49-F238E27FC236}">
                    <a16:creationId xmlns:a16="http://schemas.microsoft.com/office/drawing/2014/main" id="{BFC1ABC5-3D6A-4875-AB14-04102E3396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809" name="Line 22">
                <a:extLst>
                  <a:ext uri="{FF2B5EF4-FFF2-40B4-BE49-F238E27FC236}">
                    <a16:creationId xmlns:a16="http://schemas.microsoft.com/office/drawing/2014/main" id="{D402B474-AC1B-4D9B-9944-71E3FC63D2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5801" name="Text Box 23">
              <a:extLst>
                <a:ext uri="{FF2B5EF4-FFF2-40B4-BE49-F238E27FC236}">
                  <a16:creationId xmlns:a16="http://schemas.microsoft.com/office/drawing/2014/main" id="{3A6AB0B9-8770-4ABC-8E29-4B20CD05D1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2" y="906"/>
              <a:ext cx="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Account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75802" name="Text Box 24">
              <a:extLst>
                <a:ext uri="{FF2B5EF4-FFF2-40B4-BE49-F238E27FC236}">
                  <a16:creationId xmlns:a16="http://schemas.microsoft.com/office/drawing/2014/main" id="{F2ED08C6-63B0-48FF-9E15-C1E8D59BE0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228"/>
              <a:ext cx="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Amount</a:t>
              </a:r>
            </a:p>
          </p:txBody>
        </p:sp>
        <p:sp>
          <p:nvSpPr>
            <p:cNvPr id="75803" name="Text Box 25">
              <a:extLst>
                <a:ext uri="{FF2B5EF4-FFF2-40B4-BE49-F238E27FC236}">
                  <a16:creationId xmlns:a16="http://schemas.microsoft.com/office/drawing/2014/main" id="{9C1A48EA-7A5F-49D0-8C23-3E052FBBA9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468"/>
              <a:ext cx="9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</a:t>
              </a:r>
            </a:p>
          </p:txBody>
        </p:sp>
        <p:sp>
          <p:nvSpPr>
            <p:cNvPr id="75804" name="Text Box 26">
              <a:extLst>
                <a:ext uri="{FF2B5EF4-FFF2-40B4-BE49-F238E27FC236}">
                  <a16:creationId xmlns:a16="http://schemas.microsoft.com/office/drawing/2014/main" id="{BEEE97EA-CD3B-4AFB-9AFF-B42FE8A2EE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756"/>
              <a:ext cx="7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Deposit()</a:t>
              </a:r>
            </a:p>
          </p:txBody>
        </p:sp>
        <p:sp>
          <p:nvSpPr>
            <p:cNvPr id="75805" name="Text Box 27">
              <a:extLst>
                <a:ext uri="{FF2B5EF4-FFF2-40B4-BE49-F238E27FC236}">
                  <a16:creationId xmlns:a16="http://schemas.microsoft.com/office/drawing/2014/main" id="{2DEBAEDD-DACC-4E65-8DA2-C75943EE85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900"/>
              <a:ext cx="8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Withdraw()</a:t>
              </a:r>
            </a:p>
          </p:txBody>
        </p:sp>
        <p:sp>
          <p:nvSpPr>
            <p:cNvPr id="75806" name="Text Box 28">
              <a:extLst>
                <a:ext uri="{FF2B5EF4-FFF2-40B4-BE49-F238E27FC236}">
                  <a16:creationId xmlns:a16="http://schemas.microsoft.com/office/drawing/2014/main" id="{D46D28E2-D762-479C-86B8-35BEB77766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2044"/>
              <a:ext cx="9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GetBalance()</a:t>
              </a:r>
            </a:p>
          </p:txBody>
        </p:sp>
      </p:grpSp>
      <p:sp>
        <p:nvSpPr>
          <p:cNvPr id="75784" name="Text Box 29">
            <a:extLst>
              <a:ext uri="{FF2B5EF4-FFF2-40B4-BE49-F238E27FC236}">
                <a16:creationId xmlns:a16="http://schemas.microsoft.com/office/drawing/2014/main" id="{5BDCFBA9-0C19-473C-8FF4-E94A53D33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238" y="5083175"/>
            <a:ext cx="31067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1800">
              <a:solidFill>
                <a:schemeClr val="tx1"/>
              </a:solidFill>
              <a:latin typeface="Palatino" charset="0"/>
            </a:endParaRPr>
          </a:p>
          <a:p>
            <a:r>
              <a:rPr lang="en-US" altLang="en-US" sz="1800">
                <a:solidFill>
                  <a:schemeClr val="tx1"/>
                </a:solidFill>
                <a:latin typeface="Verdana" panose="020B0604030504040204" pitchFamily="34" charset="0"/>
              </a:rPr>
              <a:t>Is </a:t>
            </a:r>
            <a:r>
              <a:rPr lang="en-US" altLang="en-US" sz="1800">
                <a:solidFill>
                  <a:srgbClr val="3333FF"/>
                </a:solidFill>
                <a:latin typeface="Verdana" panose="020B0604030504040204" pitchFamily="34" charset="0"/>
              </a:rPr>
              <a:t>Foo</a:t>
            </a:r>
            <a:r>
              <a:rPr lang="en-US" altLang="en-US" sz="1800">
                <a:solidFill>
                  <a:schemeClr val="tx1"/>
                </a:solidFill>
                <a:latin typeface="Verdana" panose="020B0604030504040204" pitchFamily="34" charset="0"/>
              </a:rPr>
              <a:t> the right name?</a:t>
            </a:r>
          </a:p>
        </p:txBody>
      </p:sp>
      <p:grpSp>
        <p:nvGrpSpPr>
          <p:cNvPr id="7" name="Group 30">
            <a:extLst>
              <a:ext uri="{FF2B5EF4-FFF2-40B4-BE49-F238E27FC236}">
                <a16:creationId xmlns:a16="http://schemas.microsoft.com/office/drawing/2014/main" id="{7A3FDD3F-77DA-427F-B705-7CBA8A62A904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1371600"/>
            <a:ext cx="2428875" cy="2325688"/>
            <a:chOff x="192" y="864"/>
            <a:chExt cx="1530" cy="1465"/>
          </a:xfrm>
        </p:grpSpPr>
        <p:grpSp>
          <p:nvGrpSpPr>
            <p:cNvPr id="75789" name="Group 31">
              <a:extLst>
                <a:ext uri="{FF2B5EF4-FFF2-40B4-BE49-F238E27FC236}">
                  <a16:creationId xmlns:a16="http://schemas.microsoft.com/office/drawing/2014/main" id="{FE6F951B-D7E3-4109-98F8-C34A49684F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8" y="864"/>
              <a:ext cx="964" cy="1465"/>
              <a:chOff x="998" y="864"/>
              <a:chExt cx="964" cy="1465"/>
            </a:xfrm>
          </p:grpSpPr>
          <p:grpSp>
            <p:nvGrpSpPr>
              <p:cNvPr id="75790" name="Group 32">
                <a:extLst>
                  <a:ext uri="{FF2B5EF4-FFF2-40B4-BE49-F238E27FC236}">
                    <a16:creationId xmlns:a16="http://schemas.microsoft.com/office/drawing/2014/main" id="{5B4D8322-FFDA-4008-9686-7EB774AF4E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" y="864"/>
                <a:ext cx="912" cy="1440"/>
                <a:chOff x="1536" y="2592"/>
                <a:chExt cx="864" cy="960"/>
              </a:xfrm>
            </p:grpSpPr>
            <p:sp>
              <p:nvSpPr>
                <p:cNvPr id="75797" name="Rectangle 33">
                  <a:extLst>
                    <a:ext uri="{FF2B5EF4-FFF2-40B4-BE49-F238E27FC236}">
                      <a16:creationId xmlns:a16="http://schemas.microsoft.com/office/drawing/2014/main" id="{97155330-4F18-4513-9371-2694EB7F72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5798" name="Line 34">
                  <a:extLst>
                    <a:ext uri="{FF2B5EF4-FFF2-40B4-BE49-F238E27FC236}">
                      <a16:creationId xmlns:a16="http://schemas.microsoft.com/office/drawing/2014/main" id="{F665EE5C-9AEB-47B3-8CB7-60E5373671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5799" name="Line 35">
                  <a:extLst>
                    <a:ext uri="{FF2B5EF4-FFF2-40B4-BE49-F238E27FC236}">
                      <a16:creationId xmlns:a16="http://schemas.microsoft.com/office/drawing/2014/main" id="{6459F79E-6D3A-4482-953E-640E0F788D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5791" name="Text Box 36">
                <a:extLst>
                  <a:ext uri="{FF2B5EF4-FFF2-40B4-BE49-F238E27FC236}">
                    <a16:creationId xmlns:a16="http://schemas.microsoft.com/office/drawing/2014/main" id="{32B40D37-52A1-4C34-AA75-33430E3778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0" y="960"/>
                <a:ext cx="61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“Dada”</a:t>
                </a:r>
              </a:p>
            </p:txBody>
          </p:sp>
          <p:sp>
            <p:nvSpPr>
              <p:cNvPr id="75792" name="Text Box 37">
                <a:extLst>
                  <a:ext uri="{FF2B5EF4-FFF2-40B4-BE49-F238E27FC236}">
                    <a16:creationId xmlns:a16="http://schemas.microsoft.com/office/drawing/2014/main" id="{11F9BD7D-B7A2-4BD8-864A-902DD8A77A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8" y="1282"/>
                <a:ext cx="6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Amount</a:t>
                </a:r>
              </a:p>
            </p:txBody>
          </p:sp>
          <p:sp>
            <p:nvSpPr>
              <p:cNvPr id="75793" name="Text Box 38">
                <a:extLst>
                  <a:ext uri="{FF2B5EF4-FFF2-40B4-BE49-F238E27FC236}">
                    <a16:creationId xmlns:a16="http://schemas.microsoft.com/office/drawing/2014/main" id="{98C0AE3F-1FE4-4C85-9287-ACAD08511BD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8" y="1522"/>
                <a:ext cx="90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CustomerId</a:t>
                </a:r>
              </a:p>
            </p:txBody>
          </p:sp>
          <p:sp>
            <p:nvSpPr>
              <p:cNvPr id="75794" name="Text Box 39">
                <a:extLst>
                  <a:ext uri="{FF2B5EF4-FFF2-40B4-BE49-F238E27FC236}">
                    <a16:creationId xmlns:a16="http://schemas.microsoft.com/office/drawing/2014/main" id="{9569E013-7F3B-47E7-97FA-159C6AEE9E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8" y="1810"/>
                <a:ext cx="7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Deposit()</a:t>
                </a:r>
              </a:p>
            </p:txBody>
          </p:sp>
          <p:sp>
            <p:nvSpPr>
              <p:cNvPr id="75795" name="Text Box 40">
                <a:extLst>
                  <a:ext uri="{FF2B5EF4-FFF2-40B4-BE49-F238E27FC236}">
                    <a16:creationId xmlns:a16="http://schemas.microsoft.com/office/drawing/2014/main" id="{88598DAF-9D89-4756-8FDA-38739FF36D5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8" y="1954"/>
                <a:ext cx="8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Withdraw()</a:t>
                </a:r>
              </a:p>
            </p:txBody>
          </p:sp>
          <p:sp>
            <p:nvSpPr>
              <p:cNvPr id="75796" name="Text Box 41">
                <a:extLst>
                  <a:ext uri="{FF2B5EF4-FFF2-40B4-BE49-F238E27FC236}">
                    <a16:creationId xmlns:a16="http://schemas.microsoft.com/office/drawing/2014/main" id="{BB8A3C17-093C-4827-B578-26E75225CE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8" y="2098"/>
                <a:ext cx="96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GetBalance()</a:t>
                </a:r>
              </a:p>
            </p:txBody>
          </p:sp>
        </p:grpSp>
        <p:graphicFrame>
          <p:nvGraphicFramePr>
            <p:cNvPr id="75779" name="Object 3">
              <a:extLst>
                <a:ext uri="{FF2B5EF4-FFF2-40B4-BE49-F238E27FC236}">
                  <a16:creationId xmlns:a16="http://schemas.microsoft.com/office/drawing/2014/main" id="{60D19C43-46B7-4F9A-BB23-FB8ED8A1A88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92" y="1104"/>
            <a:ext cx="543" cy="8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6207" r:id="rId6" imgW="862584" imgH="1389888" progId="MS_ClipArt_Gallery">
                    <p:embed/>
                  </p:oleObj>
                </mc:Choice>
                <mc:Fallback>
                  <p:oleObj r:id="rId6" imgW="862584" imgH="1389888" progId="MS_ClipArt_Gallery">
                    <p:embed/>
                    <p:pic>
                      <p:nvPicPr>
                        <p:cNvPr id="75779" name="Object 3">
                          <a:extLst>
                            <a:ext uri="{FF2B5EF4-FFF2-40B4-BE49-F238E27FC236}">
                              <a16:creationId xmlns:a16="http://schemas.microsoft.com/office/drawing/2014/main" id="{60D19C43-46B7-4F9A-BB23-FB8ED8A1A882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" y="1104"/>
                          <a:ext cx="543" cy="8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3">
            <a:extLst>
              <a:ext uri="{FF2B5EF4-FFF2-40B4-BE49-F238E27FC236}">
                <a16:creationId xmlns:a16="http://schemas.microsoft.com/office/drawing/2014/main" id="{9DC4637E-65AD-44B2-96DF-D0763A10A122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1295400"/>
            <a:ext cx="1752600" cy="762000"/>
            <a:chOff x="2352" y="768"/>
            <a:chExt cx="1200" cy="1680"/>
          </a:xfrm>
        </p:grpSpPr>
        <p:sp>
          <p:nvSpPr>
            <p:cNvPr id="75787" name="Line 44">
              <a:extLst>
                <a:ext uri="{FF2B5EF4-FFF2-40B4-BE49-F238E27FC236}">
                  <a16:creationId xmlns:a16="http://schemas.microsoft.com/office/drawing/2014/main" id="{5CB277F3-1405-4059-9A03-322D0EAE6F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48" y="768"/>
              <a:ext cx="1056" cy="1584"/>
            </a:xfrm>
            <a:prstGeom prst="line">
              <a:avLst/>
            </a:prstGeom>
            <a:noFill/>
            <a:ln w="57150">
              <a:solidFill>
                <a:srgbClr val="FC012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88" name="Line 45">
              <a:extLst>
                <a:ext uri="{FF2B5EF4-FFF2-40B4-BE49-F238E27FC236}">
                  <a16:creationId xmlns:a16="http://schemas.microsoft.com/office/drawing/2014/main" id="{31E055B3-9965-458B-AC50-DD9C0767D0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768"/>
              <a:ext cx="1200" cy="1680"/>
            </a:xfrm>
            <a:prstGeom prst="line">
              <a:avLst/>
            </a:prstGeom>
            <a:noFill/>
            <a:ln w="57150">
              <a:solidFill>
                <a:srgbClr val="FC012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6601B79F-C30A-4890-BC36-745366770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31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D03A0CC5-69E3-4A54-8702-B4C1E5ABD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Object Modeling in Practice: More classes</a:t>
            </a:r>
          </a:p>
        </p:txBody>
      </p:sp>
      <p:grpSp>
        <p:nvGrpSpPr>
          <p:cNvPr id="77827" name="Group 3">
            <a:extLst>
              <a:ext uri="{FF2B5EF4-FFF2-40B4-BE49-F238E27FC236}">
                <a16:creationId xmlns:a16="http://schemas.microsoft.com/office/drawing/2014/main" id="{F02046AD-9668-4504-B44E-5E998389D5B5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1219200"/>
            <a:ext cx="1530350" cy="2325688"/>
            <a:chOff x="2304" y="768"/>
            <a:chExt cx="964" cy="1465"/>
          </a:xfrm>
        </p:grpSpPr>
        <p:grpSp>
          <p:nvGrpSpPr>
            <p:cNvPr id="77849" name="Group 4">
              <a:extLst>
                <a:ext uri="{FF2B5EF4-FFF2-40B4-BE49-F238E27FC236}">
                  <a16:creationId xmlns:a16="http://schemas.microsoft.com/office/drawing/2014/main" id="{E0A78514-BB76-4E68-BAE0-C5B859B372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4" y="768"/>
              <a:ext cx="912" cy="1440"/>
              <a:chOff x="1536" y="2592"/>
              <a:chExt cx="864" cy="960"/>
            </a:xfrm>
          </p:grpSpPr>
          <p:sp>
            <p:nvSpPr>
              <p:cNvPr id="77855" name="Rectangle 5">
                <a:extLst>
                  <a:ext uri="{FF2B5EF4-FFF2-40B4-BE49-F238E27FC236}">
                    <a16:creationId xmlns:a16="http://schemas.microsoft.com/office/drawing/2014/main" id="{9570C87C-C0E4-4CF5-9510-0C3DDE5E07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7856" name="Line 6">
                <a:extLst>
                  <a:ext uri="{FF2B5EF4-FFF2-40B4-BE49-F238E27FC236}">
                    <a16:creationId xmlns:a16="http://schemas.microsoft.com/office/drawing/2014/main" id="{4462DE9F-C746-4F0C-9448-41CC17CA6E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857" name="Line 7">
                <a:extLst>
                  <a:ext uri="{FF2B5EF4-FFF2-40B4-BE49-F238E27FC236}">
                    <a16:creationId xmlns:a16="http://schemas.microsoft.com/office/drawing/2014/main" id="{1D88E080-82A0-40A9-B4DC-A3ACC578DC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7850" name="Text Box 8">
              <a:extLst>
                <a:ext uri="{FF2B5EF4-FFF2-40B4-BE49-F238E27FC236}">
                  <a16:creationId xmlns:a16="http://schemas.microsoft.com/office/drawing/2014/main" id="{EC3DFBBA-01A0-432E-A299-11E23F4418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06" y="864"/>
              <a:ext cx="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Account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77851" name="Text Box 9">
              <a:extLst>
                <a:ext uri="{FF2B5EF4-FFF2-40B4-BE49-F238E27FC236}">
                  <a16:creationId xmlns:a16="http://schemas.microsoft.com/office/drawing/2014/main" id="{AE0C7EC2-D892-4F3D-9700-5C71F88CCD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186"/>
              <a:ext cx="6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Amount</a:t>
              </a:r>
            </a:p>
          </p:txBody>
        </p:sp>
        <p:sp>
          <p:nvSpPr>
            <p:cNvPr id="77852" name="Text Box 10">
              <a:extLst>
                <a:ext uri="{FF2B5EF4-FFF2-40B4-BE49-F238E27FC236}">
                  <a16:creationId xmlns:a16="http://schemas.microsoft.com/office/drawing/2014/main" id="{6FEB025D-6784-4BB2-8FC2-AD77344215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714"/>
              <a:ext cx="73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Deposit()</a:t>
              </a:r>
            </a:p>
          </p:txBody>
        </p:sp>
        <p:sp>
          <p:nvSpPr>
            <p:cNvPr id="77853" name="Text Box 11">
              <a:extLst>
                <a:ext uri="{FF2B5EF4-FFF2-40B4-BE49-F238E27FC236}">
                  <a16:creationId xmlns:a16="http://schemas.microsoft.com/office/drawing/2014/main" id="{52C4B280-4F61-4029-9A31-AD15106D88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858"/>
              <a:ext cx="8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Withdraw()</a:t>
              </a:r>
            </a:p>
          </p:txBody>
        </p:sp>
        <p:sp>
          <p:nvSpPr>
            <p:cNvPr id="77854" name="Text Box 12">
              <a:extLst>
                <a:ext uri="{FF2B5EF4-FFF2-40B4-BE49-F238E27FC236}">
                  <a16:creationId xmlns:a16="http://schemas.microsoft.com/office/drawing/2014/main" id="{6F5C9C1E-8476-4FF9-8CF2-42FB41FE21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002"/>
              <a:ext cx="9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GetBalance()</a:t>
              </a:r>
            </a:p>
          </p:txBody>
        </p:sp>
      </p:grpSp>
      <p:grpSp>
        <p:nvGrpSpPr>
          <p:cNvPr id="4" name="Group 13">
            <a:extLst>
              <a:ext uri="{FF2B5EF4-FFF2-40B4-BE49-F238E27FC236}">
                <a16:creationId xmlns:a16="http://schemas.microsoft.com/office/drawing/2014/main" id="{69D66BEB-8090-4A5C-BD14-C671A367D98C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828800"/>
            <a:ext cx="1463675" cy="2286000"/>
            <a:chOff x="4080" y="1104"/>
            <a:chExt cx="922" cy="1440"/>
          </a:xfrm>
        </p:grpSpPr>
        <p:grpSp>
          <p:nvGrpSpPr>
            <p:cNvPr id="77843" name="Group 14">
              <a:extLst>
                <a:ext uri="{FF2B5EF4-FFF2-40B4-BE49-F238E27FC236}">
                  <a16:creationId xmlns:a16="http://schemas.microsoft.com/office/drawing/2014/main" id="{0D7493B5-9B2F-4FF6-9E3A-A760AA8974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0" y="1104"/>
              <a:ext cx="912" cy="1440"/>
              <a:chOff x="1536" y="2592"/>
              <a:chExt cx="864" cy="960"/>
            </a:xfrm>
          </p:grpSpPr>
          <p:sp>
            <p:nvSpPr>
              <p:cNvPr id="77846" name="Rectangle 15">
                <a:extLst>
                  <a:ext uri="{FF2B5EF4-FFF2-40B4-BE49-F238E27FC236}">
                    <a16:creationId xmlns:a16="http://schemas.microsoft.com/office/drawing/2014/main" id="{9E032DE3-1460-4246-BA4C-6685F5DD0A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7847" name="Line 16">
                <a:extLst>
                  <a:ext uri="{FF2B5EF4-FFF2-40B4-BE49-F238E27FC236}">
                    <a16:creationId xmlns:a16="http://schemas.microsoft.com/office/drawing/2014/main" id="{6BA713EB-8E87-486A-A503-B388143CA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848" name="Line 17">
                <a:extLst>
                  <a:ext uri="{FF2B5EF4-FFF2-40B4-BE49-F238E27FC236}">
                    <a16:creationId xmlns:a16="http://schemas.microsoft.com/office/drawing/2014/main" id="{D3662609-AFFB-497D-93D3-6A59BD09ED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7844" name="Text Box 18">
              <a:extLst>
                <a:ext uri="{FF2B5EF4-FFF2-40B4-BE49-F238E27FC236}">
                  <a16:creationId xmlns:a16="http://schemas.microsoft.com/office/drawing/2014/main" id="{3EC630A1-9465-47E3-8276-7E18DA1E76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200"/>
              <a:ext cx="7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Customer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77845" name="Text Box 19">
              <a:extLst>
                <a:ext uri="{FF2B5EF4-FFF2-40B4-BE49-F238E27FC236}">
                  <a16:creationId xmlns:a16="http://schemas.microsoft.com/office/drawing/2014/main" id="{1B19F53F-9C54-438D-829C-8915503AF9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522"/>
              <a:ext cx="5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Name</a:t>
              </a:r>
            </a:p>
          </p:txBody>
        </p:sp>
      </p:grpSp>
      <p:sp>
        <p:nvSpPr>
          <p:cNvPr id="151572" name="Text Box 20">
            <a:extLst>
              <a:ext uri="{FF2B5EF4-FFF2-40B4-BE49-F238E27FC236}">
                <a16:creationId xmlns:a16="http://schemas.microsoft.com/office/drawing/2014/main" id="{A186ABFA-6196-4D50-B903-FED5F7C8C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819400"/>
            <a:ext cx="1428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rgbClr val="FC0128"/>
                </a:solidFill>
                <a:latin typeface="Palatino" charset="0"/>
              </a:rPr>
              <a:t>CustomerId</a:t>
            </a:r>
          </a:p>
        </p:txBody>
      </p:sp>
      <p:sp>
        <p:nvSpPr>
          <p:cNvPr id="77830" name="Text Box 22">
            <a:extLst>
              <a:ext uri="{FF2B5EF4-FFF2-40B4-BE49-F238E27FC236}">
                <a16:creationId xmlns:a16="http://schemas.microsoft.com/office/drawing/2014/main" id="{705774E4-F154-4A51-A488-7A2A94199B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286000"/>
            <a:ext cx="14287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chemeClr val="tx1"/>
                </a:solidFill>
                <a:latin typeface="Palatino" charset="0"/>
              </a:rPr>
              <a:t>CustomerId</a:t>
            </a:r>
          </a:p>
        </p:txBody>
      </p:sp>
      <p:grpSp>
        <p:nvGrpSpPr>
          <p:cNvPr id="6" name="Group 23">
            <a:extLst>
              <a:ext uri="{FF2B5EF4-FFF2-40B4-BE49-F238E27FC236}">
                <a16:creationId xmlns:a16="http://schemas.microsoft.com/office/drawing/2014/main" id="{810C8939-C29B-4E59-AB72-417562BC167B}"/>
              </a:ext>
            </a:extLst>
          </p:cNvPr>
          <p:cNvGrpSpPr>
            <a:grpSpLocks/>
          </p:cNvGrpSpPr>
          <p:nvPr/>
        </p:nvGrpSpPr>
        <p:grpSpPr bwMode="auto">
          <a:xfrm>
            <a:off x="3752850" y="2243138"/>
            <a:ext cx="1276350" cy="444500"/>
            <a:chOff x="1056" y="1545"/>
            <a:chExt cx="847" cy="613"/>
          </a:xfrm>
        </p:grpSpPr>
        <p:sp>
          <p:nvSpPr>
            <p:cNvPr id="77841" name="Text Box 24">
              <a:extLst>
                <a:ext uri="{FF2B5EF4-FFF2-40B4-BE49-F238E27FC236}">
                  <a16:creationId xmlns:a16="http://schemas.microsoft.com/office/drawing/2014/main" id="{63AE6C1A-18BD-43CC-A470-5768DE4647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729"/>
              <a:ext cx="804" cy="42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80000"/>
                </a:lnSpc>
              </a:pPr>
              <a:endParaRPr lang="de-DE" altLang="en-US" sz="1800">
                <a:solidFill>
                  <a:srgbClr val="FC0128"/>
                </a:solidFill>
                <a:latin typeface="Palatino" charset="0"/>
              </a:endParaRPr>
            </a:p>
          </p:txBody>
        </p:sp>
        <p:sp>
          <p:nvSpPr>
            <p:cNvPr id="77842" name="Text Box 25">
              <a:extLst>
                <a:ext uri="{FF2B5EF4-FFF2-40B4-BE49-F238E27FC236}">
                  <a16:creationId xmlns:a16="http://schemas.microsoft.com/office/drawing/2014/main" id="{DC2EA74B-7B1B-4628-9839-B07B102A2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545"/>
              <a:ext cx="847" cy="42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>
                <a:lnSpc>
                  <a:spcPct val="80000"/>
                </a:lnSpc>
              </a:pPr>
              <a:r>
                <a:rPr lang="en-US" altLang="en-US" sz="1800">
                  <a:solidFill>
                    <a:srgbClr val="FC0128"/>
                  </a:solidFill>
                  <a:latin typeface="Palatino" charset="0"/>
                </a:rPr>
                <a:t>AccountId</a:t>
              </a:r>
            </a:p>
          </p:txBody>
        </p:sp>
      </p:grpSp>
      <p:grpSp>
        <p:nvGrpSpPr>
          <p:cNvPr id="7" name="Group 27">
            <a:extLst>
              <a:ext uri="{FF2B5EF4-FFF2-40B4-BE49-F238E27FC236}">
                <a16:creationId xmlns:a16="http://schemas.microsoft.com/office/drawing/2014/main" id="{D699EEF2-B4A7-42E6-A273-91171D657199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133600"/>
            <a:ext cx="1463675" cy="2286000"/>
            <a:chOff x="4080" y="1104"/>
            <a:chExt cx="922" cy="1440"/>
          </a:xfrm>
        </p:grpSpPr>
        <p:grpSp>
          <p:nvGrpSpPr>
            <p:cNvPr id="77835" name="Group 28">
              <a:extLst>
                <a:ext uri="{FF2B5EF4-FFF2-40B4-BE49-F238E27FC236}">
                  <a16:creationId xmlns:a16="http://schemas.microsoft.com/office/drawing/2014/main" id="{ABCF585C-5C9E-4118-AF17-D33366716D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90" y="1104"/>
              <a:ext cx="912" cy="1440"/>
              <a:chOff x="1536" y="2592"/>
              <a:chExt cx="864" cy="960"/>
            </a:xfrm>
          </p:grpSpPr>
          <p:sp>
            <p:nvSpPr>
              <p:cNvPr id="77838" name="Rectangle 29">
                <a:extLst>
                  <a:ext uri="{FF2B5EF4-FFF2-40B4-BE49-F238E27FC236}">
                    <a16:creationId xmlns:a16="http://schemas.microsoft.com/office/drawing/2014/main" id="{647A1E06-8E64-4A06-B9B2-5068FE7F49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77839" name="Line 30">
                <a:extLst>
                  <a:ext uri="{FF2B5EF4-FFF2-40B4-BE49-F238E27FC236}">
                    <a16:creationId xmlns:a16="http://schemas.microsoft.com/office/drawing/2014/main" id="{1BF3B33D-A849-4BBF-8DE9-7EE5446027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840" name="Line 31">
                <a:extLst>
                  <a:ext uri="{FF2B5EF4-FFF2-40B4-BE49-F238E27FC236}">
                    <a16:creationId xmlns:a16="http://schemas.microsoft.com/office/drawing/2014/main" id="{A78DAC87-0EA1-4651-B38A-B1EB838FCA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7836" name="Text Box 32">
              <a:extLst>
                <a:ext uri="{FF2B5EF4-FFF2-40B4-BE49-F238E27FC236}">
                  <a16:creationId xmlns:a16="http://schemas.microsoft.com/office/drawing/2014/main" id="{A8442289-4369-4983-B19E-1AE9698F1A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200"/>
              <a:ext cx="4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Bank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77837" name="Text Box 33">
              <a:extLst>
                <a:ext uri="{FF2B5EF4-FFF2-40B4-BE49-F238E27FC236}">
                  <a16:creationId xmlns:a16="http://schemas.microsoft.com/office/drawing/2014/main" id="{185D4820-B43D-45F9-B8AD-42891014CD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522"/>
              <a:ext cx="5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Name</a:t>
              </a:r>
            </a:p>
          </p:txBody>
        </p:sp>
      </p:grpSp>
      <p:sp>
        <p:nvSpPr>
          <p:cNvPr id="151586" name="Text Box 34">
            <a:extLst>
              <a:ext uri="{FF2B5EF4-FFF2-40B4-BE49-F238E27FC236}">
                <a16:creationId xmlns:a16="http://schemas.microsoft.com/office/drawing/2014/main" id="{B213931E-6CAF-4A92-99AD-836D12A43E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836" y="4113076"/>
            <a:ext cx="3001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>
                <a:solidFill>
                  <a:srgbClr val="3333FF"/>
                </a:solidFill>
                <a:latin typeface="Palatino" charset="0"/>
              </a:rPr>
              <a:t>1) Find New Classes</a:t>
            </a:r>
            <a:endParaRPr lang="en-US" altLang="en-US" dirty="0">
              <a:solidFill>
                <a:schemeClr val="tx1"/>
              </a:solidFill>
              <a:latin typeface="Palatino" charset="0"/>
            </a:endParaRPr>
          </a:p>
        </p:txBody>
      </p:sp>
      <p:sp>
        <p:nvSpPr>
          <p:cNvPr id="151587" name="Text Box 35">
            <a:extLst>
              <a:ext uri="{FF2B5EF4-FFF2-40B4-BE49-F238E27FC236}">
                <a16:creationId xmlns:a16="http://schemas.microsoft.com/office/drawing/2014/main" id="{9D51F7CC-20F7-4B60-9707-CB586E3C84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7704" y="4725144"/>
            <a:ext cx="6092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dirty="0">
                <a:solidFill>
                  <a:srgbClr val="3333FF"/>
                </a:solidFill>
                <a:latin typeface="Palatino" charset="0"/>
              </a:rPr>
              <a:t>2) Review Names, Attributes and Methods</a:t>
            </a:r>
            <a:endParaRPr lang="en-US" altLang="en-US" dirty="0">
              <a:solidFill>
                <a:srgbClr val="C0C0C0"/>
              </a:solidFill>
              <a:latin typeface="Palatino" charset="0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96D5B5-C86A-40B8-B6C8-221101A81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32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1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72" grpId="0" build="p" autoUpdateAnimBg="0" advAuto="5000"/>
      <p:bldP spid="151586" grpId="0" build="p" autoUpdateAnimBg="0"/>
      <p:bldP spid="151587" grpId="0" build="p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94494F90-FBAD-4012-9929-7E737F9D26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Object Modeling in Practice: Associations</a:t>
            </a:r>
          </a:p>
        </p:txBody>
      </p:sp>
      <p:grpSp>
        <p:nvGrpSpPr>
          <p:cNvPr id="79875" name="Group 3">
            <a:extLst>
              <a:ext uri="{FF2B5EF4-FFF2-40B4-BE49-F238E27FC236}">
                <a16:creationId xmlns:a16="http://schemas.microsoft.com/office/drawing/2014/main" id="{6B8EA1DF-0343-44FF-8A63-F963575C8C56}"/>
              </a:ext>
            </a:extLst>
          </p:cNvPr>
          <p:cNvGrpSpPr>
            <a:grpSpLocks/>
          </p:cNvGrpSpPr>
          <p:nvPr/>
        </p:nvGrpSpPr>
        <p:grpSpPr bwMode="auto">
          <a:xfrm>
            <a:off x="889000" y="1219200"/>
            <a:ext cx="7407275" cy="3200400"/>
            <a:chOff x="576" y="768"/>
            <a:chExt cx="4666" cy="2016"/>
          </a:xfrm>
        </p:grpSpPr>
        <p:grpSp>
          <p:nvGrpSpPr>
            <p:cNvPr id="79893" name="Group 4">
              <a:extLst>
                <a:ext uri="{FF2B5EF4-FFF2-40B4-BE49-F238E27FC236}">
                  <a16:creationId xmlns:a16="http://schemas.microsoft.com/office/drawing/2014/main" id="{77461DD7-FD51-4555-B188-06402B26E1A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768"/>
              <a:ext cx="964" cy="1465"/>
              <a:chOff x="2304" y="768"/>
              <a:chExt cx="964" cy="1465"/>
            </a:xfrm>
          </p:grpSpPr>
          <p:grpSp>
            <p:nvGrpSpPr>
              <p:cNvPr id="79913" name="Group 5">
                <a:extLst>
                  <a:ext uri="{FF2B5EF4-FFF2-40B4-BE49-F238E27FC236}">
                    <a16:creationId xmlns:a16="http://schemas.microsoft.com/office/drawing/2014/main" id="{6E105834-3A03-4AC2-9AC0-2266BACE59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14" y="768"/>
                <a:ext cx="912" cy="1440"/>
                <a:chOff x="1536" y="2592"/>
                <a:chExt cx="864" cy="960"/>
              </a:xfrm>
            </p:grpSpPr>
            <p:sp>
              <p:nvSpPr>
                <p:cNvPr id="79919" name="Rectangle 6">
                  <a:extLst>
                    <a:ext uri="{FF2B5EF4-FFF2-40B4-BE49-F238E27FC236}">
                      <a16:creationId xmlns:a16="http://schemas.microsoft.com/office/drawing/2014/main" id="{504BD2B0-D913-4AD9-821C-9C1E56CE88D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9920" name="Line 7">
                  <a:extLst>
                    <a:ext uri="{FF2B5EF4-FFF2-40B4-BE49-F238E27FC236}">
                      <a16:creationId xmlns:a16="http://schemas.microsoft.com/office/drawing/2014/main" id="{D0865D03-5CD3-4FCC-BD7C-815268858C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921" name="Line 8">
                  <a:extLst>
                    <a:ext uri="{FF2B5EF4-FFF2-40B4-BE49-F238E27FC236}">
                      <a16:creationId xmlns:a16="http://schemas.microsoft.com/office/drawing/2014/main" id="{AF8F3C17-7657-4F66-A221-0DC96EAE59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9914" name="Text Box 9">
                <a:extLst>
                  <a:ext uri="{FF2B5EF4-FFF2-40B4-BE49-F238E27FC236}">
                    <a16:creationId xmlns:a16="http://schemas.microsoft.com/office/drawing/2014/main" id="{1E57108F-25F4-427A-900B-72ACEB46D9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6" y="864"/>
                <a:ext cx="6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Account</a:t>
                </a:r>
                <a:endParaRPr lang="en-US" altLang="en-US" sz="1800">
                  <a:solidFill>
                    <a:schemeClr val="tx1"/>
                  </a:solidFill>
                  <a:latin typeface="Palatino" charset="0"/>
                </a:endParaRPr>
              </a:p>
            </p:txBody>
          </p:sp>
          <p:sp>
            <p:nvSpPr>
              <p:cNvPr id="79915" name="Text Box 10">
                <a:extLst>
                  <a:ext uri="{FF2B5EF4-FFF2-40B4-BE49-F238E27FC236}">
                    <a16:creationId xmlns:a16="http://schemas.microsoft.com/office/drawing/2014/main" id="{87296F54-DA8D-4D71-AFA8-9AC18F4D33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186"/>
                <a:ext cx="6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Amount</a:t>
                </a:r>
              </a:p>
            </p:txBody>
          </p:sp>
          <p:sp>
            <p:nvSpPr>
              <p:cNvPr id="79916" name="Text Box 11">
                <a:extLst>
                  <a:ext uri="{FF2B5EF4-FFF2-40B4-BE49-F238E27FC236}">
                    <a16:creationId xmlns:a16="http://schemas.microsoft.com/office/drawing/2014/main" id="{1F81BD2B-DCCF-47E0-A93E-87B2B9A158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714"/>
                <a:ext cx="7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Deposit()</a:t>
                </a:r>
              </a:p>
            </p:txBody>
          </p:sp>
          <p:sp>
            <p:nvSpPr>
              <p:cNvPr id="79917" name="Text Box 12">
                <a:extLst>
                  <a:ext uri="{FF2B5EF4-FFF2-40B4-BE49-F238E27FC236}">
                    <a16:creationId xmlns:a16="http://schemas.microsoft.com/office/drawing/2014/main" id="{D7A90F76-A7F7-4302-97DD-1619B1FFEE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858"/>
                <a:ext cx="8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Withdraw()</a:t>
                </a:r>
              </a:p>
            </p:txBody>
          </p:sp>
          <p:sp>
            <p:nvSpPr>
              <p:cNvPr id="79918" name="Text Box 13">
                <a:extLst>
                  <a:ext uri="{FF2B5EF4-FFF2-40B4-BE49-F238E27FC236}">
                    <a16:creationId xmlns:a16="http://schemas.microsoft.com/office/drawing/2014/main" id="{D992E84F-8EC1-4569-A455-F7C6F999636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002"/>
                <a:ext cx="96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GetBalance()</a:t>
                </a:r>
              </a:p>
            </p:txBody>
          </p:sp>
        </p:grpSp>
        <p:grpSp>
          <p:nvGrpSpPr>
            <p:cNvPr id="79894" name="Group 14">
              <a:extLst>
                <a:ext uri="{FF2B5EF4-FFF2-40B4-BE49-F238E27FC236}">
                  <a16:creationId xmlns:a16="http://schemas.microsoft.com/office/drawing/2014/main" id="{9AF5DE21-C92F-46E2-A2ED-3F1D9A9706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1152"/>
              <a:ext cx="922" cy="1440"/>
              <a:chOff x="4080" y="1104"/>
              <a:chExt cx="922" cy="1440"/>
            </a:xfrm>
          </p:grpSpPr>
          <p:grpSp>
            <p:nvGrpSpPr>
              <p:cNvPr id="79907" name="Group 15">
                <a:extLst>
                  <a:ext uri="{FF2B5EF4-FFF2-40B4-BE49-F238E27FC236}">
                    <a16:creationId xmlns:a16="http://schemas.microsoft.com/office/drawing/2014/main" id="{1D9347F8-10EE-468E-A67C-13C95509A9B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0" y="1104"/>
                <a:ext cx="912" cy="1440"/>
                <a:chOff x="1536" y="2592"/>
                <a:chExt cx="864" cy="960"/>
              </a:xfrm>
            </p:grpSpPr>
            <p:sp>
              <p:nvSpPr>
                <p:cNvPr id="79910" name="Rectangle 16">
                  <a:extLst>
                    <a:ext uri="{FF2B5EF4-FFF2-40B4-BE49-F238E27FC236}">
                      <a16:creationId xmlns:a16="http://schemas.microsoft.com/office/drawing/2014/main" id="{394B82C0-F789-4B73-8375-BC11FF5706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9911" name="Line 17">
                  <a:extLst>
                    <a:ext uri="{FF2B5EF4-FFF2-40B4-BE49-F238E27FC236}">
                      <a16:creationId xmlns:a16="http://schemas.microsoft.com/office/drawing/2014/main" id="{4A94F545-4A10-4155-95DF-14956EE2463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912" name="Line 18">
                  <a:extLst>
                    <a:ext uri="{FF2B5EF4-FFF2-40B4-BE49-F238E27FC236}">
                      <a16:creationId xmlns:a16="http://schemas.microsoft.com/office/drawing/2014/main" id="{61CCBF92-6BA2-4D8E-8270-BDF6D048E6C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9908" name="Text Box 19">
                <a:extLst>
                  <a:ext uri="{FF2B5EF4-FFF2-40B4-BE49-F238E27FC236}">
                    <a16:creationId xmlns:a16="http://schemas.microsoft.com/office/drawing/2014/main" id="{ACED45FE-36AD-43C9-B175-3C6B840753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" y="1200"/>
                <a:ext cx="75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Customer</a:t>
                </a:r>
                <a:endParaRPr lang="en-US" altLang="en-US" sz="1800">
                  <a:solidFill>
                    <a:schemeClr val="tx1"/>
                  </a:solidFill>
                  <a:latin typeface="Palatino" charset="0"/>
                </a:endParaRPr>
              </a:p>
            </p:txBody>
          </p:sp>
          <p:sp>
            <p:nvSpPr>
              <p:cNvPr id="79909" name="Text Box 20">
                <a:extLst>
                  <a:ext uri="{FF2B5EF4-FFF2-40B4-BE49-F238E27FC236}">
                    <a16:creationId xmlns:a16="http://schemas.microsoft.com/office/drawing/2014/main" id="{6BF72DC6-2690-48DB-8087-571FD1EE2ED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1522"/>
                <a:ext cx="50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Name</a:t>
                </a:r>
              </a:p>
            </p:txBody>
          </p:sp>
        </p:grpSp>
        <p:sp>
          <p:nvSpPr>
            <p:cNvPr id="79895" name="Text Box 21">
              <a:extLst>
                <a:ext uri="{FF2B5EF4-FFF2-40B4-BE49-F238E27FC236}">
                  <a16:creationId xmlns:a16="http://schemas.microsoft.com/office/drawing/2014/main" id="{C892C2D8-3E2E-47C6-B9D7-C900BABAD2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776"/>
              <a:ext cx="9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</a:t>
              </a:r>
            </a:p>
          </p:txBody>
        </p:sp>
        <p:sp>
          <p:nvSpPr>
            <p:cNvPr id="79896" name="Text Box 22">
              <a:extLst>
                <a:ext uri="{FF2B5EF4-FFF2-40B4-BE49-F238E27FC236}">
                  <a16:creationId xmlns:a16="http://schemas.microsoft.com/office/drawing/2014/main" id="{1961F834-3C10-46EC-81F5-0F6269C868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440"/>
              <a:ext cx="9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</a:t>
              </a:r>
            </a:p>
          </p:txBody>
        </p:sp>
        <p:grpSp>
          <p:nvGrpSpPr>
            <p:cNvPr id="79897" name="Group 23">
              <a:extLst>
                <a:ext uri="{FF2B5EF4-FFF2-40B4-BE49-F238E27FC236}">
                  <a16:creationId xmlns:a16="http://schemas.microsoft.com/office/drawing/2014/main" id="{16D51A8B-8BFC-47F6-A1E9-438051E8C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4" y="1413"/>
              <a:ext cx="804" cy="280"/>
              <a:chOff x="1056" y="1545"/>
              <a:chExt cx="804" cy="613"/>
            </a:xfrm>
          </p:grpSpPr>
          <p:sp>
            <p:nvSpPr>
              <p:cNvPr id="79905" name="Text Box 24">
                <a:extLst>
                  <a:ext uri="{FF2B5EF4-FFF2-40B4-BE49-F238E27FC236}">
                    <a16:creationId xmlns:a16="http://schemas.microsoft.com/office/drawing/2014/main" id="{D71AE624-A0A9-45F4-993B-1B150B084D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729"/>
                <a:ext cx="804" cy="4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80000"/>
                  </a:lnSpc>
                </a:pPr>
                <a:r>
                  <a:rPr lang="en-US" altLang="en-US" sz="1800">
                    <a:solidFill>
                      <a:schemeClr val="bg1"/>
                    </a:solidFill>
                    <a:latin typeface="Palatino" charset="0"/>
                  </a:rPr>
                  <a:t>AccountId</a:t>
                </a:r>
              </a:p>
            </p:txBody>
          </p:sp>
          <p:sp>
            <p:nvSpPr>
              <p:cNvPr id="79906" name="Text Box 25">
                <a:extLst>
                  <a:ext uri="{FF2B5EF4-FFF2-40B4-BE49-F238E27FC236}">
                    <a16:creationId xmlns:a16="http://schemas.microsoft.com/office/drawing/2014/main" id="{28D2910B-3C95-4D3F-A62B-4DCBFE9B5A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545"/>
                <a:ext cx="804" cy="4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80000"/>
                  </a:lnSpc>
                </a:pPr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AccountId</a:t>
                </a:r>
              </a:p>
            </p:txBody>
          </p:sp>
        </p:grpSp>
        <p:grpSp>
          <p:nvGrpSpPr>
            <p:cNvPr id="79898" name="Group 26">
              <a:extLst>
                <a:ext uri="{FF2B5EF4-FFF2-40B4-BE49-F238E27FC236}">
                  <a16:creationId xmlns:a16="http://schemas.microsoft.com/office/drawing/2014/main" id="{48E9DC67-B714-40A6-829C-09FD55AC10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6" y="1344"/>
              <a:ext cx="922" cy="1440"/>
              <a:chOff x="4080" y="1104"/>
              <a:chExt cx="922" cy="1440"/>
            </a:xfrm>
          </p:grpSpPr>
          <p:grpSp>
            <p:nvGrpSpPr>
              <p:cNvPr id="79899" name="Group 27">
                <a:extLst>
                  <a:ext uri="{FF2B5EF4-FFF2-40B4-BE49-F238E27FC236}">
                    <a16:creationId xmlns:a16="http://schemas.microsoft.com/office/drawing/2014/main" id="{A165351B-40E4-493A-B48C-9C7E1F2FF7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0" y="1104"/>
                <a:ext cx="912" cy="1440"/>
                <a:chOff x="1536" y="2592"/>
                <a:chExt cx="864" cy="960"/>
              </a:xfrm>
            </p:grpSpPr>
            <p:sp>
              <p:nvSpPr>
                <p:cNvPr id="79902" name="Rectangle 28">
                  <a:extLst>
                    <a:ext uri="{FF2B5EF4-FFF2-40B4-BE49-F238E27FC236}">
                      <a16:creationId xmlns:a16="http://schemas.microsoft.com/office/drawing/2014/main" id="{DC243C04-92D3-4FE0-895C-9E738E7D7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79903" name="Line 29">
                  <a:extLst>
                    <a:ext uri="{FF2B5EF4-FFF2-40B4-BE49-F238E27FC236}">
                      <a16:creationId xmlns:a16="http://schemas.microsoft.com/office/drawing/2014/main" id="{45422AC2-CEE3-49AF-A9EA-9E1F48BCCB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79904" name="Line 30">
                  <a:extLst>
                    <a:ext uri="{FF2B5EF4-FFF2-40B4-BE49-F238E27FC236}">
                      <a16:creationId xmlns:a16="http://schemas.microsoft.com/office/drawing/2014/main" id="{AF9B9AC9-4899-4BF6-9B82-231E737CDC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79900" name="Text Box 31">
                <a:extLst>
                  <a:ext uri="{FF2B5EF4-FFF2-40B4-BE49-F238E27FC236}">
                    <a16:creationId xmlns:a16="http://schemas.microsoft.com/office/drawing/2014/main" id="{3F7B2784-1857-4546-98BC-8FD41A5651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" y="1200"/>
                <a:ext cx="4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Bank</a:t>
                </a:r>
                <a:endParaRPr lang="en-US" altLang="en-US" sz="1800">
                  <a:solidFill>
                    <a:schemeClr val="tx1"/>
                  </a:solidFill>
                  <a:latin typeface="Palatino" charset="0"/>
                </a:endParaRPr>
              </a:p>
            </p:txBody>
          </p:sp>
          <p:sp>
            <p:nvSpPr>
              <p:cNvPr id="79901" name="Text Box 32">
                <a:extLst>
                  <a:ext uri="{FF2B5EF4-FFF2-40B4-BE49-F238E27FC236}">
                    <a16:creationId xmlns:a16="http://schemas.microsoft.com/office/drawing/2014/main" id="{804030FA-35CE-4B4E-B181-2650121287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1522"/>
                <a:ext cx="50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Name</a:t>
                </a:r>
              </a:p>
            </p:txBody>
          </p:sp>
        </p:grpSp>
      </p:grpSp>
      <p:sp>
        <p:nvSpPr>
          <p:cNvPr id="152609" name="Line 33">
            <a:extLst>
              <a:ext uri="{FF2B5EF4-FFF2-40B4-BE49-F238E27FC236}">
                <a16:creationId xmlns:a16="http://schemas.microsoft.com/office/drawing/2014/main" id="{C71D66DB-3797-43ED-87FA-2DFEA408C4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222500"/>
            <a:ext cx="1752600" cy="83820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9877" name="Text Box 34">
            <a:extLst>
              <a:ext uri="{FF2B5EF4-FFF2-40B4-BE49-F238E27FC236}">
                <a16:creationId xmlns:a16="http://schemas.microsoft.com/office/drawing/2014/main" id="{C2A3F243-5E55-4A65-94FF-2F2D93541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9325" y="3886200"/>
            <a:ext cx="3001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3333FF"/>
                </a:solidFill>
                <a:latin typeface="Palatino" charset="0"/>
              </a:rPr>
              <a:t>1) Find New Classes</a:t>
            </a:r>
            <a:endParaRPr lang="en-US" altLang="en-US">
              <a:solidFill>
                <a:schemeClr val="tx1"/>
              </a:solidFill>
              <a:latin typeface="Palatino" charset="0"/>
            </a:endParaRPr>
          </a:p>
        </p:txBody>
      </p:sp>
      <p:sp>
        <p:nvSpPr>
          <p:cNvPr id="79878" name="Text Box 35">
            <a:extLst>
              <a:ext uri="{FF2B5EF4-FFF2-40B4-BE49-F238E27FC236}">
                <a16:creationId xmlns:a16="http://schemas.microsoft.com/office/drawing/2014/main" id="{478D0195-79FA-43DC-A57E-345E0B020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4356100"/>
            <a:ext cx="6092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3333FF"/>
                </a:solidFill>
                <a:latin typeface="Palatino" charset="0"/>
              </a:rPr>
              <a:t>2) Review Names, Attributes and Methods</a:t>
            </a:r>
            <a:endParaRPr lang="en-US" altLang="en-US">
              <a:solidFill>
                <a:srgbClr val="C0C0C0"/>
              </a:solidFill>
              <a:latin typeface="Palatino" charset="0"/>
            </a:endParaRPr>
          </a:p>
        </p:txBody>
      </p:sp>
      <p:sp>
        <p:nvSpPr>
          <p:cNvPr id="152612" name="Text Box 36">
            <a:extLst>
              <a:ext uri="{FF2B5EF4-FFF2-40B4-BE49-F238E27FC236}">
                <a16:creationId xmlns:a16="http://schemas.microsoft.com/office/drawing/2014/main" id="{A2308CF3-6FD5-4514-B357-194B03C1AD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57450" y="4838700"/>
            <a:ext cx="586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1615B1"/>
                </a:solidFill>
                <a:latin typeface="Palatino" charset="0"/>
              </a:rPr>
              <a:t>3) Find Associations between Classes</a:t>
            </a:r>
          </a:p>
        </p:txBody>
      </p:sp>
      <p:sp>
        <p:nvSpPr>
          <p:cNvPr id="152613" name="Text Box 37">
            <a:extLst>
              <a:ext uri="{FF2B5EF4-FFF2-40B4-BE49-F238E27FC236}">
                <a16:creationId xmlns:a16="http://schemas.microsoft.com/office/drawing/2014/main" id="{0B5233BC-A882-4EDA-AEC4-B7415F32EF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0250" y="2224088"/>
            <a:ext cx="742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chemeClr val="tx1"/>
                </a:solidFill>
                <a:latin typeface="Palatino" charset="0"/>
              </a:rPr>
              <a:t>owns</a:t>
            </a:r>
          </a:p>
        </p:txBody>
      </p:sp>
      <p:sp>
        <p:nvSpPr>
          <p:cNvPr id="152614" name="Text Box 38">
            <a:extLst>
              <a:ext uri="{FF2B5EF4-FFF2-40B4-BE49-F238E27FC236}">
                <a16:creationId xmlns:a16="http://schemas.microsoft.com/office/drawing/2014/main" id="{6D4F0A76-0DFB-4E3F-A4DA-5004CBA74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1450" y="5308600"/>
            <a:ext cx="4551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1615B1"/>
                </a:solidFill>
                <a:latin typeface="Palatino" charset="0"/>
              </a:rPr>
              <a:t>4) Label the generic assocations</a:t>
            </a:r>
          </a:p>
        </p:txBody>
      </p:sp>
      <p:sp>
        <p:nvSpPr>
          <p:cNvPr id="152615" name="Text Box 39">
            <a:extLst>
              <a:ext uri="{FF2B5EF4-FFF2-40B4-BE49-F238E27FC236}">
                <a16:creationId xmlns:a16="http://schemas.microsoft.com/office/drawing/2014/main" id="{B135DC1E-B3B7-4BDE-9564-5EEFE58C94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4225" y="6043613"/>
            <a:ext cx="3316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1615B1"/>
                </a:solidFill>
                <a:latin typeface="Palatino" charset="0"/>
              </a:rPr>
              <a:t>6) Review associations</a:t>
            </a:r>
          </a:p>
        </p:txBody>
      </p:sp>
      <p:sp>
        <p:nvSpPr>
          <p:cNvPr id="152616" name="Text Box 40">
            <a:extLst>
              <a:ext uri="{FF2B5EF4-FFF2-40B4-BE49-F238E27FC236}">
                <a16:creationId xmlns:a16="http://schemas.microsoft.com/office/drawing/2014/main" id="{5958FB71-26BC-49AD-A130-3735F02346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1981200"/>
            <a:ext cx="3651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3200">
                <a:solidFill>
                  <a:schemeClr val="tx1"/>
                </a:solidFill>
                <a:latin typeface="Palatino" charset="0"/>
              </a:rPr>
              <a:t>*</a:t>
            </a:r>
          </a:p>
        </p:txBody>
      </p:sp>
      <p:sp>
        <p:nvSpPr>
          <p:cNvPr id="152617" name="Text Box 41">
            <a:extLst>
              <a:ext uri="{FF2B5EF4-FFF2-40B4-BE49-F238E27FC236}">
                <a16:creationId xmlns:a16="http://schemas.microsoft.com/office/drawing/2014/main" id="{5907E941-4DCA-47DF-8946-958758EB1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3038" y="2628900"/>
            <a:ext cx="298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chemeClr val="tx1"/>
                </a:solidFill>
                <a:latin typeface="Palatino" charset="0"/>
              </a:rPr>
              <a:t>2</a:t>
            </a:r>
          </a:p>
        </p:txBody>
      </p:sp>
      <p:sp>
        <p:nvSpPr>
          <p:cNvPr id="152618" name="Text Box 42">
            <a:extLst>
              <a:ext uri="{FF2B5EF4-FFF2-40B4-BE49-F238E27FC236}">
                <a16:creationId xmlns:a16="http://schemas.microsoft.com/office/drawing/2014/main" id="{626845F4-A83B-4C00-B30C-2B25E6B171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7400" y="1852613"/>
            <a:ext cx="3651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3200">
                <a:solidFill>
                  <a:schemeClr val="tx1"/>
                </a:solidFill>
                <a:latin typeface="Palatino" charset="0"/>
              </a:rPr>
              <a:t>*</a:t>
            </a:r>
          </a:p>
        </p:txBody>
      </p:sp>
      <p:sp>
        <p:nvSpPr>
          <p:cNvPr id="152619" name="Line 43">
            <a:extLst>
              <a:ext uri="{FF2B5EF4-FFF2-40B4-BE49-F238E27FC236}">
                <a16:creationId xmlns:a16="http://schemas.microsoft.com/office/drawing/2014/main" id="{B00F3D45-1F07-4B3B-B1F7-010B5A7CC8C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25700" y="2190750"/>
            <a:ext cx="1209675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2620" name="AutoShape 44">
            <a:extLst>
              <a:ext uri="{FF2B5EF4-FFF2-40B4-BE49-F238E27FC236}">
                <a16:creationId xmlns:a16="http://schemas.microsoft.com/office/drawing/2014/main" id="{AE6C2F25-418C-4D08-9DDF-A0B6434B23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8388" y="2279650"/>
            <a:ext cx="239712" cy="254000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52621" name="Text Box 45">
            <a:extLst>
              <a:ext uri="{FF2B5EF4-FFF2-40B4-BE49-F238E27FC236}">
                <a16:creationId xmlns:a16="http://schemas.microsoft.com/office/drawing/2014/main" id="{3C516370-0C16-4530-AB79-45C158D47C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2188" y="1882775"/>
            <a:ext cx="369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?</a:t>
            </a:r>
          </a:p>
        </p:txBody>
      </p:sp>
      <p:sp>
        <p:nvSpPr>
          <p:cNvPr id="152622" name="Text Box 46">
            <a:extLst>
              <a:ext uri="{FF2B5EF4-FFF2-40B4-BE49-F238E27FC236}">
                <a16:creationId xmlns:a16="http://schemas.microsoft.com/office/drawing/2014/main" id="{8ED80B55-78AD-401C-8C23-E00CB07C0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4788" y="2328863"/>
            <a:ext cx="539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chemeClr val="tx1"/>
                </a:solidFill>
                <a:latin typeface="Palatino" charset="0"/>
              </a:rPr>
              <a:t>has</a:t>
            </a:r>
          </a:p>
        </p:txBody>
      </p:sp>
      <p:sp>
        <p:nvSpPr>
          <p:cNvPr id="152623" name="Text Box 47">
            <a:extLst>
              <a:ext uri="{FF2B5EF4-FFF2-40B4-BE49-F238E27FC236}">
                <a16:creationId xmlns:a16="http://schemas.microsoft.com/office/drawing/2014/main" id="{E21EF6F7-9430-4BC7-BACF-3451FEA7C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9425" y="5651500"/>
            <a:ext cx="6786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>
                <a:solidFill>
                  <a:srgbClr val="1615B1"/>
                </a:solidFill>
                <a:latin typeface="Palatino" charset="0"/>
              </a:rPr>
              <a:t>5) Determine the multiplicity of the assocations</a:t>
            </a:r>
          </a:p>
        </p:txBody>
      </p:sp>
      <p:sp>
        <p:nvSpPr>
          <p:cNvPr id="152624" name="Line 48">
            <a:extLst>
              <a:ext uri="{FF2B5EF4-FFF2-40B4-BE49-F238E27FC236}">
                <a16:creationId xmlns:a16="http://schemas.microsoft.com/office/drawing/2014/main" id="{C8B08797-C1BE-4DD9-B9EE-EE980A48F6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93950" y="2182813"/>
            <a:ext cx="1268413" cy="225425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2625" name="AutoShape 49">
            <a:extLst>
              <a:ext uri="{FF2B5EF4-FFF2-40B4-BE49-F238E27FC236}">
                <a16:creationId xmlns:a16="http://schemas.microsoft.com/office/drawing/2014/main" id="{48B17A1E-71CB-4F28-BD80-20F4A73D3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5850" y="2287588"/>
            <a:ext cx="239713" cy="241300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8870BB2C-0AC9-402B-B1F4-1F5864EAB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33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52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2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2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59" dur="500"/>
                                        <p:tgtEl>
                                          <p:spTgt spid="1526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52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152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2" dur="500"/>
                                        <p:tgtEl>
                                          <p:spTgt spid="152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2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612" grpId="0" autoUpdateAnimBg="0"/>
      <p:bldP spid="152613" grpId="0" autoUpdateAnimBg="0"/>
      <p:bldP spid="152614" grpId="0" autoUpdateAnimBg="0"/>
      <p:bldP spid="152615" grpId="0" autoUpdateAnimBg="0"/>
      <p:bldP spid="152616" grpId="0" autoUpdateAnimBg="0"/>
      <p:bldP spid="152617" grpId="0" autoUpdateAnimBg="0"/>
      <p:bldP spid="152618" grpId="0" build="p" autoUpdateAnimBg="0"/>
      <p:bldP spid="152620" grpId="0" animBg="1"/>
      <p:bldP spid="152621" grpId="0" build="p" autoUpdateAnimBg="0"/>
      <p:bldP spid="152621" grpId="1" build="allAtOnce"/>
      <p:bldP spid="152622" grpId="0" autoUpdateAnimBg="0"/>
      <p:bldP spid="152622" grpId="1"/>
      <p:bldP spid="152623" grpId="0" autoUpdateAnimBg="0"/>
      <p:bldP spid="1526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75DD1BBA-7B30-4034-9153-4C09FCED15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3548" y="-135396"/>
            <a:ext cx="8458200" cy="8636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Practice Object Modeling: Find Taxonomies</a:t>
            </a:r>
          </a:p>
        </p:txBody>
      </p:sp>
      <p:grpSp>
        <p:nvGrpSpPr>
          <p:cNvPr id="2" name="Group 70">
            <a:extLst>
              <a:ext uri="{FF2B5EF4-FFF2-40B4-BE49-F238E27FC236}">
                <a16:creationId xmlns:a16="http://schemas.microsoft.com/office/drawing/2014/main" id="{1067DD9C-F331-4E39-A75C-53C507018642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3140075"/>
            <a:ext cx="2235200" cy="3108325"/>
            <a:chOff x="1104" y="1978"/>
            <a:chExt cx="1408" cy="1958"/>
          </a:xfrm>
        </p:grpSpPr>
        <p:grpSp>
          <p:nvGrpSpPr>
            <p:cNvPr id="81981" name="Group 3">
              <a:extLst>
                <a:ext uri="{FF2B5EF4-FFF2-40B4-BE49-F238E27FC236}">
                  <a16:creationId xmlns:a16="http://schemas.microsoft.com/office/drawing/2014/main" id="{811714E5-AA1D-4213-B411-6BA9212DDC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14" y="2496"/>
              <a:ext cx="912" cy="1440"/>
              <a:chOff x="1536" y="2592"/>
              <a:chExt cx="864" cy="960"/>
            </a:xfrm>
          </p:grpSpPr>
          <p:sp>
            <p:nvSpPr>
              <p:cNvPr id="81986" name="Rectangle 4">
                <a:extLst>
                  <a:ext uri="{FF2B5EF4-FFF2-40B4-BE49-F238E27FC236}">
                    <a16:creationId xmlns:a16="http://schemas.microsoft.com/office/drawing/2014/main" id="{90E63084-E6E1-4CCC-94F9-1575B73D69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81987" name="Line 5">
                <a:extLst>
                  <a:ext uri="{FF2B5EF4-FFF2-40B4-BE49-F238E27FC236}">
                    <a16:creationId xmlns:a16="http://schemas.microsoft.com/office/drawing/2014/main" id="{E67F0917-8961-4947-AF96-DDA9F4DEF2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988" name="Line 6">
                <a:extLst>
                  <a:ext uri="{FF2B5EF4-FFF2-40B4-BE49-F238E27FC236}">
                    <a16:creationId xmlns:a16="http://schemas.microsoft.com/office/drawing/2014/main" id="{E6BCBF31-F230-4B8F-9C93-2101DA46FE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1982" name="Text Box 7">
              <a:extLst>
                <a:ext uri="{FF2B5EF4-FFF2-40B4-BE49-F238E27FC236}">
                  <a16:creationId xmlns:a16="http://schemas.microsoft.com/office/drawing/2014/main" id="{E7B7B2C8-C908-4D8F-8AA5-2E30B8EFD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544"/>
              <a:ext cx="66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Savings</a:t>
              </a:r>
            </a:p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Account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81983" name="Text Box 8">
              <a:extLst>
                <a:ext uri="{FF2B5EF4-FFF2-40B4-BE49-F238E27FC236}">
                  <a16:creationId xmlns:a16="http://schemas.microsoft.com/office/drawing/2014/main" id="{6358BC2A-B2C1-42AD-807C-0F63FF1A9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586"/>
              <a:ext cx="8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Withdraw()</a:t>
              </a:r>
            </a:p>
          </p:txBody>
        </p:sp>
        <p:sp>
          <p:nvSpPr>
            <p:cNvPr id="81984" name="AutoShape 61">
              <a:extLst>
                <a:ext uri="{FF2B5EF4-FFF2-40B4-BE49-F238E27FC236}">
                  <a16:creationId xmlns:a16="http://schemas.microsoft.com/office/drawing/2014/main" id="{FDF6D892-B266-45D5-B8F2-36509DE3A9F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2722303">
              <a:off x="2322" y="1992"/>
              <a:ext cx="204" cy="1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1985" name="Line 64">
              <a:extLst>
                <a:ext uri="{FF2B5EF4-FFF2-40B4-BE49-F238E27FC236}">
                  <a16:creationId xmlns:a16="http://schemas.microsoft.com/office/drawing/2014/main" id="{9F59572D-95DB-4FCF-B014-6B4B7B783B4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60" y="2136"/>
              <a:ext cx="800" cy="36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" name="Group 71">
            <a:extLst>
              <a:ext uri="{FF2B5EF4-FFF2-40B4-BE49-F238E27FC236}">
                <a16:creationId xmlns:a16="http://schemas.microsoft.com/office/drawing/2014/main" id="{9CAB577A-3BEB-4534-ACB8-4E3A024571A6}"/>
              </a:ext>
            </a:extLst>
          </p:cNvPr>
          <p:cNvGrpSpPr>
            <a:grpSpLocks/>
          </p:cNvGrpSpPr>
          <p:nvPr/>
        </p:nvGrpSpPr>
        <p:grpSpPr bwMode="auto">
          <a:xfrm>
            <a:off x="3641725" y="3162300"/>
            <a:ext cx="1463675" cy="3086100"/>
            <a:chOff x="2294" y="1992"/>
            <a:chExt cx="922" cy="1944"/>
          </a:xfrm>
        </p:grpSpPr>
        <p:grpSp>
          <p:nvGrpSpPr>
            <p:cNvPr id="81973" name="Group 9">
              <a:extLst>
                <a:ext uri="{FF2B5EF4-FFF2-40B4-BE49-F238E27FC236}">
                  <a16:creationId xmlns:a16="http://schemas.microsoft.com/office/drawing/2014/main" id="{C9C9BB13-99AC-47B8-96F6-9F81834B95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2496"/>
              <a:ext cx="912" cy="1440"/>
              <a:chOff x="1536" y="2592"/>
              <a:chExt cx="864" cy="960"/>
            </a:xfrm>
          </p:grpSpPr>
          <p:sp>
            <p:nvSpPr>
              <p:cNvPr id="81978" name="Rectangle 10">
                <a:extLst>
                  <a:ext uri="{FF2B5EF4-FFF2-40B4-BE49-F238E27FC236}">
                    <a16:creationId xmlns:a16="http://schemas.microsoft.com/office/drawing/2014/main" id="{02FD6EAD-691D-4C6E-BAB1-9250026F55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81979" name="Line 11">
                <a:extLst>
                  <a:ext uri="{FF2B5EF4-FFF2-40B4-BE49-F238E27FC236}">
                    <a16:creationId xmlns:a16="http://schemas.microsoft.com/office/drawing/2014/main" id="{8B88DF86-47F5-4E7E-BBB6-72F683D9DB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980" name="Line 12">
                <a:extLst>
                  <a:ext uri="{FF2B5EF4-FFF2-40B4-BE49-F238E27FC236}">
                    <a16:creationId xmlns:a16="http://schemas.microsoft.com/office/drawing/2014/main" id="{136DA2FB-CE49-4D99-8953-800C50DC07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1974" name="Text Box 13">
              <a:extLst>
                <a:ext uri="{FF2B5EF4-FFF2-40B4-BE49-F238E27FC236}">
                  <a16:creationId xmlns:a16="http://schemas.microsoft.com/office/drawing/2014/main" id="{1BB770F6-43FD-4CB4-B660-FC362FA5E5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" y="2544"/>
              <a:ext cx="74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Checking</a:t>
              </a:r>
            </a:p>
            <a:p>
              <a:pPr algn="l"/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Account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81975" name="Text Box 14">
              <a:extLst>
                <a:ext uri="{FF2B5EF4-FFF2-40B4-BE49-F238E27FC236}">
                  <a16:creationId xmlns:a16="http://schemas.microsoft.com/office/drawing/2014/main" id="{217DBE29-1195-4D03-8E70-98EA9467C0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94" y="3586"/>
              <a:ext cx="8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Withdraw()</a:t>
              </a:r>
            </a:p>
          </p:txBody>
        </p:sp>
        <p:sp>
          <p:nvSpPr>
            <p:cNvPr id="81976" name="AutoShape 65">
              <a:extLst>
                <a:ext uri="{FF2B5EF4-FFF2-40B4-BE49-F238E27FC236}">
                  <a16:creationId xmlns:a16="http://schemas.microsoft.com/office/drawing/2014/main" id="{20603A41-970C-46AC-B55F-723CC1E58EF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6418">
              <a:off x="2626" y="1992"/>
              <a:ext cx="204" cy="1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1977" name="Line 67">
              <a:extLst>
                <a:ext uri="{FF2B5EF4-FFF2-40B4-BE49-F238E27FC236}">
                  <a16:creationId xmlns:a16="http://schemas.microsoft.com/office/drawing/2014/main" id="{00871843-E1C2-4770-8EA4-5D12B67ED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4" y="2168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" name="Group 72">
            <a:extLst>
              <a:ext uri="{FF2B5EF4-FFF2-40B4-BE49-F238E27FC236}">
                <a16:creationId xmlns:a16="http://schemas.microsoft.com/office/drawing/2014/main" id="{66DCCD32-8709-40EC-A00A-FC17EAC21F0E}"/>
              </a:ext>
            </a:extLst>
          </p:cNvPr>
          <p:cNvGrpSpPr>
            <a:grpSpLocks/>
          </p:cNvGrpSpPr>
          <p:nvPr/>
        </p:nvGrpSpPr>
        <p:grpSpPr bwMode="auto">
          <a:xfrm>
            <a:off x="4673600" y="3114675"/>
            <a:ext cx="2413000" cy="3133725"/>
            <a:chOff x="2944" y="1962"/>
            <a:chExt cx="1520" cy="1974"/>
          </a:xfrm>
        </p:grpSpPr>
        <p:grpSp>
          <p:nvGrpSpPr>
            <p:cNvPr id="81965" name="Group 15">
              <a:extLst>
                <a:ext uri="{FF2B5EF4-FFF2-40B4-BE49-F238E27FC236}">
                  <a16:creationId xmlns:a16="http://schemas.microsoft.com/office/drawing/2014/main" id="{9D03E362-F21A-48E0-92FA-6B4253385C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52" y="2496"/>
              <a:ext cx="912" cy="1440"/>
              <a:chOff x="1536" y="2592"/>
              <a:chExt cx="864" cy="960"/>
            </a:xfrm>
          </p:grpSpPr>
          <p:sp>
            <p:nvSpPr>
              <p:cNvPr id="81970" name="Rectangle 16">
                <a:extLst>
                  <a:ext uri="{FF2B5EF4-FFF2-40B4-BE49-F238E27FC236}">
                    <a16:creationId xmlns:a16="http://schemas.microsoft.com/office/drawing/2014/main" id="{4CC54275-9209-4DB6-9B74-BB4F13A76B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592"/>
                <a:ext cx="864" cy="960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81971" name="Line 17">
                <a:extLst>
                  <a:ext uri="{FF2B5EF4-FFF2-40B4-BE49-F238E27FC236}">
                    <a16:creationId xmlns:a16="http://schemas.microsoft.com/office/drawing/2014/main" id="{2165C4D9-FA28-475C-ABFC-97DCD4C951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1972" name="Line 18">
                <a:extLst>
                  <a:ext uri="{FF2B5EF4-FFF2-40B4-BE49-F238E27FC236}">
                    <a16:creationId xmlns:a16="http://schemas.microsoft.com/office/drawing/2014/main" id="{24A3F176-5A1C-4BA1-9B64-D3D5FB246F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3216"/>
                <a:ext cx="864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1966" name="Text Box 19">
              <a:extLst>
                <a:ext uri="{FF2B5EF4-FFF2-40B4-BE49-F238E27FC236}">
                  <a16:creationId xmlns:a16="http://schemas.microsoft.com/office/drawing/2014/main" id="{33AB9812-C8CA-43D0-A605-4A62FE1BFD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6" y="2544"/>
              <a:ext cx="74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Mortgage</a:t>
              </a:r>
            </a:p>
            <a:p>
              <a:r>
                <a:rPr lang="en-US" altLang="en-US" sz="1800">
                  <a:solidFill>
                    <a:srgbClr val="3333FF"/>
                  </a:solidFill>
                  <a:latin typeface="Palatino" charset="0"/>
                </a:rPr>
                <a:t>Account</a:t>
              </a:r>
              <a:endParaRPr lang="en-US" altLang="en-US" sz="1800">
                <a:solidFill>
                  <a:schemeClr val="tx1"/>
                </a:solidFill>
                <a:latin typeface="Palatino" charset="0"/>
              </a:endParaRPr>
            </a:p>
          </p:txBody>
        </p:sp>
        <p:sp>
          <p:nvSpPr>
            <p:cNvPr id="81967" name="Text Box 20">
              <a:extLst>
                <a:ext uri="{FF2B5EF4-FFF2-40B4-BE49-F238E27FC236}">
                  <a16:creationId xmlns:a16="http://schemas.microsoft.com/office/drawing/2014/main" id="{C622586C-DA73-459E-BEB3-081B6D99B6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2" y="3586"/>
              <a:ext cx="8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Withdraw()</a:t>
              </a:r>
            </a:p>
          </p:txBody>
        </p:sp>
        <p:sp>
          <p:nvSpPr>
            <p:cNvPr id="81968" name="AutoShape 66">
              <a:extLst>
                <a:ext uri="{FF2B5EF4-FFF2-40B4-BE49-F238E27FC236}">
                  <a16:creationId xmlns:a16="http://schemas.microsoft.com/office/drawing/2014/main" id="{35DB1597-24FD-4343-9973-F98DD06FAAE6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3324731">
              <a:off x="2930" y="1976"/>
              <a:ext cx="204" cy="176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1969" name="Line 68">
              <a:extLst>
                <a:ext uri="{FF2B5EF4-FFF2-40B4-BE49-F238E27FC236}">
                  <a16:creationId xmlns:a16="http://schemas.microsoft.com/office/drawing/2014/main" id="{B29AA5A5-1847-4F17-BD40-E3909DA56C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96" y="2112"/>
              <a:ext cx="904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1926" name="Group 33">
            <a:extLst>
              <a:ext uri="{FF2B5EF4-FFF2-40B4-BE49-F238E27FC236}">
                <a16:creationId xmlns:a16="http://schemas.microsoft.com/office/drawing/2014/main" id="{4B16B078-8080-4DFF-A790-FDEEB4A24CF7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925513"/>
            <a:ext cx="1530350" cy="2325687"/>
            <a:chOff x="2304" y="768"/>
            <a:chExt cx="964" cy="1465"/>
          </a:xfrm>
        </p:grpSpPr>
        <p:grpSp>
          <p:nvGrpSpPr>
            <p:cNvPr id="81951" name="Group 34">
              <a:extLst>
                <a:ext uri="{FF2B5EF4-FFF2-40B4-BE49-F238E27FC236}">
                  <a16:creationId xmlns:a16="http://schemas.microsoft.com/office/drawing/2014/main" id="{0BF6798F-4F2D-4BB0-B8B3-0FC9A9CCC5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768"/>
              <a:ext cx="964" cy="1465"/>
              <a:chOff x="2304" y="768"/>
              <a:chExt cx="964" cy="1465"/>
            </a:xfrm>
          </p:grpSpPr>
          <p:grpSp>
            <p:nvGrpSpPr>
              <p:cNvPr id="81956" name="Group 35">
                <a:extLst>
                  <a:ext uri="{FF2B5EF4-FFF2-40B4-BE49-F238E27FC236}">
                    <a16:creationId xmlns:a16="http://schemas.microsoft.com/office/drawing/2014/main" id="{932745A1-A014-477C-8F02-F7B353C35C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14" y="768"/>
                <a:ext cx="912" cy="1440"/>
                <a:chOff x="1536" y="2592"/>
                <a:chExt cx="864" cy="960"/>
              </a:xfrm>
            </p:grpSpPr>
            <p:sp>
              <p:nvSpPr>
                <p:cNvPr id="81962" name="Rectangle 36">
                  <a:extLst>
                    <a:ext uri="{FF2B5EF4-FFF2-40B4-BE49-F238E27FC236}">
                      <a16:creationId xmlns:a16="http://schemas.microsoft.com/office/drawing/2014/main" id="{0E8423AB-1160-47EB-BB3F-0AEF573427C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81963" name="Line 37">
                  <a:extLst>
                    <a:ext uri="{FF2B5EF4-FFF2-40B4-BE49-F238E27FC236}">
                      <a16:creationId xmlns:a16="http://schemas.microsoft.com/office/drawing/2014/main" id="{0B0DB194-B3C1-487F-ABF7-3A22BBF21C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964" name="Line 38">
                  <a:extLst>
                    <a:ext uri="{FF2B5EF4-FFF2-40B4-BE49-F238E27FC236}">
                      <a16:creationId xmlns:a16="http://schemas.microsoft.com/office/drawing/2014/main" id="{7153DE91-15FB-4EFF-BE93-28A5DBB0D1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1957" name="Text Box 39">
                <a:extLst>
                  <a:ext uri="{FF2B5EF4-FFF2-40B4-BE49-F238E27FC236}">
                    <a16:creationId xmlns:a16="http://schemas.microsoft.com/office/drawing/2014/main" id="{78DCF705-575B-4F6C-A38C-1BD7849252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6" y="864"/>
                <a:ext cx="6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Account</a:t>
                </a:r>
                <a:endParaRPr lang="en-US" altLang="en-US" sz="1800">
                  <a:solidFill>
                    <a:schemeClr val="tx1"/>
                  </a:solidFill>
                  <a:latin typeface="Palatino" charset="0"/>
                </a:endParaRPr>
              </a:p>
            </p:txBody>
          </p:sp>
          <p:sp>
            <p:nvSpPr>
              <p:cNvPr id="81958" name="Text Box 40">
                <a:extLst>
                  <a:ext uri="{FF2B5EF4-FFF2-40B4-BE49-F238E27FC236}">
                    <a16:creationId xmlns:a16="http://schemas.microsoft.com/office/drawing/2014/main" id="{E81D2DF1-28C8-4E8A-BE00-7BC3FD2315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186"/>
                <a:ext cx="6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Amount</a:t>
                </a:r>
              </a:p>
            </p:txBody>
          </p:sp>
          <p:sp>
            <p:nvSpPr>
              <p:cNvPr id="81959" name="Text Box 41">
                <a:extLst>
                  <a:ext uri="{FF2B5EF4-FFF2-40B4-BE49-F238E27FC236}">
                    <a16:creationId xmlns:a16="http://schemas.microsoft.com/office/drawing/2014/main" id="{3AEFAA9B-7A2C-4E9F-BC0D-AF625E1AEA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714"/>
                <a:ext cx="7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Deposit()</a:t>
                </a:r>
              </a:p>
            </p:txBody>
          </p:sp>
          <p:sp>
            <p:nvSpPr>
              <p:cNvPr id="81960" name="Text Box 42">
                <a:extLst>
                  <a:ext uri="{FF2B5EF4-FFF2-40B4-BE49-F238E27FC236}">
                    <a16:creationId xmlns:a16="http://schemas.microsoft.com/office/drawing/2014/main" id="{36B33442-20C1-4770-B7BF-6A674AEAC16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858"/>
                <a:ext cx="8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Withdraw()</a:t>
                </a:r>
              </a:p>
            </p:txBody>
          </p:sp>
          <p:sp>
            <p:nvSpPr>
              <p:cNvPr id="81961" name="Text Box 43">
                <a:extLst>
                  <a:ext uri="{FF2B5EF4-FFF2-40B4-BE49-F238E27FC236}">
                    <a16:creationId xmlns:a16="http://schemas.microsoft.com/office/drawing/2014/main" id="{48DDD14C-6CB2-48F3-ADB1-1E5F3DF142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002"/>
                <a:ext cx="96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GetBalance()</a:t>
                </a:r>
              </a:p>
            </p:txBody>
          </p:sp>
        </p:grpSp>
        <p:sp>
          <p:nvSpPr>
            <p:cNvPr id="81952" name="Text Box 44">
              <a:extLst>
                <a:ext uri="{FF2B5EF4-FFF2-40B4-BE49-F238E27FC236}">
                  <a16:creationId xmlns:a16="http://schemas.microsoft.com/office/drawing/2014/main" id="{970AC6CD-BEC9-4258-B2B7-8CB750FFEC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440"/>
              <a:ext cx="9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</a:t>
              </a:r>
            </a:p>
          </p:txBody>
        </p:sp>
        <p:grpSp>
          <p:nvGrpSpPr>
            <p:cNvPr id="81953" name="Group 45">
              <a:extLst>
                <a:ext uri="{FF2B5EF4-FFF2-40B4-BE49-F238E27FC236}">
                  <a16:creationId xmlns:a16="http://schemas.microsoft.com/office/drawing/2014/main" id="{88A73816-0826-44CF-BA08-6D5BD0098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4" y="1413"/>
              <a:ext cx="804" cy="280"/>
              <a:chOff x="1056" y="1545"/>
              <a:chExt cx="804" cy="613"/>
            </a:xfrm>
          </p:grpSpPr>
          <p:sp>
            <p:nvSpPr>
              <p:cNvPr id="81954" name="Text Box 46">
                <a:extLst>
                  <a:ext uri="{FF2B5EF4-FFF2-40B4-BE49-F238E27FC236}">
                    <a16:creationId xmlns:a16="http://schemas.microsoft.com/office/drawing/2014/main" id="{C7EB5AE9-6FAD-4D5C-A0A4-54C908F8173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729"/>
                <a:ext cx="804" cy="4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80000"/>
                  </a:lnSpc>
                </a:pPr>
                <a:r>
                  <a:rPr lang="en-US" altLang="en-US" sz="1800">
                    <a:solidFill>
                      <a:schemeClr val="bg1"/>
                    </a:solidFill>
                    <a:latin typeface="Palatino" charset="0"/>
                  </a:rPr>
                  <a:t>AccountId</a:t>
                </a:r>
              </a:p>
            </p:txBody>
          </p:sp>
          <p:sp>
            <p:nvSpPr>
              <p:cNvPr id="81955" name="Text Box 47">
                <a:extLst>
                  <a:ext uri="{FF2B5EF4-FFF2-40B4-BE49-F238E27FC236}">
                    <a16:creationId xmlns:a16="http://schemas.microsoft.com/office/drawing/2014/main" id="{A63F9ADC-BECD-41C9-BA2A-F2CEEED399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545"/>
                <a:ext cx="804" cy="4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80000"/>
                  </a:lnSpc>
                </a:pPr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AccountId</a:t>
                </a:r>
              </a:p>
            </p:txBody>
          </p:sp>
        </p:grpSp>
      </p:grpSp>
      <p:grpSp>
        <p:nvGrpSpPr>
          <p:cNvPr id="81927" name="Group 117">
            <a:extLst>
              <a:ext uri="{FF2B5EF4-FFF2-40B4-BE49-F238E27FC236}">
                <a16:creationId xmlns:a16="http://schemas.microsoft.com/office/drawing/2014/main" id="{9727B69E-EEB3-4B1E-8402-3BEFCAA10D23}"/>
              </a:ext>
            </a:extLst>
          </p:cNvPr>
          <p:cNvGrpSpPr>
            <a:grpSpLocks/>
          </p:cNvGrpSpPr>
          <p:nvPr/>
        </p:nvGrpSpPr>
        <p:grpSpPr bwMode="auto">
          <a:xfrm>
            <a:off x="5105400" y="1154113"/>
            <a:ext cx="3333750" cy="2286000"/>
            <a:chOff x="3216" y="727"/>
            <a:chExt cx="2100" cy="1440"/>
          </a:xfrm>
        </p:grpSpPr>
        <p:grpSp>
          <p:nvGrpSpPr>
            <p:cNvPr id="81940" name="Group 25">
              <a:extLst>
                <a:ext uri="{FF2B5EF4-FFF2-40B4-BE49-F238E27FC236}">
                  <a16:creationId xmlns:a16="http://schemas.microsoft.com/office/drawing/2014/main" id="{4D63E70F-37F0-49A0-AFC6-9690CEC277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727"/>
              <a:ext cx="994" cy="1440"/>
              <a:chOff x="4080" y="1104"/>
              <a:chExt cx="922" cy="1440"/>
            </a:xfrm>
          </p:grpSpPr>
          <p:grpSp>
            <p:nvGrpSpPr>
              <p:cNvPr id="81945" name="Group 26">
                <a:extLst>
                  <a:ext uri="{FF2B5EF4-FFF2-40B4-BE49-F238E27FC236}">
                    <a16:creationId xmlns:a16="http://schemas.microsoft.com/office/drawing/2014/main" id="{BEBC84F8-B23B-42E1-B2EC-14CC3ADF3DC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0" y="1104"/>
                <a:ext cx="912" cy="1440"/>
                <a:chOff x="1536" y="2592"/>
                <a:chExt cx="864" cy="960"/>
              </a:xfrm>
            </p:grpSpPr>
            <p:sp>
              <p:nvSpPr>
                <p:cNvPr id="81948" name="Rectangle 27">
                  <a:extLst>
                    <a:ext uri="{FF2B5EF4-FFF2-40B4-BE49-F238E27FC236}">
                      <a16:creationId xmlns:a16="http://schemas.microsoft.com/office/drawing/2014/main" id="{8A534FFC-760A-483B-8F62-10D581BB68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81949" name="Line 28">
                  <a:extLst>
                    <a:ext uri="{FF2B5EF4-FFF2-40B4-BE49-F238E27FC236}">
                      <a16:creationId xmlns:a16="http://schemas.microsoft.com/office/drawing/2014/main" id="{FFE0CF35-F27C-4E49-BA40-EC341C44742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950" name="Line 29">
                  <a:extLst>
                    <a:ext uri="{FF2B5EF4-FFF2-40B4-BE49-F238E27FC236}">
                      <a16:creationId xmlns:a16="http://schemas.microsoft.com/office/drawing/2014/main" id="{9E42D93F-B3EA-4F92-8EF9-144B49D459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1946" name="Text Box 30">
                <a:extLst>
                  <a:ext uri="{FF2B5EF4-FFF2-40B4-BE49-F238E27FC236}">
                    <a16:creationId xmlns:a16="http://schemas.microsoft.com/office/drawing/2014/main" id="{DE2F3BA1-6BA5-4CEF-BA90-952D3642F2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" y="1200"/>
                <a:ext cx="70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Customer</a:t>
                </a:r>
                <a:endParaRPr lang="en-US" altLang="en-US" sz="1800">
                  <a:solidFill>
                    <a:schemeClr val="tx1"/>
                  </a:solidFill>
                  <a:latin typeface="Palatino" charset="0"/>
                </a:endParaRPr>
              </a:p>
            </p:txBody>
          </p:sp>
          <p:sp>
            <p:nvSpPr>
              <p:cNvPr id="81947" name="Text Box 31">
                <a:extLst>
                  <a:ext uri="{FF2B5EF4-FFF2-40B4-BE49-F238E27FC236}">
                    <a16:creationId xmlns:a16="http://schemas.microsoft.com/office/drawing/2014/main" id="{A6985022-36DF-44D5-9325-F9C1DA5653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1522"/>
                <a:ext cx="4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Name</a:t>
                </a:r>
              </a:p>
            </p:txBody>
          </p:sp>
        </p:grpSp>
        <p:sp>
          <p:nvSpPr>
            <p:cNvPr id="81941" name="Text Box 32">
              <a:extLst>
                <a:ext uri="{FF2B5EF4-FFF2-40B4-BE49-F238E27FC236}">
                  <a16:creationId xmlns:a16="http://schemas.microsoft.com/office/drawing/2014/main" id="{878310F6-8385-4284-B652-E61C550485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783"/>
              <a:ext cx="9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CustomerId()</a:t>
              </a:r>
            </a:p>
          </p:txBody>
        </p:sp>
        <p:sp>
          <p:nvSpPr>
            <p:cNvPr id="81942" name="Line 55">
              <a:extLst>
                <a:ext uri="{FF2B5EF4-FFF2-40B4-BE49-F238E27FC236}">
                  <a16:creationId xmlns:a16="http://schemas.microsoft.com/office/drawing/2014/main" id="{13F601C1-0DDC-4420-ADC7-6995643A6F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111"/>
              <a:ext cx="1104" cy="528"/>
            </a:xfrm>
            <a:prstGeom prst="line">
              <a:avLst/>
            </a:prstGeom>
            <a:noFill/>
            <a:ln w="28575">
              <a:solidFill>
                <a:srgbClr val="FC012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43" name="Text Box 56">
              <a:extLst>
                <a:ext uri="{FF2B5EF4-FFF2-40B4-BE49-F238E27FC236}">
                  <a16:creationId xmlns:a16="http://schemas.microsoft.com/office/drawing/2014/main" id="{4901AFCC-EE90-4D03-9A87-8229DB7791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0" y="1120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Has</a:t>
              </a:r>
            </a:p>
          </p:txBody>
        </p:sp>
        <p:sp>
          <p:nvSpPr>
            <p:cNvPr id="81944" name="Text Box 57">
              <a:extLst>
                <a:ext uri="{FF2B5EF4-FFF2-40B4-BE49-F238E27FC236}">
                  <a16:creationId xmlns:a16="http://schemas.microsoft.com/office/drawing/2014/main" id="{FCABC912-3782-4FD7-9880-F358E896B6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967"/>
              <a:ext cx="2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3200">
                  <a:solidFill>
                    <a:schemeClr val="tx1"/>
                  </a:solidFill>
                  <a:latin typeface="Palatino" charset="0"/>
                </a:rPr>
                <a:t>*</a:t>
              </a:r>
            </a:p>
          </p:txBody>
        </p:sp>
      </p:grpSp>
      <p:grpSp>
        <p:nvGrpSpPr>
          <p:cNvPr id="15" name="Group 116">
            <a:extLst>
              <a:ext uri="{FF2B5EF4-FFF2-40B4-BE49-F238E27FC236}">
                <a16:creationId xmlns:a16="http://schemas.microsoft.com/office/drawing/2014/main" id="{CFCA7BC2-F80A-4C8F-99FF-C5C7BD669F42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154113"/>
            <a:ext cx="2819400" cy="2286000"/>
            <a:chOff x="528" y="727"/>
            <a:chExt cx="1776" cy="1440"/>
          </a:xfrm>
        </p:grpSpPr>
        <p:grpSp>
          <p:nvGrpSpPr>
            <p:cNvPr id="81930" name="Group 48">
              <a:extLst>
                <a:ext uri="{FF2B5EF4-FFF2-40B4-BE49-F238E27FC236}">
                  <a16:creationId xmlns:a16="http://schemas.microsoft.com/office/drawing/2014/main" id="{366E9BD7-344C-4028-948D-33862D4176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727"/>
              <a:ext cx="922" cy="1440"/>
              <a:chOff x="4080" y="1104"/>
              <a:chExt cx="922" cy="1440"/>
            </a:xfrm>
          </p:grpSpPr>
          <p:grpSp>
            <p:nvGrpSpPr>
              <p:cNvPr id="81934" name="Group 49">
                <a:extLst>
                  <a:ext uri="{FF2B5EF4-FFF2-40B4-BE49-F238E27FC236}">
                    <a16:creationId xmlns:a16="http://schemas.microsoft.com/office/drawing/2014/main" id="{3BFFF27C-7BAD-4D06-BB0E-D1844D4373F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0" y="1104"/>
                <a:ext cx="912" cy="1440"/>
                <a:chOff x="1536" y="2592"/>
                <a:chExt cx="864" cy="960"/>
              </a:xfrm>
            </p:grpSpPr>
            <p:sp>
              <p:nvSpPr>
                <p:cNvPr id="81937" name="Rectangle 50">
                  <a:extLst>
                    <a:ext uri="{FF2B5EF4-FFF2-40B4-BE49-F238E27FC236}">
                      <a16:creationId xmlns:a16="http://schemas.microsoft.com/office/drawing/2014/main" id="{15829E83-0E11-47FE-965A-3E437D71EB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81938" name="Line 51">
                  <a:extLst>
                    <a:ext uri="{FF2B5EF4-FFF2-40B4-BE49-F238E27FC236}">
                      <a16:creationId xmlns:a16="http://schemas.microsoft.com/office/drawing/2014/main" id="{14558242-218A-4746-82EB-63C1523004D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1939" name="Line 52">
                  <a:extLst>
                    <a:ext uri="{FF2B5EF4-FFF2-40B4-BE49-F238E27FC236}">
                      <a16:creationId xmlns:a16="http://schemas.microsoft.com/office/drawing/2014/main" id="{71D7E1EB-B479-4692-BCDD-106832F2AF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1935" name="Text Box 53">
                <a:extLst>
                  <a:ext uri="{FF2B5EF4-FFF2-40B4-BE49-F238E27FC236}">
                    <a16:creationId xmlns:a16="http://schemas.microsoft.com/office/drawing/2014/main" id="{7FACBF2F-7D05-4E41-A464-9C8D1AE53E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" y="1200"/>
                <a:ext cx="4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Bank</a:t>
                </a:r>
                <a:endParaRPr lang="en-US" altLang="en-US" sz="1800">
                  <a:solidFill>
                    <a:schemeClr val="tx1"/>
                  </a:solidFill>
                  <a:latin typeface="Palatino" charset="0"/>
                </a:endParaRPr>
              </a:p>
            </p:txBody>
          </p:sp>
          <p:sp>
            <p:nvSpPr>
              <p:cNvPr id="81936" name="Text Box 54">
                <a:extLst>
                  <a:ext uri="{FF2B5EF4-FFF2-40B4-BE49-F238E27FC236}">
                    <a16:creationId xmlns:a16="http://schemas.microsoft.com/office/drawing/2014/main" id="{F7A85DB7-F75A-4263-889A-F23FCA9B99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1522"/>
                <a:ext cx="50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Name</a:t>
                </a:r>
              </a:p>
            </p:txBody>
          </p:sp>
        </p:grpSp>
        <p:sp>
          <p:nvSpPr>
            <p:cNvPr id="81931" name="Text Box 59">
              <a:extLst>
                <a:ext uri="{FF2B5EF4-FFF2-40B4-BE49-F238E27FC236}">
                  <a16:creationId xmlns:a16="http://schemas.microsoft.com/office/drawing/2014/main" id="{77AFA645-FCCB-4DEB-8C81-E361E0CEFE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919"/>
              <a:ext cx="2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3200">
                  <a:solidFill>
                    <a:schemeClr val="tx1"/>
                  </a:solidFill>
                  <a:latin typeface="Palatino" charset="0"/>
                </a:rPr>
                <a:t>*</a:t>
              </a:r>
            </a:p>
          </p:txBody>
        </p:sp>
        <p:sp>
          <p:nvSpPr>
            <p:cNvPr id="81932" name="Line 58">
              <a:extLst>
                <a:ext uri="{FF2B5EF4-FFF2-40B4-BE49-F238E27FC236}">
                  <a16:creationId xmlns:a16="http://schemas.microsoft.com/office/drawing/2014/main" id="{FDF37F9C-EA36-42C8-A391-C16A6CF8231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207"/>
              <a:ext cx="816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diamond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33" name="AutoShape 75">
              <a:extLst>
                <a:ext uri="{FF2B5EF4-FFF2-40B4-BE49-F238E27FC236}">
                  <a16:creationId xmlns:a16="http://schemas.microsoft.com/office/drawing/2014/main" id="{46B91EB0-41CC-4967-A55D-5459D2F1B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268"/>
              <a:ext cx="151" cy="160"/>
            </a:xfrm>
            <a:prstGeom prst="diamond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81929" name="AutoShape 118">
            <a:extLst>
              <a:ext uri="{FF2B5EF4-FFF2-40B4-BE49-F238E27FC236}">
                <a16:creationId xmlns:a16="http://schemas.microsoft.com/office/drawing/2014/main" id="{22A79961-7884-48DE-950F-8D2489BAFC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175" y="2020888"/>
            <a:ext cx="239713" cy="241300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2C931E6-9775-4601-B4B5-21F43CE80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34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BE339345-E99A-4752-9BD7-AD7FD20C39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0"/>
            <a:ext cx="8784468" cy="8636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Practice Object Modeling: Simplify, Organize</a:t>
            </a:r>
          </a:p>
        </p:txBody>
      </p:sp>
      <p:grpSp>
        <p:nvGrpSpPr>
          <p:cNvPr id="83971" name="Group 4">
            <a:extLst>
              <a:ext uri="{FF2B5EF4-FFF2-40B4-BE49-F238E27FC236}">
                <a16:creationId xmlns:a16="http://schemas.microsoft.com/office/drawing/2014/main" id="{1FFAE497-F805-4C8B-B9DF-0DA435A8920E}"/>
              </a:ext>
            </a:extLst>
          </p:cNvPr>
          <p:cNvGrpSpPr>
            <a:grpSpLocks/>
          </p:cNvGrpSpPr>
          <p:nvPr/>
        </p:nvGrpSpPr>
        <p:grpSpPr bwMode="auto">
          <a:xfrm>
            <a:off x="1768475" y="3962400"/>
            <a:ext cx="1447800" cy="2286000"/>
            <a:chOff x="1536" y="2592"/>
            <a:chExt cx="864" cy="960"/>
          </a:xfrm>
        </p:grpSpPr>
        <p:sp>
          <p:nvSpPr>
            <p:cNvPr id="84008" name="Rectangle 5">
              <a:extLst>
                <a:ext uri="{FF2B5EF4-FFF2-40B4-BE49-F238E27FC236}">
                  <a16:creationId xmlns:a16="http://schemas.microsoft.com/office/drawing/2014/main" id="{EB8AB129-708C-45FE-8520-E6212AEE1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592"/>
              <a:ext cx="864" cy="96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4009" name="Line 6">
              <a:extLst>
                <a:ext uri="{FF2B5EF4-FFF2-40B4-BE49-F238E27FC236}">
                  <a16:creationId xmlns:a16="http://schemas.microsoft.com/office/drawing/2014/main" id="{DF1AFAD3-ACA4-400C-85F6-C394BA7DEA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88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10" name="Line 7">
              <a:extLst>
                <a:ext uri="{FF2B5EF4-FFF2-40B4-BE49-F238E27FC236}">
                  <a16:creationId xmlns:a16="http://schemas.microsoft.com/office/drawing/2014/main" id="{9C2BC6C5-2DA1-4C1B-B6A3-61EEB569F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1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3972" name="Text Box 8">
            <a:extLst>
              <a:ext uri="{FF2B5EF4-FFF2-40B4-BE49-F238E27FC236}">
                <a16:creationId xmlns:a16="http://schemas.microsoft.com/office/drawing/2014/main" id="{4C2057CD-59EB-418E-B398-C091D306D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1200" y="4038600"/>
            <a:ext cx="10477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rgbClr val="3333FF"/>
                </a:solidFill>
                <a:latin typeface="Palatino" charset="0"/>
              </a:rPr>
              <a:t>Savings</a:t>
            </a:r>
          </a:p>
          <a:p>
            <a:pPr algn="l"/>
            <a:r>
              <a:rPr lang="en-US" altLang="en-US" sz="1800">
                <a:solidFill>
                  <a:srgbClr val="3333FF"/>
                </a:solidFill>
                <a:latin typeface="Palatino" charset="0"/>
              </a:rPr>
              <a:t>Account</a:t>
            </a:r>
            <a:endParaRPr lang="en-US" altLang="en-US" sz="1800">
              <a:solidFill>
                <a:schemeClr val="tx1"/>
              </a:solidFill>
              <a:latin typeface="Palatino" charset="0"/>
            </a:endParaRPr>
          </a:p>
        </p:txBody>
      </p:sp>
      <p:sp>
        <p:nvSpPr>
          <p:cNvPr id="83973" name="Text Box 9">
            <a:extLst>
              <a:ext uri="{FF2B5EF4-FFF2-40B4-BE49-F238E27FC236}">
                <a16:creationId xmlns:a16="http://schemas.microsoft.com/office/drawing/2014/main" id="{ED1446E3-8628-4FEF-9D82-154A4AB3AD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692775"/>
            <a:ext cx="139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chemeClr val="tx1"/>
                </a:solidFill>
                <a:latin typeface="Palatino" charset="0"/>
              </a:rPr>
              <a:t>Withdraw()</a:t>
            </a:r>
          </a:p>
        </p:txBody>
      </p:sp>
      <p:sp>
        <p:nvSpPr>
          <p:cNvPr id="83974" name="AutoShape 10">
            <a:extLst>
              <a:ext uri="{FF2B5EF4-FFF2-40B4-BE49-F238E27FC236}">
                <a16:creationId xmlns:a16="http://schemas.microsoft.com/office/drawing/2014/main" id="{6BE8BA8A-789B-45E8-AF6D-06BAC0C681C0}"/>
              </a:ext>
            </a:extLst>
          </p:cNvPr>
          <p:cNvSpPr>
            <a:spLocks noChangeArrowheads="1"/>
          </p:cNvSpPr>
          <p:nvPr/>
        </p:nvSpPr>
        <p:spPr bwMode="auto">
          <a:xfrm rot="2722303">
            <a:off x="3686175" y="3162300"/>
            <a:ext cx="323850" cy="2794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3975" name="Line 11">
            <a:extLst>
              <a:ext uri="{FF2B5EF4-FFF2-40B4-BE49-F238E27FC236}">
                <a16:creationId xmlns:a16="http://schemas.microsoft.com/office/drawing/2014/main" id="{0F868B55-2676-4D40-9AE3-461BE0894C2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476500" y="3390900"/>
            <a:ext cx="1270000" cy="571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3976" name="Group 13">
            <a:extLst>
              <a:ext uri="{FF2B5EF4-FFF2-40B4-BE49-F238E27FC236}">
                <a16:creationId xmlns:a16="http://schemas.microsoft.com/office/drawing/2014/main" id="{D69A7B55-26F5-4C8C-BB3A-CA24B5E27088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962400"/>
            <a:ext cx="1447800" cy="2286000"/>
            <a:chOff x="1536" y="2592"/>
            <a:chExt cx="864" cy="960"/>
          </a:xfrm>
        </p:grpSpPr>
        <p:sp>
          <p:nvSpPr>
            <p:cNvPr id="84005" name="Rectangle 14">
              <a:extLst>
                <a:ext uri="{FF2B5EF4-FFF2-40B4-BE49-F238E27FC236}">
                  <a16:creationId xmlns:a16="http://schemas.microsoft.com/office/drawing/2014/main" id="{03D5BD53-8D58-42CC-805F-4EE1D1F766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592"/>
              <a:ext cx="864" cy="96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4006" name="Line 15">
              <a:extLst>
                <a:ext uri="{FF2B5EF4-FFF2-40B4-BE49-F238E27FC236}">
                  <a16:creationId xmlns:a16="http://schemas.microsoft.com/office/drawing/2014/main" id="{EE93E1DA-0FF1-4EE9-8826-5AE7093BB9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88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07" name="Line 16">
              <a:extLst>
                <a:ext uri="{FF2B5EF4-FFF2-40B4-BE49-F238E27FC236}">
                  <a16:creationId xmlns:a16="http://schemas.microsoft.com/office/drawing/2014/main" id="{43A4DB79-25CD-45FF-AD57-E1B33314C0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1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3977" name="Text Box 17">
            <a:extLst>
              <a:ext uri="{FF2B5EF4-FFF2-40B4-BE49-F238E27FC236}">
                <a16:creationId xmlns:a16="http://schemas.microsoft.com/office/drawing/2014/main" id="{96291ECF-3A40-41CE-A99C-644AF23BFA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0325" y="4038600"/>
            <a:ext cx="1187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rgbClr val="3333FF"/>
                </a:solidFill>
                <a:latin typeface="Palatino" charset="0"/>
              </a:rPr>
              <a:t>Checking</a:t>
            </a:r>
          </a:p>
          <a:p>
            <a:pPr algn="l"/>
            <a:r>
              <a:rPr lang="en-US" altLang="en-US" sz="1800">
                <a:solidFill>
                  <a:srgbClr val="3333FF"/>
                </a:solidFill>
                <a:latin typeface="Palatino" charset="0"/>
              </a:rPr>
              <a:t>Account</a:t>
            </a:r>
            <a:endParaRPr lang="en-US" altLang="en-US" sz="1800">
              <a:solidFill>
                <a:schemeClr val="tx1"/>
              </a:solidFill>
              <a:latin typeface="Palatino" charset="0"/>
            </a:endParaRPr>
          </a:p>
        </p:txBody>
      </p:sp>
      <p:sp>
        <p:nvSpPr>
          <p:cNvPr id="83978" name="Text Box 18">
            <a:extLst>
              <a:ext uri="{FF2B5EF4-FFF2-40B4-BE49-F238E27FC236}">
                <a16:creationId xmlns:a16="http://schemas.microsoft.com/office/drawing/2014/main" id="{F5EC266A-4DA5-485A-982A-C9CD43166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1725" y="5692775"/>
            <a:ext cx="139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chemeClr val="tx1"/>
                </a:solidFill>
                <a:latin typeface="Palatino" charset="0"/>
              </a:rPr>
              <a:t>Withdraw()</a:t>
            </a:r>
          </a:p>
        </p:txBody>
      </p:sp>
      <p:sp>
        <p:nvSpPr>
          <p:cNvPr id="83979" name="AutoShape 19">
            <a:extLst>
              <a:ext uri="{FF2B5EF4-FFF2-40B4-BE49-F238E27FC236}">
                <a16:creationId xmlns:a16="http://schemas.microsoft.com/office/drawing/2014/main" id="{464D3670-AF62-482A-9ADE-773DF586D2E6}"/>
              </a:ext>
            </a:extLst>
          </p:cNvPr>
          <p:cNvSpPr>
            <a:spLocks noChangeArrowheads="1"/>
          </p:cNvSpPr>
          <p:nvPr/>
        </p:nvSpPr>
        <p:spPr bwMode="auto">
          <a:xfrm rot="-6418">
            <a:off x="4168775" y="3162300"/>
            <a:ext cx="323850" cy="2794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3980" name="Line 20">
            <a:extLst>
              <a:ext uri="{FF2B5EF4-FFF2-40B4-BE49-F238E27FC236}">
                <a16:creationId xmlns:a16="http://schemas.microsoft.com/office/drawing/2014/main" id="{443D49CA-B0D6-4B3D-8692-04C09FFD517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6100" y="3441700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3981" name="Group 22">
            <a:extLst>
              <a:ext uri="{FF2B5EF4-FFF2-40B4-BE49-F238E27FC236}">
                <a16:creationId xmlns:a16="http://schemas.microsoft.com/office/drawing/2014/main" id="{8D83F70B-5C2D-456E-BA3D-18ACC188A219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3962400"/>
            <a:ext cx="1447800" cy="2286000"/>
            <a:chOff x="1536" y="2592"/>
            <a:chExt cx="864" cy="960"/>
          </a:xfrm>
        </p:grpSpPr>
        <p:sp>
          <p:nvSpPr>
            <p:cNvPr id="84002" name="Rectangle 23">
              <a:extLst>
                <a:ext uri="{FF2B5EF4-FFF2-40B4-BE49-F238E27FC236}">
                  <a16:creationId xmlns:a16="http://schemas.microsoft.com/office/drawing/2014/main" id="{C143413E-32FC-4699-8237-0107A8AF5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592"/>
              <a:ext cx="864" cy="96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4003" name="Line 24">
              <a:extLst>
                <a:ext uri="{FF2B5EF4-FFF2-40B4-BE49-F238E27FC236}">
                  <a16:creationId xmlns:a16="http://schemas.microsoft.com/office/drawing/2014/main" id="{76E2E43A-37AC-4BC8-BF77-D9C799EE54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2880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004" name="Line 25">
              <a:extLst>
                <a:ext uri="{FF2B5EF4-FFF2-40B4-BE49-F238E27FC236}">
                  <a16:creationId xmlns:a16="http://schemas.microsoft.com/office/drawing/2014/main" id="{62A7C0DD-A6FF-4198-8A06-E33DDF867C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3216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83982" name="Text Box 26">
            <a:extLst>
              <a:ext uri="{FF2B5EF4-FFF2-40B4-BE49-F238E27FC236}">
                <a16:creationId xmlns:a16="http://schemas.microsoft.com/office/drawing/2014/main" id="{2E7ED79E-5C63-4533-958F-1B138BF42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51525" y="4038600"/>
            <a:ext cx="11874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>
                <a:solidFill>
                  <a:srgbClr val="3333FF"/>
                </a:solidFill>
                <a:latin typeface="Palatino" charset="0"/>
              </a:rPr>
              <a:t>Mortgage</a:t>
            </a:r>
          </a:p>
          <a:p>
            <a:r>
              <a:rPr lang="en-US" altLang="en-US" sz="1800">
                <a:solidFill>
                  <a:srgbClr val="3333FF"/>
                </a:solidFill>
                <a:latin typeface="Palatino" charset="0"/>
              </a:rPr>
              <a:t>Account</a:t>
            </a:r>
            <a:endParaRPr lang="en-US" altLang="en-US" sz="1800">
              <a:solidFill>
                <a:schemeClr val="tx1"/>
              </a:solidFill>
              <a:latin typeface="Palatino" charset="0"/>
            </a:endParaRPr>
          </a:p>
        </p:txBody>
      </p:sp>
      <p:sp>
        <p:nvSpPr>
          <p:cNvPr id="83983" name="Text Box 27">
            <a:extLst>
              <a:ext uri="{FF2B5EF4-FFF2-40B4-BE49-F238E27FC236}">
                <a16:creationId xmlns:a16="http://schemas.microsoft.com/office/drawing/2014/main" id="{D8E52A72-3A40-466B-9048-AB498423ED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5" y="5692775"/>
            <a:ext cx="13906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800">
                <a:solidFill>
                  <a:schemeClr val="tx1"/>
                </a:solidFill>
                <a:latin typeface="Palatino" charset="0"/>
              </a:rPr>
              <a:t>Withdraw()</a:t>
            </a:r>
          </a:p>
        </p:txBody>
      </p:sp>
      <p:sp>
        <p:nvSpPr>
          <p:cNvPr id="83984" name="AutoShape 28">
            <a:extLst>
              <a:ext uri="{FF2B5EF4-FFF2-40B4-BE49-F238E27FC236}">
                <a16:creationId xmlns:a16="http://schemas.microsoft.com/office/drawing/2014/main" id="{075F66C6-C552-41F3-AB28-DB0BE4FE9B8A}"/>
              </a:ext>
            </a:extLst>
          </p:cNvPr>
          <p:cNvSpPr>
            <a:spLocks noChangeArrowheads="1"/>
          </p:cNvSpPr>
          <p:nvPr/>
        </p:nvSpPr>
        <p:spPr bwMode="auto">
          <a:xfrm rot="-3324731">
            <a:off x="4651375" y="3136900"/>
            <a:ext cx="323850" cy="279400"/>
          </a:xfrm>
          <a:prstGeom prst="triangle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83985" name="Line 29">
            <a:extLst>
              <a:ext uri="{FF2B5EF4-FFF2-40B4-BE49-F238E27FC236}">
                <a16:creationId xmlns:a16="http://schemas.microsoft.com/office/drawing/2014/main" id="{9E4DC4EE-FD04-4CAE-B13C-F6DFCE2CD5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914900" y="3352800"/>
            <a:ext cx="1435100" cy="609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83986" name="Group 39">
            <a:extLst>
              <a:ext uri="{FF2B5EF4-FFF2-40B4-BE49-F238E27FC236}">
                <a16:creationId xmlns:a16="http://schemas.microsoft.com/office/drawing/2014/main" id="{6577FD11-8CBC-4FC1-B53B-AD289E4CAEFA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925513"/>
            <a:ext cx="1530350" cy="2325687"/>
            <a:chOff x="2304" y="768"/>
            <a:chExt cx="964" cy="1465"/>
          </a:xfrm>
        </p:grpSpPr>
        <p:grpSp>
          <p:nvGrpSpPr>
            <p:cNvPr id="83988" name="Group 40">
              <a:extLst>
                <a:ext uri="{FF2B5EF4-FFF2-40B4-BE49-F238E27FC236}">
                  <a16:creationId xmlns:a16="http://schemas.microsoft.com/office/drawing/2014/main" id="{844A9485-9E7F-4C6D-9A71-E19B993A2E3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768"/>
              <a:ext cx="964" cy="1465"/>
              <a:chOff x="2304" y="768"/>
              <a:chExt cx="964" cy="1465"/>
            </a:xfrm>
          </p:grpSpPr>
          <p:grpSp>
            <p:nvGrpSpPr>
              <p:cNvPr id="83993" name="Group 41">
                <a:extLst>
                  <a:ext uri="{FF2B5EF4-FFF2-40B4-BE49-F238E27FC236}">
                    <a16:creationId xmlns:a16="http://schemas.microsoft.com/office/drawing/2014/main" id="{4F7AF1B4-A5B6-474A-9CF2-E7384D9C7A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14" y="768"/>
                <a:ext cx="912" cy="1440"/>
                <a:chOff x="1536" y="2592"/>
                <a:chExt cx="864" cy="960"/>
              </a:xfrm>
            </p:grpSpPr>
            <p:sp>
              <p:nvSpPr>
                <p:cNvPr id="83999" name="Rectangle 42">
                  <a:extLst>
                    <a:ext uri="{FF2B5EF4-FFF2-40B4-BE49-F238E27FC236}">
                      <a16:creationId xmlns:a16="http://schemas.microsoft.com/office/drawing/2014/main" id="{DBBB9620-13E6-4179-B3D1-6E87441C09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84000" name="Line 43">
                  <a:extLst>
                    <a:ext uri="{FF2B5EF4-FFF2-40B4-BE49-F238E27FC236}">
                      <a16:creationId xmlns:a16="http://schemas.microsoft.com/office/drawing/2014/main" id="{A41691A8-5198-45F7-AB1B-EF6E5C4A61F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4001" name="Line 44">
                  <a:extLst>
                    <a:ext uri="{FF2B5EF4-FFF2-40B4-BE49-F238E27FC236}">
                      <a16:creationId xmlns:a16="http://schemas.microsoft.com/office/drawing/2014/main" id="{B29A1E10-E887-4458-B54D-FE44B05235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3994" name="Text Box 45">
                <a:extLst>
                  <a:ext uri="{FF2B5EF4-FFF2-40B4-BE49-F238E27FC236}">
                    <a16:creationId xmlns:a16="http://schemas.microsoft.com/office/drawing/2014/main" id="{AD97C872-1324-4388-B6C8-C8D3BA32E37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6" y="864"/>
                <a:ext cx="6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Account</a:t>
                </a:r>
                <a:endParaRPr lang="en-US" altLang="en-US" sz="1800">
                  <a:solidFill>
                    <a:schemeClr val="tx1"/>
                  </a:solidFill>
                  <a:latin typeface="Palatino" charset="0"/>
                </a:endParaRPr>
              </a:p>
            </p:txBody>
          </p:sp>
          <p:sp>
            <p:nvSpPr>
              <p:cNvPr id="83995" name="Text Box 46">
                <a:extLst>
                  <a:ext uri="{FF2B5EF4-FFF2-40B4-BE49-F238E27FC236}">
                    <a16:creationId xmlns:a16="http://schemas.microsoft.com/office/drawing/2014/main" id="{0CA680BA-E41E-49DF-B33A-4B94D11FF08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186"/>
                <a:ext cx="6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Amount</a:t>
                </a:r>
              </a:p>
            </p:txBody>
          </p:sp>
          <p:sp>
            <p:nvSpPr>
              <p:cNvPr id="83996" name="Text Box 47">
                <a:extLst>
                  <a:ext uri="{FF2B5EF4-FFF2-40B4-BE49-F238E27FC236}">
                    <a16:creationId xmlns:a16="http://schemas.microsoft.com/office/drawing/2014/main" id="{D59F8F8F-5388-4C91-B6AA-DE3089FDB86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714"/>
                <a:ext cx="732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Deposit()</a:t>
                </a:r>
              </a:p>
            </p:txBody>
          </p:sp>
          <p:sp>
            <p:nvSpPr>
              <p:cNvPr id="83997" name="Text Box 48">
                <a:extLst>
                  <a:ext uri="{FF2B5EF4-FFF2-40B4-BE49-F238E27FC236}">
                    <a16:creationId xmlns:a16="http://schemas.microsoft.com/office/drawing/2014/main" id="{63F84C77-BBCE-4178-9AFC-96C53DD07AD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858"/>
                <a:ext cx="876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Withdraw()</a:t>
                </a:r>
              </a:p>
            </p:txBody>
          </p:sp>
          <p:sp>
            <p:nvSpPr>
              <p:cNvPr id="83998" name="Text Box 49">
                <a:extLst>
                  <a:ext uri="{FF2B5EF4-FFF2-40B4-BE49-F238E27FC236}">
                    <a16:creationId xmlns:a16="http://schemas.microsoft.com/office/drawing/2014/main" id="{F4695438-26E3-4857-9B86-28C1790928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2002"/>
                <a:ext cx="964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GetBalance()</a:t>
                </a:r>
              </a:p>
            </p:txBody>
          </p:sp>
        </p:grpSp>
        <p:sp>
          <p:nvSpPr>
            <p:cNvPr id="83989" name="Text Box 50">
              <a:extLst>
                <a:ext uri="{FF2B5EF4-FFF2-40B4-BE49-F238E27FC236}">
                  <a16:creationId xmlns:a16="http://schemas.microsoft.com/office/drawing/2014/main" id="{A7CB6733-B544-4C79-878A-B5DBADD21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1440"/>
              <a:ext cx="90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</a:t>
              </a:r>
            </a:p>
          </p:txBody>
        </p:sp>
        <p:grpSp>
          <p:nvGrpSpPr>
            <p:cNvPr id="83990" name="Group 51">
              <a:extLst>
                <a:ext uri="{FF2B5EF4-FFF2-40B4-BE49-F238E27FC236}">
                  <a16:creationId xmlns:a16="http://schemas.microsoft.com/office/drawing/2014/main" id="{904DEFDF-3F9C-4D3E-9B58-168187FD7E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64" y="1413"/>
              <a:ext cx="804" cy="280"/>
              <a:chOff x="1056" y="1545"/>
              <a:chExt cx="804" cy="613"/>
            </a:xfrm>
          </p:grpSpPr>
          <p:sp>
            <p:nvSpPr>
              <p:cNvPr id="83991" name="Text Box 52">
                <a:extLst>
                  <a:ext uri="{FF2B5EF4-FFF2-40B4-BE49-F238E27FC236}">
                    <a16:creationId xmlns:a16="http://schemas.microsoft.com/office/drawing/2014/main" id="{24706832-10A7-4F67-96DA-DFCE756EBA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729"/>
                <a:ext cx="804" cy="4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80000"/>
                  </a:lnSpc>
                </a:pPr>
                <a:r>
                  <a:rPr lang="en-US" altLang="en-US" sz="1800">
                    <a:solidFill>
                      <a:schemeClr val="bg1"/>
                    </a:solidFill>
                    <a:latin typeface="Palatino" charset="0"/>
                  </a:rPr>
                  <a:t>AccountId</a:t>
                </a:r>
              </a:p>
            </p:txBody>
          </p:sp>
          <p:sp>
            <p:nvSpPr>
              <p:cNvPr id="83992" name="Text Box 53">
                <a:extLst>
                  <a:ext uri="{FF2B5EF4-FFF2-40B4-BE49-F238E27FC236}">
                    <a16:creationId xmlns:a16="http://schemas.microsoft.com/office/drawing/2014/main" id="{81B2B2AA-7E32-44AD-BDCD-D9B750BDFC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56" y="1545"/>
                <a:ext cx="804" cy="42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>
                  <a:lnSpc>
                    <a:spcPct val="80000"/>
                  </a:lnSpc>
                </a:pPr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AccountId</a:t>
                </a:r>
              </a:p>
            </p:txBody>
          </p:sp>
        </p:grpSp>
      </p:grpSp>
      <p:sp>
        <p:nvSpPr>
          <p:cNvPr id="245827" name="Text Box 67">
            <a:extLst>
              <a:ext uri="{FF2B5EF4-FFF2-40B4-BE49-F238E27FC236}">
                <a16:creationId xmlns:a16="http://schemas.microsoft.com/office/drawing/2014/main" id="{6C178BC4-24F3-4344-9666-CBC1D49303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0888" y="1604963"/>
            <a:ext cx="2860675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/>
              <a:t>Show Taxonomies</a:t>
            </a:r>
          </a:p>
          <a:p>
            <a:pPr>
              <a:spcBef>
                <a:spcPct val="50000"/>
              </a:spcBef>
            </a:pPr>
            <a:r>
              <a:rPr lang="en-US" altLang="en-US"/>
              <a:t>separately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43782AD-0843-4D56-B8D3-A6ABD95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35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7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C0CD60C7-C300-47AB-8C93-C463FC365B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19100" y="222250"/>
            <a:ext cx="8724900" cy="8636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Practice Object Modeling: Simplify, Organize</a:t>
            </a:r>
          </a:p>
        </p:txBody>
      </p:sp>
      <p:grpSp>
        <p:nvGrpSpPr>
          <p:cNvPr id="86019" name="Group 30">
            <a:extLst>
              <a:ext uri="{FF2B5EF4-FFF2-40B4-BE49-F238E27FC236}">
                <a16:creationId xmlns:a16="http://schemas.microsoft.com/office/drawing/2014/main" id="{8B8A1AA8-5C5D-435E-ADC0-FD13BBA6E948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1670484"/>
            <a:ext cx="7600950" cy="2514600"/>
            <a:chOff x="528" y="576"/>
            <a:chExt cx="4788" cy="1584"/>
          </a:xfrm>
        </p:grpSpPr>
        <p:grpSp>
          <p:nvGrpSpPr>
            <p:cNvPr id="86022" name="Group 31">
              <a:extLst>
                <a:ext uri="{FF2B5EF4-FFF2-40B4-BE49-F238E27FC236}">
                  <a16:creationId xmlns:a16="http://schemas.microsoft.com/office/drawing/2014/main" id="{68D5BA3D-937D-44B8-9B46-71101AD56A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720"/>
              <a:ext cx="994" cy="1440"/>
              <a:chOff x="4080" y="1104"/>
              <a:chExt cx="922" cy="1440"/>
            </a:xfrm>
          </p:grpSpPr>
          <p:grpSp>
            <p:nvGrpSpPr>
              <p:cNvPr id="86052" name="Group 32">
                <a:extLst>
                  <a:ext uri="{FF2B5EF4-FFF2-40B4-BE49-F238E27FC236}">
                    <a16:creationId xmlns:a16="http://schemas.microsoft.com/office/drawing/2014/main" id="{24C72244-AB5F-4694-919D-1FDCDF78E8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0" y="1104"/>
                <a:ext cx="912" cy="1440"/>
                <a:chOff x="1536" y="2592"/>
                <a:chExt cx="864" cy="960"/>
              </a:xfrm>
            </p:grpSpPr>
            <p:sp>
              <p:nvSpPr>
                <p:cNvPr id="86055" name="Rectangle 33">
                  <a:extLst>
                    <a:ext uri="{FF2B5EF4-FFF2-40B4-BE49-F238E27FC236}">
                      <a16:creationId xmlns:a16="http://schemas.microsoft.com/office/drawing/2014/main" id="{DFC39FA1-C028-4997-B715-3F870C0AD6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86056" name="Line 34">
                  <a:extLst>
                    <a:ext uri="{FF2B5EF4-FFF2-40B4-BE49-F238E27FC236}">
                      <a16:creationId xmlns:a16="http://schemas.microsoft.com/office/drawing/2014/main" id="{DCADE776-BFB7-40BF-894E-D22D0F6E08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057" name="Line 35">
                  <a:extLst>
                    <a:ext uri="{FF2B5EF4-FFF2-40B4-BE49-F238E27FC236}">
                      <a16:creationId xmlns:a16="http://schemas.microsoft.com/office/drawing/2014/main" id="{CBAD966B-0E37-488F-AA6D-83C062EFF5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6053" name="Text Box 36">
                <a:extLst>
                  <a:ext uri="{FF2B5EF4-FFF2-40B4-BE49-F238E27FC236}">
                    <a16:creationId xmlns:a16="http://schemas.microsoft.com/office/drawing/2014/main" id="{173E4DDD-F996-4535-819F-94C52AB3E4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" y="1200"/>
                <a:ext cx="70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Customer</a:t>
                </a:r>
                <a:endParaRPr lang="en-US" altLang="en-US" sz="1800">
                  <a:solidFill>
                    <a:schemeClr val="tx1"/>
                  </a:solidFill>
                  <a:latin typeface="Palatino" charset="0"/>
                </a:endParaRPr>
              </a:p>
            </p:txBody>
          </p:sp>
          <p:sp>
            <p:nvSpPr>
              <p:cNvPr id="86054" name="Text Box 37">
                <a:extLst>
                  <a:ext uri="{FF2B5EF4-FFF2-40B4-BE49-F238E27FC236}">
                    <a16:creationId xmlns:a16="http://schemas.microsoft.com/office/drawing/2014/main" id="{9FDC322F-A8A0-45C6-9CFB-8CC5405B87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1522"/>
                <a:ext cx="47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Name</a:t>
                </a:r>
              </a:p>
            </p:txBody>
          </p:sp>
        </p:grpSp>
        <p:sp>
          <p:nvSpPr>
            <p:cNvPr id="86023" name="Text Box 38">
              <a:extLst>
                <a:ext uri="{FF2B5EF4-FFF2-40B4-BE49-F238E27FC236}">
                  <a16:creationId xmlns:a16="http://schemas.microsoft.com/office/drawing/2014/main" id="{9CCAC9A1-7983-496E-A774-AD0DD4CCD5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776"/>
              <a:ext cx="9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CustomerId()</a:t>
              </a:r>
            </a:p>
          </p:txBody>
        </p:sp>
        <p:grpSp>
          <p:nvGrpSpPr>
            <p:cNvPr id="86024" name="Group 39">
              <a:extLst>
                <a:ext uri="{FF2B5EF4-FFF2-40B4-BE49-F238E27FC236}">
                  <a16:creationId xmlns:a16="http://schemas.microsoft.com/office/drawing/2014/main" id="{D9C5687D-BB19-4E31-88F3-F4DDBA3912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576"/>
              <a:ext cx="964" cy="1465"/>
              <a:chOff x="2304" y="768"/>
              <a:chExt cx="964" cy="1465"/>
            </a:xfrm>
          </p:grpSpPr>
          <p:grpSp>
            <p:nvGrpSpPr>
              <p:cNvPr id="86038" name="Group 40">
                <a:extLst>
                  <a:ext uri="{FF2B5EF4-FFF2-40B4-BE49-F238E27FC236}">
                    <a16:creationId xmlns:a16="http://schemas.microsoft.com/office/drawing/2014/main" id="{E721EC68-A4B1-4C0D-BF11-CA942B2841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04" y="768"/>
                <a:ext cx="964" cy="1465"/>
                <a:chOff x="2304" y="768"/>
                <a:chExt cx="964" cy="1465"/>
              </a:xfrm>
            </p:grpSpPr>
            <p:grpSp>
              <p:nvGrpSpPr>
                <p:cNvPr id="86043" name="Group 41">
                  <a:extLst>
                    <a:ext uri="{FF2B5EF4-FFF2-40B4-BE49-F238E27FC236}">
                      <a16:creationId xmlns:a16="http://schemas.microsoft.com/office/drawing/2014/main" id="{268C2CBE-4121-41A6-A39D-BE8A305110F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314" y="768"/>
                  <a:ext cx="912" cy="1440"/>
                  <a:chOff x="1536" y="2592"/>
                  <a:chExt cx="864" cy="960"/>
                </a:xfrm>
              </p:grpSpPr>
              <p:sp>
                <p:nvSpPr>
                  <p:cNvPr id="86049" name="Rectangle 42">
                    <a:extLst>
                      <a:ext uri="{FF2B5EF4-FFF2-40B4-BE49-F238E27FC236}">
                        <a16:creationId xmlns:a16="http://schemas.microsoft.com/office/drawing/2014/main" id="{E855F712-60F6-4C8B-8776-C91777D1BE6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536" y="2592"/>
                    <a:ext cx="864" cy="960"/>
                  </a:xfrm>
                  <a:prstGeom prst="rect">
                    <a:avLst/>
                  </a:prstGeom>
                  <a:solidFill>
                    <a:schemeClr val="bg1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37931725" indent="-37474525"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MS PGothic" panose="020B0600070205080204" pitchFamily="34" charset="-128"/>
                      </a:defRPr>
                    </a:lvl2pPr>
                    <a:lvl3pPr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MS PGothic" panose="020B0600070205080204" pitchFamily="34" charset="-128"/>
                      </a:defRPr>
                    </a:lvl3pPr>
                    <a:lvl4pPr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MS PGothic" panose="020B0600070205080204" pitchFamily="34" charset="-128"/>
                      </a:defRPr>
                    </a:lvl4pPr>
                    <a:lvl5pPr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4572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9144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1371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18288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 b="1">
                        <a:solidFill>
                          <a:srgbClr val="FF0000"/>
                        </a:solidFill>
                        <a:latin typeface="Helvetica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en-US" altLang="en-US"/>
                  </a:p>
                </p:txBody>
              </p:sp>
              <p:sp>
                <p:nvSpPr>
                  <p:cNvPr id="86050" name="Line 43">
                    <a:extLst>
                      <a:ext uri="{FF2B5EF4-FFF2-40B4-BE49-F238E27FC236}">
                        <a16:creationId xmlns:a16="http://schemas.microsoft.com/office/drawing/2014/main" id="{855D28D4-97BE-497E-A68B-054A5B18FB6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36" y="2880"/>
                    <a:ext cx="864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86051" name="Line 44">
                    <a:extLst>
                      <a:ext uri="{FF2B5EF4-FFF2-40B4-BE49-F238E27FC236}">
                        <a16:creationId xmlns:a16="http://schemas.microsoft.com/office/drawing/2014/main" id="{18099165-AA43-4BC3-A2BC-C8CFC0A4476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36" y="3216"/>
                    <a:ext cx="864" cy="0"/>
                  </a:xfrm>
                  <a:prstGeom prst="line">
                    <a:avLst/>
                  </a:prstGeom>
                  <a:noFill/>
                  <a:ln w="1270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</p:grpSp>
            <p:sp>
              <p:nvSpPr>
                <p:cNvPr id="86044" name="Text Box 45">
                  <a:extLst>
                    <a:ext uri="{FF2B5EF4-FFF2-40B4-BE49-F238E27FC236}">
                      <a16:creationId xmlns:a16="http://schemas.microsoft.com/office/drawing/2014/main" id="{A73125A6-17E7-4733-BF6E-35FBCDCF4BE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506" y="864"/>
                  <a:ext cx="66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l"/>
                  <a:r>
                    <a:rPr lang="en-US" altLang="en-US" sz="1800">
                      <a:solidFill>
                        <a:srgbClr val="3333FF"/>
                      </a:solidFill>
                      <a:latin typeface="Palatino" charset="0"/>
                    </a:rPr>
                    <a:t>Account</a:t>
                  </a:r>
                  <a:endParaRPr lang="en-US" altLang="en-US" sz="1800">
                    <a:solidFill>
                      <a:schemeClr val="tx1"/>
                    </a:solidFill>
                    <a:latin typeface="Palatino" charset="0"/>
                  </a:endParaRPr>
                </a:p>
              </p:txBody>
            </p:sp>
            <p:sp>
              <p:nvSpPr>
                <p:cNvPr id="86045" name="Text Box 46">
                  <a:extLst>
                    <a:ext uri="{FF2B5EF4-FFF2-40B4-BE49-F238E27FC236}">
                      <a16:creationId xmlns:a16="http://schemas.microsoft.com/office/drawing/2014/main" id="{71A84F32-1EEF-431E-A822-CF788474AF0A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04" y="1186"/>
                  <a:ext cx="66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l"/>
                  <a:r>
                    <a:rPr lang="en-US" altLang="en-US" sz="1800">
                      <a:solidFill>
                        <a:schemeClr val="tx1"/>
                      </a:solidFill>
                      <a:latin typeface="Palatino" charset="0"/>
                    </a:rPr>
                    <a:t>Amount</a:t>
                  </a:r>
                </a:p>
              </p:txBody>
            </p:sp>
            <p:sp>
              <p:nvSpPr>
                <p:cNvPr id="86046" name="Text Box 47">
                  <a:extLst>
                    <a:ext uri="{FF2B5EF4-FFF2-40B4-BE49-F238E27FC236}">
                      <a16:creationId xmlns:a16="http://schemas.microsoft.com/office/drawing/2014/main" id="{0EA85D4C-6E15-48EA-B640-C80250C19590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04" y="1714"/>
                  <a:ext cx="732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l"/>
                  <a:r>
                    <a:rPr lang="en-US" altLang="en-US" sz="1800">
                      <a:solidFill>
                        <a:schemeClr val="tx1"/>
                      </a:solidFill>
                      <a:latin typeface="Palatino" charset="0"/>
                    </a:rPr>
                    <a:t>Deposit()</a:t>
                  </a:r>
                </a:p>
              </p:txBody>
            </p:sp>
            <p:sp>
              <p:nvSpPr>
                <p:cNvPr id="86047" name="Text Box 48">
                  <a:extLst>
                    <a:ext uri="{FF2B5EF4-FFF2-40B4-BE49-F238E27FC236}">
                      <a16:creationId xmlns:a16="http://schemas.microsoft.com/office/drawing/2014/main" id="{BAC1CDB1-A6A9-4E1D-92C6-5C95B6E6E08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04" y="1858"/>
                  <a:ext cx="876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l"/>
                  <a:r>
                    <a:rPr lang="en-US" altLang="en-US" sz="1800">
                      <a:solidFill>
                        <a:schemeClr val="tx1"/>
                      </a:solidFill>
                      <a:latin typeface="Palatino" charset="0"/>
                    </a:rPr>
                    <a:t>Withdraw()</a:t>
                  </a:r>
                </a:p>
              </p:txBody>
            </p:sp>
            <p:sp>
              <p:nvSpPr>
                <p:cNvPr id="86048" name="Text Box 49">
                  <a:extLst>
                    <a:ext uri="{FF2B5EF4-FFF2-40B4-BE49-F238E27FC236}">
                      <a16:creationId xmlns:a16="http://schemas.microsoft.com/office/drawing/2014/main" id="{28F3023C-D537-43B2-82DE-340621DE763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304" y="2002"/>
                  <a:ext cx="964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l"/>
                  <a:r>
                    <a:rPr lang="en-US" altLang="en-US" sz="1800">
                      <a:solidFill>
                        <a:schemeClr val="tx1"/>
                      </a:solidFill>
                      <a:latin typeface="Palatino" charset="0"/>
                    </a:rPr>
                    <a:t>GetBalance()</a:t>
                  </a:r>
                </a:p>
              </p:txBody>
            </p:sp>
          </p:grpSp>
          <p:sp>
            <p:nvSpPr>
              <p:cNvPr id="86039" name="Text Box 50">
                <a:extLst>
                  <a:ext uri="{FF2B5EF4-FFF2-40B4-BE49-F238E27FC236}">
                    <a16:creationId xmlns:a16="http://schemas.microsoft.com/office/drawing/2014/main" id="{3001CABB-2517-40B7-B12F-C1D46A3DD5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440"/>
                <a:ext cx="90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CustomerId</a:t>
                </a:r>
              </a:p>
            </p:txBody>
          </p:sp>
          <p:grpSp>
            <p:nvGrpSpPr>
              <p:cNvPr id="86040" name="Group 51">
                <a:extLst>
                  <a:ext uri="{FF2B5EF4-FFF2-40B4-BE49-F238E27FC236}">
                    <a16:creationId xmlns:a16="http://schemas.microsoft.com/office/drawing/2014/main" id="{8C7AB652-41DC-46CD-9560-436E078876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64" y="1413"/>
                <a:ext cx="804" cy="280"/>
                <a:chOff x="1056" y="1545"/>
                <a:chExt cx="804" cy="613"/>
              </a:xfrm>
            </p:grpSpPr>
            <p:sp>
              <p:nvSpPr>
                <p:cNvPr id="86041" name="Text Box 52">
                  <a:extLst>
                    <a:ext uri="{FF2B5EF4-FFF2-40B4-BE49-F238E27FC236}">
                      <a16:creationId xmlns:a16="http://schemas.microsoft.com/office/drawing/2014/main" id="{76AD2241-E003-431A-9D45-518479991F1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56" y="1729"/>
                  <a:ext cx="804" cy="429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l">
                    <a:lnSpc>
                      <a:spcPct val="80000"/>
                    </a:lnSpc>
                  </a:pPr>
                  <a:r>
                    <a:rPr lang="en-US" altLang="en-US" sz="1800">
                      <a:solidFill>
                        <a:schemeClr val="bg1"/>
                      </a:solidFill>
                      <a:latin typeface="Palatino" charset="0"/>
                    </a:rPr>
                    <a:t>AccountId</a:t>
                  </a:r>
                </a:p>
              </p:txBody>
            </p:sp>
            <p:sp>
              <p:nvSpPr>
                <p:cNvPr id="86042" name="Text Box 53">
                  <a:extLst>
                    <a:ext uri="{FF2B5EF4-FFF2-40B4-BE49-F238E27FC236}">
                      <a16:creationId xmlns:a16="http://schemas.microsoft.com/office/drawing/2014/main" id="{528960EC-A64D-4F1D-89E4-DA8D7FBCBD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56" y="1545"/>
                  <a:ext cx="804" cy="429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pPr algn="l">
                    <a:lnSpc>
                      <a:spcPct val="80000"/>
                    </a:lnSpc>
                  </a:pPr>
                  <a:r>
                    <a:rPr lang="en-US" altLang="en-US" sz="1800">
                      <a:solidFill>
                        <a:schemeClr val="tx1"/>
                      </a:solidFill>
                      <a:latin typeface="Palatino" charset="0"/>
                    </a:rPr>
                    <a:t>AccountId</a:t>
                  </a:r>
                </a:p>
              </p:txBody>
            </p:sp>
          </p:grpSp>
        </p:grpSp>
        <p:grpSp>
          <p:nvGrpSpPr>
            <p:cNvPr id="86025" name="Group 54">
              <a:extLst>
                <a:ext uri="{FF2B5EF4-FFF2-40B4-BE49-F238E27FC236}">
                  <a16:creationId xmlns:a16="http://schemas.microsoft.com/office/drawing/2014/main" id="{ABC8D345-F8EC-4F09-90E6-4DB279B5C9C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720"/>
              <a:ext cx="922" cy="1440"/>
              <a:chOff x="4080" y="1104"/>
              <a:chExt cx="922" cy="1440"/>
            </a:xfrm>
          </p:grpSpPr>
          <p:grpSp>
            <p:nvGrpSpPr>
              <p:cNvPr id="86032" name="Group 55">
                <a:extLst>
                  <a:ext uri="{FF2B5EF4-FFF2-40B4-BE49-F238E27FC236}">
                    <a16:creationId xmlns:a16="http://schemas.microsoft.com/office/drawing/2014/main" id="{3ECA3B0C-6855-42D8-8DB3-40CC93E999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90" y="1104"/>
                <a:ext cx="912" cy="1440"/>
                <a:chOff x="1536" y="2592"/>
                <a:chExt cx="864" cy="960"/>
              </a:xfrm>
            </p:grpSpPr>
            <p:sp>
              <p:nvSpPr>
                <p:cNvPr id="86035" name="Rectangle 56">
                  <a:extLst>
                    <a:ext uri="{FF2B5EF4-FFF2-40B4-BE49-F238E27FC236}">
                      <a16:creationId xmlns:a16="http://schemas.microsoft.com/office/drawing/2014/main" id="{EBD80C02-EA68-433C-B6B9-C9BEBD5266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536" y="2592"/>
                  <a:ext cx="864" cy="960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1pPr>
                  <a:lvl2pPr marL="37931725" indent="-37474525"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2pPr>
                  <a:lvl3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3pPr>
                  <a:lvl4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4pPr>
                  <a:lvl5pPr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5pPr>
                  <a:lvl6pPr marL="4572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6pPr>
                  <a:lvl7pPr marL="9144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7pPr>
                  <a:lvl8pPr marL="1371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8pPr>
                  <a:lvl9pPr marL="18288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 b="1">
                      <a:solidFill>
                        <a:srgbClr val="FF0000"/>
                      </a:solidFill>
                      <a:latin typeface="Helvetica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86036" name="Line 57">
                  <a:extLst>
                    <a:ext uri="{FF2B5EF4-FFF2-40B4-BE49-F238E27FC236}">
                      <a16:creationId xmlns:a16="http://schemas.microsoft.com/office/drawing/2014/main" id="{E7B0F2F4-58ED-4491-9735-07A5EECC9D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2880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86037" name="Line 58">
                  <a:extLst>
                    <a:ext uri="{FF2B5EF4-FFF2-40B4-BE49-F238E27FC236}">
                      <a16:creationId xmlns:a16="http://schemas.microsoft.com/office/drawing/2014/main" id="{E8944D3A-5B34-414F-999F-E1E727E5173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36" y="3216"/>
                  <a:ext cx="864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86033" name="Text Box 59">
                <a:extLst>
                  <a:ext uri="{FF2B5EF4-FFF2-40B4-BE49-F238E27FC236}">
                    <a16:creationId xmlns:a16="http://schemas.microsoft.com/office/drawing/2014/main" id="{A656E570-970C-43FF-B50E-B8AE63BFF3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76" y="1200"/>
                <a:ext cx="4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rgbClr val="3333FF"/>
                    </a:solidFill>
                    <a:latin typeface="Palatino" charset="0"/>
                  </a:rPr>
                  <a:t>Bank</a:t>
                </a:r>
                <a:endParaRPr lang="en-US" altLang="en-US" sz="1800">
                  <a:solidFill>
                    <a:schemeClr val="tx1"/>
                  </a:solidFill>
                  <a:latin typeface="Palatino" charset="0"/>
                </a:endParaRPr>
              </a:p>
            </p:txBody>
          </p:sp>
          <p:sp>
            <p:nvSpPr>
              <p:cNvPr id="86034" name="Text Box 60">
                <a:extLst>
                  <a:ext uri="{FF2B5EF4-FFF2-40B4-BE49-F238E27FC236}">
                    <a16:creationId xmlns:a16="http://schemas.microsoft.com/office/drawing/2014/main" id="{36402215-83C7-486F-AAC0-370B0666D8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0" y="1522"/>
                <a:ext cx="50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800">
                    <a:solidFill>
                      <a:schemeClr val="tx1"/>
                    </a:solidFill>
                    <a:latin typeface="Palatino" charset="0"/>
                  </a:rPr>
                  <a:t>Name</a:t>
                </a:r>
              </a:p>
            </p:txBody>
          </p:sp>
        </p:grpSp>
        <p:sp>
          <p:nvSpPr>
            <p:cNvPr id="86026" name="Line 61">
              <a:extLst>
                <a:ext uri="{FF2B5EF4-FFF2-40B4-BE49-F238E27FC236}">
                  <a16:creationId xmlns:a16="http://schemas.microsoft.com/office/drawing/2014/main" id="{B626D196-18B7-42F3-BA45-2004B67B58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104"/>
              <a:ext cx="1104" cy="528"/>
            </a:xfrm>
            <a:prstGeom prst="line">
              <a:avLst/>
            </a:prstGeom>
            <a:noFill/>
            <a:ln w="28575">
              <a:solidFill>
                <a:srgbClr val="FC012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7" name="Text Box 62">
              <a:extLst>
                <a:ext uri="{FF2B5EF4-FFF2-40B4-BE49-F238E27FC236}">
                  <a16:creationId xmlns:a16="http://schemas.microsoft.com/office/drawing/2014/main" id="{36E79B71-8C2B-4CA7-8854-ADFCF6C0B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60" y="1113"/>
              <a:ext cx="3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chemeClr val="tx1"/>
                  </a:solidFill>
                  <a:latin typeface="Palatino" charset="0"/>
                </a:rPr>
                <a:t>Has</a:t>
              </a:r>
            </a:p>
          </p:txBody>
        </p:sp>
        <p:sp>
          <p:nvSpPr>
            <p:cNvPr id="86028" name="Text Box 63">
              <a:extLst>
                <a:ext uri="{FF2B5EF4-FFF2-40B4-BE49-F238E27FC236}">
                  <a16:creationId xmlns:a16="http://schemas.microsoft.com/office/drawing/2014/main" id="{405B1307-D865-404F-A58A-AA7DE29DE0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960"/>
              <a:ext cx="2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3200">
                  <a:solidFill>
                    <a:schemeClr val="tx1"/>
                  </a:solidFill>
                  <a:latin typeface="Palatino" charset="0"/>
                </a:rPr>
                <a:t>*</a:t>
              </a:r>
            </a:p>
          </p:txBody>
        </p:sp>
        <p:sp>
          <p:nvSpPr>
            <p:cNvPr id="86029" name="Text Box 64">
              <a:extLst>
                <a:ext uri="{FF2B5EF4-FFF2-40B4-BE49-F238E27FC236}">
                  <a16:creationId xmlns:a16="http://schemas.microsoft.com/office/drawing/2014/main" id="{B5044A0C-5864-4142-8FDD-E6ED7C824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912"/>
              <a:ext cx="230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3200">
                  <a:solidFill>
                    <a:schemeClr val="tx1"/>
                  </a:solidFill>
                  <a:latin typeface="Palatino" charset="0"/>
                </a:rPr>
                <a:t>*</a:t>
              </a:r>
            </a:p>
          </p:txBody>
        </p:sp>
        <p:sp>
          <p:nvSpPr>
            <p:cNvPr id="86030" name="Line 65">
              <a:extLst>
                <a:ext uri="{FF2B5EF4-FFF2-40B4-BE49-F238E27FC236}">
                  <a16:creationId xmlns:a16="http://schemas.microsoft.com/office/drawing/2014/main" id="{44FB1C62-CDBD-45D9-AEF9-7A16D61E24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88" y="1200"/>
              <a:ext cx="816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diamond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31" name="AutoShape 66">
              <a:extLst>
                <a:ext uri="{FF2B5EF4-FFF2-40B4-BE49-F238E27FC236}">
                  <a16:creationId xmlns:a16="http://schemas.microsoft.com/office/drawing/2014/main" id="{A98073DF-1226-4EF8-97C7-8902DC43D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1261"/>
              <a:ext cx="151" cy="160"/>
            </a:xfrm>
            <a:prstGeom prst="diamond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247876" name="Text Box 68">
            <a:extLst>
              <a:ext uri="{FF2B5EF4-FFF2-40B4-BE49-F238E27FC236}">
                <a16:creationId xmlns:a16="http://schemas.microsoft.com/office/drawing/2014/main" id="{C3867514-3495-4090-8DFC-8C5F3BD87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84" y="4725144"/>
            <a:ext cx="3546475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/>
              <a:t>Use the 7+-2 heuristics</a:t>
            </a:r>
          </a:p>
          <a:p>
            <a:pPr>
              <a:spcBef>
                <a:spcPct val="50000"/>
              </a:spcBef>
            </a:pPr>
            <a:r>
              <a:rPr lang="en-US" altLang="en-US" dirty="0"/>
              <a:t>or better 5+-2!</a:t>
            </a:r>
          </a:p>
        </p:txBody>
      </p:sp>
      <p:sp>
        <p:nvSpPr>
          <p:cNvPr id="86021" name="AutoShape 69">
            <a:extLst>
              <a:ext uri="{FF2B5EF4-FFF2-40B4-BE49-F238E27FC236}">
                <a16:creationId xmlns:a16="http://schemas.microsoft.com/office/drawing/2014/main" id="{44C4E90B-1A02-40CB-8496-B9036E9C8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9175" y="2765859"/>
            <a:ext cx="239713" cy="241300"/>
          </a:xfrm>
          <a:prstGeom prst="diamond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E284C0F-EA1D-4811-9791-0E16006DC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36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8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76" grpId="0" build="p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6C377B21-D054-4ACB-909A-09061341EE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1500" y="-99392"/>
            <a:ext cx="7772400" cy="1143000"/>
          </a:xfrm>
        </p:spPr>
        <p:txBody>
          <a:bodyPr/>
          <a:lstStyle/>
          <a:p>
            <a:r>
              <a:rPr lang="en-US" altLang="en-US" dirty="0"/>
              <a:t>Sequence Diagrams</a:t>
            </a:r>
          </a:p>
        </p:txBody>
      </p:sp>
      <p:sp>
        <p:nvSpPr>
          <p:cNvPr id="102404" name="Rectangle 4">
            <a:extLst>
              <a:ext uri="{FF2B5EF4-FFF2-40B4-BE49-F238E27FC236}">
                <a16:creationId xmlns:a16="http://schemas.microsoft.com/office/drawing/2014/main" id="{3312357B-5342-4BA7-8294-E51116BF14E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506913" y="1504950"/>
            <a:ext cx="4540250" cy="4800600"/>
          </a:xfrm>
        </p:spPr>
        <p:txBody>
          <a:bodyPr/>
          <a:lstStyle/>
          <a:p>
            <a:r>
              <a:rPr lang="en-US" altLang="en-US" sz="2000"/>
              <a:t>Used during analysis</a:t>
            </a:r>
          </a:p>
          <a:p>
            <a:pPr lvl="1"/>
            <a:r>
              <a:rPr lang="en-US" altLang="en-US" sz="1800"/>
              <a:t>To refine use case descriptions</a:t>
            </a:r>
          </a:p>
          <a:p>
            <a:pPr lvl="1"/>
            <a:r>
              <a:rPr lang="en-US" altLang="en-US" sz="1800"/>
              <a:t>to find additional objects (“participating objects”)</a:t>
            </a:r>
          </a:p>
          <a:p>
            <a:r>
              <a:rPr lang="en-US" altLang="en-US" sz="2000"/>
              <a:t>Used during system design </a:t>
            </a:r>
          </a:p>
          <a:p>
            <a:pPr lvl="1"/>
            <a:r>
              <a:rPr lang="en-US" altLang="en-US" sz="1800"/>
              <a:t>to refine subsystem interfaces</a:t>
            </a:r>
          </a:p>
          <a:p>
            <a:r>
              <a:rPr lang="en-US" altLang="en-US" sz="2000" b="1" i="1"/>
              <a:t>Instances </a:t>
            </a:r>
            <a:r>
              <a:rPr lang="en-US" altLang="en-US" sz="2000"/>
              <a:t> are represented by rectangles. </a:t>
            </a:r>
            <a:r>
              <a:rPr lang="en-US" altLang="en-US" sz="2000" b="1" i="1"/>
              <a:t>Actors</a:t>
            </a:r>
            <a:r>
              <a:rPr lang="en-US" altLang="en-US" sz="2000"/>
              <a:t> by sticky figures</a:t>
            </a:r>
          </a:p>
          <a:p>
            <a:r>
              <a:rPr lang="en-US" altLang="en-US" sz="2000" b="1" i="1"/>
              <a:t>Lifelines</a:t>
            </a:r>
            <a:r>
              <a:rPr lang="en-US" altLang="en-US" sz="2000"/>
              <a:t> are represented by dashed lines</a:t>
            </a:r>
          </a:p>
          <a:p>
            <a:r>
              <a:rPr lang="en-US" altLang="en-US" sz="2000" b="1" i="1"/>
              <a:t>Messages</a:t>
            </a:r>
            <a:r>
              <a:rPr lang="en-US" altLang="en-US" sz="2000"/>
              <a:t> are represented by arrows</a:t>
            </a:r>
            <a:r>
              <a:rPr lang="en-US" altLang="en-US" sz="2000" b="1" i="1"/>
              <a:t> </a:t>
            </a:r>
          </a:p>
          <a:p>
            <a:r>
              <a:rPr lang="en-US" altLang="en-US" sz="2000" b="1" i="1"/>
              <a:t>Activations</a:t>
            </a:r>
            <a:r>
              <a:rPr lang="en-US" altLang="en-US" sz="2000"/>
              <a:t> are represented by narrow rectangles.</a:t>
            </a:r>
          </a:p>
        </p:txBody>
      </p:sp>
      <p:grpSp>
        <p:nvGrpSpPr>
          <p:cNvPr id="2" name="Group 73">
            <a:extLst>
              <a:ext uri="{FF2B5EF4-FFF2-40B4-BE49-F238E27FC236}">
                <a16:creationId xmlns:a16="http://schemas.microsoft.com/office/drawing/2014/main" id="{A3107AF0-A10A-4C10-BF73-A77170B312CE}"/>
              </a:ext>
            </a:extLst>
          </p:cNvPr>
          <p:cNvGrpSpPr>
            <a:grpSpLocks/>
          </p:cNvGrpSpPr>
          <p:nvPr/>
        </p:nvGrpSpPr>
        <p:grpSpPr bwMode="auto">
          <a:xfrm>
            <a:off x="1169988" y="2317750"/>
            <a:ext cx="1900237" cy="3467100"/>
            <a:chOff x="737" y="1460"/>
            <a:chExt cx="1197" cy="2184"/>
          </a:xfrm>
        </p:grpSpPr>
        <p:grpSp>
          <p:nvGrpSpPr>
            <p:cNvPr id="88096" name="Group 60">
              <a:extLst>
                <a:ext uri="{FF2B5EF4-FFF2-40B4-BE49-F238E27FC236}">
                  <a16:creationId xmlns:a16="http://schemas.microsoft.com/office/drawing/2014/main" id="{BD764723-96AB-4C22-BFF5-CB3CA493FE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7" y="1460"/>
              <a:ext cx="1173" cy="143"/>
              <a:chOff x="971" y="1460"/>
              <a:chExt cx="1173" cy="143"/>
            </a:xfrm>
          </p:grpSpPr>
          <p:sp>
            <p:nvSpPr>
              <p:cNvPr id="88106" name="Line 32">
                <a:extLst>
                  <a:ext uri="{FF2B5EF4-FFF2-40B4-BE49-F238E27FC236}">
                    <a16:creationId xmlns:a16="http://schemas.microsoft.com/office/drawing/2014/main" id="{7FB7763A-ED14-4A7E-9787-7D9289CE39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1" y="1602"/>
                <a:ext cx="1173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07" name="Rectangle 33">
                <a:extLst>
                  <a:ext uri="{FF2B5EF4-FFF2-40B4-BE49-F238E27FC236}">
                    <a16:creationId xmlns:a16="http://schemas.microsoft.com/office/drawing/2014/main" id="{0B8B77B3-4C40-4EC7-96E2-372313E32A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" y="1460"/>
                <a:ext cx="807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selectZone()</a:t>
                </a:r>
                <a:endParaRPr lang="en-US" altLang="en-US" b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8097" name="Group 62">
              <a:extLst>
                <a:ext uri="{FF2B5EF4-FFF2-40B4-BE49-F238E27FC236}">
                  <a16:creationId xmlns:a16="http://schemas.microsoft.com/office/drawing/2014/main" id="{5FCBEC16-7101-4377-AA74-7DD3364EF0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7" y="2816"/>
              <a:ext cx="1187" cy="144"/>
              <a:chOff x="981" y="2008"/>
              <a:chExt cx="1187" cy="144"/>
            </a:xfrm>
          </p:grpSpPr>
          <p:sp>
            <p:nvSpPr>
              <p:cNvPr id="88104" name="Line 39">
                <a:extLst>
                  <a:ext uri="{FF2B5EF4-FFF2-40B4-BE49-F238E27FC236}">
                    <a16:creationId xmlns:a16="http://schemas.microsoft.com/office/drawing/2014/main" id="{75DFD26B-C845-48E5-979A-5BA8930253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1" y="2151"/>
                <a:ext cx="1187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05" name="Rectangle 40">
                <a:extLst>
                  <a:ext uri="{FF2B5EF4-FFF2-40B4-BE49-F238E27FC236}">
                    <a16:creationId xmlns:a16="http://schemas.microsoft.com/office/drawing/2014/main" id="{74518D02-B9A2-4007-8DAC-67BA3650F4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" y="2008"/>
                <a:ext cx="941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pickupChange()</a:t>
                </a:r>
                <a:endParaRPr lang="en-US" altLang="en-US" b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8098" name="Group 63">
              <a:extLst>
                <a:ext uri="{FF2B5EF4-FFF2-40B4-BE49-F238E27FC236}">
                  <a16:creationId xmlns:a16="http://schemas.microsoft.com/office/drawing/2014/main" id="{0105CA58-5B46-4AE9-BA50-608DA96A43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7" y="3479"/>
              <a:ext cx="1189" cy="165"/>
              <a:chOff x="971" y="2439"/>
              <a:chExt cx="1189" cy="165"/>
            </a:xfrm>
          </p:grpSpPr>
          <p:sp>
            <p:nvSpPr>
              <p:cNvPr id="88102" name="Line 44">
                <a:extLst>
                  <a:ext uri="{FF2B5EF4-FFF2-40B4-BE49-F238E27FC236}">
                    <a16:creationId xmlns:a16="http://schemas.microsoft.com/office/drawing/2014/main" id="{EB72AD19-7E07-45EA-8841-C2EE6F37CD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1" y="2603"/>
                <a:ext cx="118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03" name="Rectangle 45">
                <a:extLst>
                  <a:ext uri="{FF2B5EF4-FFF2-40B4-BE49-F238E27FC236}">
                    <a16:creationId xmlns:a16="http://schemas.microsoft.com/office/drawing/2014/main" id="{EE281A11-5B82-4206-9F32-A6B3C9EB13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" y="2439"/>
                <a:ext cx="941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pickUpTicket()</a:t>
                </a:r>
                <a:endParaRPr lang="en-US" altLang="en-US" b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8099" name="Group 61">
              <a:extLst>
                <a:ext uri="{FF2B5EF4-FFF2-40B4-BE49-F238E27FC236}">
                  <a16:creationId xmlns:a16="http://schemas.microsoft.com/office/drawing/2014/main" id="{5D2BB636-9774-4F47-A9D2-B48A3E2AAB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7" y="2131"/>
              <a:ext cx="1166" cy="144"/>
              <a:chOff x="981" y="1707"/>
              <a:chExt cx="1166" cy="144"/>
            </a:xfrm>
          </p:grpSpPr>
          <p:sp>
            <p:nvSpPr>
              <p:cNvPr id="88100" name="Line 47">
                <a:extLst>
                  <a:ext uri="{FF2B5EF4-FFF2-40B4-BE49-F238E27FC236}">
                    <a16:creationId xmlns:a16="http://schemas.microsoft.com/office/drawing/2014/main" id="{5C6281F8-B4BD-4CC0-95EB-AA05004785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81" y="1850"/>
                <a:ext cx="1166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101" name="Rectangle 48">
                <a:extLst>
                  <a:ext uri="{FF2B5EF4-FFF2-40B4-BE49-F238E27FC236}">
                    <a16:creationId xmlns:a16="http://schemas.microsoft.com/office/drawing/2014/main" id="{CC21C2BD-9D7C-4B61-8489-C7474F353E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4" y="1707"/>
                <a:ext cx="874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insertCoins()</a:t>
                </a:r>
                <a:endParaRPr lang="en-US" altLang="en-US" b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7" name="Group 72">
            <a:extLst>
              <a:ext uri="{FF2B5EF4-FFF2-40B4-BE49-F238E27FC236}">
                <a16:creationId xmlns:a16="http://schemas.microsoft.com/office/drawing/2014/main" id="{F1F6D2F2-521B-462F-A747-8B6C4B86D26D}"/>
              </a:ext>
            </a:extLst>
          </p:cNvPr>
          <p:cNvGrpSpPr>
            <a:grpSpLocks/>
          </p:cNvGrpSpPr>
          <p:nvPr/>
        </p:nvGrpSpPr>
        <p:grpSpPr bwMode="auto">
          <a:xfrm>
            <a:off x="2359025" y="1706563"/>
            <a:ext cx="1604963" cy="4821237"/>
            <a:chOff x="1486" y="1075"/>
            <a:chExt cx="1011" cy="3037"/>
          </a:xfrm>
        </p:grpSpPr>
        <p:sp>
          <p:nvSpPr>
            <p:cNvPr id="88093" name="Rectangle 9">
              <a:extLst>
                <a:ext uri="{FF2B5EF4-FFF2-40B4-BE49-F238E27FC236}">
                  <a16:creationId xmlns:a16="http://schemas.microsoft.com/office/drawing/2014/main" id="{7251BC45-FDDB-4D66-AA9D-9F6CB05736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3" y="1155"/>
              <a:ext cx="87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TicketMachine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  <p:sp>
          <p:nvSpPr>
            <p:cNvPr id="88094" name="Rectangle 8">
              <a:extLst>
                <a:ext uri="{FF2B5EF4-FFF2-40B4-BE49-F238E27FC236}">
                  <a16:creationId xmlns:a16="http://schemas.microsoft.com/office/drawing/2014/main" id="{1301F8CF-6638-4EE8-A8D7-6AA55F2214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6" y="1075"/>
              <a:ext cx="1011" cy="247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8095" name="Line 55">
              <a:extLst>
                <a:ext uri="{FF2B5EF4-FFF2-40B4-BE49-F238E27FC236}">
                  <a16:creationId xmlns:a16="http://schemas.microsoft.com/office/drawing/2014/main" id="{EF91E5DB-C5ED-4E96-9540-0DE3462689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92" y="1320"/>
              <a:ext cx="0" cy="27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71">
            <a:extLst>
              <a:ext uri="{FF2B5EF4-FFF2-40B4-BE49-F238E27FC236}">
                <a16:creationId xmlns:a16="http://schemas.microsoft.com/office/drawing/2014/main" id="{750C29BF-3BB8-4DF2-ACA0-BD2AD5299263}"/>
              </a:ext>
            </a:extLst>
          </p:cNvPr>
          <p:cNvGrpSpPr>
            <a:grpSpLocks/>
          </p:cNvGrpSpPr>
          <p:nvPr/>
        </p:nvGrpSpPr>
        <p:grpSpPr bwMode="auto">
          <a:xfrm>
            <a:off x="581025" y="1143000"/>
            <a:ext cx="960438" cy="5268913"/>
            <a:chOff x="366" y="720"/>
            <a:chExt cx="605" cy="3319"/>
          </a:xfrm>
        </p:grpSpPr>
        <p:sp>
          <p:nvSpPr>
            <p:cNvPr id="88086" name="Rectangle 6">
              <a:extLst>
                <a:ext uri="{FF2B5EF4-FFF2-40B4-BE49-F238E27FC236}">
                  <a16:creationId xmlns:a16="http://schemas.microsoft.com/office/drawing/2014/main" id="{F66454A4-D3DC-4B2A-A139-85125E8017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1484"/>
              <a:ext cx="119" cy="160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8087" name="Freeform 49">
              <a:extLst>
                <a:ext uri="{FF2B5EF4-FFF2-40B4-BE49-F238E27FC236}">
                  <a16:creationId xmlns:a16="http://schemas.microsoft.com/office/drawing/2014/main" id="{EF15D7A5-F6AF-4A50-8B9A-2944DFDD1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" y="817"/>
              <a:ext cx="129" cy="376"/>
            </a:xfrm>
            <a:custGeom>
              <a:avLst/>
              <a:gdLst>
                <a:gd name="T0" fmla="*/ 129 w 129"/>
                <a:gd name="T1" fmla="*/ 0 h 376"/>
                <a:gd name="T2" fmla="*/ 129 w 129"/>
                <a:gd name="T3" fmla="*/ 237 h 376"/>
                <a:gd name="T4" fmla="*/ 0 w 129"/>
                <a:gd name="T5" fmla="*/ 376 h 376"/>
                <a:gd name="T6" fmla="*/ 0 60000 65536"/>
                <a:gd name="T7" fmla="*/ 0 60000 65536"/>
                <a:gd name="T8" fmla="*/ 0 60000 65536"/>
                <a:gd name="T9" fmla="*/ 0 w 129"/>
                <a:gd name="T10" fmla="*/ 0 h 376"/>
                <a:gd name="T11" fmla="*/ 129 w 129"/>
                <a:gd name="T12" fmla="*/ 376 h 3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" h="376">
                  <a:moveTo>
                    <a:pt x="129" y="0"/>
                  </a:moveTo>
                  <a:lnTo>
                    <a:pt x="129" y="237"/>
                  </a:lnTo>
                  <a:lnTo>
                    <a:pt x="0" y="376"/>
                  </a:lnTo>
                </a:path>
              </a:pathLst>
            </a:cu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8088" name="Line 50">
              <a:extLst>
                <a:ext uri="{FF2B5EF4-FFF2-40B4-BE49-F238E27FC236}">
                  <a16:creationId xmlns:a16="http://schemas.microsoft.com/office/drawing/2014/main" id="{2A71B263-40C5-4028-B903-C5E25D283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" y="1054"/>
              <a:ext cx="140" cy="139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089" name="Line 51">
              <a:extLst>
                <a:ext uri="{FF2B5EF4-FFF2-40B4-BE49-F238E27FC236}">
                  <a16:creationId xmlns:a16="http://schemas.microsoft.com/office/drawing/2014/main" id="{97706111-A4BE-46F1-ACD9-86D8E4E4B0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" y="924"/>
              <a:ext cx="269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090" name="Oval 52">
              <a:extLst>
                <a:ext uri="{FF2B5EF4-FFF2-40B4-BE49-F238E27FC236}">
                  <a16:creationId xmlns:a16="http://schemas.microsoft.com/office/drawing/2014/main" id="{9DB1CF98-FAA1-4B9D-A427-CC469D26B4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720"/>
              <a:ext cx="140" cy="140"/>
            </a:xfrm>
            <a:prstGeom prst="ellipse">
              <a:avLst/>
            </a:prstGeom>
            <a:solidFill>
              <a:srgbClr val="FFFFFF"/>
            </a:solidFill>
            <a:ln w="17463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8091" name="Rectangle 53">
              <a:extLst>
                <a:ext uri="{FF2B5EF4-FFF2-40B4-BE49-F238E27FC236}">
                  <a16:creationId xmlns:a16="http://schemas.microsoft.com/office/drawing/2014/main" id="{19B55665-46AE-434A-AA76-48B20A3E1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" y="1220"/>
              <a:ext cx="60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Passenger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  <p:sp>
          <p:nvSpPr>
            <p:cNvPr id="88092" name="Line 70">
              <a:extLst>
                <a:ext uri="{FF2B5EF4-FFF2-40B4-BE49-F238E27FC236}">
                  <a16:creationId xmlns:a16="http://schemas.microsoft.com/office/drawing/2014/main" id="{8D0F7C20-CFCF-45E1-A6A9-71C9A5E5B0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" y="1391"/>
              <a:ext cx="0" cy="26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" name="Group 75">
            <a:extLst>
              <a:ext uri="{FF2B5EF4-FFF2-40B4-BE49-F238E27FC236}">
                <a16:creationId xmlns:a16="http://schemas.microsoft.com/office/drawing/2014/main" id="{39CCA6F8-560B-4A3F-8088-0E5EF717FD3B}"/>
              </a:ext>
            </a:extLst>
          </p:cNvPr>
          <p:cNvGrpSpPr>
            <a:grpSpLocks/>
          </p:cNvGrpSpPr>
          <p:nvPr/>
        </p:nvGrpSpPr>
        <p:grpSpPr bwMode="auto">
          <a:xfrm>
            <a:off x="960438" y="2335213"/>
            <a:ext cx="2316162" cy="4010025"/>
            <a:chOff x="605" y="1471"/>
            <a:chExt cx="1459" cy="2526"/>
          </a:xfrm>
        </p:grpSpPr>
        <p:sp>
          <p:nvSpPr>
            <p:cNvPr id="88081" name="Rectangle 56">
              <a:extLst>
                <a:ext uri="{FF2B5EF4-FFF2-40B4-BE49-F238E27FC236}">
                  <a16:creationId xmlns:a16="http://schemas.microsoft.com/office/drawing/2014/main" id="{014288BD-D812-4D52-B1B7-B737EEED76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" y="1583"/>
              <a:ext cx="129" cy="32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8082" name="Rectangle 57">
              <a:extLst>
                <a:ext uri="{FF2B5EF4-FFF2-40B4-BE49-F238E27FC236}">
                  <a16:creationId xmlns:a16="http://schemas.microsoft.com/office/drawing/2014/main" id="{5888C707-05CA-4490-8B6F-5D8857A05C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" y="2263"/>
              <a:ext cx="129" cy="32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8083" name="Rectangle 58">
              <a:extLst>
                <a:ext uri="{FF2B5EF4-FFF2-40B4-BE49-F238E27FC236}">
                  <a16:creationId xmlns:a16="http://schemas.microsoft.com/office/drawing/2014/main" id="{D63AB71E-82E0-46FF-BC2F-F853F346E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" y="2943"/>
              <a:ext cx="129" cy="32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8084" name="Rectangle 59">
              <a:extLst>
                <a:ext uri="{FF2B5EF4-FFF2-40B4-BE49-F238E27FC236}">
                  <a16:creationId xmlns:a16="http://schemas.microsoft.com/office/drawing/2014/main" id="{B8F62F4B-2538-449A-AEE1-B7E0A2091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5" y="3623"/>
              <a:ext cx="129" cy="32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8085" name="Rectangle 7">
              <a:extLst>
                <a:ext uri="{FF2B5EF4-FFF2-40B4-BE49-F238E27FC236}">
                  <a16:creationId xmlns:a16="http://schemas.microsoft.com/office/drawing/2014/main" id="{DEDF30AC-C9D9-47F7-8DFD-C567FC226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5" y="1471"/>
              <a:ext cx="129" cy="252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02476" name="AutoShape 76">
            <a:extLst>
              <a:ext uri="{FF2B5EF4-FFF2-40B4-BE49-F238E27FC236}">
                <a16:creationId xmlns:a16="http://schemas.microsoft.com/office/drawing/2014/main" id="{6B508BBA-A56C-4BB7-8409-AC987BA893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75" y="192088"/>
            <a:ext cx="3181350" cy="1149350"/>
          </a:xfrm>
          <a:prstGeom prst="wedgeRoundRectCallout">
            <a:avLst>
              <a:gd name="adj1" fmla="val -109931"/>
              <a:gd name="adj2" fmla="val 139917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Focus on </a:t>
            </a:r>
          </a:p>
          <a:p>
            <a:r>
              <a:rPr lang="en-US" altLang="en-US"/>
              <a:t>Controlflow</a:t>
            </a:r>
          </a:p>
        </p:txBody>
      </p:sp>
      <p:sp>
        <p:nvSpPr>
          <p:cNvPr id="102487" name="AutoShape 87">
            <a:extLst>
              <a:ext uri="{FF2B5EF4-FFF2-40B4-BE49-F238E27FC236}">
                <a16:creationId xmlns:a16="http://schemas.microsoft.com/office/drawing/2014/main" id="{BA6DAF68-DD68-4361-8728-505ADFB875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4350" y="3306763"/>
            <a:ext cx="2279650" cy="1154112"/>
          </a:xfrm>
          <a:prstGeom prst="wedgeRoundRectCallout">
            <a:avLst>
              <a:gd name="adj1" fmla="val -98190"/>
              <a:gd name="adj2" fmla="val -94565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0"/>
              <a:t>Messages -&gt;</a:t>
            </a:r>
          </a:p>
          <a:p>
            <a:r>
              <a:rPr lang="en-US" altLang="en-US" sz="1800" b="0"/>
              <a:t>Operations on</a:t>
            </a:r>
          </a:p>
          <a:p>
            <a:r>
              <a:rPr lang="en-US" altLang="en-US" sz="1800" b="0"/>
              <a:t> participating Object</a:t>
            </a:r>
          </a:p>
        </p:txBody>
      </p:sp>
      <p:grpSp>
        <p:nvGrpSpPr>
          <p:cNvPr id="10" name="Group 88">
            <a:extLst>
              <a:ext uri="{FF2B5EF4-FFF2-40B4-BE49-F238E27FC236}">
                <a16:creationId xmlns:a16="http://schemas.microsoft.com/office/drawing/2014/main" id="{5FE1AC2A-8085-40DB-B4A0-30BE319C8D4A}"/>
              </a:ext>
            </a:extLst>
          </p:cNvPr>
          <p:cNvGrpSpPr>
            <a:grpSpLocks/>
          </p:cNvGrpSpPr>
          <p:nvPr/>
        </p:nvGrpSpPr>
        <p:grpSpPr bwMode="auto">
          <a:xfrm>
            <a:off x="3570288" y="3006725"/>
            <a:ext cx="2220912" cy="1960563"/>
            <a:chOff x="2249" y="1894"/>
            <a:chExt cx="1399" cy="1235"/>
          </a:xfrm>
        </p:grpSpPr>
        <p:sp>
          <p:nvSpPr>
            <p:cNvPr id="88076" name="Rectangle 84">
              <a:extLst>
                <a:ext uri="{FF2B5EF4-FFF2-40B4-BE49-F238E27FC236}">
                  <a16:creationId xmlns:a16="http://schemas.microsoft.com/office/drawing/2014/main" id="{581C3C02-E563-48C9-905B-E29D46AA2E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" y="2347"/>
              <a:ext cx="1393" cy="782"/>
            </a:xfrm>
            <a:prstGeom prst="rect">
              <a:avLst/>
            </a:prstGeom>
            <a:solidFill>
              <a:schemeClr val="accent1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8077" name="Text Box 79">
              <a:extLst>
                <a:ext uri="{FF2B5EF4-FFF2-40B4-BE49-F238E27FC236}">
                  <a16:creationId xmlns:a16="http://schemas.microsoft.com/office/drawing/2014/main" id="{BCD286B7-3361-4D3D-A9BA-850310F3F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0" y="2144"/>
              <a:ext cx="1329" cy="92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zone2price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selectZone()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insertCoins()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pickupChange()</a:t>
              </a:r>
            </a:p>
            <a:p>
              <a:pPr algn="l"/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pickUpTicket()</a:t>
              </a:r>
            </a:p>
          </p:txBody>
        </p:sp>
        <p:sp>
          <p:nvSpPr>
            <p:cNvPr id="88078" name="Rectangle 81">
              <a:extLst>
                <a:ext uri="{FF2B5EF4-FFF2-40B4-BE49-F238E27FC236}">
                  <a16:creationId xmlns:a16="http://schemas.microsoft.com/office/drawing/2014/main" id="{D3F9B576-3314-4A8C-AF60-B21A6D97AC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0" y="1894"/>
              <a:ext cx="1390" cy="282"/>
            </a:xfrm>
            <a:prstGeom prst="rect">
              <a:avLst/>
            </a:prstGeom>
            <a:solidFill>
              <a:schemeClr val="accent1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8079" name="Rectangle 82">
              <a:extLst>
                <a:ext uri="{FF2B5EF4-FFF2-40B4-BE49-F238E27FC236}">
                  <a16:creationId xmlns:a16="http://schemas.microsoft.com/office/drawing/2014/main" id="{07EABD82-3C42-460B-BCCB-7B8742D1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5" y="1988"/>
              <a:ext cx="1123" cy="17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800">
                  <a:solidFill>
                    <a:srgbClr val="000000"/>
                  </a:solidFill>
                  <a:latin typeface="Courier" charset="0"/>
                </a:rPr>
                <a:t>TicketMachine</a:t>
              </a:r>
            </a:p>
          </p:txBody>
        </p:sp>
        <p:sp>
          <p:nvSpPr>
            <p:cNvPr id="88080" name="Rectangle 83">
              <a:extLst>
                <a:ext uri="{FF2B5EF4-FFF2-40B4-BE49-F238E27FC236}">
                  <a16:creationId xmlns:a16="http://schemas.microsoft.com/office/drawing/2014/main" id="{FAF273F1-7124-4301-81A8-BCE2E643B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4" y="2179"/>
              <a:ext cx="1394" cy="162"/>
            </a:xfrm>
            <a:prstGeom prst="rect">
              <a:avLst/>
            </a:prstGeom>
            <a:solidFill>
              <a:schemeClr val="accent1"/>
            </a:solidFill>
            <a:ln w="1587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02490" name="AutoShape 90">
            <a:extLst>
              <a:ext uri="{FF2B5EF4-FFF2-40B4-BE49-F238E27FC236}">
                <a16:creationId xmlns:a16="http://schemas.microsoft.com/office/drawing/2014/main" id="{167EECC6-1919-4FE1-BCD8-C94016086A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6700" y="4016375"/>
            <a:ext cx="722313" cy="330200"/>
          </a:xfrm>
          <a:prstGeom prst="rightArrow">
            <a:avLst>
              <a:gd name="adj1" fmla="val 50000"/>
              <a:gd name="adj2" fmla="val 54688"/>
            </a:avLst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D76455E-2BDB-4766-B0B1-85CED389C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2133E4-5B4C-4694-95A3-A662C059EDE7}" type="slidenum">
              <a:rPr lang="nl-NL" altLang="fr-FR" smtClean="0"/>
              <a:pPr>
                <a:defRPr/>
              </a:pPr>
              <a:t>37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0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4" grpId="0" build="p" autoUpdateAnimBg="0"/>
      <p:bldP spid="102476" grpId="0" animBg="1" autoUpdateAnimBg="0"/>
      <p:bldP spid="102487" grpId="0" animBg="1" autoUpdateAnimBg="0"/>
      <p:bldP spid="10249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Line 72">
            <a:extLst>
              <a:ext uri="{FF2B5EF4-FFF2-40B4-BE49-F238E27FC236}">
                <a16:creationId xmlns:a16="http://schemas.microsoft.com/office/drawing/2014/main" id="{783235E5-B734-4FB4-B717-0FBE1E1B37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463675" y="2159000"/>
            <a:ext cx="0" cy="1993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E88C4BEB-DAC3-47C7-8894-FBD1EE3EA7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332656"/>
            <a:ext cx="8153400" cy="8636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Sequence Diagrams can also model the Flow of Data 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14A78B4E-4F28-4E54-B144-57B27DBA7B7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533400" y="4410075"/>
            <a:ext cx="8001000" cy="1685925"/>
          </a:xfrm>
        </p:spPr>
        <p:txBody>
          <a:bodyPr/>
          <a:lstStyle/>
          <a:p>
            <a:r>
              <a:rPr lang="en-US" altLang="en-US" sz="2000"/>
              <a:t>The source of an arrow indicates the activation which sent the message</a:t>
            </a:r>
          </a:p>
          <a:p>
            <a:r>
              <a:rPr lang="en-US" altLang="en-US" sz="2000">
                <a:solidFill>
                  <a:srgbClr val="FF3300"/>
                </a:solidFill>
              </a:rPr>
              <a:t>Horizontal dashed arrows indicate data flow</a:t>
            </a:r>
            <a:r>
              <a:rPr lang="en-US" altLang="en-US" sz="2000"/>
              <a:t>, for example return results from a message</a:t>
            </a:r>
          </a:p>
        </p:txBody>
      </p:sp>
      <p:grpSp>
        <p:nvGrpSpPr>
          <p:cNvPr id="90117" name="Group 35">
            <a:extLst>
              <a:ext uri="{FF2B5EF4-FFF2-40B4-BE49-F238E27FC236}">
                <a16:creationId xmlns:a16="http://schemas.microsoft.com/office/drawing/2014/main" id="{5A7C3C3F-51FD-419B-BB9C-77046E8C7284}"/>
              </a:ext>
            </a:extLst>
          </p:cNvPr>
          <p:cNvGrpSpPr>
            <a:grpSpLocks/>
          </p:cNvGrpSpPr>
          <p:nvPr/>
        </p:nvGrpSpPr>
        <p:grpSpPr bwMode="auto">
          <a:xfrm>
            <a:off x="952500" y="1143000"/>
            <a:ext cx="960438" cy="1006475"/>
            <a:chOff x="600" y="720"/>
            <a:chExt cx="605" cy="634"/>
          </a:xfrm>
        </p:grpSpPr>
        <p:grpSp>
          <p:nvGrpSpPr>
            <p:cNvPr id="90144" name="Group 34">
              <a:extLst>
                <a:ext uri="{FF2B5EF4-FFF2-40B4-BE49-F238E27FC236}">
                  <a16:creationId xmlns:a16="http://schemas.microsoft.com/office/drawing/2014/main" id="{B8682289-16CD-4CF5-A485-275B90486C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8" y="720"/>
              <a:ext cx="269" cy="473"/>
              <a:chOff x="788" y="720"/>
              <a:chExt cx="269" cy="473"/>
            </a:xfrm>
          </p:grpSpPr>
          <p:sp>
            <p:nvSpPr>
              <p:cNvPr id="90146" name="Freeform 20">
                <a:extLst>
                  <a:ext uri="{FF2B5EF4-FFF2-40B4-BE49-F238E27FC236}">
                    <a16:creationId xmlns:a16="http://schemas.microsoft.com/office/drawing/2014/main" id="{CA2E8294-794A-4F13-AD6D-C35342661E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817"/>
                <a:ext cx="129" cy="376"/>
              </a:xfrm>
              <a:custGeom>
                <a:avLst/>
                <a:gdLst>
                  <a:gd name="T0" fmla="*/ 129 w 129"/>
                  <a:gd name="T1" fmla="*/ 0 h 376"/>
                  <a:gd name="T2" fmla="*/ 129 w 129"/>
                  <a:gd name="T3" fmla="*/ 237 h 376"/>
                  <a:gd name="T4" fmla="*/ 0 w 129"/>
                  <a:gd name="T5" fmla="*/ 376 h 376"/>
                  <a:gd name="T6" fmla="*/ 0 60000 65536"/>
                  <a:gd name="T7" fmla="*/ 0 60000 65536"/>
                  <a:gd name="T8" fmla="*/ 0 60000 65536"/>
                  <a:gd name="T9" fmla="*/ 0 w 129"/>
                  <a:gd name="T10" fmla="*/ 0 h 376"/>
                  <a:gd name="T11" fmla="*/ 129 w 129"/>
                  <a:gd name="T12" fmla="*/ 376 h 3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9" h="376">
                    <a:moveTo>
                      <a:pt x="129" y="0"/>
                    </a:moveTo>
                    <a:lnTo>
                      <a:pt x="129" y="237"/>
                    </a:lnTo>
                    <a:lnTo>
                      <a:pt x="0" y="376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0147" name="Line 21">
                <a:extLst>
                  <a:ext uri="{FF2B5EF4-FFF2-40B4-BE49-F238E27FC236}">
                    <a16:creationId xmlns:a16="http://schemas.microsoft.com/office/drawing/2014/main" id="{D9CC2AE8-0D54-480D-8077-08961A9F50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7" y="1054"/>
                <a:ext cx="140" cy="139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48" name="Line 22">
                <a:extLst>
                  <a:ext uri="{FF2B5EF4-FFF2-40B4-BE49-F238E27FC236}">
                    <a16:creationId xmlns:a16="http://schemas.microsoft.com/office/drawing/2014/main" id="{4DBC1702-C5B1-4FF6-B07C-86A1287EDD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8" y="924"/>
                <a:ext cx="26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149" name="Oval 23">
                <a:extLst>
                  <a:ext uri="{FF2B5EF4-FFF2-40B4-BE49-F238E27FC236}">
                    <a16:creationId xmlns:a16="http://schemas.microsoft.com/office/drawing/2014/main" id="{C5A32061-8854-4583-9E59-97422294C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" y="720"/>
                <a:ext cx="140" cy="140"/>
              </a:xfrm>
              <a:prstGeom prst="ellipse">
                <a:avLst/>
              </a:prstGeom>
              <a:solidFill>
                <a:srgbClr val="FFFFFF"/>
              </a:solidFill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90145" name="Rectangle 24">
              <a:extLst>
                <a:ext uri="{FF2B5EF4-FFF2-40B4-BE49-F238E27FC236}">
                  <a16:creationId xmlns:a16="http://schemas.microsoft.com/office/drawing/2014/main" id="{8F850F8C-E09D-4285-8521-F83FDF639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" y="1220"/>
              <a:ext cx="60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Passenger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</p:grpSp>
      <p:sp>
        <p:nvSpPr>
          <p:cNvPr id="90118" name="Rectangle 25">
            <a:extLst>
              <a:ext uri="{FF2B5EF4-FFF2-40B4-BE49-F238E27FC236}">
                <a16:creationId xmlns:a16="http://schemas.microsoft.com/office/drawing/2014/main" id="{A048C336-4807-4E70-A5AA-2084627E45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0" y="2355850"/>
            <a:ext cx="204788" cy="1571625"/>
          </a:xfrm>
          <a:prstGeom prst="rect">
            <a:avLst/>
          </a:prstGeom>
          <a:solidFill>
            <a:schemeClr val="bg1"/>
          </a:solidFill>
          <a:ln w="174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4" name="Group 87">
            <a:extLst>
              <a:ext uri="{FF2B5EF4-FFF2-40B4-BE49-F238E27FC236}">
                <a16:creationId xmlns:a16="http://schemas.microsoft.com/office/drawing/2014/main" id="{097CE72C-E89B-434A-8DEF-D5F0E1458675}"/>
              </a:ext>
            </a:extLst>
          </p:cNvPr>
          <p:cNvGrpSpPr>
            <a:grpSpLocks/>
          </p:cNvGrpSpPr>
          <p:nvPr/>
        </p:nvGrpSpPr>
        <p:grpSpPr bwMode="auto">
          <a:xfrm>
            <a:off x="1541463" y="1706563"/>
            <a:ext cx="7023100" cy="2039937"/>
            <a:chOff x="971" y="1075"/>
            <a:chExt cx="4424" cy="1285"/>
          </a:xfrm>
        </p:grpSpPr>
        <p:sp>
          <p:nvSpPr>
            <p:cNvPr id="90125" name="Line 9">
              <a:extLst>
                <a:ext uri="{FF2B5EF4-FFF2-40B4-BE49-F238E27FC236}">
                  <a16:creationId xmlns:a16="http://schemas.microsoft.com/office/drawing/2014/main" id="{931164BD-0B63-4FDB-B0A2-AEEB10AC59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1" y="1602"/>
              <a:ext cx="1173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26" name="Rectangle 10">
              <a:extLst>
                <a:ext uri="{FF2B5EF4-FFF2-40B4-BE49-F238E27FC236}">
                  <a16:creationId xmlns:a16="http://schemas.microsoft.com/office/drawing/2014/main" id="{CC2107B1-A4EA-41AA-8D1D-624972E7F5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4" y="1461"/>
              <a:ext cx="807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selectZone()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  <p:sp>
          <p:nvSpPr>
            <p:cNvPr id="90127" name="Rectangle 27">
              <a:extLst>
                <a:ext uri="{FF2B5EF4-FFF2-40B4-BE49-F238E27FC236}">
                  <a16:creationId xmlns:a16="http://schemas.microsoft.com/office/drawing/2014/main" id="{F948EB8C-CE70-4879-BD82-A10B86FC3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0" y="1075"/>
              <a:ext cx="1011" cy="247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0128" name="Rectangle 28">
              <a:extLst>
                <a:ext uri="{FF2B5EF4-FFF2-40B4-BE49-F238E27FC236}">
                  <a16:creationId xmlns:a16="http://schemas.microsoft.com/office/drawing/2014/main" id="{13ABB5B9-8914-4569-96C6-DE012CAEBA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0" y="1155"/>
              <a:ext cx="672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ZoneButton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  <p:sp>
          <p:nvSpPr>
            <p:cNvPr id="90129" name="Line 29">
              <a:extLst>
                <a:ext uri="{FF2B5EF4-FFF2-40B4-BE49-F238E27FC236}">
                  <a16:creationId xmlns:a16="http://schemas.microsoft.com/office/drawing/2014/main" id="{AD2A19D0-730B-4D52-B367-B0AF37EDEA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6" y="1320"/>
              <a:ext cx="0" cy="10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30" name="Rectangle 30">
              <a:extLst>
                <a:ext uri="{FF2B5EF4-FFF2-40B4-BE49-F238E27FC236}">
                  <a16:creationId xmlns:a16="http://schemas.microsoft.com/office/drawing/2014/main" id="{8140398A-5130-447F-B64F-E79581BF2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1" y="1596"/>
              <a:ext cx="129" cy="734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0131" name="Rectangle 38">
              <a:extLst>
                <a:ext uri="{FF2B5EF4-FFF2-40B4-BE49-F238E27FC236}">
                  <a16:creationId xmlns:a16="http://schemas.microsoft.com/office/drawing/2014/main" id="{7E252D40-704D-48DF-B558-66E0DF462C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6" y="1155"/>
              <a:ext cx="874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TarifSchedule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  <p:grpSp>
          <p:nvGrpSpPr>
            <p:cNvPr id="90132" name="Group 81">
              <a:extLst>
                <a:ext uri="{FF2B5EF4-FFF2-40B4-BE49-F238E27FC236}">
                  <a16:creationId xmlns:a16="http://schemas.microsoft.com/office/drawing/2014/main" id="{57CAE3F8-1BBA-49D6-BDC8-7D48517149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16" y="1075"/>
              <a:ext cx="1011" cy="1285"/>
              <a:chOff x="3016" y="1075"/>
              <a:chExt cx="1011" cy="1285"/>
            </a:xfrm>
          </p:grpSpPr>
          <p:sp>
            <p:nvSpPr>
              <p:cNvPr id="90142" name="Rectangle 37">
                <a:extLst>
                  <a:ext uri="{FF2B5EF4-FFF2-40B4-BE49-F238E27FC236}">
                    <a16:creationId xmlns:a16="http://schemas.microsoft.com/office/drawing/2014/main" id="{4155B242-A0EB-4557-A6EF-8D0E169EB5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6" y="1075"/>
                <a:ext cx="1011" cy="247"/>
              </a:xfrm>
              <a:prstGeom prst="rect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0143" name="Line 39">
                <a:extLst>
                  <a:ext uri="{FF2B5EF4-FFF2-40B4-BE49-F238E27FC236}">
                    <a16:creationId xmlns:a16="http://schemas.microsoft.com/office/drawing/2014/main" id="{6ED7904C-8BF9-43CD-9CEC-B72FC0AEA8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2" y="1320"/>
                <a:ext cx="0" cy="10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0133" name="Rectangle 40">
              <a:extLst>
                <a:ext uri="{FF2B5EF4-FFF2-40B4-BE49-F238E27FC236}">
                  <a16:creationId xmlns:a16="http://schemas.microsoft.com/office/drawing/2014/main" id="{AB0472F2-EF9C-4BC6-850E-5C6D6F623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7" y="1692"/>
              <a:ext cx="129" cy="32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0134" name="Rectangle 45">
              <a:extLst>
                <a:ext uri="{FF2B5EF4-FFF2-40B4-BE49-F238E27FC236}">
                  <a16:creationId xmlns:a16="http://schemas.microsoft.com/office/drawing/2014/main" id="{7B5E73AF-C75E-46FE-8AD8-A331365B9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84" y="1075"/>
              <a:ext cx="1011" cy="247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0135" name="Rectangle 46">
              <a:extLst>
                <a:ext uri="{FF2B5EF4-FFF2-40B4-BE49-F238E27FC236}">
                  <a16:creationId xmlns:a16="http://schemas.microsoft.com/office/drawing/2014/main" id="{F2958965-1D32-4F9A-BE23-C5910EF0F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1155"/>
              <a:ext cx="47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Display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  <p:sp>
          <p:nvSpPr>
            <p:cNvPr id="90136" name="Line 47">
              <a:extLst>
                <a:ext uri="{FF2B5EF4-FFF2-40B4-BE49-F238E27FC236}">
                  <a16:creationId xmlns:a16="http://schemas.microsoft.com/office/drawing/2014/main" id="{68AA177A-0808-47D7-90FD-2BE4D73E3B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0" y="1320"/>
              <a:ext cx="0" cy="9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137" name="Rectangle 48">
              <a:extLst>
                <a:ext uri="{FF2B5EF4-FFF2-40B4-BE49-F238E27FC236}">
                  <a16:creationId xmlns:a16="http://schemas.microsoft.com/office/drawing/2014/main" id="{DDDE8410-BA36-4172-845F-EFEE3DF12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5" y="2212"/>
              <a:ext cx="121" cy="14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0138" name="Line 56">
              <a:extLst>
                <a:ext uri="{FF2B5EF4-FFF2-40B4-BE49-F238E27FC236}">
                  <a16:creationId xmlns:a16="http://schemas.microsoft.com/office/drawing/2014/main" id="{CD26F755-2A5C-40F6-945C-E97CE645FA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9" y="1690"/>
              <a:ext cx="1173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39" name="Rectangle 57">
              <a:extLst>
                <a:ext uri="{FF2B5EF4-FFF2-40B4-BE49-F238E27FC236}">
                  <a16:creationId xmlns:a16="http://schemas.microsoft.com/office/drawing/2014/main" id="{A0108C55-E66B-422B-B31B-4B48BEF146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27" y="1556"/>
              <a:ext cx="1479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lookupPrice(selection)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  <p:sp>
          <p:nvSpPr>
            <p:cNvPr id="90140" name="Line 59">
              <a:extLst>
                <a:ext uri="{FF2B5EF4-FFF2-40B4-BE49-F238E27FC236}">
                  <a16:creationId xmlns:a16="http://schemas.microsoft.com/office/drawing/2014/main" id="{EA93555B-4B22-4C4B-B74B-ED62ABEA2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15" y="2217"/>
              <a:ext cx="2501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41" name="Rectangle 60">
              <a:extLst>
                <a:ext uri="{FF2B5EF4-FFF2-40B4-BE49-F238E27FC236}">
                  <a16:creationId xmlns:a16="http://schemas.microsoft.com/office/drawing/2014/main" id="{E8967A7A-A49B-4AE6-AF09-339B6A8BA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6" y="2076"/>
              <a:ext cx="1277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displayPrice(price)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oup 79">
            <a:extLst>
              <a:ext uri="{FF2B5EF4-FFF2-40B4-BE49-F238E27FC236}">
                <a16:creationId xmlns:a16="http://schemas.microsoft.com/office/drawing/2014/main" id="{4B640850-5A33-477D-8054-292FFA37692A}"/>
              </a:ext>
            </a:extLst>
          </p:cNvPr>
          <p:cNvGrpSpPr>
            <a:grpSpLocks/>
          </p:cNvGrpSpPr>
          <p:nvPr/>
        </p:nvGrpSpPr>
        <p:grpSpPr bwMode="auto">
          <a:xfrm>
            <a:off x="3636963" y="2967038"/>
            <a:ext cx="1862137" cy="225425"/>
            <a:chOff x="2291" y="1869"/>
            <a:chExt cx="1173" cy="142"/>
          </a:xfrm>
        </p:grpSpPr>
        <p:sp>
          <p:nvSpPr>
            <p:cNvPr id="90123" name="Line 77">
              <a:extLst>
                <a:ext uri="{FF2B5EF4-FFF2-40B4-BE49-F238E27FC236}">
                  <a16:creationId xmlns:a16="http://schemas.microsoft.com/office/drawing/2014/main" id="{D20BD979-ED29-4A7F-AA25-001B03EB17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91" y="2010"/>
              <a:ext cx="1173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prstDash val="dash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124" name="Rectangle 78">
              <a:extLst>
                <a:ext uri="{FF2B5EF4-FFF2-40B4-BE49-F238E27FC236}">
                  <a16:creationId xmlns:a16="http://schemas.microsoft.com/office/drawing/2014/main" id="{D3D4C530-18A7-46EF-9069-2F8781E18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0" y="1869"/>
              <a:ext cx="33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FF3300"/>
                  </a:solidFill>
                  <a:latin typeface="Courier" charset="0"/>
                </a:rPr>
                <a:t>price</a:t>
              </a:r>
              <a:endParaRPr lang="en-US" altLang="en-US" b="0">
                <a:solidFill>
                  <a:srgbClr val="FF3300"/>
                </a:solidFill>
              </a:endParaRPr>
            </a:p>
          </p:txBody>
        </p:sp>
      </p:grpSp>
      <p:sp>
        <p:nvSpPr>
          <p:cNvPr id="105552" name="AutoShape 80">
            <a:extLst>
              <a:ext uri="{FF2B5EF4-FFF2-40B4-BE49-F238E27FC236}">
                <a16:creationId xmlns:a16="http://schemas.microsoft.com/office/drawing/2014/main" id="{3CDFA019-465F-46A5-BB9D-49DAA7DF98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302000"/>
            <a:ext cx="1358900" cy="546100"/>
          </a:xfrm>
          <a:prstGeom prst="wedgeRoundRectCallout">
            <a:avLst>
              <a:gd name="adj1" fmla="val 100935"/>
              <a:gd name="adj2" fmla="val -55523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0"/>
              <a:t>Dataflow</a:t>
            </a:r>
          </a:p>
        </p:txBody>
      </p:sp>
      <p:sp>
        <p:nvSpPr>
          <p:cNvPr id="105556" name="Text Box 84">
            <a:extLst>
              <a:ext uri="{FF2B5EF4-FFF2-40B4-BE49-F238E27FC236}">
                <a16:creationId xmlns:a16="http://schemas.microsoft.com/office/drawing/2014/main" id="{277783E6-5360-423A-A20C-DCC413435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43188" y="3930650"/>
            <a:ext cx="56832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0">
                <a:solidFill>
                  <a:schemeClr val="tx1"/>
                </a:solidFill>
                <a:latin typeface="Verdana" panose="020B0604030504040204" pitchFamily="34" charset="0"/>
              </a:rPr>
              <a:t>…continued on next slide...</a:t>
            </a:r>
            <a:endParaRPr lang="en-US" altLang="en-US" b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build="p" autoUpdateAnimBg="0"/>
      <p:bldP spid="105552" grpId="0" animBg="1" autoUpdateAnimBg="0"/>
      <p:bldP spid="105556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5DA90F10-1D5E-4D2A-81ED-75B5A7C16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0"/>
            <a:ext cx="8568952" cy="863600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Sequence Diagrams: Iteration &amp; Condition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EDF3AF28-C35E-4762-AA2F-EE1B410C4717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98500" y="5080000"/>
            <a:ext cx="7772400" cy="1295400"/>
          </a:xfrm>
        </p:spPr>
        <p:txBody>
          <a:bodyPr/>
          <a:lstStyle/>
          <a:p>
            <a:r>
              <a:rPr lang="en-US" altLang="en-US" sz="2000"/>
              <a:t>Iteration is denoted by a * preceding the message name</a:t>
            </a:r>
          </a:p>
          <a:p>
            <a:r>
              <a:rPr lang="en-US" altLang="en-US" sz="2000"/>
              <a:t>Condition is denoted by boolean expression in [ ] before the message name</a:t>
            </a:r>
          </a:p>
        </p:txBody>
      </p:sp>
      <p:sp>
        <p:nvSpPr>
          <p:cNvPr id="92164" name="Line 6">
            <a:extLst>
              <a:ext uri="{FF2B5EF4-FFF2-40B4-BE49-F238E27FC236}">
                <a16:creationId xmlns:a16="http://schemas.microsoft.com/office/drawing/2014/main" id="{E289E875-C872-4297-B2FC-77122F73378A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075" y="2159000"/>
            <a:ext cx="0" cy="1993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2165" name="Group 10">
            <a:extLst>
              <a:ext uri="{FF2B5EF4-FFF2-40B4-BE49-F238E27FC236}">
                <a16:creationId xmlns:a16="http://schemas.microsoft.com/office/drawing/2014/main" id="{B353757F-73FE-4B73-BA73-F8D52E21F195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1143000"/>
            <a:ext cx="960438" cy="1006475"/>
            <a:chOff x="600" y="720"/>
            <a:chExt cx="605" cy="634"/>
          </a:xfrm>
        </p:grpSpPr>
        <p:grpSp>
          <p:nvGrpSpPr>
            <p:cNvPr id="92207" name="Group 11">
              <a:extLst>
                <a:ext uri="{FF2B5EF4-FFF2-40B4-BE49-F238E27FC236}">
                  <a16:creationId xmlns:a16="http://schemas.microsoft.com/office/drawing/2014/main" id="{F826564F-D90B-4EB2-B13E-19A5194AC6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8" y="720"/>
              <a:ext cx="269" cy="473"/>
              <a:chOff x="788" y="720"/>
              <a:chExt cx="269" cy="473"/>
            </a:xfrm>
          </p:grpSpPr>
          <p:sp>
            <p:nvSpPr>
              <p:cNvPr id="92209" name="Freeform 12">
                <a:extLst>
                  <a:ext uri="{FF2B5EF4-FFF2-40B4-BE49-F238E27FC236}">
                    <a16:creationId xmlns:a16="http://schemas.microsoft.com/office/drawing/2014/main" id="{B810CCA5-7719-4822-A679-F11775C5B4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817"/>
                <a:ext cx="129" cy="376"/>
              </a:xfrm>
              <a:custGeom>
                <a:avLst/>
                <a:gdLst>
                  <a:gd name="T0" fmla="*/ 129 w 129"/>
                  <a:gd name="T1" fmla="*/ 0 h 376"/>
                  <a:gd name="T2" fmla="*/ 129 w 129"/>
                  <a:gd name="T3" fmla="*/ 237 h 376"/>
                  <a:gd name="T4" fmla="*/ 0 w 129"/>
                  <a:gd name="T5" fmla="*/ 376 h 376"/>
                  <a:gd name="T6" fmla="*/ 0 60000 65536"/>
                  <a:gd name="T7" fmla="*/ 0 60000 65536"/>
                  <a:gd name="T8" fmla="*/ 0 60000 65536"/>
                  <a:gd name="T9" fmla="*/ 0 w 129"/>
                  <a:gd name="T10" fmla="*/ 0 h 376"/>
                  <a:gd name="T11" fmla="*/ 129 w 129"/>
                  <a:gd name="T12" fmla="*/ 376 h 3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9" h="376">
                    <a:moveTo>
                      <a:pt x="129" y="0"/>
                    </a:moveTo>
                    <a:lnTo>
                      <a:pt x="129" y="237"/>
                    </a:lnTo>
                    <a:lnTo>
                      <a:pt x="0" y="376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2210" name="Line 13">
                <a:extLst>
                  <a:ext uri="{FF2B5EF4-FFF2-40B4-BE49-F238E27FC236}">
                    <a16:creationId xmlns:a16="http://schemas.microsoft.com/office/drawing/2014/main" id="{71C84CA0-FE92-4E08-A92D-A817EA992A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7" y="1054"/>
                <a:ext cx="140" cy="139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11" name="Line 14">
                <a:extLst>
                  <a:ext uri="{FF2B5EF4-FFF2-40B4-BE49-F238E27FC236}">
                    <a16:creationId xmlns:a16="http://schemas.microsoft.com/office/drawing/2014/main" id="{75F709E5-F2B9-421D-99F7-9D5B2B5842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8" y="924"/>
                <a:ext cx="26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212" name="Oval 15">
                <a:extLst>
                  <a:ext uri="{FF2B5EF4-FFF2-40B4-BE49-F238E27FC236}">
                    <a16:creationId xmlns:a16="http://schemas.microsoft.com/office/drawing/2014/main" id="{F176B0D6-1FEB-49B7-ACD7-32EDF6E38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" y="720"/>
                <a:ext cx="140" cy="140"/>
              </a:xfrm>
              <a:prstGeom prst="ellipse">
                <a:avLst/>
              </a:prstGeom>
              <a:solidFill>
                <a:srgbClr val="FFFFFF"/>
              </a:solidFill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92208" name="Rectangle 16">
              <a:extLst>
                <a:ext uri="{FF2B5EF4-FFF2-40B4-BE49-F238E27FC236}">
                  <a16:creationId xmlns:a16="http://schemas.microsoft.com/office/drawing/2014/main" id="{32B849E7-EC5C-4CE1-B8E9-8CF31B7424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" y="1220"/>
              <a:ext cx="60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Passenger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</p:grpSp>
      <p:sp>
        <p:nvSpPr>
          <p:cNvPr id="92166" name="Rectangle 17">
            <a:extLst>
              <a:ext uri="{FF2B5EF4-FFF2-40B4-BE49-F238E27FC236}">
                <a16:creationId xmlns:a16="http://schemas.microsoft.com/office/drawing/2014/main" id="{232C1603-5C8A-4049-8749-98F28E47F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2355850"/>
            <a:ext cx="204788" cy="1571625"/>
          </a:xfrm>
          <a:prstGeom prst="rect">
            <a:avLst/>
          </a:prstGeom>
          <a:solidFill>
            <a:schemeClr val="bg1"/>
          </a:solidFill>
          <a:ln w="174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2167" name="Rectangle 18">
            <a:extLst>
              <a:ext uri="{FF2B5EF4-FFF2-40B4-BE49-F238E27FC236}">
                <a16:creationId xmlns:a16="http://schemas.microsoft.com/office/drawing/2014/main" id="{A195BA4D-CB60-4DE6-BE0A-FA10F0BB4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0400" y="1706563"/>
            <a:ext cx="1706563" cy="392112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2168" name="Rectangle 19">
            <a:extLst>
              <a:ext uri="{FF2B5EF4-FFF2-40B4-BE49-F238E27FC236}">
                <a16:creationId xmlns:a16="http://schemas.microsoft.com/office/drawing/2014/main" id="{96585CF5-8F07-4ACC-A5E2-DC8713A7EC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775" y="1833563"/>
            <a:ext cx="16002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400">
                <a:solidFill>
                  <a:srgbClr val="000000"/>
                </a:solidFill>
                <a:latin typeface="Courier" charset="0"/>
              </a:rPr>
              <a:t>ChangeProcessor</a:t>
            </a:r>
            <a:endParaRPr lang="en-US" altLang="en-US" b="0">
              <a:solidFill>
                <a:schemeClr val="tx1"/>
              </a:solidFill>
            </a:endParaRPr>
          </a:p>
        </p:txBody>
      </p:sp>
      <p:sp>
        <p:nvSpPr>
          <p:cNvPr id="92169" name="Line 20">
            <a:extLst>
              <a:ext uri="{FF2B5EF4-FFF2-40B4-BE49-F238E27FC236}">
                <a16:creationId xmlns:a16="http://schemas.microsoft.com/office/drawing/2014/main" id="{E5678200-AFFD-4691-A574-231765C196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7175" y="2095500"/>
            <a:ext cx="0" cy="248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63">
            <a:extLst>
              <a:ext uri="{FF2B5EF4-FFF2-40B4-BE49-F238E27FC236}">
                <a16:creationId xmlns:a16="http://schemas.microsoft.com/office/drawing/2014/main" id="{B88544DA-3E9C-4112-9789-FC1BCE9A6A20}"/>
              </a:ext>
            </a:extLst>
          </p:cNvPr>
          <p:cNvGrpSpPr>
            <a:grpSpLocks/>
          </p:cNvGrpSpPr>
          <p:nvPr/>
        </p:nvGrpSpPr>
        <p:grpSpPr bwMode="auto">
          <a:xfrm>
            <a:off x="804863" y="2262188"/>
            <a:ext cx="2100262" cy="2185987"/>
            <a:chOff x="507" y="1425"/>
            <a:chExt cx="1323" cy="1377"/>
          </a:xfrm>
        </p:grpSpPr>
        <p:sp>
          <p:nvSpPr>
            <p:cNvPr id="92204" name="Line 8">
              <a:extLst>
                <a:ext uri="{FF2B5EF4-FFF2-40B4-BE49-F238E27FC236}">
                  <a16:creationId xmlns:a16="http://schemas.microsoft.com/office/drawing/2014/main" id="{D2EC50AC-3931-4E86-98F5-A522E1972F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" y="1602"/>
              <a:ext cx="1173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205" name="Rectangle 9">
              <a:extLst>
                <a:ext uri="{FF2B5EF4-FFF2-40B4-BE49-F238E27FC236}">
                  <a16:creationId xmlns:a16="http://schemas.microsoft.com/office/drawing/2014/main" id="{8020605E-9F2F-48EF-8164-D15E6E06AB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0" y="1425"/>
              <a:ext cx="121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insertChange(coin)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  <p:sp>
          <p:nvSpPr>
            <p:cNvPr id="92206" name="Rectangle 21">
              <a:extLst>
                <a:ext uri="{FF2B5EF4-FFF2-40B4-BE49-F238E27FC236}">
                  <a16:creationId xmlns:a16="http://schemas.microsoft.com/office/drawing/2014/main" id="{7B8A65DD-E88F-4C6A-8EF4-B854A1B4F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7" y="1596"/>
              <a:ext cx="129" cy="120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</p:grpSp>
      <p:grpSp>
        <p:nvGrpSpPr>
          <p:cNvPr id="92171" name="Group 59">
            <a:extLst>
              <a:ext uri="{FF2B5EF4-FFF2-40B4-BE49-F238E27FC236}">
                <a16:creationId xmlns:a16="http://schemas.microsoft.com/office/drawing/2014/main" id="{34139D7D-D327-4265-8943-1FC047C7293D}"/>
              </a:ext>
            </a:extLst>
          </p:cNvPr>
          <p:cNvGrpSpPr>
            <a:grpSpLocks/>
          </p:cNvGrpSpPr>
          <p:nvPr/>
        </p:nvGrpSpPr>
        <p:grpSpPr bwMode="auto">
          <a:xfrm>
            <a:off x="3746500" y="1706563"/>
            <a:ext cx="1604963" cy="2890837"/>
            <a:chOff x="2360" y="1075"/>
            <a:chExt cx="1011" cy="1821"/>
          </a:xfrm>
        </p:grpSpPr>
        <p:sp>
          <p:nvSpPr>
            <p:cNvPr id="92201" name="Rectangle 23">
              <a:extLst>
                <a:ext uri="{FF2B5EF4-FFF2-40B4-BE49-F238E27FC236}">
                  <a16:creationId xmlns:a16="http://schemas.microsoft.com/office/drawing/2014/main" id="{1F389B4F-4437-481E-9631-F55C42BA7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9" y="1155"/>
              <a:ext cx="941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CoinIdentifier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  <p:sp>
          <p:nvSpPr>
            <p:cNvPr id="92202" name="Rectangle 25">
              <a:extLst>
                <a:ext uri="{FF2B5EF4-FFF2-40B4-BE49-F238E27FC236}">
                  <a16:creationId xmlns:a16="http://schemas.microsoft.com/office/drawing/2014/main" id="{D23B4DD0-13F8-4BEA-8703-799E5D776B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0" y="1075"/>
              <a:ext cx="1011" cy="247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2203" name="Line 26">
              <a:extLst>
                <a:ext uri="{FF2B5EF4-FFF2-40B4-BE49-F238E27FC236}">
                  <a16:creationId xmlns:a16="http://schemas.microsoft.com/office/drawing/2014/main" id="{88C2D7F7-65FD-469A-83E9-8705B3CB0E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6" y="1320"/>
              <a:ext cx="0" cy="1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172" name="Group 57">
            <a:extLst>
              <a:ext uri="{FF2B5EF4-FFF2-40B4-BE49-F238E27FC236}">
                <a16:creationId xmlns:a16="http://schemas.microsoft.com/office/drawing/2014/main" id="{C540ECAF-F344-4995-BA22-A01C745007B7}"/>
              </a:ext>
            </a:extLst>
          </p:cNvPr>
          <p:cNvGrpSpPr>
            <a:grpSpLocks/>
          </p:cNvGrpSpPr>
          <p:nvPr/>
        </p:nvGrpSpPr>
        <p:grpSpPr bwMode="auto">
          <a:xfrm>
            <a:off x="5511800" y="1706563"/>
            <a:ext cx="1604963" cy="2890837"/>
            <a:chOff x="3472" y="1075"/>
            <a:chExt cx="1011" cy="1821"/>
          </a:xfrm>
        </p:grpSpPr>
        <p:sp>
          <p:nvSpPr>
            <p:cNvPr id="92198" name="Rectangle 29">
              <a:extLst>
                <a:ext uri="{FF2B5EF4-FFF2-40B4-BE49-F238E27FC236}">
                  <a16:creationId xmlns:a16="http://schemas.microsoft.com/office/drawing/2014/main" id="{67779E41-D897-459B-914F-7B1D0E6213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2" y="1075"/>
              <a:ext cx="1011" cy="247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2199" name="Rectangle 30">
              <a:extLst>
                <a:ext uri="{FF2B5EF4-FFF2-40B4-BE49-F238E27FC236}">
                  <a16:creationId xmlns:a16="http://schemas.microsoft.com/office/drawing/2014/main" id="{83318CFD-7B66-4087-A8A0-DAF7E7C3B0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3" y="1155"/>
              <a:ext cx="47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Display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  <p:sp>
          <p:nvSpPr>
            <p:cNvPr id="92200" name="Line 31">
              <a:extLst>
                <a:ext uri="{FF2B5EF4-FFF2-40B4-BE49-F238E27FC236}">
                  <a16:creationId xmlns:a16="http://schemas.microsoft.com/office/drawing/2014/main" id="{0D2368D9-2DCB-48FF-839E-D8CB6B989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8" y="1320"/>
              <a:ext cx="0" cy="1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92173" name="Group 58">
            <a:extLst>
              <a:ext uri="{FF2B5EF4-FFF2-40B4-BE49-F238E27FC236}">
                <a16:creationId xmlns:a16="http://schemas.microsoft.com/office/drawing/2014/main" id="{3842DD71-BBB0-43D9-B9F4-C2F2A04816A8}"/>
              </a:ext>
            </a:extLst>
          </p:cNvPr>
          <p:cNvGrpSpPr>
            <a:grpSpLocks/>
          </p:cNvGrpSpPr>
          <p:nvPr/>
        </p:nvGrpSpPr>
        <p:grpSpPr bwMode="auto">
          <a:xfrm>
            <a:off x="7226300" y="1706563"/>
            <a:ext cx="1604963" cy="2903537"/>
            <a:chOff x="4552" y="1075"/>
            <a:chExt cx="1011" cy="1829"/>
          </a:xfrm>
        </p:grpSpPr>
        <p:sp>
          <p:nvSpPr>
            <p:cNvPr id="92195" name="Rectangle 47">
              <a:extLst>
                <a:ext uri="{FF2B5EF4-FFF2-40B4-BE49-F238E27FC236}">
                  <a16:creationId xmlns:a16="http://schemas.microsoft.com/office/drawing/2014/main" id="{E5F03B18-C6E3-459D-A692-90AC5781B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2" y="1075"/>
              <a:ext cx="1011" cy="247"/>
            </a:xfrm>
            <a:prstGeom prst="rect">
              <a:avLst/>
            </a:prstGeom>
            <a:noFill/>
            <a:ln w="17463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2196" name="Rectangle 48">
              <a:extLst>
                <a:ext uri="{FF2B5EF4-FFF2-40B4-BE49-F238E27FC236}">
                  <a16:creationId xmlns:a16="http://schemas.microsoft.com/office/drawing/2014/main" id="{CE48B50E-5489-4EE9-84FE-34192DBD0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22" y="1155"/>
              <a:ext cx="53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CoinDrop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  <p:sp>
          <p:nvSpPr>
            <p:cNvPr id="92197" name="Line 49">
              <a:extLst>
                <a:ext uri="{FF2B5EF4-FFF2-40B4-BE49-F238E27FC236}">
                  <a16:creationId xmlns:a16="http://schemas.microsoft.com/office/drawing/2014/main" id="{58A4D4B5-851D-435C-A49B-46A5FCF7034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58" y="1320"/>
              <a:ext cx="0" cy="15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8" name="Group 64">
            <a:extLst>
              <a:ext uri="{FF2B5EF4-FFF2-40B4-BE49-F238E27FC236}">
                <a16:creationId xmlns:a16="http://schemas.microsoft.com/office/drawing/2014/main" id="{2369E249-B077-47F7-8A9E-2A3C7ED797E7}"/>
              </a:ext>
            </a:extLst>
          </p:cNvPr>
          <p:cNvGrpSpPr>
            <a:grpSpLocks/>
          </p:cNvGrpSpPr>
          <p:nvPr/>
        </p:nvGrpSpPr>
        <p:grpSpPr bwMode="auto">
          <a:xfrm>
            <a:off x="2938463" y="3100388"/>
            <a:ext cx="3465512" cy="465137"/>
            <a:chOff x="1851" y="1953"/>
            <a:chExt cx="2183" cy="293"/>
          </a:xfrm>
        </p:grpSpPr>
        <p:sp>
          <p:nvSpPr>
            <p:cNvPr id="92191" name="Rectangle 32">
              <a:extLst>
                <a:ext uri="{FF2B5EF4-FFF2-40B4-BE49-F238E27FC236}">
                  <a16:creationId xmlns:a16="http://schemas.microsoft.com/office/drawing/2014/main" id="{7256979E-E0F0-4EA4-B872-C292CE19FA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3" y="2100"/>
              <a:ext cx="121" cy="14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grpSp>
          <p:nvGrpSpPr>
            <p:cNvPr id="92192" name="Group 51">
              <a:extLst>
                <a:ext uri="{FF2B5EF4-FFF2-40B4-BE49-F238E27FC236}">
                  <a16:creationId xmlns:a16="http://schemas.microsoft.com/office/drawing/2014/main" id="{C27ECF3A-D173-46E3-842B-FFA9CCA9B8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1" y="1953"/>
              <a:ext cx="2069" cy="145"/>
              <a:chOff x="1851" y="1953"/>
              <a:chExt cx="2069" cy="145"/>
            </a:xfrm>
          </p:grpSpPr>
          <p:sp>
            <p:nvSpPr>
              <p:cNvPr id="92193" name="Line 37">
                <a:extLst>
                  <a:ext uri="{FF2B5EF4-FFF2-40B4-BE49-F238E27FC236}">
                    <a16:creationId xmlns:a16="http://schemas.microsoft.com/office/drawing/2014/main" id="{36D69894-E6C3-43C7-8541-1C22F9F55B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51" y="2097"/>
                <a:ext cx="206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94" name="Rectangle 38">
                <a:extLst>
                  <a:ext uri="{FF2B5EF4-FFF2-40B4-BE49-F238E27FC236}">
                    <a16:creationId xmlns:a16="http://schemas.microsoft.com/office/drawing/2014/main" id="{AF616E0B-F523-432A-B5AC-9AB1CA6706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8" y="1953"/>
                <a:ext cx="1613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displayPrice(owedAmount)</a:t>
                </a:r>
                <a:endParaRPr lang="en-US" altLang="en-US" b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0" name="Group 60">
            <a:extLst>
              <a:ext uri="{FF2B5EF4-FFF2-40B4-BE49-F238E27FC236}">
                <a16:creationId xmlns:a16="http://schemas.microsoft.com/office/drawing/2014/main" id="{B98C95B9-D45E-4A81-AB49-CF29237C8624}"/>
              </a:ext>
            </a:extLst>
          </p:cNvPr>
          <p:cNvGrpSpPr>
            <a:grpSpLocks/>
          </p:cNvGrpSpPr>
          <p:nvPr/>
        </p:nvGrpSpPr>
        <p:grpSpPr bwMode="auto">
          <a:xfrm>
            <a:off x="2900363" y="2401888"/>
            <a:ext cx="1911350" cy="661987"/>
            <a:chOff x="1827" y="1513"/>
            <a:chExt cx="1204" cy="417"/>
          </a:xfrm>
        </p:grpSpPr>
        <p:sp>
          <p:nvSpPr>
            <p:cNvPr id="92185" name="Rectangle 27">
              <a:extLst>
                <a:ext uri="{FF2B5EF4-FFF2-40B4-BE49-F238E27FC236}">
                  <a16:creationId xmlns:a16="http://schemas.microsoft.com/office/drawing/2014/main" id="{4A907253-E6EC-41EF-8CB5-9781369E5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1" y="1692"/>
              <a:ext cx="129" cy="238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2186" name="Line 34">
              <a:extLst>
                <a:ext uri="{FF2B5EF4-FFF2-40B4-BE49-F238E27FC236}">
                  <a16:creationId xmlns:a16="http://schemas.microsoft.com/office/drawing/2014/main" id="{93A8B9D3-D82B-4BD4-AD99-B0D0EFEC7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5" y="1690"/>
              <a:ext cx="949" cy="1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87" name="Rectangle 35">
              <a:extLst>
                <a:ext uri="{FF2B5EF4-FFF2-40B4-BE49-F238E27FC236}">
                  <a16:creationId xmlns:a16="http://schemas.microsoft.com/office/drawing/2014/main" id="{3A45ACC4-9610-4103-8106-A23C0B940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6" y="1513"/>
              <a:ext cx="107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lookupCoin(coin)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  <p:grpSp>
          <p:nvGrpSpPr>
            <p:cNvPr id="92188" name="Group 39">
              <a:extLst>
                <a:ext uri="{FF2B5EF4-FFF2-40B4-BE49-F238E27FC236}">
                  <a16:creationId xmlns:a16="http://schemas.microsoft.com/office/drawing/2014/main" id="{C75536F0-ED7D-4485-9357-21BDE01A2B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7" y="1756"/>
              <a:ext cx="949" cy="135"/>
              <a:chOff x="2291" y="1876"/>
              <a:chExt cx="1173" cy="135"/>
            </a:xfrm>
          </p:grpSpPr>
          <p:sp>
            <p:nvSpPr>
              <p:cNvPr id="92189" name="Line 40">
                <a:extLst>
                  <a:ext uri="{FF2B5EF4-FFF2-40B4-BE49-F238E27FC236}">
                    <a16:creationId xmlns:a16="http://schemas.microsoft.com/office/drawing/2014/main" id="{69C45521-28F3-405E-A98B-4C42FF1FDE4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91" y="2010"/>
                <a:ext cx="1173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prstDash val="dash"/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190" name="Rectangle 41">
                <a:extLst>
                  <a:ext uri="{FF2B5EF4-FFF2-40B4-BE49-F238E27FC236}">
                    <a16:creationId xmlns:a16="http://schemas.microsoft.com/office/drawing/2014/main" id="{A8849CB3-40D4-48EB-BF5F-4656C90047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0" y="1876"/>
                <a:ext cx="41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price</a:t>
                </a:r>
                <a:endParaRPr lang="en-US" altLang="en-US" b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2" name="Group 65">
            <a:extLst>
              <a:ext uri="{FF2B5EF4-FFF2-40B4-BE49-F238E27FC236}">
                <a16:creationId xmlns:a16="http://schemas.microsoft.com/office/drawing/2014/main" id="{740AF4DF-34A6-4BC5-AB46-69BE69B10F10}"/>
              </a:ext>
            </a:extLst>
          </p:cNvPr>
          <p:cNvGrpSpPr>
            <a:grpSpLocks/>
          </p:cNvGrpSpPr>
          <p:nvPr/>
        </p:nvGrpSpPr>
        <p:grpSpPr bwMode="auto">
          <a:xfrm>
            <a:off x="2913063" y="3811588"/>
            <a:ext cx="5205412" cy="427037"/>
            <a:chOff x="1835" y="2401"/>
            <a:chExt cx="3279" cy="269"/>
          </a:xfrm>
        </p:grpSpPr>
        <p:sp>
          <p:nvSpPr>
            <p:cNvPr id="92182" name="Rectangle 50">
              <a:extLst>
                <a:ext uri="{FF2B5EF4-FFF2-40B4-BE49-F238E27FC236}">
                  <a16:creationId xmlns:a16="http://schemas.microsoft.com/office/drawing/2014/main" id="{6E9065AB-35CB-48CF-927F-9EF99113ED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3" y="2524"/>
              <a:ext cx="121" cy="146"/>
            </a:xfrm>
            <a:prstGeom prst="rect">
              <a:avLst/>
            </a:prstGeom>
            <a:solidFill>
              <a:schemeClr val="bg1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2183" name="Line 53">
              <a:extLst>
                <a:ext uri="{FF2B5EF4-FFF2-40B4-BE49-F238E27FC236}">
                  <a16:creationId xmlns:a16="http://schemas.microsoft.com/office/drawing/2014/main" id="{B037054C-7813-445B-8E4E-E40D04FF0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35" y="2545"/>
              <a:ext cx="3141" cy="2"/>
            </a:xfrm>
            <a:prstGeom prst="line">
              <a:avLst/>
            </a:prstGeom>
            <a:noFill/>
            <a:ln w="17463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184" name="Rectangle 54">
              <a:extLst>
                <a:ext uri="{FF2B5EF4-FFF2-40B4-BE49-F238E27FC236}">
                  <a16:creationId xmlns:a16="http://schemas.microsoft.com/office/drawing/2014/main" id="{9F41B823-F510-4960-8679-1F2C2C691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" y="2401"/>
              <a:ext cx="2688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latin typeface="Courier" charset="0"/>
                </a:rPr>
                <a:t>[owedAmount&lt;0]</a:t>
              </a:r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 returnChange(-owedAmount)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</p:grpSp>
      <p:sp>
        <p:nvSpPr>
          <p:cNvPr id="106551" name="AutoShape 55">
            <a:extLst>
              <a:ext uri="{FF2B5EF4-FFF2-40B4-BE49-F238E27FC236}">
                <a16:creationId xmlns:a16="http://schemas.microsoft.com/office/drawing/2014/main" id="{09866174-CB27-4400-963C-B43EB1CF5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4100" y="2755900"/>
            <a:ext cx="1244600" cy="609600"/>
          </a:xfrm>
          <a:prstGeom prst="wedgeRoundRectCallout">
            <a:avLst>
              <a:gd name="adj1" fmla="val -59694"/>
              <a:gd name="adj2" fmla="val -119532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0"/>
              <a:t>Iteration</a:t>
            </a:r>
          </a:p>
        </p:txBody>
      </p:sp>
      <p:sp>
        <p:nvSpPr>
          <p:cNvPr id="106552" name="AutoShape 56">
            <a:extLst>
              <a:ext uri="{FF2B5EF4-FFF2-40B4-BE49-F238E27FC236}">
                <a16:creationId xmlns:a16="http://schemas.microsoft.com/office/drawing/2014/main" id="{4E65C02F-D467-4830-8172-9937215BB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300" y="3822700"/>
            <a:ext cx="1422400" cy="609600"/>
          </a:xfrm>
          <a:prstGeom prst="wedgeRoundRectCallout">
            <a:avLst>
              <a:gd name="adj1" fmla="val 93306"/>
              <a:gd name="adj2" fmla="val -32032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0"/>
              <a:t>Condition</a:t>
            </a:r>
          </a:p>
        </p:txBody>
      </p:sp>
      <p:sp>
        <p:nvSpPr>
          <p:cNvPr id="106562" name="Text Box 66">
            <a:extLst>
              <a:ext uri="{FF2B5EF4-FFF2-40B4-BE49-F238E27FC236}">
                <a16:creationId xmlns:a16="http://schemas.microsoft.com/office/drawing/2014/main" id="{DECDCA24-36CD-4114-AD30-8D97F5E957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288" y="4198938"/>
            <a:ext cx="5683250" cy="7016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 sz="2000" b="0">
              <a:solidFill>
                <a:schemeClr val="tx1"/>
              </a:solidFill>
              <a:latin typeface="Verdana" panose="020B0604030504040204" pitchFamily="34" charset="0"/>
            </a:endParaRPr>
          </a:p>
          <a:p>
            <a:r>
              <a:rPr lang="en-US" altLang="en-US" sz="2000" b="0">
                <a:solidFill>
                  <a:schemeClr val="tx1"/>
                </a:solidFill>
                <a:latin typeface="Verdana" panose="020B0604030504040204" pitchFamily="34" charset="0"/>
              </a:rPr>
              <a:t>…continued on next slide...</a:t>
            </a:r>
            <a:endParaRPr lang="en-US" altLang="en-US" sz="2000" b="0">
              <a:latin typeface="Verdana" panose="020B0604030504040204" pitchFamily="34" charset="0"/>
            </a:endParaRPr>
          </a:p>
        </p:txBody>
      </p:sp>
      <p:sp>
        <p:nvSpPr>
          <p:cNvPr id="92180" name="Text Box 68">
            <a:extLst>
              <a:ext uri="{FF2B5EF4-FFF2-40B4-BE49-F238E27FC236}">
                <a16:creationId xmlns:a16="http://schemas.microsoft.com/office/drawing/2014/main" id="{ADB058F6-884C-4FC0-9918-B59EA0B0C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3288" y="1123950"/>
            <a:ext cx="56832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0">
                <a:solidFill>
                  <a:schemeClr val="tx1"/>
                </a:solidFill>
              </a:rPr>
              <a:t>…continued from previous slide...</a:t>
            </a:r>
            <a:endParaRPr lang="en-US" altLang="en-US" b="0"/>
          </a:p>
        </p:txBody>
      </p:sp>
      <p:sp>
        <p:nvSpPr>
          <p:cNvPr id="106565" name="Text Box 69">
            <a:extLst>
              <a:ext uri="{FF2B5EF4-FFF2-40B4-BE49-F238E27FC236}">
                <a16:creationId xmlns:a16="http://schemas.microsoft.com/office/drawing/2014/main" id="{66158043-15BB-4E49-9DBE-767AEA9448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688" y="2171700"/>
            <a:ext cx="303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/>
              <a:t>*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 build="p" autoUpdateAnimBg="0"/>
      <p:bldP spid="106551" grpId="0" animBg="1" autoUpdateAnimBg="0"/>
      <p:bldP spid="106552" grpId="0" animBg="1" autoUpdateAnimBg="0"/>
      <p:bldP spid="106562" grpId="0" animBg="1" autoUpdateAnimBg="0"/>
      <p:bldP spid="106565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F9F8020A-A054-4662-AE0C-7580BE91D6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1520" y="116632"/>
            <a:ext cx="8445500" cy="762000"/>
          </a:xfrm>
        </p:spPr>
        <p:txBody>
          <a:bodyPr/>
          <a:lstStyle/>
          <a:p>
            <a:r>
              <a:rPr lang="en-US" altLang="en-US" dirty="0"/>
              <a:t>Creation and destruction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2A6EFC64-445D-4A7E-B598-2944C0A6000C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361950" y="4760913"/>
            <a:ext cx="8597900" cy="1377950"/>
          </a:xfrm>
        </p:spPr>
        <p:txBody>
          <a:bodyPr/>
          <a:lstStyle/>
          <a:p>
            <a:r>
              <a:rPr lang="en-US" altLang="en-US" sz="2000"/>
              <a:t>Creation is denoted by a message arrow pointing to the object</a:t>
            </a:r>
          </a:p>
          <a:p>
            <a:r>
              <a:rPr lang="en-US" altLang="en-US" sz="2000"/>
              <a:t>Destruction is denoted by an X mark at the end of the destruction activation</a:t>
            </a:r>
          </a:p>
          <a:p>
            <a:pPr lvl="1"/>
            <a:r>
              <a:rPr lang="en-US" altLang="en-US" sz="1800"/>
              <a:t>In garbage collection environments, destruction can be used to denote the end of the useful life of an object.</a:t>
            </a:r>
          </a:p>
        </p:txBody>
      </p:sp>
      <p:sp>
        <p:nvSpPr>
          <p:cNvPr id="94212" name="Line 7">
            <a:extLst>
              <a:ext uri="{FF2B5EF4-FFF2-40B4-BE49-F238E27FC236}">
                <a16:creationId xmlns:a16="http://schemas.microsoft.com/office/drawing/2014/main" id="{E5D061D3-4A90-402E-81BC-7B2CCA3018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075" y="2159000"/>
            <a:ext cx="0" cy="19939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4213" name="Group 8">
            <a:extLst>
              <a:ext uri="{FF2B5EF4-FFF2-40B4-BE49-F238E27FC236}">
                <a16:creationId xmlns:a16="http://schemas.microsoft.com/office/drawing/2014/main" id="{58BD1A16-51BB-4EBF-A2D1-CBBCB69CD99B}"/>
              </a:ext>
            </a:extLst>
          </p:cNvPr>
          <p:cNvGrpSpPr>
            <a:grpSpLocks/>
          </p:cNvGrpSpPr>
          <p:nvPr/>
        </p:nvGrpSpPr>
        <p:grpSpPr bwMode="auto">
          <a:xfrm>
            <a:off x="215900" y="1143000"/>
            <a:ext cx="960438" cy="1006475"/>
            <a:chOff x="600" y="720"/>
            <a:chExt cx="605" cy="634"/>
          </a:xfrm>
        </p:grpSpPr>
        <p:grpSp>
          <p:nvGrpSpPr>
            <p:cNvPr id="94242" name="Group 9">
              <a:extLst>
                <a:ext uri="{FF2B5EF4-FFF2-40B4-BE49-F238E27FC236}">
                  <a16:creationId xmlns:a16="http://schemas.microsoft.com/office/drawing/2014/main" id="{5210B1D6-78ED-4B67-A488-5A17292019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8" y="720"/>
              <a:ext cx="269" cy="473"/>
              <a:chOff x="788" y="720"/>
              <a:chExt cx="269" cy="473"/>
            </a:xfrm>
          </p:grpSpPr>
          <p:sp>
            <p:nvSpPr>
              <p:cNvPr id="94244" name="Freeform 10">
                <a:extLst>
                  <a:ext uri="{FF2B5EF4-FFF2-40B4-BE49-F238E27FC236}">
                    <a16:creationId xmlns:a16="http://schemas.microsoft.com/office/drawing/2014/main" id="{EEE477A3-7888-4E38-B28B-FD48EDA2A3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" y="817"/>
                <a:ext cx="129" cy="376"/>
              </a:xfrm>
              <a:custGeom>
                <a:avLst/>
                <a:gdLst>
                  <a:gd name="T0" fmla="*/ 129 w 129"/>
                  <a:gd name="T1" fmla="*/ 0 h 376"/>
                  <a:gd name="T2" fmla="*/ 129 w 129"/>
                  <a:gd name="T3" fmla="*/ 237 h 376"/>
                  <a:gd name="T4" fmla="*/ 0 w 129"/>
                  <a:gd name="T5" fmla="*/ 376 h 376"/>
                  <a:gd name="T6" fmla="*/ 0 60000 65536"/>
                  <a:gd name="T7" fmla="*/ 0 60000 65536"/>
                  <a:gd name="T8" fmla="*/ 0 60000 65536"/>
                  <a:gd name="T9" fmla="*/ 0 w 129"/>
                  <a:gd name="T10" fmla="*/ 0 h 376"/>
                  <a:gd name="T11" fmla="*/ 129 w 129"/>
                  <a:gd name="T12" fmla="*/ 376 h 3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9" h="376">
                    <a:moveTo>
                      <a:pt x="129" y="0"/>
                    </a:moveTo>
                    <a:lnTo>
                      <a:pt x="129" y="237"/>
                    </a:lnTo>
                    <a:lnTo>
                      <a:pt x="0" y="376"/>
                    </a:lnTo>
                  </a:path>
                </a:pathLst>
              </a:cu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4245" name="Line 11">
                <a:extLst>
                  <a:ext uri="{FF2B5EF4-FFF2-40B4-BE49-F238E27FC236}">
                    <a16:creationId xmlns:a16="http://schemas.microsoft.com/office/drawing/2014/main" id="{D01ED53F-B3FB-4BFE-B5F3-9B09A3A1A1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17" y="1054"/>
                <a:ext cx="140" cy="139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46" name="Line 12">
                <a:extLst>
                  <a:ext uri="{FF2B5EF4-FFF2-40B4-BE49-F238E27FC236}">
                    <a16:creationId xmlns:a16="http://schemas.microsoft.com/office/drawing/2014/main" id="{56C33E29-2B2D-43D8-96A3-35A81F213E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88" y="924"/>
                <a:ext cx="26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47" name="Oval 13">
                <a:extLst>
                  <a:ext uri="{FF2B5EF4-FFF2-40B4-BE49-F238E27FC236}">
                    <a16:creationId xmlns:a16="http://schemas.microsoft.com/office/drawing/2014/main" id="{9F4FE2F0-3698-4E2B-A4C4-6DFA281FB7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" y="720"/>
                <a:ext cx="140" cy="140"/>
              </a:xfrm>
              <a:prstGeom prst="ellipse">
                <a:avLst/>
              </a:prstGeom>
              <a:solidFill>
                <a:srgbClr val="FFFFFF"/>
              </a:solidFill>
              <a:ln w="17463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94243" name="Rectangle 14">
              <a:extLst>
                <a:ext uri="{FF2B5EF4-FFF2-40B4-BE49-F238E27FC236}">
                  <a16:creationId xmlns:a16="http://schemas.microsoft.com/office/drawing/2014/main" id="{97213A1F-0B3A-42B4-9825-5E9B8AAEE6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" y="1220"/>
              <a:ext cx="605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Passenger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</p:grpSp>
      <p:sp>
        <p:nvSpPr>
          <p:cNvPr id="94214" name="Rectangle 15">
            <a:extLst>
              <a:ext uri="{FF2B5EF4-FFF2-40B4-BE49-F238E27FC236}">
                <a16:creationId xmlns:a16="http://schemas.microsoft.com/office/drawing/2014/main" id="{E9091B63-7BFC-4DC4-962B-2CD69F593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50" y="2355850"/>
            <a:ext cx="204788" cy="1571625"/>
          </a:xfrm>
          <a:prstGeom prst="rect">
            <a:avLst/>
          </a:prstGeom>
          <a:solidFill>
            <a:schemeClr val="bg1"/>
          </a:solidFill>
          <a:ln w="174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4215" name="Rectangle 16">
            <a:extLst>
              <a:ext uri="{FF2B5EF4-FFF2-40B4-BE49-F238E27FC236}">
                <a16:creationId xmlns:a16="http://schemas.microsoft.com/office/drawing/2014/main" id="{7C453B2A-7044-44FD-B0D5-06357BDB6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0400" y="1706563"/>
            <a:ext cx="1706563" cy="392112"/>
          </a:xfrm>
          <a:prstGeom prst="rect">
            <a:avLst/>
          </a:prstGeom>
          <a:noFill/>
          <a:ln w="17463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94216" name="Rectangle 17">
            <a:extLst>
              <a:ext uri="{FF2B5EF4-FFF2-40B4-BE49-F238E27FC236}">
                <a16:creationId xmlns:a16="http://schemas.microsoft.com/office/drawing/2014/main" id="{F3601BE2-BE28-4420-AE0B-86BDC697B5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9775" y="1833563"/>
            <a:ext cx="1600200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1400">
                <a:solidFill>
                  <a:srgbClr val="000000"/>
                </a:solidFill>
                <a:latin typeface="Courier" charset="0"/>
              </a:rPr>
              <a:t>ChangeProcessor</a:t>
            </a:r>
            <a:endParaRPr lang="en-US" altLang="en-US" b="0">
              <a:solidFill>
                <a:schemeClr val="tx1"/>
              </a:solidFill>
            </a:endParaRPr>
          </a:p>
        </p:txBody>
      </p:sp>
      <p:sp>
        <p:nvSpPr>
          <p:cNvPr id="94217" name="Line 18">
            <a:extLst>
              <a:ext uri="{FF2B5EF4-FFF2-40B4-BE49-F238E27FC236}">
                <a16:creationId xmlns:a16="http://schemas.microsoft.com/office/drawing/2014/main" id="{A75464BC-8902-4791-86D9-397D5052F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7175" y="2095500"/>
            <a:ext cx="0" cy="248920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18" name="Text Box 53">
            <a:extLst>
              <a:ext uri="{FF2B5EF4-FFF2-40B4-BE49-F238E27FC236}">
                <a16:creationId xmlns:a16="http://schemas.microsoft.com/office/drawing/2014/main" id="{DABD5AF8-2EC5-4DBB-B127-10B5FE6FF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3288" y="1123950"/>
            <a:ext cx="5683250" cy="3667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0">
                <a:solidFill>
                  <a:schemeClr val="tx1"/>
                </a:solidFill>
              </a:rPr>
              <a:t>…continued from previous slide...</a:t>
            </a:r>
            <a:endParaRPr lang="en-US" altLang="en-US" b="0"/>
          </a:p>
        </p:txBody>
      </p:sp>
      <p:sp>
        <p:nvSpPr>
          <p:cNvPr id="94219" name="Rectangle 22">
            <a:extLst>
              <a:ext uri="{FF2B5EF4-FFF2-40B4-BE49-F238E27FC236}">
                <a16:creationId xmlns:a16="http://schemas.microsoft.com/office/drawing/2014/main" id="{CCE12BA9-EB88-4959-A2F5-C3ABAB2C6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3988" y="2266950"/>
            <a:ext cx="204787" cy="1914525"/>
          </a:xfrm>
          <a:prstGeom prst="rect">
            <a:avLst/>
          </a:prstGeom>
          <a:solidFill>
            <a:schemeClr val="bg1"/>
          </a:solidFill>
          <a:ln w="17463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grpSp>
        <p:nvGrpSpPr>
          <p:cNvPr id="4" name="Group 72">
            <a:extLst>
              <a:ext uri="{FF2B5EF4-FFF2-40B4-BE49-F238E27FC236}">
                <a16:creationId xmlns:a16="http://schemas.microsoft.com/office/drawing/2014/main" id="{DD563868-EF7B-4307-B9DD-07C91E94D159}"/>
              </a:ext>
            </a:extLst>
          </p:cNvPr>
          <p:cNvGrpSpPr>
            <a:grpSpLocks/>
          </p:cNvGrpSpPr>
          <p:nvPr/>
        </p:nvGrpSpPr>
        <p:grpSpPr bwMode="auto">
          <a:xfrm>
            <a:off x="2925763" y="2546350"/>
            <a:ext cx="2495550" cy="1822450"/>
            <a:chOff x="1843" y="1604"/>
            <a:chExt cx="1572" cy="1148"/>
          </a:xfrm>
        </p:grpSpPr>
        <p:sp>
          <p:nvSpPr>
            <p:cNvPr id="94236" name="Rectangle 24">
              <a:extLst>
                <a:ext uri="{FF2B5EF4-FFF2-40B4-BE49-F238E27FC236}">
                  <a16:creationId xmlns:a16="http://schemas.microsoft.com/office/drawing/2014/main" id="{C9B22FB4-0F4C-44E0-B71F-09DB32A0A3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8" y="1851"/>
              <a:ext cx="40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Ticket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  <p:grpSp>
          <p:nvGrpSpPr>
            <p:cNvPr id="94237" name="Group 69">
              <a:extLst>
                <a:ext uri="{FF2B5EF4-FFF2-40B4-BE49-F238E27FC236}">
                  <a16:creationId xmlns:a16="http://schemas.microsoft.com/office/drawing/2014/main" id="{F6AC0C02-E35B-463E-A284-42946CFEEE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3" y="1604"/>
              <a:ext cx="1572" cy="1148"/>
              <a:chOff x="1843" y="1604"/>
              <a:chExt cx="1572" cy="1148"/>
            </a:xfrm>
          </p:grpSpPr>
          <p:sp>
            <p:nvSpPr>
              <p:cNvPr id="94238" name="Rectangle 25">
                <a:extLst>
                  <a:ext uri="{FF2B5EF4-FFF2-40B4-BE49-F238E27FC236}">
                    <a16:creationId xmlns:a16="http://schemas.microsoft.com/office/drawing/2014/main" id="{F87E1928-8D1B-4DC7-9BA7-D2B389C201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0" y="1771"/>
                <a:ext cx="1011" cy="247"/>
              </a:xfrm>
              <a:prstGeom prst="rect">
                <a:avLst/>
              </a:prstGeom>
              <a:noFill/>
              <a:ln w="17463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4239" name="Line 26">
                <a:extLst>
                  <a:ext uri="{FF2B5EF4-FFF2-40B4-BE49-F238E27FC236}">
                    <a16:creationId xmlns:a16="http://schemas.microsoft.com/office/drawing/2014/main" id="{E2BD660A-0B63-457B-99AA-DCE49B96E9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6" y="2016"/>
                <a:ext cx="0" cy="7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4240" name="Line 49">
                <a:extLst>
                  <a:ext uri="{FF2B5EF4-FFF2-40B4-BE49-F238E27FC236}">
                    <a16:creationId xmlns:a16="http://schemas.microsoft.com/office/drawing/2014/main" id="{8CD89254-2367-4266-B8EC-0BDDB88857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43" y="1785"/>
                <a:ext cx="50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41" name="Rectangle 50">
                <a:extLst>
                  <a:ext uri="{FF2B5EF4-FFF2-40B4-BE49-F238E27FC236}">
                    <a16:creationId xmlns:a16="http://schemas.microsoft.com/office/drawing/2014/main" id="{627655EE-C5EC-48B2-8E97-62A50FD9B0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9" y="1604"/>
                <a:ext cx="1546" cy="1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l"/>
                <a:r>
                  <a:rPr lang="en-US" altLang="en-US" sz="1400">
                    <a:solidFill>
                      <a:schemeClr val="tx1"/>
                    </a:solidFill>
                    <a:latin typeface="Courier" charset="0"/>
                  </a:rPr>
                  <a:t>createTicket</a:t>
                </a:r>
                <a:r>
                  <a:rPr lang="en-US" altLang="en-US" sz="1400">
                    <a:solidFill>
                      <a:srgbClr val="000000"/>
                    </a:solidFill>
                    <a:latin typeface="Courier" charset="0"/>
                  </a:rPr>
                  <a:t>(selection)</a:t>
                </a:r>
                <a:endParaRPr lang="en-US" altLang="en-US" b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6" name="Group 71">
            <a:extLst>
              <a:ext uri="{FF2B5EF4-FFF2-40B4-BE49-F238E27FC236}">
                <a16:creationId xmlns:a16="http://schemas.microsoft.com/office/drawing/2014/main" id="{2F4A5566-915D-4E49-A79E-C6EE4540A848}"/>
              </a:ext>
            </a:extLst>
          </p:cNvPr>
          <p:cNvGrpSpPr>
            <a:grpSpLocks/>
          </p:cNvGrpSpPr>
          <p:nvPr/>
        </p:nvGrpSpPr>
        <p:grpSpPr bwMode="auto">
          <a:xfrm>
            <a:off x="2913063" y="3709988"/>
            <a:ext cx="1738312" cy="649287"/>
            <a:chOff x="1835" y="2337"/>
            <a:chExt cx="1095" cy="409"/>
          </a:xfrm>
        </p:grpSpPr>
        <p:grpSp>
          <p:nvGrpSpPr>
            <p:cNvPr id="94232" name="Group 62">
              <a:extLst>
                <a:ext uri="{FF2B5EF4-FFF2-40B4-BE49-F238E27FC236}">
                  <a16:creationId xmlns:a16="http://schemas.microsoft.com/office/drawing/2014/main" id="{DE4DEAF4-5430-4361-A1B6-79A66CE439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5" y="2506"/>
              <a:ext cx="1095" cy="240"/>
              <a:chOff x="1835" y="2314"/>
              <a:chExt cx="1095" cy="240"/>
            </a:xfrm>
          </p:grpSpPr>
          <p:sp>
            <p:nvSpPr>
              <p:cNvPr id="94234" name="Rectangle 63">
                <a:extLst>
                  <a:ext uri="{FF2B5EF4-FFF2-40B4-BE49-F238E27FC236}">
                    <a16:creationId xmlns:a16="http://schemas.microsoft.com/office/drawing/2014/main" id="{5C39011B-430F-4A27-9236-2BC7495C2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1" y="2316"/>
                <a:ext cx="129" cy="238"/>
              </a:xfrm>
              <a:prstGeom prst="rect">
                <a:avLst/>
              </a:prstGeom>
              <a:solidFill>
                <a:schemeClr val="bg1"/>
              </a:solidFill>
              <a:ln w="174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4235" name="Line 64">
                <a:extLst>
                  <a:ext uri="{FF2B5EF4-FFF2-40B4-BE49-F238E27FC236}">
                    <a16:creationId xmlns:a16="http://schemas.microsoft.com/office/drawing/2014/main" id="{AF9DF485-D746-48A5-95BE-237F17DB63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5" y="2314"/>
                <a:ext cx="94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4233" name="Rectangle 66">
              <a:extLst>
                <a:ext uri="{FF2B5EF4-FFF2-40B4-BE49-F238E27FC236}">
                  <a16:creationId xmlns:a16="http://schemas.microsoft.com/office/drawing/2014/main" id="{1B0919D4-EC37-42A3-80AC-D04FB639F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" y="2337"/>
              <a:ext cx="403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free()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</p:grpSp>
      <p:sp>
        <p:nvSpPr>
          <p:cNvPr id="107587" name="AutoShape 67">
            <a:extLst>
              <a:ext uri="{FF2B5EF4-FFF2-40B4-BE49-F238E27FC236}">
                <a16:creationId xmlns:a16="http://schemas.microsoft.com/office/drawing/2014/main" id="{3B816C99-A509-4985-8CB0-BE1000009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2800" y="1719263"/>
            <a:ext cx="2600325" cy="719137"/>
          </a:xfrm>
          <a:prstGeom prst="wedgeRoundRectCallout">
            <a:avLst>
              <a:gd name="adj1" fmla="val -93282"/>
              <a:gd name="adj2" fmla="val 97019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0"/>
              <a:t>Creation of Ticket</a:t>
            </a:r>
          </a:p>
        </p:txBody>
      </p:sp>
      <p:sp>
        <p:nvSpPr>
          <p:cNvPr id="107588" name="AutoShape 68">
            <a:extLst>
              <a:ext uri="{FF2B5EF4-FFF2-40B4-BE49-F238E27FC236}">
                <a16:creationId xmlns:a16="http://schemas.microsoft.com/office/drawing/2014/main" id="{6AE85D1B-BC7A-47AD-81EE-061CB6531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00" y="3592513"/>
            <a:ext cx="2901950" cy="598487"/>
          </a:xfrm>
          <a:prstGeom prst="wedgeRoundRectCallout">
            <a:avLst>
              <a:gd name="adj1" fmla="val -69477"/>
              <a:gd name="adj2" fmla="val 83157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b="0"/>
              <a:t>Destruction of Ticket</a:t>
            </a:r>
          </a:p>
        </p:txBody>
      </p:sp>
      <p:grpSp>
        <p:nvGrpSpPr>
          <p:cNvPr id="8" name="Group 70">
            <a:extLst>
              <a:ext uri="{FF2B5EF4-FFF2-40B4-BE49-F238E27FC236}">
                <a16:creationId xmlns:a16="http://schemas.microsoft.com/office/drawing/2014/main" id="{F2ED3C46-426A-458A-B352-A4A4BDE30AC9}"/>
              </a:ext>
            </a:extLst>
          </p:cNvPr>
          <p:cNvGrpSpPr>
            <a:grpSpLocks/>
          </p:cNvGrpSpPr>
          <p:nvPr/>
        </p:nvGrpSpPr>
        <p:grpSpPr bwMode="auto">
          <a:xfrm>
            <a:off x="2913063" y="3176588"/>
            <a:ext cx="1738312" cy="611187"/>
            <a:chOff x="1835" y="2001"/>
            <a:chExt cx="1095" cy="385"/>
          </a:xfrm>
        </p:grpSpPr>
        <p:grpSp>
          <p:nvGrpSpPr>
            <p:cNvPr id="94228" name="Group 61">
              <a:extLst>
                <a:ext uri="{FF2B5EF4-FFF2-40B4-BE49-F238E27FC236}">
                  <a16:creationId xmlns:a16="http://schemas.microsoft.com/office/drawing/2014/main" id="{2B1A9B0E-B404-47C0-999C-DE7BC6E8CC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5" y="2146"/>
              <a:ext cx="1095" cy="240"/>
              <a:chOff x="1835" y="2314"/>
              <a:chExt cx="1095" cy="240"/>
            </a:xfrm>
          </p:grpSpPr>
          <p:sp>
            <p:nvSpPr>
              <p:cNvPr id="94230" name="Rectangle 41">
                <a:extLst>
                  <a:ext uri="{FF2B5EF4-FFF2-40B4-BE49-F238E27FC236}">
                    <a16:creationId xmlns:a16="http://schemas.microsoft.com/office/drawing/2014/main" id="{8F7F1DA0-D5B5-4087-A829-90687D415D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01" y="2316"/>
                <a:ext cx="129" cy="238"/>
              </a:xfrm>
              <a:prstGeom prst="rect">
                <a:avLst/>
              </a:prstGeom>
              <a:solidFill>
                <a:schemeClr val="bg1"/>
              </a:solidFill>
              <a:ln w="17463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2pPr>
                <a:lvl3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3pPr>
                <a:lvl4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4pPr>
                <a:lvl5pPr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rgbClr val="FF0000"/>
                    </a:solidFill>
                    <a:latin typeface="Helvetica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94231" name="Line 42">
                <a:extLst>
                  <a:ext uri="{FF2B5EF4-FFF2-40B4-BE49-F238E27FC236}">
                    <a16:creationId xmlns:a16="http://schemas.microsoft.com/office/drawing/2014/main" id="{7FC81131-FCE7-42CD-813A-2DCFC00054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5" y="2314"/>
                <a:ext cx="949" cy="1"/>
              </a:xfrm>
              <a:prstGeom prst="line">
                <a:avLst/>
              </a:prstGeom>
              <a:noFill/>
              <a:ln w="17463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4229" name="Rectangle 43">
              <a:extLst>
                <a:ext uri="{FF2B5EF4-FFF2-40B4-BE49-F238E27FC236}">
                  <a16:creationId xmlns:a16="http://schemas.microsoft.com/office/drawing/2014/main" id="{F2CB2E27-67FF-43C8-8B1A-D5A3D7B88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6" y="2001"/>
              <a:ext cx="470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2pPr>
              <a:lvl3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3pPr>
              <a:lvl4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4pPr>
              <a:lvl5pPr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rgbClr val="FF0000"/>
                  </a:solidFill>
                  <a:latin typeface="Helvetica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l"/>
              <a:r>
                <a:rPr lang="en-US" altLang="en-US" sz="1400">
                  <a:solidFill>
                    <a:srgbClr val="000000"/>
                  </a:solidFill>
                  <a:latin typeface="Courier" charset="0"/>
                </a:rPr>
                <a:t>print()</a:t>
              </a:r>
              <a:endParaRPr lang="en-US" altLang="en-US" b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59">
            <a:extLst>
              <a:ext uri="{FF2B5EF4-FFF2-40B4-BE49-F238E27FC236}">
                <a16:creationId xmlns:a16="http://schemas.microsoft.com/office/drawing/2014/main" id="{B92DB7EA-B384-4D82-9DCE-80CCC8B3EF3B}"/>
              </a:ext>
            </a:extLst>
          </p:cNvPr>
          <p:cNvGrpSpPr>
            <a:grpSpLocks/>
          </p:cNvGrpSpPr>
          <p:nvPr/>
        </p:nvGrpSpPr>
        <p:grpSpPr bwMode="auto">
          <a:xfrm>
            <a:off x="4406900" y="4241800"/>
            <a:ext cx="292100" cy="292100"/>
            <a:chOff x="2832" y="2744"/>
            <a:chExt cx="184" cy="184"/>
          </a:xfrm>
        </p:grpSpPr>
        <p:sp>
          <p:nvSpPr>
            <p:cNvPr id="94226" name="Line 57">
              <a:extLst>
                <a:ext uri="{FF2B5EF4-FFF2-40B4-BE49-F238E27FC236}">
                  <a16:creationId xmlns:a16="http://schemas.microsoft.com/office/drawing/2014/main" id="{3FE24C92-4AD3-4425-B742-3605D01B21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32" y="2744"/>
              <a:ext cx="184" cy="1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227" name="Line 58">
              <a:extLst>
                <a:ext uri="{FF2B5EF4-FFF2-40B4-BE49-F238E27FC236}">
                  <a16:creationId xmlns:a16="http://schemas.microsoft.com/office/drawing/2014/main" id="{C6D41D3A-DC90-47B8-AFD3-4EE99E4E7A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832" y="2744"/>
              <a:ext cx="184" cy="18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3" grpId="0" build="p"/>
      <p:bldP spid="107587" grpId="0" animBg="1" autoUpdateAnimBg="0"/>
      <p:bldP spid="107588" grpId="0" animBg="1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435F319E-F095-458D-8894-89E7B0D6A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Sequence Diagram Properties</a:t>
            </a: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1445051C-5728-4A5A-9264-D778C0B008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UML sequence diagram represent </a:t>
            </a:r>
            <a:r>
              <a:rPr lang="en-US" altLang="en-US" i="1">
                <a:solidFill>
                  <a:srgbClr val="FF3300"/>
                </a:solidFill>
              </a:rPr>
              <a:t>behavior in terms of interactions</a:t>
            </a:r>
          </a:p>
          <a:p>
            <a:r>
              <a:rPr lang="en-US" altLang="en-US"/>
              <a:t>Useful to identify or find missing objects</a:t>
            </a:r>
          </a:p>
          <a:p>
            <a:r>
              <a:rPr lang="en-US" altLang="en-US"/>
              <a:t>Time consuming to build, but worth the investment</a:t>
            </a:r>
          </a:p>
          <a:p>
            <a:r>
              <a:rPr lang="en-US" altLang="en-US"/>
              <a:t>Complement the class diagrams (which represent structure).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EC575D1-FED1-47C8-B09D-BC9868C8F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41</a:t>
            </a:fld>
            <a:endParaRPr lang="nl-NL" altLang="fr-FR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273FF1FA-596D-464B-9982-F96E62AE9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 of this Class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2DB87FE5-C03A-4800-A4E5-E9E89D66AE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What  is UML?</a:t>
            </a:r>
          </a:p>
          <a:p>
            <a:r>
              <a:rPr lang="en-US" altLang="en-US"/>
              <a:t> A more detailed view on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/>
              <a:t>Use case diagrams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/>
              <a:t>Class diagrams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altLang="en-US"/>
              <a:t>Sequence diagrams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altLang="en-US"/>
              <a:t>Activity diagrams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01845AA0-3855-4F18-A2F1-3E07F9394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42</a:t>
            </a:fld>
            <a:endParaRPr lang="nl-NL" altLang="fr-F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el 1">
            <a:extLst>
              <a:ext uri="{FF2B5EF4-FFF2-40B4-BE49-F238E27FC236}">
                <a16:creationId xmlns:a16="http://schemas.microsoft.com/office/drawing/2014/main" id="{6447C912-BD8A-4D91-89FD-C96FD763C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UML Activity Diagrams</a:t>
            </a:r>
          </a:p>
        </p:txBody>
      </p:sp>
      <p:sp>
        <p:nvSpPr>
          <p:cNvPr id="100355" name="Inhaltsplatzhalter 2">
            <a:extLst>
              <a:ext uri="{FF2B5EF4-FFF2-40B4-BE49-F238E27FC236}">
                <a16:creationId xmlns:a16="http://schemas.microsoft.com/office/drawing/2014/main" id="{3DE450ED-220C-4BC8-AE5E-05D92DD22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en-US" altLang="en-US"/>
              <a:t>An activity diagram consists of nodes and edges</a:t>
            </a:r>
          </a:p>
          <a:p>
            <a:r>
              <a:rPr lang="en-US" altLang="en-US" b="1"/>
              <a:t>Nodes describe activities and objects</a:t>
            </a:r>
          </a:p>
          <a:p>
            <a:pPr lvl="2"/>
            <a:r>
              <a:rPr lang="en-US" altLang="en-US"/>
              <a:t>Control nodes</a:t>
            </a:r>
          </a:p>
          <a:p>
            <a:pPr lvl="2"/>
            <a:r>
              <a:rPr lang="en-US" altLang="en-US"/>
              <a:t>Executable nodes </a:t>
            </a:r>
          </a:p>
          <a:p>
            <a:pPr lvl="3"/>
            <a:r>
              <a:rPr lang="de-DE" altLang="en-US"/>
              <a:t>M</a:t>
            </a:r>
            <a:r>
              <a:rPr lang="en-US" altLang="en-US"/>
              <a:t>ost prominent: </a:t>
            </a:r>
            <a:r>
              <a:rPr lang="en-US" altLang="en-US" b="1"/>
              <a:t>Action</a:t>
            </a:r>
          </a:p>
          <a:p>
            <a:pPr lvl="2"/>
            <a:r>
              <a:rPr lang="en-US" altLang="en-US"/>
              <a:t>Object nodes</a:t>
            </a:r>
          </a:p>
          <a:p>
            <a:pPr lvl="3"/>
            <a:r>
              <a:rPr lang="de-DE" altLang="en-US"/>
              <a:t>E</a:t>
            </a:r>
            <a:r>
              <a:rPr lang="en-US" altLang="en-US"/>
              <a:t>.g. a document</a:t>
            </a:r>
          </a:p>
          <a:p>
            <a:r>
              <a:rPr lang="en-US" altLang="en-US" b="1"/>
              <a:t>Edge </a:t>
            </a:r>
            <a:r>
              <a:rPr lang="en-US" altLang="en-US"/>
              <a:t>is a directed connection between nodes</a:t>
            </a:r>
          </a:p>
          <a:p>
            <a:pPr lvl="2"/>
            <a:r>
              <a:rPr lang="de-DE" altLang="en-US"/>
              <a:t>T</a:t>
            </a:r>
            <a:r>
              <a:rPr lang="en-US" altLang="en-US"/>
              <a:t>here are two types of edges</a:t>
            </a:r>
          </a:p>
          <a:p>
            <a:pPr lvl="3"/>
            <a:r>
              <a:rPr lang="en-US" altLang="en-US"/>
              <a:t>Control flow edges</a:t>
            </a:r>
          </a:p>
          <a:p>
            <a:pPr lvl="3"/>
            <a:r>
              <a:rPr lang="en-US" altLang="en-US"/>
              <a:t>Object flow edges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4C5139B-0853-419C-9A83-8298D46D1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43</a:t>
            </a:fld>
            <a:endParaRPr lang="nl-NL" altLang="fr-FR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8606E49C-E526-4C90-BAAE-693637A6FF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Activity Diagrams: Grouping of Activities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A5A46B59-A4AC-4EDF-A543-25BC86BD3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Activities may be grouped into </a:t>
            </a:r>
            <a:r>
              <a:rPr lang="en-US" altLang="en-US">
                <a:solidFill>
                  <a:srgbClr val="FF3300"/>
                </a:solidFill>
              </a:rPr>
              <a:t>swimlanes</a:t>
            </a:r>
            <a:r>
              <a:rPr lang="en-US" altLang="en-US"/>
              <a:t> to denote the object or subsystem that implements the activities.</a:t>
            </a:r>
          </a:p>
          <a:p>
            <a:endParaRPr lang="en-US" altLang="en-US"/>
          </a:p>
        </p:txBody>
      </p:sp>
      <p:sp>
        <p:nvSpPr>
          <p:cNvPr id="103428" name="AutoShape 6">
            <a:extLst>
              <a:ext uri="{FF2B5EF4-FFF2-40B4-BE49-F238E27FC236}">
                <a16:creationId xmlns:a16="http://schemas.microsoft.com/office/drawing/2014/main" id="{92FBB0F0-218A-4ACB-8CCB-037B65A521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3776663"/>
            <a:ext cx="1744662" cy="792162"/>
          </a:xfrm>
          <a:prstGeom prst="roundRect">
            <a:avLst>
              <a:gd name="adj" fmla="val 44991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29" name="Rectangle 7">
            <a:extLst>
              <a:ext uri="{FF2B5EF4-FFF2-40B4-BE49-F238E27FC236}">
                <a16:creationId xmlns:a16="http://schemas.microsoft.com/office/drawing/2014/main" id="{CF22CC26-0D5B-4B93-A8D8-C6D1339E8B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2838" y="3965575"/>
            <a:ext cx="487362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  <a:latin typeface="Courier" charset="0"/>
              </a:rPr>
              <a:t>Open</a:t>
            </a:r>
            <a:endParaRPr lang="en-US" altLang="en-US"/>
          </a:p>
        </p:txBody>
      </p:sp>
      <p:sp>
        <p:nvSpPr>
          <p:cNvPr id="103430" name="Rectangle 8">
            <a:extLst>
              <a:ext uri="{FF2B5EF4-FFF2-40B4-BE49-F238E27FC236}">
                <a16:creationId xmlns:a16="http://schemas.microsoft.com/office/drawing/2014/main" id="{B8785201-1591-424E-B87B-F09B2EF92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" y="4162425"/>
            <a:ext cx="9763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  <a:latin typeface="Courier" charset="0"/>
              </a:rPr>
              <a:t>Incident</a:t>
            </a:r>
            <a:endParaRPr lang="en-US" altLang="en-US"/>
          </a:p>
        </p:txBody>
      </p:sp>
      <p:sp>
        <p:nvSpPr>
          <p:cNvPr id="103431" name="AutoShape 9">
            <a:extLst>
              <a:ext uri="{FF2B5EF4-FFF2-40B4-BE49-F238E27FC236}">
                <a16:creationId xmlns:a16="http://schemas.microsoft.com/office/drawing/2014/main" id="{5DA076C6-30B3-4C6C-8195-D9DE02DDE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2606675"/>
            <a:ext cx="1724025" cy="793750"/>
          </a:xfrm>
          <a:prstGeom prst="roundRect">
            <a:avLst>
              <a:gd name="adj" fmla="val 44898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32" name="Rectangle 10">
            <a:extLst>
              <a:ext uri="{FF2B5EF4-FFF2-40B4-BE49-F238E27FC236}">
                <a16:creationId xmlns:a16="http://schemas.microsoft.com/office/drawing/2014/main" id="{B39495C3-68E4-47A2-98B7-4202AACDE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0" y="2774950"/>
            <a:ext cx="9763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  <a:latin typeface="Courier" charset="0"/>
              </a:rPr>
              <a:t>Allocate</a:t>
            </a:r>
            <a:endParaRPr lang="en-US" altLang="en-US"/>
          </a:p>
        </p:txBody>
      </p:sp>
      <p:sp>
        <p:nvSpPr>
          <p:cNvPr id="103433" name="Rectangle 11">
            <a:extLst>
              <a:ext uri="{FF2B5EF4-FFF2-40B4-BE49-F238E27FC236}">
                <a16:creationId xmlns:a16="http://schemas.microsoft.com/office/drawing/2014/main" id="{67FD27E9-A2EB-42AD-B9AD-0238CE10D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725" y="2973388"/>
            <a:ext cx="10969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  <a:latin typeface="Courier" charset="0"/>
              </a:rPr>
              <a:t>Resources</a:t>
            </a:r>
            <a:endParaRPr lang="en-US" altLang="en-US"/>
          </a:p>
        </p:txBody>
      </p:sp>
      <p:sp>
        <p:nvSpPr>
          <p:cNvPr id="103434" name="AutoShape 12">
            <a:extLst>
              <a:ext uri="{FF2B5EF4-FFF2-40B4-BE49-F238E27FC236}">
                <a16:creationId xmlns:a16="http://schemas.microsoft.com/office/drawing/2014/main" id="{871A4FE6-0EEB-4949-B947-309020B4B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3776663"/>
            <a:ext cx="1724025" cy="792162"/>
          </a:xfrm>
          <a:prstGeom prst="roundRect">
            <a:avLst>
              <a:gd name="adj" fmla="val 44991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35" name="Rectangle 13">
            <a:extLst>
              <a:ext uri="{FF2B5EF4-FFF2-40B4-BE49-F238E27FC236}">
                <a16:creationId xmlns:a16="http://schemas.microsoft.com/office/drawing/2014/main" id="{766AE751-6C7D-43CC-A542-4981AF8D9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813" y="3965575"/>
            <a:ext cx="1219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  <a:latin typeface="Courier" charset="0"/>
              </a:rPr>
              <a:t>Coordinate</a:t>
            </a:r>
            <a:endParaRPr lang="en-US" altLang="en-US"/>
          </a:p>
        </p:txBody>
      </p:sp>
      <p:sp>
        <p:nvSpPr>
          <p:cNvPr id="103436" name="Rectangle 14">
            <a:extLst>
              <a:ext uri="{FF2B5EF4-FFF2-40B4-BE49-F238E27FC236}">
                <a16:creationId xmlns:a16="http://schemas.microsoft.com/office/drawing/2014/main" id="{051422D3-C79D-4257-ACDA-7A1397DF2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9725" y="4162425"/>
            <a:ext cx="10969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  <a:latin typeface="Courier" charset="0"/>
              </a:rPr>
              <a:t>Resources</a:t>
            </a:r>
            <a:endParaRPr lang="en-US" altLang="en-US"/>
          </a:p>
        </p:txBody>
      </p:sp>
      <p:sp>
        <p:nvSpPr>
          <p:cNvPr id="103437" name="AutoShape 15">
            <a:extLst>
              <a:ext uri="{FF2B5EF4-FFF2-40B4-BE49-F238E27FC236}">
                <a16:creationId xmlns:a16="http://schemas.microsoft.com/office/drawing/2014/main" id="{FB6B34C8-B61F-4130-910F-287208FA8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6663" y="4965700"/>
            <a:ext cx="1724025" cy="793750"/>
          </a:xfrm>
          <a:prstGeom prst="roundRect">
            <a:avLst>
              <a:gd name="adj" fmla="val 44898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38" name="Rectangle 16">
            <a:extLst>
              <a:ext uri="{FF2B5EF4-FFF2-40B4-BE49-F238E27FC236}">
                <a16:creationId xmlns:a16="http://schemas.microsoft.com/office/drawing/2014/main" id="{677E1B3B-11F8-4058-945D-65EC37F09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0" y="5133975"/>
            <a:ext cx="9763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  <a:latin typeface="Courier" charset="0"/>
              </a:rPr>
              <a:t>Document</a:t>
            </a:r>
            <a:endParaRPr lang="en-US" altLang="en-US"/>
          </a:p>
        </p:txBody>
      </p:sp>
      <p:sp>
        <p:nvSpPr>
          <p:cNvPr id="103439" name="Rectangle 17">
            <a:extLst>
              <a:ext uri="{FF2B5EF4-FFF2-40B4-BE49-F238E27FC236}">
                <a16:creationId xmlns:a16="http://schemas.microsoft.com/office/drawing/2014/main" id="{95799E08-F659-4114-86FC-A6B1A626A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2750" y="5332413"/>
            <a:ext cx="9763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  <a:latin typeface="Courier" charset="0"/>
              </a:rPr>
              <a:t>Incident</a:t>
            </a:r>
            <a:endParaRPr lang="en-US" altLang="en-US"/>
          </a:p>
        </p:txBody>
      </p:sp>
      <p:sp>
        <p:nvSpPr>
          <p:cNvPr id="103440" name="AutoShape 18">
            <a:extLst>
              <a:ext uri="{FF2B5EF4-FFF2-40B4-BE49-F238E27FC236}">
                <a16:creationId xmlns:a16="http://schemas.microsoft.com/office/drawing/2014/main" id="{CB9CBB5F-ECAE-4394-BC0D-DFF13FB30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8800" y="3776663"/>
            <a:ext cx="1744663" cy="792162"/>
          </a:xfrm>
          <a:prstGeom prst="roundRect">
            <a:avLst>
              <a:gd name="adj" fmla="val 44991"/>
            </a:avLst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41" name="Rectangle 19">
            <a:extLst>
              <a:ext uri="{FF2B5EF4-FFF2-40B4-BE49-F238E27FC236}">
                <a16:creationId xmlns:a16="http://schemas.microsoft.com/office/drawing/2014/main" id="{95C5FF55-D590-4E06-ACC4-B51B7A786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25" y="3965575"/>
            <a:ext cx="8540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  <a:latin typeface="Courier" charset="0"/>
              </a:rPr>
              <a:t>Archive</a:t>
            </a:r>
            <a:endParaRPr lang="en-US" altLang="en-US"/>
          </a:p>
        </p:txBody>
      </p:sp>
      <p:sp>
        <p:nvSpPr>
          <p:cNvPr id="103442" name="Rectangle 20">
            <a:extLst>
              <a:ext uri="{FF2B5EF4-FFF2-40B4-BE49-F238E27FC236}">
                <a16:creationId xmlns:a16="http://schemas.microsoft.com/office/drawing/2014/main" id="{76A5A851-3617-490C-8E58-C853BC8AE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0" y="4162425"/>
            <a:ext cx="9763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  <a:latin typeface="Courier" charset="0"/>
              </a:rPr>
              <a:t>Incident</a:t>
            </a:r>
            <a:endParaRPr lang="en-US" altLang="en-US"/>
          </a:p>
        </p:txBody>
      </p:sp>
      <p:sp>
        <p:nvSpPr>
          <p:cNvPr id="103443" name="Rectangle 21">
            <a:extLst>
              <a:ext uri="{FF2B5EF4-FFF2-40B4-BE49-F238E27FC236}">
                <a16:creationId xmlns:a16="http://schemas.microsoft.com/office/drawing/2014/main" id="{DC59CA23-3B79-4096-90E3-C1C13EC4EC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7000" y="3797300"/>
            <a:ext cx="79375" cy="7318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44" name="Rectangle 22">
            <a:extLst>
              <a:ext uri="{FF2B5EF4-FFF2-40B4-BE49-F238E27FC236}">
                <a16:creationId xmlns:a16="http://schemas.microsoft.com/office/drawing/2014/main" id="{50A0FB6D-564A-4896-B5BF-CBCEF9F27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4300" y="3797300"/>
            <a:ext cx="98425" cy="75247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45" name="Rectangle 23">
            <a:extLst>
              <a:ext uri="{FF2B5EF4-FFF2-40B4-BE49-F238E27FC236}">
                <a16:creationId xmlns:a16="http://schemas.microsoft.com/office/drawing/2014/main" id="{38498DFC-15EE-423E-8604-EBD421BF7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3488" y="3797300"/>
            <a:ext cx="79375" cy="7318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46" name="Rectangle 24">
            <a:extLst>
              <a:ext uri="{FF2B5EF4-FFF2-40B4-BE49-F238E27FC236}">
                <a16:creationId xmlns:a16="http://schemas.microsoft.com/office/drawing/2014/main" id="{69D9AFC2-383E-4D05-9D2C-C53D6078B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3797300"/>
            <a:ext cx="100012" cy="75247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47" name="Line 25">
            <a:extLst>
              <a:ext uri="{FF2B5EF4-FFF2-40B4-BE49-F238E27FC236}">
                <a16:creationId xmlns:a16="http://schemas.microsoft.com/office/drawing/2014/main" id="{B2F15ED2-A56F-4F91-9996-EF1A3CCE55EE}"/>
              </a:ext>
            </a:extLst>
          </p:cNvPr>
          <p:cNvSpPr>
            <a:spLocks noChangeShapeType="1"/>
          </p:cNvSpPr>
          <p:nvPr/>
        </p:nvSpPr>
        <p:spPr bwMode="auto">
          <a:xfrm>
            <a:off x="3559175" y="4152900"/>
            <a:ext cx="217488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48" name="Freeform 26">
            <a:extLst>
              <a:ext uri="{FF2B5EF4-FFF2-40B4-BE49-F238E27FC236}">
                <a16:creationId xmlns:a16="http://schemas.microsoft.com/office/drawing/2014/main" id="{02038267-7971-4708-B45C-9B176E4F8629}"/>
              </a:ext>
            </a:extLst>
          </p:cNvPr>
          <p:cNvSpPr>
            <a:spLocks/>
          </p:cNvSpPr>
          <p:nvPr/>
        </p:nvSpPr>
        <p:spPr bwMode="auto">
          <a:xfrm>
            <a:off x="3578225" y="4094163"/>
            <a:ext cx="198438" cy="119062"/>
          </a:xfrm>
          <a:custGeom>
            <a:avLst/>
            <a:gdLst>
              <a:gd name="T0" fmla="*/ 0 w 125"/>
              <a:gd name="T1" fmla="*/ 0 h 75"/>
              <a:gd name="T2" fmla="*/ 2147483647 w 125"/>
              <a:gd name="T3" fmla="*/ 2147483647 h 75"/>
              <a:gd name="T4" fmla="*/ 0 w 125"/>
              <a:gd name="T5" fmla="*/ 2147483647 h 75"/>
              <a:gd name="T6" fmla="*/ 0 60000 65536"/>
              <a:gd name="T7" fmla="*/ 0 60000 65536"/>
              <a:gd name="T8" fmla="*/ 0 60000 65536"/>
              <a:gd name="T9" fmla="*/ 0 w 125"/>
              <a:gd name="T10" fmla="*/ 0 h 75"/>
              <a:gd name="T11" fmla="*/ 125 w 125"/>
              <a:gd name="T12" fmla="*/ 75 h 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75">
                <a:moveTo>
                  <a:pt x="0" y="0"/>
                </a:moveTo>
                <a:lnTo>
                  <a:pt x="125" y="37"/>
                </a:lnTo>
                <a:lnTo>
                  <a:pt x="0" y="7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49" name="Line 27">
            <a:extLst>
              <a:ext uri="{FF2B5EF4-FFF2-40B4-BE49-F238E27FC236}">
                <a16:creationId xmlns:a16="http://schemas.microsoft.com/office/drawing/2014/main" id="{24104444-68D1-441A-9104-AD03EEAB225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65425" y="4152900"/>
            <a:ext cx="793750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50" name="Line 28">
            <a:extLst>
              <a:ext uri="{FF2B5EF4-FFF2-40B4-BE49-F238E27FC236}">
                <a16:creationId xmlns:a16="http://schemas.microsoft.com/office/drawing/2014/main" id="{E7AF2983-FABC-4489-9C2E-10A936272EC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96000" y="4173538"/>
            <a:ext cx="217488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51" name="Freeform 29">
            <a:extLst>
              <a:ext uri="{FF2B5EF4-FFF2-40B4-BE49-F238E27FC236}">
                <a16:creationId xmlns:a16="http://schemas.microsoft.com/office/drawing/2014/main" id="{54DC7368-D4A6-456E-9E8D-EE11BA5D92F6}"/>
              </a:ext>
            </a:extLst>
          </p:cNvPr>
          <p:cNvSpPr>
            <a:spLocks/>
          </p:cNvSpPr>
          <p:nvPr/>
        </p:nvSpPr>
        <p:spPr bwMode="auto">
          <a:xfrm>
            <a:off x="6115050" y="4113213"/>
            <a:ext cx="198438" cy="119062"/>
          </a:xfrm>
          <a:custGeom>
            <a:avLst/>
            <a:gdLst>
              <a:gd name="T0" fmla="*/ 0 w 125"/>
              <a:gd name="T1" fmla="*/ 0 h 75"/>
              <a:gd name="T2" fmla="*/ 2147483647 w 125"/>
              <a:gd name="T3" fmla="*/ 2147483647 h 75"/>
              <a:gd name="T4" fmla="*/ 0 w 125"/>
              <a:gd name="T5" fmla="*/ 2147483647 h 75"/>
              <a:gd name="T6" fmla="*/ 0 60000 65536"/>
              <a:gd name="T7" fmla="*/ 0 60000 65536"/>
              <a:gd name="T8" fmla="*/ 0 60000 65536"/>
              <a:gd name="T9" fmla="*/ 0 w 125"/>
              <a:gd name="T10" fmla="*/ 0 h 75"/>
              <a:gd name="T11" fmla="*/ 125 w 125"/>
              <a:gd name="T12" fmla="*/ 75 h 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75">
                <a:moveTo>
                  <a:pt x="0" y="0"/>
                </a:moveTo>
                <a:lnTo>
                  <a:pt x="125" y="38"/>
                </a:lnTo>
                <a:lnTo>
                  <a:pt x="0" y="7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52" name="Line 30">
            <a:extLst>
              <a:ext uri="{FF2B5EF4-FFF2-40B4-BE49-F238E27FC236}">
                <a16:creationId xmlns:a16="http://schemas.microsoft.com/office/drawing/2014/main" id="{9AA13D18-7C10-4CF0-982A-31228EC975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0375" y="4173538"/>
            <a:ext cx="555625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53" name="Line 31">
            <a:extLst>
              <a:ext uri="{FF2B5EF4-FFF2-40B4-BE49-F238E27FC236}">
                <a16:creationId xmlns:a16="http://schemas.microsoft.com/office/drawing/2014/main" id="{8EC2B1F5-5E4B-443A-9D40-C10CAE937C5D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8875" y="4152900"/>
            <a:ext cx="217488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54" name="Freeform 32">
            <a:extLst>
              <a:ext uri="{FF2B5EF4-FFF2-40B4-BE49-F238E27FC236}">
                <a16:creationId xmlns:a16="http://schemas.microsoft.com/office/drawing/2014/main" id="{470C284D-279A-4679-9183-D330A48B4B84}"/>
              </a:ext>
            </a:extLst>
          </p:cNvPr>
          <p:cNvSpPr>
            <a:spLocks/>
          </p:cNvSpPr>
          <p:nvPr/>
        </p:nvSpPr>
        <p:spPr bwMode="auto">
          <a:xfrm>
            <a:off x="2447925" y="4094163"/>
            <a:ext cx="198438" cy="119062"/>
          </a:xfrm>
          <a:custGeom>
            <a:avLst/>
            <a:gdLst>
              <a:gd name="T0" fmla="*/ 0 w 125"/>
              <a:gd name="T1" fmla="*/ 0 h 75"/>
              <a:gd name="T2" fmla="*/ 2147483647 w 125"/>
              <a:gd name="T3" fmla="*/ 2147483647 h 75"/>
              <a:gd name="T4" fmla="*/ 0 w 125"/>
              <a:gd name="T5" fmla="*/ 2147483647 h 75"/>
              <a:gd name="T6" fmla="*/ 0 60000 65536"/>
              <a:gd name="T7" fmla="*/ 0 60000 65536"/>
              <a:gd name="T8" fmla="*/ 0 60000 65536"/>
              <a:gd name="T9" fmla="*/ 0 w 125"/>
              <a:gd name="T10" fmla="*/ 0 h 75"/>
              <a:gd name="T11" fmla="*/ 125 w 125"/>
              <a:gd name="T12" fmla="*/ 75 h 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75">
                <a:moveTo>
                  <a:pt x="0" y="0"/>
                </a:moveTo>
                <a:lnTo>
                  <a:pt x="125" y="37"/>
                </a:lnTo>
                <a:lnTo>
                  <a:pt x="0" y="7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55" name="Line 33">
            <a:extLst>
              <a:ext uri="{FF2B5EF4-FFF2-40B4-BE49-F238E27FC236}">
                <a16:creationId xmlns:a16="http://schemas.microsoft.com/office/drawing/2014/main" id="{BB024831-8E45-4041-9029-2F1FE3B2D9CD}"/>
              </a:ext>
            </a:extLst>
          </p:cNvPr>
          <p:cNvSpPr>
            <a:spLocks noChangeShapeType="1"/>
          </p:cNvSpPr>
          <p:nvPr/>
        </p:nvSpPr>
        <p:spPr bwMode="auto">
          <a:xfrm>
            <a:off x="2151063" y="4152900"/>
            <a:ext cx="277812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56" name="Line 34">
            <a:extLst>
              <a:ext uri="{FF2B5EF4-FFF2-40B4-BE49-F238E27FC236}">
                <a16:creationId xmlns:a16="http://schemas.microsoft.com/office/drawing/2014/main" id="{997B44B7-02C3-4C07-9718-7B89768CF83B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0675" y="4173538"/>
            <a:ext cx="217488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57" name="Freeform 35">
            <a:extLst>
              <a:ext uri="{FF2B5EF4-FFF2-40B4-BE49-F238E27FC236}">
                <a16:creationId xmlns:a16="http://schemas.microsoft.com/office/drawing/2014/main" id="{C6CD9654-93F6-4AB4-BB4E-689D55A4F749}"/>
              </a:ext>
            </a:extLst>
          </p:cNvPr>
          <p:cNvSpPr>
            <a:spLocks/>
          </p:cNvSpPr>
          <p:nvPr/>
        </p:nvSpPr>
        <p:spPr bwMode="auto">
          <a:xfrm>
            <a:off x="6691313" y="4113213"/>
            <a:ext cx="196850" cy="119062"/>
          </a:xfrm>
          <a:custGeom>
            <a:avLst/>
            <a:gdLst>
              <a:gd name="T0" fmla="*/ 0 w 124"/>
              <a:gd name="T1" fmla="*/ 0 h 75"/>
              <a:gd name="T2" fmla="*/ 2147483647 w 124"/>
              <a:gd name="T3" fmla="*/ 2147483647 h 75"/>
              <a:gd name="T4" fmla="*/ 0 w 124"/>
              <a:gd name="T5" fmla="*/ 2147483647 h 75"/>
              <a:gd name="T6" fmla="*/ 0 60000 65536"/>
              <a:gd name="T7" fmla="*/ 0 60000 65536"/>
              <a:gd name="T8" fmla="*/ 0 60000 65536"/>
              <a:gd name="T9" fmla="*/ 0 w 124"/>
              <a:gd name="T10" fmla="*/ 0 h 75"/>
              <a:gd name="T11" fmla="*/ 124 w 124"/>
              <a:gd name="T12" fmla="*/ 75 h 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4" h="75">
                <a:moveTo>
                  <a:pt x="0" y="0"/>
                </a:moveTo>
                <a:lnTo>
                  <a:pt x="124" y="38"/>
                </a:lnTo>
                <a:lnTo>
                  <a:pt x="0" y="7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58" name="Line 36">
            <a:extLst>
              <a:ext uri="{FF2B5EF4-FFF2-40B4-BE49-F238E27FC236}">
                <a16:creationId xmlns:a16="http://schemas.microsoft.com/office/drawing/2014/main" id="{0ACED203-5B2B-4B26-8B43-AD32BF8ED940}"/>
              </a:ext>
            </a:extLst>
          </p:cNvPr>
          <p:cNvSpPr>
            <a:spLocks noChangeShapeType="1"/>
          </p:cNvSpPr>
          <p:nvPr/>
        </p:nvSpPr>
        <p:spPr bwMode="auto">
          <a:xfrm>
            <a:off x="6373813" y="4173538"/>
            <a:ext cx="296862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59" name="Line 37">
            <a:extLst>
              <a:ext uri="{FF2B5EF4-FFF2-40B4-BE49-F238E27FC236}">
                <a16:creationId xmlns:a16="http://schemas.microsoft.com/office/drawing/2014/main" id="{5AED1EB6-B6E9-440D-9970-FC6CD423F0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8538" y="2984500"/>
            <a:ext cx="219075" cy="1588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60" name="Freeform 38">
            <a:extLst>
              <a:ext uri="{FF2B5EF4-FFF2-40B4-BE49-F238E27FC236}">
                <a16:creationId xmlns:a16="http://schemas.microsoft.com/office/drawing/2014/main" id="{682864A1-9402-4F93-AE88-545516001D59}"/>
              </a:ext>
            </a:extLst>
          </p:cNvPr>
          <p:cNvSpPr>
            <a:spLocks/>
          </p:cNvSpPr>
          <p:nvPr/>
        </p:nvSpPr>
        <p:spPr bwMode="auto">
          <a:xfrm>
            <a:off x="3559175" y="2924175"/>
            <a:ext cx="198438" cy="119063"/>
          </a:xfrm>
          <a:custGeom>
            <a:avLst/>
            <a:gdLst>
              <a:gd name="T0" fmla="*/ 0 w 125"/>
              <a:gd name="T1" fmla="*/ 0 h 75"/>
              <a:gd name="T2" fmla="*/ 2147483647 w 125"/>
              <a:gd name="T3" fmla="*/ 2147483647 h 75"/>
              <a:gd name="T4" fmla="*/ 0 w 125"/>
              <a:gd name="T5" fmla="*/ 2147483647 h 75"/>
              <a:gd name="T6" fmla="*/ 0 60000 65536"/>
              <a:gd name="T7" fmla="*/ 0 60000 65536"/>
              <a:gd name="T8" fmla="*/ 0 60000 65536"/>
              <a:gd name="T9" fmla="*/ 0 w 125"/>
              <a:gd name="T10" fmla="*/ 0 h 75"/>
              <a:gd name="T11" fmla="*/ 125 w 125"/>
              <a:gd name="T12" fmla="*/ 75 h 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75">
                <a:moveTo>
                  <a:pt x="0" y="0"/>
                </a:moveTo>
                <a:lnTo>
                  <a:pt x="125" y="38"/>
                </a:lnTo>
                <a:lnTo>
                  <a:pt x="0" y="7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61" name="Freeform 39">
            <a:extLst>
              <a:ext uri="{FF2B5EF4-FFF2-40B4-BE49-F238E27FC236}">
                <a16:creationId xmlns:a16="http://schemas.microsoft.com/office/drawing/2014/main" id="{1160B017-CBAF-452B-854F-83537FC0CFAF}"/>
              </a:ext>
            </a:extLst>
          </p:cNvPr>
          <p:cNvSpPr>
            <a:spLocks/>
          </p:cNvSpPr>
          <p:nvPr/>
        </p:nvSpPr>
        <p:spPr bwMode="auto">
          <a:xfrm>
            <a:off x="3538538" y="5283200"/>
            <a:ext cx="198437" cy="119063"/>
          </a:xfrm>
          <a:custGeom>
            <a:avLst/>
            <a:gdLst>
              <a:gd name="T0" fmla="*/ 0 w 125"/>
              <a:gd name="T1" fmla="*/ 0 h 75"/>
              <a:gd name="T2" fmla="*/ 2147483647 w 125"/>
              <a:gd name="T3" fmla="*/ 2147483647 h 75"/>
              <a:gd name="T4" fmla="*/ 0 w 125"/>
              <a:gd name="T5" fmla="*/ 2147483647 h 75"/>
              <a:gd name="T6" fmla="*/ 0 60000 65536"/>
              <a:gd name="T7" fmla="*/ 0 60000 65536"/>
              <a:gd name="T8" fmla="*/ 0 60000 65536"/>
              <a:gd name="T9" fmla="*/ 0 w 125"/>
              <a:gd name="T10" fmla="*/ 0 h 75"/>
              <a:gd name="T11" fmla="*/ 125 w 125"/>
              <a:gd name="T12" fmla="*/ 75 h 7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" h="75">
                <a:moveTo>
                  <a:pt x="0" y="0"/>
                </a:moveTo>
                <a:lnTo>
                  <a:pt x="125" y="37"/>
                </a:lnTo>
                <a:lnTo>
                  <a:pt x="0" y="7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62" name="Freeform 40">
            <a:extLst>
              <a:ext uri="{FF2B5EF4-FFF2-40B4-BE49-F238E27FC236}">
                <a16:creationId xmlns:a16="http://schemas.microsoft.com/office/drawing/2014/main" id="{517A2F9A-3EDB-411F-9EFA-DD0B55FD2C7C}"/>
              </a:ext>
            </a:extLst>
          </p:cNvPr>
          <p:cNvSpPr>
            <a:spLocks/>
          </p:cNvSpPr>
          <p:nvPr/>
        </p:nvSpPr>
        <p:spPr bwMode="auto">
          <a:xfrm>
            <a:off x="3281363" y="2984500"/>
            <a:ext cx="257175" cy="2357438"/>
          </a:xfrm>
          <a:custGeom>
            <a:avLst/>
            <a:gdLst>
              <a:gd name="T0" fmla="*/ 2147483647 w 162"/>
              <a:gd name="T1" fmla="*/ 0 h 1485"/>
              <a:gd name="T2" fmla="*/ 0 w 162"/>
              <a:gd name="T3" fmla="*/ 0 h 1485"/>
              <a:gd name="T4" fmla="*/ 0 w 162"/>
              <a:gd name="T5" fmla="*/ 2147483647 h 1485"/>
              <a:gd name="T6" fmla="*/ 2147483647 w 162"/>
              <a:gd name="T7" fmla="*/ 2147483647 h 1485"/>
              <a:gd name="T8" fmla="*/ 0 60000 65536"/>
              <a:gd name="T9" fmla="*/ 0 60000 65536"/>
              <a:gd name="T10" fmla="*/ 0 60000 65536"/>
              <a:gd name="T11" fmla="*/ 0 60000 65536"/>
              <a:gd name="T12" fmla="*/ 0 w 162"/>
              <a:gd name="T13" fmla="*/ 0 h 1485"/>
              <a:gd name="T14" fmla="*/ 162 w 162"/>
              <a:gd name="T15" fmla="*/ 1485 h 148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62" h="1485">
                <a:moveTo>
                  <a:pt x="162" y="0"/>
                </a:moveTo>
                <a:lnTo>
                  <a:pt x="0" y="0"/>
                </a:lnTo>
                <a:lnTo>
                  <a:pt x="0" y="1485"/>
                </a:lnTo>
                <a:lnTo>
                  <a:pt x="150" y="1485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63" name="Freeform 41">
            <a:extLst>
              <a:ext uri="{FF2B5EF4-FFF2-40B4-BE49-F238E27FC236}">
                <a16:creationId xmlns:a16="http://schemas.microsoft.com/office/drawing/2014/main" id="{C260614C-F792-4B86-8938-1C8138AFEECD}"/>
              </a:ext>
            </a:extLst>
          </p:cNvPr>
          <p:cNvSpPr>
            <a:spLocks/>
          </p:cNvSpPr>
          <p:nvPr/>
        </p:nvSpPr>
        <p:spPr bwMode="auto">
          <a:xfrm>
            <a:off x="5481638" y="2963863"/>
            <a:ext cx="357187" cy="2378075"/>
          </a:xfrm>
          <a:custGeom>
            <a:avLst/>
            <a:gdLst>
              <a:gd name="T0" fmla="*/ 0 w 225"/>
              <a:gd name="T1" fmla="*/ 0 h 1498"/>
              <a:gd name="T2" fmla="*/ 2147483647 w 225"/>
              <a:gd name="T3" fmla="*/ 0 h 1498"/>
              <a:gd name="T4" fmla="*/ 2147483647 w 225"/>
              <a:gd name="T5" fmla="*/ 2147483647 h 1498"/>
              <a:gd name="T6" fmla="*/ 2147483647 w 225"/>
              <a:gd name="T7" fmla="*/ 2147483647 h 1498"/>
              <a:gd name="T8" fmla="*/ 0 60000 65536"/>
              <a:gd name="T9" fmla="*/ 0 60000 65536"/>
              <a:gd name="T10" fmla="*/ 0 60000 65536"/>
              <a:gd name="T11" fmla="*/ 0 60000 65536"/>
              <a:gd name="T12" fmla="*/ 0 w 225"/>
              <a:gd name="T13" fmla="*/ 0 h 1498"/>
              <a:gd name="T14" fmla="*/ 225 w 225"/>
              <a:gd name="T15" fmla="*/ 1498 h 14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5" h="1498">
                <a:moveTo>
                  <a:pt x="0" y="0"/>
                </a:moveTo>
                <a:lnTo>
                  <a:pt x="225" y="0"/>
                </a:lnTo>
                <a:lnTo>
                  <a:pt x="225" y="1498"/>
                </a:lnTo>
                <a:lnTo>
                  <a:pt x="12" y="1498"/>
                </a:lnTo>
              </a:path>
            </a:pathLst>
          </a:cu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64" name="Line 42">
            <a:extLst>
              <a:ext uri="{FF2B5EF4-FFF2-40B4-BE49-F238E27FC236}">
                <a16:creationId xmlns:a16="http://schemas.microsoft.com/office/drawing/2014/main" id="{56922CCF-63AB-494D-87C2-A11751BDA7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19488" y="5341938"/>
            <a:ext cx="217487" cy="1587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465" name="Rectangle 43">
            <a:extLst>
              <a:ext uri="{FF2B5EF4-FFF2-40B4-BE49-F238E27FC236}">
                <a16:creationId xmlns:a16="http://schemas.microsoft.com/office/drawing/2014/main" id="{0B7D3DDA-7770-4EAE-BC34-5309E0531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495550"/>
            <a:ext cx="8721725" cy="2219325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66" name="Rectangle 44">
            <a:extLst>
              <a:ext uri="{FF2B5EF4-FFF2-40B4-BE49-F238E27FC236}">
                <a16:creationId xmlns:a16="http://schemas.microsoft.com/office/drawing/2014/main" id="{9B867A4E-C9CB-406B-9661-63B0874C2B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4708525"/>
            <a:ext cx="8721725" cy="11493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3467" name="Rectangle 45">
            <a:extLst>
              <a:ext uri="{FF2B5EF4-FFF2-40B4-BE49-F238E27FC236}">
                <a16:creationId xmlns:a16="http://schemas.microsoft.com/office/drawing/2014/main" id="{250DB05B-2C8A-478F-A122-3246CD1D4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7438" y="2676525"/>
            <a:ext cx="1219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  <a:latin typeface="Courier" charset="0"/>
              </a:rPr>
              <a:t>Dispatcher</a:t>
            </a:r>
            <a:endParaRPr lang="en-US" altLang="en-US"/>
          </a:p>
        </p:txBody>
      </p:sp>
      <p:sp>
        <p:nvSpPr>
          <p:cNvPr id="103468" name="Rectangle 46">
            <a:extLst>
              <a:ext uri="{FF2B5EF4-FFF2-40B4-BE49-F238E27FC236}">
                <a16:creationId xmlns:a16="http://schemas.microsoft.com/office/drawing/2014/main" id="{C5ED9728-E0F6-40C4-BA33-7F172ADE6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4900" y="4837113"/>
            <a:ext cx="14636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600">
                <a:solidFill>
                  <a:srgbClr val="000000"/>
                </a:solidFill>
                <a:latin typeface="Courier" charset="0"/>
              </a:rPr>
              <a:t>FieldOfficer</a:t>
            </a:r>
            <a:endParaRPr lang="en-US" altLang="en-US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52A3D23-0605-4E64-BA09-8C5E857DE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44</a:t>
            </a:fld>
            <a:endParaRPr lang="nl-NL" altLang="fr-FR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EB9A0EF5-D39E-4668-8BCB-6BF470F9B4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State Chart Diagrams vs Activity Diagrams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EEC1358A-4577-4B9A-BEA2-AD3B575062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155700"/>
            <a:ext cx="8255000" cy="4800600"/>
          </a:xfrm>
        </p:spPr>
        <p:txBody>
          <a:bodyPr/>
          <a:lstStyle/>
          <a:p>
            <a:r>
              <a:rPr lang="en-US" altLang="en-US"/>
              <a:t>An activity diagram that contains only activities can be seen as a special case of a state chart diagram </a:t>
            </a:r>
          </a:p>
          <a:p>
            <a:r>
              <a:rPr lang="en-US" altLang="en-US"/>
              <a:t>Such an activity diagram is useful to describe the overall workflow of a system</a:t>
            </a:r>
          </a:p>
        </p:txBody>
      </p:sp>
      <p:pic>
        <p:nvPicPr>
          <p:cNvPr id="105476" name="Picture 5">
            <a:extLst>
              <a:ext uri="{FF2B5EF4-FFF2-40B4-BE49-F238E27FC236}">
                <a16:creationId xmlns:a16="http://schemas.microsoft.com/office/drawing/2014/main" id="{5296DC0A-4C15-41E9-8B6E-614C36D37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4141788"/>
            <a:ext cx="7632700" cy="81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ABD2DFBF-FC24-4296-8C85-E82823F56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45</a:t>
            </a:fld>
            <a:endParaRPr lang="nl-NL" altLang="fr-F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F5A82902-890B-40B5-ADBA-B453B6553A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7564" y="-243408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en-US" dirty="0" err="1"/>
              <a:t>Statechart</a:t>
            </a:r>
            <a:r>
              <a:rPr lang="en-US" altLang="en-US" dirty="0"/>
              <a:t> Diagram vs Activity Diagram </a:t>
            </a:r>
          </a:p>
        </p:txBody>
      </p:sp>
      <p:pic>
        <p:nvPicPr>
          <p:cNvPr id="107523" name="Picture 4">
            <a:extLst>
              <a:ext uri="{FF2B5EF4-FFF2-40B4-BE49-F238E27FC236}">
                <a16:creationId xmlns:a16="http://schemas.microsoft.com/office/drawing/2014/main" id="{B7C2B4B9-B7D6-42C0-9FA6-3CB014B017CE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92200" y="4560888"/>
            <a:ext cx="7632700" cy="811212"/>
          </a:xfrm>
          <a:noFill/>
        </p:spPr>
      </p:pic>
      <p:sp>
        <p:nvSpPr>
          <p:cNvPr id="107524" name="AutoShape 12">
            <a:extLst>
              <a:ext uri="{FF2B5EF4-FFF2-40B4-BE49-F238E27FC236}">
                <a16:creationId xmlns:a16="http://schemas.microsoft.com/office/drawing/2014/main" id="{74E3D8C1-12F4-4B3B-9CE4-F2233A87D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9188" y="2420938"/>
            <a:ext cx="1062037" cy="628650"/>
          </a:xfrm>
          <a:prstGeom prst="roundRect">
            <a:avLst>
              <a:gd name="adj" fmla="val 44949"/>
            </a:avLst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7525" name="Rectangle 13">
            <a:extLst>
              <a:ext uri="{FF2B5EF4-FFF2-40B4-BE49-F238E27FC236}">
                <a16:creationId xmlns:a16="http://schemas.microsoft.com/office/drawing/2014/main" id="{6EB01E1E-134C-4CA2-991A-2E88E70950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9850" y="2663825"/>
            <a:ext cx="685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  <a:latin typeface="Courier" charset="0"/>
              </a:rPr>
              <a:t>Active</a:t>
            </a:r>
            <a:endParaRPr lang="en-US" altLang="en-US" sz="2800"/>
          </a:p>
        </p:txBody>
      </p:sp>
      <p:sp>
        <p:nvSpPr>
          <p:cNvPr id="107526" name="AutoShape 14">
            <a:extLst>
              <a:ext uri="{FF2B5EF4-FFF2-40B4-BE49-F238E27FC236}">
                <a16:creationId xmlns:a16="http://schemas.microsoft.com/office/drawing/2014/main" id="{71EB86A7-05E5-4653-8B91-F81BD399BA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9313" y="2420938"/>
            <a:ext cx="946150" cy="628650"/>
          </a:xfrm>
          <a:prstGeom prst="roundRect">
            <a:avLst>
              <a:gd name="adj" fmla="val 44949"/>
            </a:avLst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7527" name="Rectangle 15">
            <a:extLst>
              <a:ext uri="{FF2B5EF4-FFF2-40B4-BE49-F238E27FC236}">
                <a16:creationId xmlns:a16="http://schemas.microsoft.com/office/drawing/2014/main" id="{A8AD36B9-171B-41D3-88BC-121EF3BDD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8525" y="2663825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  <a:latin typeface="Courier" charset="0"/>
              </a:rPr>
              <a:t>Inactive</a:t>
            </a:r>
            <a:endParaRPr lang="en-US" altLang="en-US" sz="2800"/>
          </a:p>
        </p:txBody>
      </p:sp>
      <p:sp>
        <p:nvSpPr>
          <p:cNvPr id="107528" name="AutoShape 16">
            <a:extLst>
              <a:ext uri="{FF2B5EF4-FFF2-40B4-BE49-F238E27FC236}">
                <a16:creationId xmlns:a16="http://schemas.microsoft.com/office/drawing/2014/main" id="{69B774EC-291F-4D82-BA85-C7F41E6EE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813" y="2420938"/>
            <a:ext cx="971550" cy="628650"/>
          </a:xfrm>
          <a:prstGeom prst="roundRect">
            <a:avLst>
              <a:gd name="adj" fmla="val 44949"/>
            </a:avLst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7529" name="Rectangle 17">
            <a:extLst>
              <a:ext uri="{FF2B5EF4-FFF2-40B4-BE49-F238E27FC236}">
                <a16:creationId xmlns:a16="http://schemas.microsoft.com/office/drawing/2014/main" id="{7F2BE67B-41DA-41CF-9D7B-FBA64641C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25" y="2638425"/>
            <a:ext cx="685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  <a:latin typeface="Courier" charset="0"/>
              </a:rPr>
              <a:t>Closed</a:t>
            </a:r>
            <a:endParaRPr lang="en-US" altLang="en-US" sz="2800"/>
          </a:p>
        </p:txBody>
      </p:sp>
      <p:sp>
        <p:nvSpPr>
          <p:cNvPr id="107530" name="AutoShape 18">
            <a:extLst>
              <a:ext uri="{FF2B5EF4-FFF2-40B4-BE49-F238E27FC236}">
                <a16:creationId xmlns:a16="http://schemas.microsoft.com/office/drawing/2014/main" id="{984B7750-7937-4DED-A3CE-DBEFF5548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0" y="2395538"/>
            <a:ext cx="973138" cy="628650"/>
          </a:xfrm>
          <a:prstGeom prst="roundRect">
            <a:avLst>
              <a:gd name="adj" fmla="val 44949"/>
            </a:avLst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7531" name="Rectangle 19">
            <a:extLst>
              <a:ext uri="{FF2B5EF4-FFF2-40B4-BE49-F238E27FC236}">
                <a16:creationId xmlns:a16="http://schemas.microsoft.com/office/drawing/2014/main" id="{7E2373E0-1894-442F-93C6-F2195F05F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2663825"/>
            <a:ext cx="9144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  <a:latin typeface="Courier" charset="0"/>
              </a:rPr>
              <a:t>Archived</a:t>
            </a:r>
            <a:endParaRPr lang="en-US" altLang="en-US" sz="2800"/>
          </a:p>
        </p:txBody>
      </p:sp>
      <p:sp>
        <p:nvSpPr>
          <p:cNvPr id="107532" name="Line 20">
            <a:extLst>
              <a:ext uri="{FF2B5EF4-FFF2-40B4-BE49-F238E27FC236}">
                <a16:creationId xmlns:a16="http://schemas.microsoft.com/office/drawing/2014/main" id="{777842DE-FB40-447D-8147-7A37C0F0061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2751138"/>
            <a:ext cx="312738" cy="3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3" name="Freeform 21">
            <a:extLst>
              <a:ext uri="{FF2B5EF4-FFF2-40B4-BE49-F238E27FC236}">
                <a16:creationId xmlns:a16="http://schemas.microsoft.com/office/drawing/2014/main" id="{6C0FB14E-3E71-4617-9B1B-A0827FFCA7F3}"/>
              </a:ext>
            </a:extLst>
          </p:cNvPr>
          <p:cNvSpPr>
            <a:spLocks/>
          </p:cNvSpPr>
          <p:nvPr/>
        </p:nvSpPr>
        <p:spPr bwMode="auto">
          <a:xfrm>
            <a:off x="3241675" y="2716213"/>
            <a:ext cx="157163" cy="93662"/>
          </a:xfrm>
          <a:custGeom>
            <a:avLst/>
            <a:gdLst>
              <a:gd name="T0" fmla="*/ 0 w 99"/>
              <a:gd name="T1" fmla="*/ 0 h 59"/>
              <a:gd name="T2" fmla="*/ 2147483647 w 99"/>
              <a:gd name="T3" fmla="*/ 2147483647 h 59"/>
              <a:gd name="T4" fmla="*/ 0 w 99"/>
              <a:gd name="T5" fmla="*/ 2147483647 h 59"/>
              <a:gd name="T6" fmla="*/ 0 60000 65536"/>
              <a:gd name="T7" fmla="*/ 0 60000 65536"/>
              <a:gd name="T8" fmla="*/ 0 60000 65536"/>
              <a:gd name="T9" fmla="*/ 0 w 99"/>
              <a:gd name="T10" fmla="*/ 0 h 59"/>
              <a:gd name="T11" fmla="*/ 99 w 99"/>
              <a:gd name="T12" fmla="*/ 59 h 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" h="59">
                <a:moveTo>
                  <a:pt x="0" y="0"/>
                </a:moveTo>
                <a:lnTo>
                  <a:pt x="99" y="30"/>
                </a:lnTo>
                <a:lnTo>
                  <a:pt x="0" y="59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7534" name="Line 22">
            <a:extLst>
              <a:ext uri="{FF2B5EF4-FFF2-40B4-BE49-F238E27FC236}">
                <a16:creationId xmlns:a16="http://schemas.microsoft.com/office/drawing/2014/main" id="{FA00B51E-CBA5-4A99-B3EB-CA8C81DF5A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8525" y="2749550"/>
            <a:ext cx="803275" cy="3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5" name="Line 23">
            <a:extLst>
              <a:ext uri="{FF2B5EF4-FFF2-40B4-BE49-F238E27FC236}">
                <a16:creationId xmlns:a16="http://schemas.microsoft.com/office/drawing/2014/main" id="{B346FF91-1318-4987-8C02-3DF91A4070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1000" y="2703513"/>
            <a:ext cx="173038" cy="158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6" name="Freeform 24">
            <a:extLst>
              <a:ext uri="{FF2B5EF4-FFF2-40B4-BE49-F238E27FC236}">
                <a16:creationId xmlns:a16="http://schemas.microsoft.com/office/drawing/2014/main" id="{4A60710B-3CF7-4A2E-81FD-43FB9F267328}"/>
              </a:ext>
            </a:extLst>
          </p:cNvPr>
          <p:cNvSpPr>
            <a:spLocks/>
          </p:cNvSpPr>
          <p:nvPr/>
        </p:nvSpPr>
        <p:spPr bwMode="auto">
          <a:xfrm>
            <a:off x="5476875" y="2655888"/>
            <a:ext cx="157163" cy="95250"/>
          </a:xfrm>
          <a:custGeom>
            <a:avLst/>
            <a:gdLst>
              <a:gd name="T0" fmla="*/ 0 w 99"/>
              <a:gd name="T1" fmla="*/ 0 h 60"/>
              <a:gd name="T2" fmla="*/ 2147483647 w 99"/>
              <a:gd name="T3" fmla="*/ 2147483647 h 60"/>
              <a:gd name="T4" fmla="*/ 0 w 99"/>
              <a:gd name="T5" fmla="*/ 2147483647 h 60"/>
              <a:gd name="T6" fmla="*/ 0 60000 65536"/>
              <a:gd name="T7" fmla="*/ 0 60000 65536"/>
              <a:gd name="T8" fmla="*/ 0 60000 65536"/>
              <a:gd name="T9" fmla="*/ 0 w 99"/>
              <a:gd name="T10" fmla="*/ 0 h 60"/>
              <a:gd name="T11" fmla="*/ 99 w 99"/>
              <a:gd name="T12" fmla="*/ 60 h 6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" h="60">
                <a:moveTo>
                  <a:pt x="0" y="0"/>
                </a:moveTo>
                <a:lnTo>
                  <a:pt x="99" y="30"/>
                </a:lnTo>
                <a:lnTo>
                  <a:pt x="0" y="6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7537" name="Line 25">
            <a:extLst>
              <a:ext uri="{FF2B5EF4-FFF2-40B4-BE49-F238E27FC236}">
                <a16:creationId xmlns:a16="http://schemas.microsoft.com/office/drawing/2014/main" id="{ECAA2EE1-B1FA-4B70-BE7F-B1A995EF960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1338" y="2701925"/>
            <a:ext cx="1198562" cy="31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38" name="Rectangle 29">
            <a:extLst>
              <a:ext uri="{FF2B5EF4-FFF2-40B4-BE49-F238E27FC236}">
                <a16:creationId xmlns:a16="http://schemas.microsoft.com/office/drawing/2014/main" id="{45032838-DF72-4FD8-9F84-28B49BE92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325" y="2932113"/>
            <a:ext cx="1028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  <a:latin typeface="Courier" charset="0"/>
              </a:rPr>
              <a:t>Incident-</a:t>
            </a:r>
          </a:p>
          <a:p>
            <a:r>
              <a:rPr lang="en-US" altLang="en-US" sz="1500">
                <a:solidFill>
                  <a:srgbClr val="000000"/>
                </a:solidFill>
                <a:latin typeface="Courier" charset="0"/>
              </a:rPr>
              <a:t>Handled</a:t>
            </a:r>
            <a:endParaRPr lang="en-US" altLang="en-US" sz="2800"/>
          </a:p>
        </p:txBody>
      </p:sp>
      <p:sp>
        <p:nvSpPr>
          <p:cNvPr id="107539" name="Rectangle 30">
            <a:extLst>
              <a:ext uri="{FF2B5EF4-FFF2-40B4-BE49-F238E27FC236}">
                <a16:creationId xmlns:a16="http://schemas.microsoft.com/office/drawing/2014/main" id="{62F29112-503F-407C-BA64-0AE5448C8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438" y="2855913"/>
            <a:ext cx="114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  <a:latin typeface="Courier" charset="0"/>
              </a:rPr>
              <a:t>Incident-</a:t>
            </a:r>
          </a:p>
          <a:p>
            <a:r>
              <a:rPr lang="en-US" altLang="en-US" sz="1500">
                <a:solidFill>
                  <a:srgbClr val="000000"/>
                </a:solidFill>
                <a:latin typeface="Courier" charset="0"/>
              </a:rPr>
              <a:t>Documented</a:t>
            </a:r>
            <a:endParaRPr lang="en-US" altLang="en-US" sz="2800"/>
          </a:p>
        </p:txBody>
      </p:sp>
      <p:sp>
        <p:nvSpPr>
          <p:cNvPr id="107540" name="Rectangle 31">
            <a:extLst>
              <a:ext uri="{FF2B5EF4-FFF2-40B4-BE49-F238E27FC236}">
                <a16:creationId xmlns:a16="http://schemas.microsoft.com/office/drawing/2014/main" id="{41EC43A2-93E1-4590-9E32-3C263D8A8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988" y="2919413"/>
            <a:ext cx="1028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500">
                <a:solidFill>
                  <a:srgbClr val="000000"/>
                </a:solidFill>
                <a:latin typeface="Courier" charset="0"/>
              </a:rPr>
              <a:t>Incident-</a:t>
            </a:r>
          </a:p>
          <a:p>
            <a:r>
              <a:rPr lang="en-US" altLang="en-US" sz="1500">
                <a:solidFill>
                  <a:srgbClr val="000000"/>
                </a:solidFill>
                <a:latin typeface="Courier" charset="0"/>
              </a:rPr>
              <a:t>Archived</a:t>
            </a:r>
            <a:endParaRPr lang="en-US" altLang="en-US" sz="2800"/>
          </a:p>
        </p:txBody>
      </p:sp>
      <p:sp>
        <p:nvSpPr>
          <p:cNvPr id="107541" name="Oval 32">
            <a:extLst>
              <a:ext uri="{FF2B5EF4-FFF2-40B4-BE49-F238E27FC236}">
                <a16:creationId xmlns:a16="http://schemas.microsoft.com/office/drawing/2014/main" id="{E03DFD4C-FC71-4034-A0C9-A26A75DF5B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1949450"/>
            <a:ext cx="141287" cy="141288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7542" name="Line 33">
            <a:extLst>
              <a:ext uri="{FF2B5EF4-FFF2-40B4-BE49-F238E27FC236}">
                <a16:creationId xmlns:a16="http://schemas.microsoft.com/office/drawing/2014/main" id="{84712672-B170-4154-A0DE-CB0BC706E40A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25" y="2247900"/>
            <a:ext cx="1588" cy="173038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3" name="Freeform 34">
            <a:extLst>
              <a:ext uri="{FF2B5EF4-FFF2-40B4-BE49-F238E27FC236}">
                <a16:creationId xmlns:a16="http://schemas.microsoft.com/office/drawing/2014/main" id="{20F773A8-8021-4898-8F54-6E5539632129}"/>
              </a:ext>
            </a:extLst>
          </p:cNvPr>
          <p:cNvSpPr>
            <a:spLocks/>
          </p:cNvSpPr>
          <p:nvPr/>
        </p:nvSpPr>
        <p:spPr bwMode="auto">
          <a:xfrm>
            <a:off x="1778000" y="2247900"/>
            <a:ext cx="95250" cy="173038"/>
          </a:xfrm>
          <a:custGeom>
            <a:avLst/>
            <a:gdLst>
              <a:gd name="T0" fmla="*/ 2147483647 w 60"/>
              <a:gd name="T1" fmla="*/ 0 h 109"/>
              <a:gd name="T2" fmla="*/ 2147483647 w 60"/>
              <a:gd name="T3" fmla="*/ 2147483647 h 109"/>
              <a:gd name="T4" fmla="*/ 0 w 60"/>
              <a:gd name="T5" fmla="*/ 0 h 109"/>
              <a:gd name="T6" fmla="*/ 0 60000 65536"/>
              <a:gd name="T7" fmla="*/ 0 60000 65536"/>
              <a:gd name="T8" fmla="*/ 0 60000 65536"/>
              <a:gd name="T9" fmla="*/ 0 w 60"/>
              <a:gd name="T10" fmla="*/ 0 h 109"/>
              <a:gd name="T11" fmla="*/ 60 w 60"/>
              <a:gd name="T12" fmla="*/ 109 h 10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0" h="109">
                <a:moveTo>
                  <a:pt x="60" y="0"/>
                </a:moveTo>
                <a:lnTo>
                  <a:pt x="30" y="109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7544" name="Line 35">
            <a:extLst>
              <a:ext uri="{FF2B5EF4-FFF2-40B4-BE49-F238E27FC236}">
                <a16:creationId xmlns:a16="http://schemas.microsoft.com/office/drawing/2014/main" id="{383C0ED1-FDE2-4AB5-BB46-C81F8EA126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5625" y="2090738"/>
            <a:ext cx="1588" cy="157162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5" name="Oval 36">
            <a:extLst>
              <a:ext uri="{FF2B5EF4-FFF2-40B4-BE49-F238E27FC236}">
                <a16:creationId xmlns:a16="http://schemas.microsoft.com/office/drawing/2014/main" id="{B6BF35CA-CDB7-4453-BC6C-9BA4F0AD0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0075" y="3409950"/>
            <a:ext cx="141288" cy="141288"/>
          </a:xfrm>
          <a:prstGeom prst="ellipse">
            <a:avLst/>
          </a:prstGeom>
          <a:solidFill>
            <a:srgbClr val="000000"/>
          </a:solidFill>
          <a:ln w="1587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7546" name="Line 37">
            <a:extLst>
              <a:ext uri="{FF2B5EF4-FFF2-40B4-BE49-F238E27FC236}">
                <a16:creationId xmlns:a16="http://schemas.microsoft.com/office/drawing/2014/main" id="{B9695736-2C85-4613-BD19-DCBADE5CE6A0}"/>
              </a:ext>
            </a:extLst>
          </p:cNvPr>
          <p:cNvSpPr>
            <a:spLocks noChangeShapeType="1"/>
          </p:cNvSpPr>
          <p:nvPr/>
        </p:nvSpPr>
        <p:spPr bwMode="auto">
          <a:xfrm>
            <a:off x="8297863" y="3205163"/>
            <a:ext cx="1587" cy="173037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7" name="Freeform 38">
            <a:extLst>
              <a:ext uri="{FF2B5EF4-FFF2-40B4-BE49-F238E27FC236}">
                <a16:creationId xmlns:a16="http://schemas.microsoft.com/office/drawing/2014/main" id="{2696163C-4FB8-4E84-81EB-73C216A24A8E}"/>
              </a:ext>
            </a:extLst>
          </p:cNvPr>
          <p:cNvSpPr>
            <a:spLocks/>
          </p:cNvSpPr>
          <p:nvPr/>
        </p:nvSpPr>
        <p:spPr bwMode="auto">
          <a:xfrm>
            <a:off x="8250238" y="3205163"/>
            <a:ext cx="95250" cy="173037"/>
          </a:xfrm>
          <a:custGeom>
            <a:avLst/>
            <a:gdLst>
              <a:gd name="T0" fmla="*/ 2147483647 w 60"/>
              <a:gd name="T1" fmla="*/ 0 h 109"/>
              <a:gd name="T2" fmla="*/ 2147483647 w 60"/>
              <a:gd name="T3" fmla="*/ 2147483647 h 109"/>
              <a:gd name="T4" fmla="*/ 0 w 60"/>
              <a:gd name="T5" fmla="*/ 0 h 109"/>
              <a:gd name="T6" fmla="*/ 0 60000 65536"/>
              <a:gd name="T7" fmla="*/ 0 60000 65536"/>
              <a:gd name="T8" fmla="*/ 0 60000 65536"/>
              <a:gd name="T9" fmla="*/ 0 w 60"/>
              <a:gd name="T10" fmla="*/ 0 h 109"/>
              <a:gd name="T11" fmla="*/ 60 w 60"/>
              <a:gd name="T12" fmla="*/ 109 h 10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0" h="109">
                <a:moveTo>
                  <a:pt x="60" y="0"/>
                </a:moveTo>
                <a:lnTo>
                  <a:pt x="30" y="109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7548" name="Line 39">
            <a:extLst>
              <a:ext uri="{FF2B5EF4-FFF2-40B4-BE49-F238E27FC236}">
                <a16:creationId xmlns:a16="http://schemas.microsoft.com/office/drawing/2014/main" id="{E631AA55-A7C4-4B99-BF92-CCECECB1FF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297863" y="3049588"/>
            <a:ext cx="1587" cy="155575"/>
          </a:xfrm>
          <a:prstGeom prst="lin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7549" name="Oval 40">
            <a:extLst>
              <a:ext uri="{FF2B5EF4-FFF2-40B4-BE49-F238E27FC236}">
                <a16:creationId xmlns:a16="http://schemas.microsoft.com/office/drawing/2014/main" id="{C184B24B-7DF6-4421-9CD4-5E0276C01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2450" y="3362325"/>
            <a:ext cx="250825" cy="236538"/>
          </a:xfrm>
          <a:prstGeom prst="ellipse">
            <a:avLst/>
          </a:prstGeom>
          <a:noFill/>
          <a:ln w="158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en-US" altLang="en-US"/>
          </a:p>
        </p:txBody>
      </p:sp>
      <p:sp>
        <p:nvSpPr>
          <p:cNvPr id="107550" name="Text Box 6">
            <a:extLst>
              <a:ext uri="{FF2B5EF4-FFF2-40B4-BE49-F238E27FC236}">
                <a16:creationId xmlns:a16="http://schemas.microsoft.com/office/drawing/2014/main" id="{50A9B389-C769-4934-8C17-030C69B9F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" y="1096963"/>
            <a:ext cx="89249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2000" dirty="0" err="1">
                <a:solidFill>
                  <a:schemeClr val="tx1"/>
                </a:solidFill>
              </a:rPr>
              <a:t>Statechart</a:t>
            </a:r>
            <a:r>
              <a:rPr lang="en-US" altLang="en-US" sz="2000" dirty="0">
                <a:solidFill>
                  <a:schemeClr val="tx1"/>
                </a:solidFill>
              </a:rPr>
              <a:t> Diagram for Incident</a:t>
            </a:r>
          </a:p>
          <a:p>
            <a:pPr algn="l"/>
            <a:r>
              <a:rPr lang="en-US" altLang="en-US" sz="2000" dirty="0">
                <a:solidFill>
                  <a:srgbClr val="0033CC"/>
                </a:solidFill>
              </a:rPr>
              <a:t>Focus on the set of attributes of a single abstraction (object, system)</a:t>
            </a:r>
          </a:p>
        </p:txBody>
      </p:sp>
      <p:sp>
        <p:nvSpPr>
          <p:cNvPr id="107551" name="Text Box 7">
            <a:extLst>
              <a:ext uri="{FF2B5EF4-FFF2-40B4-BE49-F238E27FC236}">
                <a16:creationId xmlns:a16="http://schemas.microsoft.com/office/drawing/2014/main" id="{4EB23204-E2A5-45F7-AEF2-A1633EF23E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88" y="3700463"/>
            <a:ext cx="75231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l"/>
            <a:r>
              <a:rPr lang="en-US" altLang="en-US" sz="2000">
                <a:solidFill>
                  <a:schemeClr val="tx1"/>
                </a:solidFill>
              </a:rPr>
              <a:t>Activity Diagram for Incident </a:t>
            </a:r>
          </a:p>
          <a:p>
            <a:pPr algn="l"/>
            <a:r>
              <a:rPr lang="en-US" altLang="en-US" sz="2000">
                <a:solidFill>
                  <a:srgbClr val="0033CC"/>
                </a:solidFill>
              </a:rPr>
              <a:t>(Focus on dataflow in a system)</a:t>
            </a:r>
            <a:r>
              <a:rPr lang="en-US" altLang="en-US"/>
              <a:t> </a:t>
            </a:r>
          </a:p>
        </p:txBody>
      </p:sp>
      <p:sp>
        <p:nvSpPr>
          <p:cNvPr id="175114" name="AutoShape 10">
            <a:extLst>
              <a:ext uri="{FF2B5EF4-FFF2-40B4-BE49-F238E27FC236}">
                <a16:creationId xmlns:a16="http://schemas.microsoft.com/office/drawing/2014/main" id="{283382FC-85C1-4DDB-93F6-EE2A324E68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5388" y="5595938"/>
            <a:ext cx="1255712" cy="563562"/>
          </a:xfrm>
          <a:prstGeom prst="wedgeRoundRectCallout">
            <a:avLst>
              <a:gd name="adj1" fmla="val -55690"/>
              <a:gd name="adj2" fmla="val -160421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0"/>
              <a:t>Triggerless</a:t>
            </a:r>
          </a:p>
          <a:p>
            <a:r>
              <a:rPr lang="en-US" altLang="en-US" sz="1800" b="0"/>
              <a:t>transition</a:t>
            </a:r>
            <a:endParaRPr lang="en-US" altLang="en-US" b="0"/>
          </a:p>
        </p:txBody>
      </p:sp>
      <p:sp>
        <p:nvSpPr>
          <p:cNvPr id="175115" name="AutoShape 11">
            <a:extLst>
              <a:ext uri="{FF2B5EF4-FFF2-40B4-BE49-F238E27FC236}">
                <a16:creationId xmlns:a16="http://schemas.microsoft.com/office/drawing/2014/main" id="{8C527FEF-F284-443C-8A63-72AA4B105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7538" y="5672138"/>
            <a:ext cx="2747962" cy="741362"/>
          </a:xfrm>
          <a:prstGeom prst="wedgeRoundRectCallout">
            <a:avLst>
              <a:gd name="adj1" fmla="val 60398"/>
              <a:gd name="adj2" fmla="val -92829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0"/>
              <a:t>Completion of activity </a:t>
            </a:r>
          </a:p>
          <a:p>
            <a:r>
              <a:rPr lang="en-US" altLang="en-US" sz="1800" b="0"/>
              <a:t>causes state transition</a:t>
            </a:r>
            <a:endParaRPr lang="en-US" altLang="en-US" b="0"/>
          </a:p>
        </p:txBody>
      </p:sp>
      <p:sp>
        <p:nvSpPr>
          <p:cNvPr id="175145" name="AutoShape 41">
            <a:extLst>
              <a:ext uri="{FF2B5EF4-FFF2-40B4-BE49-F238E27FC236}">
                <a16:creationId xmlns:a16="http://schemas.microsoft.com/office/drawing/2014/main" id="{0B8FE91F-6E71-447F-B230-F1B19503F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0" y="1739900"/>
            <a:ext cx="1663700" cy="495300"/>
          </a:xfrm>
          <a:prstGeom prst="wedgeRoundRectCallout">
            <a:avLst>
              <a:gd name="adj1" fmla="val -117556"/>
              <a:gd name="adj2" fmla="val 13621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37931725" indent="-37474525"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FF0000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en-US" sz="1800" b="0"/>
              <a:t>Event causes</a:t>
            </a:r>
          </a:p>
          <a:p>
            <a:r>
              <a:rPr lang="en-US" altLang="en-US" sz="1800" b="0"/>
              <a:t>state transition</a:t>
            </a:r>
            <a:endParaRPr lang="en-US" altLang="en-US" b="0"/>
          </a:p>
        </p:txBody>
      </p:sp>
      <p:sp>
        <p:nvSpPr>
          <p:cNvPr id="107555" name="Line 42">
            <a:extLst>
              <a:ext uri="{FF2B5EF4-FFF2-40B4-BE49-F238E27FC236}">
                <a16:creationId xmlns:a16="http://schemas.microsoft.com/office/drawing/2014/main" id="{ECA3B40F-C0A1-4C0B-9487-5AB757E58F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8600" y="2730500"/>
            <a:ext cx="1346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6AEC36C-EFB9-42B7-8D9A-174EE9AE3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46</a:t>
            </a:fld>
            <a:endParaRPr lang="nl-NL" alt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5114" grpId="0" animBg="1" autoUpdateAnimBg="0"/>
      <p:bldP spid="175115" grpId="0" animBg="1" autoUpdateAnimBg="0"/>
      <p:bldP spid="175145" grpId="0" animBg="1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D50FC675-B7BA-44F4-BFF5-463391771A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536" y="-99392"/>
            <a:ext cx="7772400" cy="1143000"/>
          </a:xfrm>
        </p:spPr>
        <p:txBody>
          <a:bodyPr/>
          <a:lstStyle/>
          <a:p>
            <a:r>
              <a:rPr lang="en-US" altLang="en-US" dirty="0"/>
              <a:t>UML Summary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E9E6E271-EC62-476D-98CA-CD3A0E350A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55600" y="1263650"/>
            <a:ext cx="8255000" cy="4800600"/>
          </a:xfrm>
        </p:spPr>
        <p:txBody>
          <a:bodyPr/>
          <a:lstStyle/>
          <a:p>
            <a:r>
              <a:rPr lang="en-US" altLang="en-US"/>
              <a:t>UML provides a wide variety of notations for representing many aspects of software development</a:t>
            </a:r>
          </a:p>
          <a:p>
            <a:pPr lvl="1"/>
            <a:r>
              <a:rPr lang="en-US" altLang="en-US"/>
              <a:t>Powerful, but complex</a:t>
            </a:r>
          </a:p>
          <a:p>
            <a:r>
              <a:rPr lang="en-US" altLang="en-US"/>
              <a:t>UML is a programming language</a:t>
            </a:r>
          </a:p>
          <a:p>
            <a:pPr lvl="1"/>
            <a:r>
              <a:rPr lang="en-US" altLang="en-US"/>
              <a:t>Can be misused to generate unreadable models</a:t>
            </a:r>
          </a:p>
          <a:p>
            <a:pPr lvl="1"/>
            <a:r>
              <a:rPr lang="en-US" altLang="en-US"/>
              <a:t>Can be misunderstood when using too many exotic features</a:t>
            </a:r>
          </a:p>
          <a:p>
            <a:r>
              <a:rPr lang="en-US" altLang="en-US"/>
              <a:t>We concentrated on a few notations:</a:t>
            </a:r>
          </a:p>
          <a:p>
            <a:pPr lvl="1"/>
            <a:r>
              <a:rPr lang="en-US" altLang="en-US"/>
              <a:t>Functional model: Use case diagram</a:t>
            </a:r>
          </a:p>
          <a:p>
            <a:pPr lvl="1"/>
            <a:r>
              <a:rPr lang="en-US" altLang="en-US"/>
              <a:t>Object model: class diagram</a:t>
            </a:r>
          </a:p>
          <a:p>
            <a:pPr lvl="1"/>
            <a:r>
              <a:rPr lang="en-US" altLang="en-US"/>
              <a:t>Dynamic model: sequence diagrams, statechart and activity diagrams.</a:t>
            </a:r>
          </a:p>
          <a:p>
            <a:endParaRPr lang="en-US" altLang="en-US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DAC01DB-A132-4A1F-BAAB-F58B57990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4A1D75A-2523-4333-9A14-C9FAEF3536EB}" type="slidenum">
              <a:rPr lang="nl-NL" altLang="fr-FR" smtClean="0"/>
              <a:pPr>
                <a:defRPr/>
              </a:pPr>
              <a:t>47</a:t>
            </a:fld>
            <a:endParaRPr lang="nl-NL" altLang="fr-FR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7535</TotalTime>
  <Words>2789</Words>
  <Application>Microsoft Office PowerPoint</Application>
  <PresentationFormat>Affichage à l'écran (4:3)</PresentationFormat>
  <Paragraphs>749</Paragraphs>
  <Slides>47</Slides>
  <Notes>44</Notes>
  <HiddenSlides>0</HiddenSlides>
  <MMClips>0</MMClips>
  <ScaleCrop>false</ScaleCrop>
  <HeadingPairs>
    <vt:vector size="8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2</vt:i4>
      </vt:variant>
      <vt:variant>
        <vt:lpstr>Titres des diapositives</vt:lpstr>
      </vt:variant>
      <vt:variant>
        <vt:i4>47</vt:i4>
      </vt:variant>
    </vt:vector>
  </HeadingPairs>
  <TitlesOfParts>
    <vt:vector size="64" baseType="lpstr">
      <vt:lpstr>Arial</vt:lpstr>
      <vt:lpstr>Century Gothic</vt:lpstr>
      <vt:lpstr>Courier</vt:lpstr>
      <vt:lpstr>Franklin Gothic Book</vt:lpstr>
      <vt:lpstr>Helvetica</vt:lpstr>
      <vt:lpstr>NewsGothicBQ</vt:lpstr>
      <vt:lpstr>Palatino</vt:lpstr>
      <vt:lpstr>Perpetua</vt:lpstr>
      <vt:lpstr>Times</vt:lpstr>
      <vt:lpstr>Times New Roman</vt:lpstr>
      <vt:lpstr>Verdana</vt:lpstr>
      <vt:lpstr>Wingdings</vt:lpstr>
      <vt:lpstr>Wingdings 2</vt:lpstr>
      <vt:lpstr>ヒラギノ角ゴ Pro W3</vt:lpstr>
      <vt:lpstr>Capitaux</vt:lpstr>
      <vt:lpstr>Clip</vt:lpstr>
      <vt:lpstr>MS_ClipArt_Gallery</vt:lpstr>
      <vt:lpstr>Présentation PowerPoint</vt:lpstr>
      <vt:lpstr>Outline of this Class</vt:lpstr>
      <vt:lpstr>UML</vt:lpstr>
      <vt:lpstr>UML Basic Notation: First Summary</vt:lpstr>
      <vt:lpstr>UML First Pass (covered in Last Lecture)</vt:lpstr>
      <vt:lpstr>Présentation PowerPoint</vt:lpstr>
      <vt:lpstr>UML Use Case Diagrams</vt:lpstr>
      <vt:lpstr>Actors</vt:lpstr>
      <vt:lpstr>Use Case</vt:lpstr>
      <vt:lpstr>Textual Use Case  Description Example</vt:lpstr>
      <vt:lpstr>Uses Cases can be related</vt:lpstr>
      <vt:lpstr>The &lt;&lt;extends&gt;&gt; Relationship</vt:lpstr>
      <vt:lpstr>The &lt;&lt;includes&gt;&gt; Relationship</vt:lpstr>
      <vt:lpstr>Use Case Models can be packaged</vt:lpstr>
      <vt:lpstr>Historical Remark: UML 1 used packages</vt:lpstr>
      <vt:lpstr>Class Diagrams</vt:lpstr>
      <vt:lpstr>Classes</vt:lpstr>
      <vt:lpstr>Actor vs Class vs Object</vt:lpstr>
      <vt:lpstr>Instances</vt:lpstr>
      <vt:lpstr>Associations</vt:lpstr>
      <vt:lpstr>1-to-1 and 1-to-many Associations</vt:lpstr>
      <vt:lpstr>Présentation PowerPoint</vt:lpstr>
      <vt:lpstr>From Problem Statement To  Object Model</vt:lpstr>
      <vt:lpstr>From Problem Statement to Code</vt:lpstr>
      <vt:lpstr>Qualifiers</vt:lpstr>
      <vt:lpstr>Qualification: Another Example</vt:lpstr>
      <vt:lpstr>Aggregation</vt:lpstr>
      <vt:lpstr>Inheritance</vt:lpstr>
      <vt:lpstr>Packages </vt:lpstr>
      <vt:lpstr>Object Modeling in Practice</vt:lpstr>
      <vt:lpstr>Object Modeling in Practice:  Brainstorming </vt:lpstr>
      <vt:lpstr>Object Modeling in Practice: More classes</vt:lpstr>
      <vt:lpstr>Object Modeling in Practice: Associations</vt:lpstr>
      <vt:lpstr>Practice Object Modeling: Find Taxonomies</vt:lpstr>
      <vt:lpstr>Practice Object Modeling: Simplify, Organize</vt:lpstr>
      <vt:lpstr>Practice Object Modeling: Simplify, Organize</vt:lpstr>
      <vt:lpstr>Sequence Diagrams</vt:lpstr>
      <vt:lpstr>Sequence Diagrams can also model the Flow of Data </vt:lpstr>
      <vt:lpstr>Sequence Diagrams: Iteration &amp; Condition</vt:lpstr>
      <vt:lpstr>Creation and destruction</vt:lpstr>
      <vt:lpstr>Sequence Diagram Properties</vt:lpstr>
      <vt:lpstr>Outline of this Class</vt:lpstr>
      <vt:lpstr>UML Activity Diagrams</vt:lpstr>
      <vt:lpstr>Activity Diagrams: Grouping of Activities</vt:lpstr>
      <vt:lpstr>State Chart Diagrams vs Activity Diagrams</vt:lpstr>
      <vt:lpstr>Statechart Diagram vs Activity Diagram </vt:lpstr>
      <vt:lpstr>UML Summary</vt:lpstr>
    </vt:vector>
  </TitlesOfParts>
  <Company>Vrije Universiteit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Hans van Vliet</dc:creator>
  <cp:lastModifiedBy>User</cp:lastModifiedBy>
  <cp:revision>161</cp:revision>
  <dcterms:created xsi:type="dcterms:W3CDTF">2005-08-23T09:20:25Z</dcterms:created>
  <dcterms:modified xsi:type="dcterms:W3CDTF">2020-01-31T14:55:03Z</dcterms:modified>
</cp:coreProperties>
</file>