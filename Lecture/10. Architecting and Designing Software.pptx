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8"/>
  </p:notesMasterIdLst>
  <p:handoutMasterIdLst>
    <p:handoutMasterId r:id="rId99"/>
  </p:handoutMasterIdLst>
  <p:sldIdLst>
    <p:sldId id="624" r:id="rId2"/>
    <p:sldId id="625" r:id="rId3"/>
    <p:sldId id="626" r:id="rId4"/>
    <p:sldId id="627" r:id="rId5"/>
    <p:sldId id="628" r:id="rId6"/>
    <p:sldId id="629" r:id="rId7"/>
    <p:sldId id="630" r:id="rId8"/>
    <p:sldId id="631" r:id="rId9"/>
    <p:sldId id="632" r:id="rId10"/>
    <p:sldId id="633" r:id="rId11"/>
    <p:sldId id="634" r:id="rId12"/>
    <p:sldId id="635" r:id="rId13"/>
    <p:sldId id="636" r:id="rId14"/>
    <p:sldId id="637" r:id="rId15"/>
    <p:sldId id="638" r:id="rId16"/>
    <p:sldId id="639" r:id="rId17"/>
    <p:sldId id="640" r:id="rId18"/>
    <p:sldId id="641" r:id="rId19"/>
    <p:sldId id="642" r:id="rId20"/>
    <p:sldId id="643" r:id="rId21"/>
    <p:sldId id="644" r:id="rId22"/>
    <p:sldId id="645" r:id="rId23"/>
    <p:sldId id="646" r:id="rId24"/>
    <p:sldId id="647" r:id="rId25"/>
    <p:sldId id="648" r:id="rId26"/>
    <p:sldId id="649" r:id="rId27"/>
    <p:sldId id="650" r:id="rId28"/>
    <p:sldId id="651" r:id="rId29"/>
    <p:sldId id="652" r:id="rId30"/>
    <p:sldId id="653" r:id="rId31"/>
    <p:sldId id="654" r:id="rId32"/>
    <p:sldId id="655" r:id="rId33"/>
    <p:sldId id="656" r:id="rId34"/>
    <p:sldId id="657" r:id="rId35"/>
    <p:sldId id="658" r:id="rId36"/>
    <p:sldId id="659" r:id="rId37"/>
    <p:sldId id="660" r:id="rId38"/>
    <p:sldId id="661" r:id="rId39"/>
    <p:sldId id="662" r:id="rId40"/>
    <p:sldId id="663" r:id="rId41"/>
    <p:sldId id="664" r:id="rId42"/>
    <p:sldId id="665" r:id="rId43"/>
    <p:sldId id="666" r:id="rId44"/>
    <p:sldId id="667" r:id="rId45"/>
    <p:sldId id="668" r:id="rId46"/>
    <p:sldId id="669" r:id="rId47"/>
    <p:sldId id="670" r:id="rId48"/>
    <p:sldId id="671" r:id="rId49"/>
    <p:sldId id="672" r:id="rId50"/>
    <p:sldId id="673" r:id="rId51"/>
    <p:sldId id="674" r:id="rId52"/>
    <p:sldId id="675" r:id="rId53"/>
    <p:sldId id="676" r:id="rId54"/>
    <p:sldId id="677" r:id="rId55"/>
    <p:sldId id="678" r:id="rId56"/>
    <p:sldId id="679" r:id="rId57"/>
    <p:sldId id="680" r:id="rId58"/>
    <p:sldId id="681" r:id="rId59"/>
    <p:sldId id="682" r:id="rId60"/>
    <p:sldId id="683" r:id="rId61"/>
    <p:sldId id="684" r:id="rId62"/>
    <p:sldId id="685" r:id="rId63"/>
    <p:sldId id="686" r:id="rId64"/>
    <p:sldId id="687" r:id="rId65"/>
    <p:sldId id="688" r:id="rId66"/>
    <p:sldId id="689" r:id="rId67"/>
    <p:sldId id="690" r:id="rId68"/>
    <p:sldId id="691" r:id="rId69"/>
    <p:sldId id="692" r:id="rId70"/>
    <p:sldId id="693" r:id="rId71"/>
    <p:sldId id="694" r:id="rId72"/>
    <p:sldId id="695" r:id="rId73"/>
    <p:sldId id="696" r:id="rId74"/>
    <p:sldId id="697" r:id="rId75"/>
    <p:sldId id="698" r:id="rId76"/>
    <p:sldId id="699" r:id="rId77"/>
    <p:sldId id="700" r:id="rId78"/>
    <p:sldId id="701" r:id="rId79"/>
    <p:sldId id="702" r:id="rId80"/>
    <p:sldId id="703" r:id="rId81"/>
    <p:sldId id="704" r:id="rId82"/>
    <p:sldId id="705" r:id="rId83"/>
    <p:sldId id="706" r:id="rId84"/>
    <p:sldId id="707" r:id="rId85"/>
    <p:sldId id="708" r:id="rId86"/>
    <p:sldId id="709" r:id="rId87"/>
    <p:sldId id="710" r:id="rId88"/>
    <p:sldId id="711" r:id="rId89"/>
    <p:sldId id="712" r:id="rId90"/>
    <p:sldId id="713" r:id="rId91"/>
    <p:sldId id="714" r:id="rId92"/>
    <p:sldId id="715" r:id="rId93"/>
    <p:sldId id="716" r:id="rId94"/>
    <p:sldId id="717" r:id="rId95"/>
    <p:sldId id="718" r:id="rId96"/>
    <p:sldId id="719" r:id="rId97"/>
  </p:sldIdLst>
  <p:sldSz cx="9144000" cy="6858000" type="screen4x3"/>
  <p:notesSz cx="7315200" cy="9601200"/>
  <p:defaultTextStyle>
    <a:defPPr>
      <a:defRPr lang="nl-NL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8D15"/>
    <a:srgbClr val="EDB34B"/>
    <a:srgbClr val="F8ECCC"/>
    <a:srgbClr val="F5E3B1"/>
    <a:srgbClr val="F3DEA1"/>
    <a:srgbClr val="3399FF"/>
    <a:srgbClr val="40B4E8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489" autoAdjust="0"/>
  </p:normalViewPr>
  <p:slideViewPr>
    <p:cSldViewPr>
      <p:cViewPr varScale="1">
        <p:scale>
          <a:sx n="96" d="100"/>
          <a:sy n="96" d="100"/>
        </p:scale>
        <p:origin x="201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452"/>
    </p:cViewPr>
  </p:sorterViewPr>
  <p:notesViewPr>
    <p:cSldViewPr>
      <p:cViewPr varScale="1">
        <p:scale>
          <a:sx n="59" d="100"/>
          <a:sy n="59" d="100"/>
        </p:scale>
        <p:origin x="-1122" y="-78"/>
      </p:cViewPr>
      <p:guideLst>
        <p:guide orient="horz" pos="3024"/>
        <p:guide pos="230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handoutMaster" Target="handoutMasters/handoutMaster1.xml"/><Relationship Id="rId10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buClrTx/>
              <a:buFontTx/>
              <a:buNone/>
              <a:defRPr sz="1300" b="1">
                <a:latin typeface="NewsGothicBQ" pitchFamily="34" charset="0"/>
              </a:defRPr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buClrTx/>
              <a:buFontTx/>
              <a:buNone/>
              <a:defRPr sz="1300" b="1">
                <a:latin typeface="NewsGothicBQ" pitchFamily="34" charset="0"/>
              </a:defRPr>
            </a:lvl1pPr>
          </a:lstStyle>
          <a:p>
            <a:pPr>
              <a:defRPr/>
            </a:pPr>
            <a:fld id="{AAAB952B-4AA2-41DB-8720-802B8DC2A23A}" type="datetime1">
              <a:rPr lang="en-GB" altLang="fr-FR"/>
              <a:pPr>
                <a:defRPr/>
              </a:pPr>
              <a:t>11/03/2020</a:t>
            </a:fld>
            <a:endParaRPr lang="nl-NL" altLang="fr-F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buClrTx/>
              <a:buFontTx/>
              <a:buNone/>
              <a:defRPr sz="1300" b="1">
                <a:latin typeface="NewsGothicBQ" pitchFamily="34" charset="0"/>
              </a:defRPr>
            </a:lvl1pPr>
          </a:lstStyle>
          <a:p>
            <a:pPr>
              <a:defRPr/>
            </a:pPr>
            <a:r>
              <a:rPr lang="nl-NL" altLang="fr-FR"/>
              <a:t>© SE, Introduction, Hans van Vliet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buClrTx/>
              <a:buFontTx/>
              <a:buNone/>
              <a:defRPr sz="1300" b="1">
                <a:latin typeface="NewsGothicBQ" pitchFamily="34" charset="0"/>
              </a:defRPr>
            </a:lvl1pPr>
          </a:lstStyle>
          <a:p>
            <a:pPr>
              <a:defRPr/>
            </a:pPr>
            <a:fld id="{CD048CC6-69A8-4D18-A4CC-FC240C3E9561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1300" b="1">
                <a:solidFill>
                  <a:srgbClr val="000066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1300" b="1">
                <a:solidFill>
                  <a:srgbClr val="000066"/>
                </a:solidFill>
                <a:latin typeface="Arial" charset="0"/>
              </a:defRPr>
            </a:lvl1pPr>
          </a:lstStyle>
          <a:p>
            <a:pPr>
              <a:defRPr/>
            </a:pPr>
            <a:fld id="{4EA6A4B5-F10A-4FF3-962E-DD536875A402}" type="datetime1">
              <a:rPr lang="en-GB" altLang="fr-FR"/>
              <a:pPr>
                <a:defRPr/>
              </a:pPr>
              <a:t>11/03/2020</a:t>
            </a:fld>
            <a:endParaRPr lang="nl-NL" altLang="fr-FR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fr-FR" noProof="0"/>
              <a:t>Klik om de opmaakprofielen van de modeltekst te bewerken</a:t>
            </a:r>
          </a:p>
          <a:p>
            <a:pPr lvl="1"/>
            <a:r>
              <a:rPr lang="nl-NL" altLang="fr-FR" noProof="0"/>
              <a:t>Tweede niveau</a:t>
            </a:r>
          </a:p>
          <a:p>
            <a:pPr lvl="2"/>
            <a:r>
              <a:rPr lang="nl-NL" altLang="fr-FR" noProof="0"/>
              <a:t>Derde niveau</a:t>
            </a:r>
          </a:p>
          <a:p>
            <a:pPr lvl="3"/>
            <a:r>
              <a:rPr lang="nl-NL" altLang="fr-FR" noProof="0"/>
              <a:t>Vierde niveau</a:t>
            </a:r>
          </a:p>
          <a:p>
            <a:pPr lvl="4"/>
            <a:r>
              <a:rPr lang="nl-NL" altLang="fr-FR" noProof="0"/>
              <a:t>Vijfde niveau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1300" b="1">
                <a:solidFill>
                  <a:srgbClr val="000066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nl-NL" altLang="fr-FR"/>
              <a:t>© SE, Introduction, Hans van Vliet</a:t>
            </a:r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300" b="1">
                <a:solidFill>
                  <a:srgbClr val="000066"/>
                </a:solidFill>
              </a:defRPr>
            </a:lvl1pPr>
          </a:lstStyle>
          <a:p>
            <a:pPr>
              <a:defRPr/>
            </a:pPr>
            <a:fld id="{5609351D-5557-4953-B5A1-FEF9540C8C91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oftware_engineering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nl-NL" altLang="fr-FR" sz="1300">
                <a:solidFill>
                  <a:srgbClr val="000066"/>
                </a:solidFill>
                <a:latin typeface="Arial" panose="020B0604020202020204" pitchFamily="34" charset="0"/>
              </a:rPr>
              <a:t>© SE, Introduction, Hans van Vliet</a:t>
            </a:r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fld id="{C3E6677F-9968-40A1-8335-C21E9E736394}" type="slidenum">
              <a:rPr lang="nl-NL" altLang="fr-FR" sz="1300" smtClean="0">
                <a:solidFill>
                  <a:srgbClr val="000066"/>
                </a:solidFill>
                <a:latin typeface="Arial" panose="020B0604020202020204" pitchFamily="34" charset="0"/>
              </a:rPr>
              <a:pPr>
                <a:spcBef>
                  <a:spcPct val="20000"/>
                </a:spcBef>
              </a:pPr>
              <a:t>1</a:t>
            </a:fld>
            <a:endParaRPr lang="nl-NL" altLang="fr-FR" sz="130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19138"/>
            <a:ext cx="4800600" cy="3600450"/>
          </a:xfrm>
          <a:ln/>
        </p:spPr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6313" y="4560888"/>
            <a:ext cx="5362575" cy="4321175"/>
          </a:xfrm>
          <a:noFill/>
        </p:spPr>
        <p:txBody>
          <a:bodyPr/>
          <a:lstStyle/>
          <a:p>
            <a:pPr eaLnBrk="1" hangingPunct="1"/>
            <a:endParaRPr lang="en-US" altLang="fr-FR" sz="16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 In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3" tooltip="Software engineer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software engineering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usability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 is the degree to which a software can be used by specified consumers to achieve quantified objectives with effectiveness, efficiency, and satisfaction in a quantified context of use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  <a:p>
            <a:pPr fontAlgn="base"/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Efficiency —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Efficiency measures the amount of each engineer’s “productive” code, or code that provides business value. An engineer creating a whole new solution or implementing sweeping code changes will likely deal with lots of trial and error with a low efficiency rate. An engineer who is making a lot of small changes with a low churn rate, however, is likely to have a higher efficiency rate.</a:t>
            </a:r>
          </a:p>
          <a:p>
            <a:br>
              <a:rPr lang="en-US" dirty="0"/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nl-NL" altLang="fr-FR"/>
              <a:t>© SE, Introduction, Hans van Vliet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609351D-5557-4953-B5A1-FEF9540C8C91}" type="slidenum">
              <a:rPr lang="nl-NL" altLang="fr-FR" smtClean="0"/>
              <a:pPr>
                <a:defRPr/>
              </a:pPr>
              <a:t>13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6315969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nl-NL" altLang="fr-FR"/>
              <a:t>© SE, Introduction, Hans van Vliet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609351D-5557-4953-B5A1-FEF9540C8C91}" type="slidenum">
              <a:rPr lang="nl-NL" altLang="fr-FR" smtClean="0"/>
              <a:pPr>
                <a:defRPr/>
              </a:pPr>
              <a:t>29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512930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 useBgFill="1">
        <p:nvSpPr>
          <p:cNvPr id="5" name="Rectangle à coins arrondis 4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1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AEDEC-7D88-495B-99BC-94D62728D393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18864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6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91078-A665-44A8-AEC5-AB21379DB9B9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203375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 useBgFill="1">
        <p:nvSpPr>
          <p:cNvPr id="5" name="Rectangle à coins arrondis 4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9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134A43-76E6-4F43-8196-B5FD92ED3310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511700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7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23EFD9-29A2-4998-A685-6FB698B90E94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434488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9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13ADED-0286-43AD-9919-52A3D6F1101D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66351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5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86E62C-9CD2-477B-B472-E1C0D19F9100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549523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4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5C6410-4567-429B-AFB5-45A4FF22535A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896237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 useBgFill="1">
        <p:nvSpPr>
          <p:cNvPr id="6" name="Rectangle à coins arrondis 5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9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BF06B3-025A-4241-8361-464F71108C73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043289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en-US" noProof="0" dirty="0"/>
          </a:p>
        </p:txBody>
      </p:sp>
      <p:sp>
        <p:nvSpPr>
          <p:cNvPr id="8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10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83FB21-48A4-4723-868A-FC62BC488901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281176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6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15707-373A-496F-B2E8-E757F7E0EFBB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095459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6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1421D-6BBA-4764-8561-5FA0F2112A40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4212164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 useBgFill="1">
        <p:nvSpPr>
          <p:cNvPr id="8" name="Rectangle à coins arrondis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1028" name="Espace réservé du titre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 style du titre</a:t>
            </a:r>
            <a:endParaRPr lang="en-US" altLang="fr-FR"/>
          </a:p>
        </p:txBody>
      </p:sp>
      <p:sp>
        <p:nvSpPr>
          <p:cNvPr id="1029" name="Espace réservé du texte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  <a:endParaRPr lang="en-US" altLang="fr-FR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pPr>
              <a:defRPr/>
            </a:pPr>
            <a:fld id="{2C3C389A-3834-4B73-842F-2FB304E1A7B3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1" r:id="rId2"/>
    <p:sldLayoutId id="2147483759" r:id="rId3"/>
    <p:sldLayoutId id="2147483752" r:id="rId4"/>
    <p:sldLayoutId id="2147483753" r:id="rId5"/>
    <p:sldLayoutId id="2147483754" r:id="rId6"/>
    <p:sldLayoutId id="2147483755" r:id="rId7"/>
    <p:sldLayoutId id="2147483760" r:id="rId8"/>
    <p:sldLayoutId id="2147483761" r:id="rId9"/>
    <p:sldLayoutId id="2147483756" r:id="rId10"/>
    <p:sldLayoutId id="2147483757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w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5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6525" y="3886200"/>
            <a:ext cx="6400800" cy="1752600"/>
          </a:xfrm>
        </p:spPr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altLang="fr-FR" dirty="0">
                <a:solidFill>
                  <a:schemeClr val="tx1"/>
                </a:solidFill>
              </a:rPr>
              <a:t>Dr. Mohammed Ayoub Alaoui Mhamdi</a:t>
            </a:r>
          </a:p>
          <a:p>
            <a:pPr eaLnBrk="1" fontAlgn="auto" hangingPunct="1">
              <a:spcBef>
                <a:spcPts val="580"/>
              </a:spcBef>
              <a:spcAft>
                <a:spcPts val="0"/>
              </a:spcAft>
              <a:defRPr/>
            </a:pPr>
            <a:r>
              <a:rPr lang="en-US" altLang="fr-FR" dirty="0">
                <a:solidFill>
                  <a:schemeClr val="tx1"/>
                </a:solidFill>
              </a:rPr>
              <a:t>Bishop's University</a:t>
            </a:r>
          </a:p>
          <a:p>
            <a:pPr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altLang="fr-FR" dirty="0" err="1">
                <a:solidFill>
                  <a:schemeClr val="tx1"/>
                </a:solidFill>
              </a:rPr>
              <a:t>Sherbrooke</a:t>
            </a:r>
            <a:r>
              <a:rPr lang="en-US" altLang="fr-FR" dirty="0">
                <a:solidFill>
                  <a:schemeClr val="tx1"/>
                </a:solidFill>
              </a:rPr>
              <a:t>, Qc, Canada</a:t>
            </a:r>
          </a:p>
          <a:p>
            <a:pPr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altLang="fr-FR" dirty="0">
                <a:solidFill>
                  <a:schemeClr val="tx1"/>
                </a:solidFill>
              </a:rPr>
              <a:t>malaoui@ubishops.ca</a:t>
            </a:r>
          </a:p>
        </p:txBody>
      </p:sp>
      <p:sp>
        <p:nvSpPr>
          <p:cNvPr id="8195" name="ZoneTexte 1"/>
          <p:cNvSpPr txBox="1">
            <a:spLocks noChangeArrowheads="1"/>
          </p:cNvSpPr>
          <p:nvPr/>
        </p:nvSpPr>
        <p:spPr bwMode="auto">
          <a:xfrm>
            <a:off x="484187" y="1653307"/>
            <a:ext cx="8245475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SzTx/>
              <a:buFont typeface="Wingdings" panose="05000000000000000000" pitchFamily="2" charset="2"/>
              <a:buNone/>
            </a:pPr>
            <a:r>
              <a:rPr lang="en-US" altLang="fr-FR" sz="4000" dirty="0">
                <a:solidFill>
                  <a:schemeClr val="bg1"/>
                </a:solidFill>
                <a:latin typeface="Arial" panose="020B0604020202020204" pitchFamily="34" charset="0"/>
              </a:rPr>
              <a:t>Architecting and Designing Software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7686134-6F0D-42E6-977E-357F01B96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33375"/>
            <a:ext cx="2160588" cy="90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ZoneTexte 1">
            <a:extLst>
              <a:ext uri="{FF2B5EF4-FFF2-40B4-BE49-F238E27FC236}">
                <a16:creationId xmlns:a16="http://schemas.microsoft.com/office/drawing/2014/main" id="{8867999D-0B81-4A49-841E-2218E02E1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476672"/>
            <a:ext cx="82454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SzTx/>
              <a:buFont typeface="Wingdings" panose="05000000000000000000" pitchFamily="2" charset="2"/>
              <a:buNone/>
            </a:pPr>
            <a:r>
              <a:rPr lang="fr-CA" altLang="fr-FR" sz="2400" dirty="0">
                <a:latin typeface="Arial" panose="020B0604020202020204" pitchFamily="34" charset="0"/>
              </a:rPr>
              <a:t>CS 410 / CS560 :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The Process of Design</a:t>
            </a:r>
            <a:r>
              <a:rPr lang="en-US" altLang="en-US" dirty="0"/>
              <a:t> </a:t>
            </a:r>
          </a:p>
        </p:txBody>
      </p:sp>
      <p:sp>
        <p:nvSpPr>
          <p:cNvPr id="397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3200" dirty="0">
                <a:ea typeface="Times" panose="02020603050405020304" pitchFamily="18" charset="0"/>
                <a:cs typeface="Times" panose="02020603050405020304" pitchFamily="18" charset="0"/>
              </a:rPr>
              <a:t>Definition: </a:t>
            </a:r>
          </a:p>
          <a:p>
            <a:pPr lvl="1"/>
            <a:r>
              <a:rPr lang="en-GB" altLang="en-US" sz="3200" i="1" dirty="0">
                <a:ea typeface="Times" panose="02020603050405020304" pitchFamily="18" charset="0"/>
                <a:cs typeface="Times" panose="02020603050405020304" pitchFamily="18" charset="0"/>
              </a:rPr>
              <a:t>Design</a:t>
            </a:r>
            <a:r>
              <a:rPr lang="en-GB" altLang="en-US" sz="3200" dirty="0">
                <a:ea typeface="Times" panose="02020603050405020304" pitchFamily="18" charset="0"/>
                <a:cs typeface="Times" panose="02020603050405020304" pitchFamily="18" charset="0"/>
              </a:rPr>
              <a:t> is a problem-solving process whose objective is to find and describe a way:</a:t>
            </a:r>
          </a:p>
          <a:p>
            <a:pPr lvl="2"/>
            <a:r>
              <a:rPr lang="en-GB" altLang="en-US" sz="2800" dirty="0">
                <a:ea typeface="Times" panose="02020603050405020304" pitchFamily="18" charset="0"/>
                <a:cs typeface="Times" panose="02020603050405020304" pitchFamily="18" charset="0"/>
              </a:rPr>
              <a:t>To implement the system’s </a:t>
            </a:r>
            <a:r>
              <a:rPr lang="en-GB" altLang="en-US" sz="2800" i="1" dirty="0">
                <a:ea typeface="Times" panose="02020603050405020304" pitchFamily="18" charset="0"/>
                <a:cs typeface="Times" panose="02020603050405020304" pitchFamily="18" charset="0"/>
              </a:rPr>
              <a:t>functional requirements</a:t>
            </a:r>
            <a:r>
              <a:rPr lang="en-GB" altLang="en-US" sz="2800" dirty="0">
                <a:ea typeface="Times" panose="02020603050405020304" pitchFamily="18" charset="0"/>
                <a:cs typeface="Times" panose="02020603050405020304" pitchFamily="18" charset="0"/>
              </a:rPr>
              <a:t>... </a:t>
            </a:r>
          </a:p>
          <a:p>
            <a:pPr lvl="2"/>
            <a:r>
              <a:rPr lang="en-GB" altLang="en-US" sz="2800" dirty="0">
                <a:ea typeface="Times" panose="02020603050405020304" pitchFamily="18" charset="0"/>
                <a:cs typeface="Times" panose="02020603050405020304" pitchFamily="18" charset="0"/>
              </a:rPr>
              <a:t>While respecting the constraints imposed by the </a:t>
            </a:r>
            <a:r>
              <a:rPr lang="en-GB" altLang="en-US" sz="2800" i="1" dirty="0">
                <a:ea typeface="Times" panose="02020603050405020304" pitchFamily="18" charset="0"/>
                <a:cs typeface="Times" panose="02020603050405020304" pitchFamily="18" charset="0"/>
              </a:rPr>
              <a:t>non-functional requirements...</a:t>
            </a:r>
            <a:endParaRPr lang="en-GB" altLang="en-US" sz="2800" dirty="0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3"/>
            <a:r>
              <a:rPr lang="en-GB" altLang="en-US" sz="2800" dirty="0">
                <a:ea typeface="Times" panose="02020603050405020304" pitchFamily="18" charset="0"/>
                <a:cs typeface="Times" panose="02020603050405020304" pitchFamily="18" charset="0"/>
              </a:rPr>
              <a:t>including the budget</a:t>
            </a:r>
          </a:p>
          <a:p>
            <a:pPr lvl="2"/>
            <a:r>
              <a:rPr lang="en-GB" altLang="en-US" sz="2800" dirty="0">
                <a:ea typeface="Times" panose="02020603050405020304" pitchFamily="18" charset="0"/>
                <a:cs typeface="Times" panose="02020603050405020304" pitchFamily="18" charset="0"/>
              </a:rPr>
              <a:t>And while adhering to general principles of </a:t>
            </a:r>
            <a:r>
              <a:rPr lang="en-GB" altLang="en-US" sz="2800" i="1" dirty="0">
                <a:ea typeface="Times" panose="02020603050405020304" pitchFamily="18" charset="0"/>
                <a:cs typeface="Times" panose="02020603050405020304" pitchFamily="18" charset="0"/>
              </a:rPr>
              <a:t>good quality</a:t>
            </a:r>
            <a:r>
              <a:rPr lang="en-US" altLang="en-US" sz="2800" dirty="0"/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2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491880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Design as a series of decisions</a:t>
            </a:r>
            <a:r>
              <a:rPr lang="en-US" altLang="en-US"/>
              <a:t> </a:t>
            </a:r>
          </a:p>
        </p:txBody>
      </p:sp>
      <p:sp>
        <p:nvSpPr>
          <p:cNvPr id="39936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3200" dirty="0">
                <a:ea typeface="Times" panose="02020603050405020304" pitchFamily="18" charset="0"/>
                <a:cs typeface="Times" panose="02020603050405020304" pitchFamily="18" charset="0"/>
              </a:rPr>
              <a:t>A designer is faced with a series of </a:t>
            </a:r>
            <a:r>
              <a:rPr lang="en-GB" altLang="en-US" sz="3200" i="1" dirty="0">
                <a:ea typeface="Times" panose="02020603050405020304" pitchFamily="18" charset="0"/>
                <a:cs typeface="Times" panose="02020603050405020304" pitchFamily="18" charset="0"/>
              </a:rPr>
              <a:t>design issues</a:t>
            </a:r>
            <a:r>
              <a:rPr lang="en-GB" altLang="en-US" sz="3200" dirty="0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/>
            <a:r>
              <a:rPr lang="en-GB" altLang="en-US" sz="3200" dirty="0">
                <a:ea typeface="Times" panose="02020603050405020304" pitchFamily="18" charset="0"/>
                <a:cs typeface="Times" panose="02020603050405020304" pitchFamily="18" charset="0"/>
              </a:rPr>
              <a:t>These are sub-problems of the overall design problem. </a:t>
            </a:r>
          </a:p>
          <a:p>
            <a:pPr lvl="1"/>
            <a:r>
              <a:rPr lang="en-GB" altLang="en-US" sz="3200" dirty="0">
                <a:ea typeface="Times" panose="02020603050405020304" pitchFamily="18" charset="0"/>
                <a:cs typeface="Times" panose="02020603050405020304" pitchFamily="18" charset="0"/>
              </a:rPr>
              <a:t>Each issue normally has several alternative solutions: </a:t>
            </a:r>
          </a:p>
          <a:p>
            <a:pPr lvl="2"/>
            <a:r>
              <a:rPr lang="en-GB" altLang="en-US" sz="2800" dirty="0">
                <a:ea typeface="Times" panose="02020603050405020304" pitchFamily="18" charset="0"/>
                <a:cs typeface="Times" panose="02020603050405020304" pitchFamily="18" charset="0"/>
              </a:rPr>
              <a:t>design </a:t>
            </a:r>
            <a:r>
              <a:rPr lang="en-GB" altLang="en-US" sz="2800" i="1" dirty="0">
                <a:ea typeface="Times" panose="02020603050405020304" pitchFamily="18" charset="0"/>
                <a:cs typeface="Times" panose="02020603050405020304" pitchFamily="18" charset="0"/>
              </a:rPr>
              <a:t>options</a:t>
            </a:r>
            <a:r>
              <a:rPr lang="en-GB" altLang="en-US" sz="2800" dirty="0">
                <a:ea typeface="Times" panose="02020603050405020304" pitchFamily="18" charset="0"/>
                <a:cs typeface="Times" panose="02020603050405020304" pitchFamily="18" charset="0"/>
              </a:rPr>
              <a:t>. </a:t>
            </a:r>
          </a:p>
          <a:p>
            <a:pPr lvl="1"/>
            <a:r>
              <a:rPr lang="en-GB" altLang="en-US" sz="3200" dirty="0">
                <a:ea typeface="Times" panose="02020603050405020304" pitchFamily="18" charset="0"/>
                <a:cs typeface="Times" panose="02020603050405020304" pitchFamily="18" charset="0"/>
              </a:rPr>
              <a:t>The designer makes a </a:t>
            </a:r>
            <a:r>
              <a:rPr lang="en-GB" altLang="en-US" sz="3200" i="1" dirty="0">
                <a:ea typeface="Times" panose="02020603050405020304" pitchFamily="18" charset="0"/>
                <a:cs typeface="Times" panose="02020603050405020304" pitchFamily="18" charset="0"/>
              </a:rPr>
              <a:t>design decision</a:t>
            </a:r>
            <a:r>
              <a:rPr lang="en-GB" altLang="en-US" sz="3200" dirty="0">
                <a:ea typeface="Times" panose="02020603050405020304" pitchFamily="18" charset="0"/>
                <a:cs typeface="Times" panose="02020603050405020304" pitchFamily="18" charset="0"/>
              </a:rPr>
              <a:t> to resolve each issue. </a:t>
            </a:r>
          </a:p>
          <a:p>
            <a:pPr lvl="2"/>
            <a:r>
              <a:rPr lang="en-GB" altLang="en-US" sz="2800" dirty="0">
                <a:ea typeface="Times" panose="02020603050405020304" pitchFamily="18" charset="0"/>
                <a:cs typeface="Times" panose="02020603050405020304" pitchFamily="18" charset="0"/>
              </a:rPr>
              <a:t>This process involves choosing the best option from among the alternatives.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3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237892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Making decisions</a:t>
            </a:r>
          </a:p>
        </p:txBody>
      </p:sp>
      <p:sp>
        <p:nvSpPr>
          <p:cNvPr id="56525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3200" dirty="0">
                <a:ea typeface="Times" panose="02020603050405020304" pitchFamily="18" charset="0"/>
                <a:cs typeface="Times" panose="02020603050405020304" pitchFamily="18" charset="0"/>
              </a:rPr>
              <a:t>To make each design decision, the software engineer uses:</a:t>
            </a:r>
          </a:p>
          <a:p>
            <a:pPr lvl="1"/>
            <a:r>
              <a:rPr lang="en-GB" altLang="en-US" sz="3200" dirty="0">
                <a:ea typeface="Times" panose="02020603050405020304" pitchFamily="18" charset="0"/>
                <a:cs typeface="Times" panose="02020603050405020304" pitchFamily="18" charset="0"/>
              </a:rPr>
              <a:t>Knowledge of</a:t>
            </a:r>
          </a:p>
          <a:p>
            <a:pPr lvl="2"/>
            <a:r>
              <a:rPr lang="en-GB" altLang="en-US" sz="2800" dirty="0">
                <a:ea typeface="Times" panose="02020603050405020304" pitchFamily="18" charset="0"/>
                <a:cs typeface="Times" panose="02020603050405020304" pitchFamily="18" charset="0"/>
              </a:rPr>
              <a:t>the requirements</a:t>
            </a:r>
            <a:r>
              <a:rPr lang="en-US" altLang="en-US" sz="2800" dirty="0"/>
              <a:t> </a:t>
            </a:r>
          </a:p>
          <a:p>
            <a:pPr lvl="2"/>
            <a:r>
              <a:rPr lang="en-GB" altLang="en-US" sz="2800" dirty="0">
                <a:ea typeface="Times" panose="02020603050405020304" pitchFamily="18" charset="0"/>
                <a:cs typeface="Times" panose="02020603050405020304" pitchFamily="18" charset="0"/>
              </a:rPr>
              <a:t>the design as created so far</a:t>
            </a:r>
          </a:p>
          <a:p>
            <a:pPr lvl="2"/>
            <a:r>
              <a:rPr lang="en-GB" altLang="en-US" sz="2800" dirty="0">
                <a:ea typeface="Times" panose="02020603050405020304" pitchFamily="18" charset="0"/>
                <a:cs typeface="Times" panose="02020603050405020304" pitchFamily="18" charset="0"/>
              </a:rPr>
              <a:t>the technology available</a:t>
            </a:r>
            <a:r>
              <a:rPr lang="en-US" altLang="en-US" sz="2800" dirty="0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2"/>
            <a:r>
              <a:rPr lang="en-GB" altLang="en-US" sz="2800" dirty="0">
                <a:ea typeface="Times" panose="02020603050405020304" pitchFamily="18" charset="0"/>
                <a:cs typeface="Times" panose="02020603050405020304" pitchFamily="18" charset="0"/>
              </a:rPr>
              <a:t>software design principles and ‘best practices’</a:t>
            </a:r>
            <a:r>
              <a:rPr lang="en-US" altLang="en-US" sz="2800" dirty="0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2"/>
            <a:r>
              <a:rPr lang="en-GB" altLang="en-US" sz="2800" dirty="0">
                <a:ea typeface="Times" panose="02020603050405020304" pitchFamily="18" charset="0"/>
                <a:cs typeface="Times" panose="02020603050405020304" pitchFamily="18" charset="0"/>
              </a:rPr>
              <a:t>what has worked well in the past</a:t>
            </a:r>
            <a:r>
              <a:rPr lang="en-US" altLang="en-US" sz="2800" dirty="0"/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4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243397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Design space</a:t>
            </a:r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space of possible designs that could be achieved by choosing different sets of alternatives is often called the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design space</a:t>
            </a:r>
            <a:r>
              <a:rPr lang="en-US" altLang="en-US"/>
              <a:t> </a:t>
            </a:r>
          </a:p>
          <a:p>
            <a:pPr lvl="1"/>
            <a:r>
              <a:rPr lang="en-US" altLang="en-US"/>
              <a:t>For example:</a:t>
            </a:r>
          </a:p>
          <a:p>
            <a:endParaRPr lang="en-US" altLang="en-US"/>
          </a:p>
          <a:p>
            <a:endParaRPr lang="en-US" altLang="en-US"/>
          </a:p>
        </p:txBody>
      </p:sp>
      <p:pic>
        <p:nvPicPr>
          <p:cNvPr id="4014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079750"/>
            <a:ext cx="6705600" cy="2482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5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790823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63588" y="-8251"/>
            <a:ext cx="7772400" cy="1143000"/>
          </a:xfrm>
        </p:spPr>
        <p:txBody>
          <a:bodyPr/>
          <a:lstStyle/>
          <a:p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Component</a:t>
            </a:r>
          </a:p>
        </p:txBody>
      </p:sp>
      <p:sp>
        <p:nvSpPr>
          <p:cNvPr id="40448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066800" y="1143000"/>
            <a:ext cx="8077200" cy="4800600"/>
          </a:xfrm>
        </p:spPr>
        <p:txBody>
          <a:bodyPr/>
          <a:lstStyle/>
          <a:p>
            <a:r>
              <a:rPr lang="en-GB" altLang="en-US" sz="2800" dirty="0">
                <a:ea typeface="Times" panose="02020603050405020304" pitchFamily="18" charset="0"/>
                <a:cs typeface="Times" panose="02020603050405020304" pitchFamily="18" charset="0"/>
              </a:rPr>
              <a:t>Any piece of software or hardware that has a clear role. </a:t>
            </a:r>
          </a:p>
          <a:p>
            <a:pPr lvl="1"/>
            <a:r>
              <a:rPr lang="en-GB" altLang="en-US" sz="2800" dirty="0">
                <a:ea typeface="Times" panose="02020603050405020304" pitchFamily="18" charset="0"/>
                <a:cs typeface="Times" panose="02020603050405020304" pitchFamily="18" charset="0"/>
              </a:rPr>
              <a:t>A component can be isolated, allowing you to replace it with a different component that has equivalent functionality.</a:t>
            </a:r>
          </a:p>
          <a:p>
            <a:pPr lvl="1"/>
            <a:r>
              <a:rPr lang="en-GB" altLang="en-US" sz="2800" dirty="0">
                <a:ea typeface="Times" panose="02020603050405020304" pitchFamily="18" charset="0"/>
                <a:cs typeface="Times" panose="02020603050405020304" pitchFamily="18" charset="0"/>
              </a:rPr>
              <a:t>Many components are designed to be reusable.</a:t>
            </a:r>
          </a:p>
          <a:p>
            <a:pPr lvl="1"/>
            <a:r>
              <a:rPr lang="en-GB" altLang="en-US" sz="2800" dirty="0">
                <a:ea typeface="Times" panose="02020603050405020304" pitchFamily="18" charset="0"/>
                <a:cs typeface="Times" panose="02020603050405020304" pitchFamily="18" charset="0"/>
              </a:rPr>
              <a:t>Conversely, others perform special-purpose functions.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6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784232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Module</a:t>
            </a:r>
          </a:p>
        </p:txBody>
      </p:sp>
      <p:sp>
        <p:nvSpPr>
          <p:cNvPr id="49254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A component that is defined at the programming language level</a:t>
            </a:r>
          </a:p>
          <a:p>
            <a:pPr lvl="1"/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For example, methods, classes and packages are modules in Java</a:t>
            </a:r>
            <a:r>
              <a:rPr lang="en-US" altLang="en-US" dirty="0">
                <a:ea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en-GB" altLang="en-US" dirty="0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7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781303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575556" y="-207404"/>
            <a:ext cx="7772400" cy="1143000"/>
          </a:xfrm>
        </p:spPr>
        <p:txBody>
          <a:bodyPr/>
          <a:lstStyle/>
          <a:p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System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 dirty="0">
                <a:ea typeface="Times" panose="02020603050405020304" pitchFamily="18" charset="0"/>
                <a:cs typeface="Times" panose="02020603050405020304" pitchFamily="18" charset="0"/>
              </a:rPr>
              <a:t>A logical entity, having a set of definable responsibilities or objectives, and consisting of hardware, software or both. </a:t>
            </a:r>
          </a:p>
          <a:p>
            <a:pPr lvl="1"/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A system can have a specification which is then implemented by a collection of components. </a:t>
            </a:r>
          </a:p>
          <a:p>
            <a:pPr lvl="1"/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A system continues to exist, even if its components are changed or replaced.</a:t>
            </a:r>
          </a:p>
          <a:p>
            <a:pPr lvl="1"/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The goal of requirements analysis is to determine the responsibilities of a system</a:t>
            </a:r>
            <a:r>
              <a:rPr lang="en-US" altLang="en-US" dirty="0">
                <a:ea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lvl="1"/>
            <a:endParaRPr lang="en-GB" altLang="en-US" dirty="0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GB" altLang="en-US" b="1" dirty="0">
                <a:ea typeface="Times" panose="02020603050405020304" pitchFamily="18" charset="0"/>
                <a:cs typeface="Times" panose="02020603050405020304" pitchFamily="18" charset="0"/>
              </a:rPr>
              <a:t>Subsystem</a:t>
            </a:r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: </a:t>
            </a:r>
          </a:p>
          <a:p>
            <a:pPr lvl="2"/>
            <a:r>
              <a:rPr lang="en-GB" altLang="en-US" sz="2400" dirty="0">
                <a:ea typeface="Times" panose="02020603050405020304" pitchFamily="18" charset="0"/>
                <a:cs typeface="Times" panose="02020603050405020304" pitchFamily="18" charset="0"/>
              </a:rPr>
              <a:t>A system that is part of a larger system, and which has a definite interface</a:t>
            </a:r>
            <a:r>
              <a:rPr lang="en-US" altLang="en-US" sz="2400" dirty="0"/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8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546421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UML diagram of system parts</a:t>
            </a:r>
            <a:endParaRPr lang="en-US" altLang="en-US"/>
          </a:p>
        </p:txBody>
      </p:sp>
      <p:pic>
        <p:nvPicPr>
          <p:cNvPr id="4065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204864"/>
            <a:ext cx="8153400" cy="2525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9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732263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Top-down and bottom-up design</a:t>
            </a:r>
          </a:p>
        </p:txBody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GB" altLang="en-US" sz="3200" dirty="0">
                <a:ea typeface="Times" panose="02020603050405020304" pitchFamily="18" charset="0"/>
                <a:cs typeface="Times" panose="02020603050405020304" pitchFamily="18" charset="0"/>
              </a:rPr>
              <a:t>Top-down design</a:t>
            </a:r>
          </a:p>
          <a:p>
            <a:pPr lvl="1" algn="just"/>
            <a:r>
              <a:rPr lang="en-GB" altLang="en-US" sz="3200" dirty="0">
                <a:ea typeface="Times" panose="02020603050405020304" pitchFamily="18" charset="0"/>
                <a:cs typeface="Times" panose="02020603050405020304" pitchFamily="18" charset="0"/>
              </a:rPr>
              <a:t>First design the very high level structure of the system.</a:t>
            </a:r>
          </a:p>
          <a:p>
            <a:pPr lvl="1" algn="just"/>
            <a:r>
              <a:rPr lang="en-GB" altLang="en-US" sz="3200" dirty="0">
                <a:ea typeface="Times" panose="02020603050405020304" pitchFamily="18" charset="0"/>
                <a:cs typeface="Times" panose="02020603050405020304" pitchFamily="18" charset="0"/>
              </a:rPr>
              <a:t>Then gradually work down to detailed decisions about low-level constructs.</a:t>
            </a:r>
          </a:p>
          <a:p>
            <a:pPr lvl="1" algn="just"/>
            <a:r>
              <a:rPr lang="en-GB" altLang="en-US" sz="3200" dirty="0">
                <a:ea typeface="Times" panose="02020603050405020304" pitchFamily="18" charset="0"/>
                <a:cs typeface="Times" panose="02020603050405020304" pitchFamily="18" charset="0"/>
              </a:rPr>
              <a:t>Finally arrive at detailed decisions such as:</a:t>
            </a:r>
          </a:p>
          <a:p>
            <a:pPr lvl="2" algn="just"/>
            <a:r>
              <a:rPr lang="en-GB" altLang="en-US" sz="2800" dirty="0">
                <a:ea typeface="Times" panose="02020603050405020304" pitchFamily="18" charset="0"/>
                <a:cs typeface="Times" panose="02020603050405020304" pitchFamily="18" charset="0"/>
              </a:rPr>
              <a:t>the format of particular data items;</a:t>
            </a:r>
          </a:p>
          <a:p>
            <a:pPr lvl="2" algn="just"/>
            <a:r>
              <a:rPr lang="en-GB" altLang="en-US" sz="2800" dirty="0">
                <a:ea typeface="Times" panose="02020603050405020304" pitchFamily="18" charset="0"/>
                <a:cs typeface="Times" panose="02020603050405020304" pitchFamily="18" charset="0"/>
              </a:rPr>
              <a:t>the individual algorithms that will be used.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10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630508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Top-down and bottom-up design</a:t>
            </a:r>
          </a:p>
        </p:txBody>
      </p:sp>
      <p:sp>
        <p:nvSpPr>
          <p:cNvPr id="49357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Bottom-up design</a:t>
            </a:r>
          </a:p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Make decisions about reusable low-level utilities.</a:t>
            </a:r>
          </a:p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Then decide how these will be put together to create high-level constructs.</a:t>
            </a:r>
          </a:p>
          <a:p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mix of top-down and bottom-up approaches are normally used: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Top-down design is almost always needed to give the system a good structure.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Bottom-up design is normally useful so that reusable components can be created.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11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743160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>
          <a:xfrm>
            <a:off x="791580" y="-171400"/>
            <a:ext cx="7772400" cy="1143000"/>
          </a:xfrm>
        </p:spPr>
        <p:txBody>
          <a:bodyPr/>
          <a:lstStyle/>
          <a:p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Different aspects of design</a:t>
            </a:r>
            <a:r>
              <a:rPr lang="en-US" altLang="en-US" dirty="0"/>
              <a:t> </a:t>
            </a:r>
          </a:p>
        </p:txBody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016732"/>
            <a:ext cx="7772400" cy="5472608"/>
          </a:xfrm>
        </p:spPr>
        <p:txBody>
          <a:bodyPr/>
          <a:lstStyle/>
          <a:p>
            <a:pPr lvl="1"/>
            <a:r>
              <a:rPr lang="en-GB" altLang="en-US" i="1" dirty="0">
                <a:ea typeface="Times" panose="02020603050405020304" pitchFamily="18" charset="0"/>
                <a:cs typeface="Times" panose="02020603050405020304" pitchFamily="18" charset="0"/>
              </a:rPr>
              <a:t>Architecture design</a:t>
            </a:r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: </a:t>
            </a:r>
          </a:p>
          <a:p>
            <a:pPr lvl="2"/>
            <a:r>
              <a:rPr lang="en-GB" altLang="en-US" sz="2400" dirty="0">
                <a:ea typeface="Times" panose="02020603050405020304" pitchFamily="18" charset="0"/>
                <a:cs typeface="Times" panose="02020603050405020304" pitchFamily="18" charset="0"/>
              </a:rPr>
              <a:t>The division into subsystems and components,</a:t>
            </a:r>
          </a:p>
          <a:p>
            <a:pPr lvl="3"/>
            <a:r>
              <a:rPr lang="en-GB" altLang="en-US" sz="2400" dirty="0">
                <a:ea typeface="Times" panose="02020603050405020304" pitchFamily="18" charset="0"/>
                <a:cs typeface="Times" panose="02020603050405020304" pitchFamily="18" charset="0"/>
              </a:rPr>
              <a:t>How these will be connected.</a:t>
            </a:r>
          </a:p>
          <a:p>
            <a:pPr lvl="3"/>
            <a:r>
              <a:rPr lang="en-GB" altLang="en-US" sz="2400" dirty="0">
                <a:ea typeface="Times" panose="02020603050405020304" pitchFamily="18" charset="0"/>
                <a:cs typeface="Times" panose="02020603050405020304" pitchFamily="18" charset="0"/>
              </a:rPr>
              <a:t>How they will interact.</a:t>
            </a:r>
          </a:p>
          <a:p>
            <a:pPr lvl="3"/>
            <a:r>
              <a:rPr lang="en-GB" altLang="en-US" sz="2400" dirty="0">
                <a:ea typeface="Times" panose="02020603050405020304" pitchFamily="18" charset="0"/>
                <a:cs typeface="Times" panose="02020603050405020304" pitchFamily="18" charset="0"/>
              </a:rPr>
              <a:t>Their interfaces. </a:t>
            </a:r>
          </a:p>
          <a:p>
            <a:pPr lvl="1"/>
            <a:r>
              <a:rPr lang="en-GB" altLang="en-US" i="1" dirty="0">
                <a:ea typeface="Times" panose="02020603050405020304" pitchFamily="18" charset="0"/>
                <a:cs typeface="Times" panose="02020603050405020304" pitchFamily="18" charset="0"/>
              </a:rPr>
              <a:t>Class design</a:t>
            </a:r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: </a:t>
            </a:r>
          </a:p>
          <a:p>
            <a:pPr lvl="2"/>
            <a:r>
              <a:rPr lang="en-GB" altLang="en-US" sz="2400" dirty="0">
                <a:ea typeface="Times" panose="02020603050405020304" pitchFamily="18" charset="0"/>
                <a:cs typeface="Times" panose="02020603050405020304" pitchFamily="18" charset="0"/>
              </a:rPr>
              <a:t>The various features of classes.</a:t>
            </a:r>
            <a:endParaRPr lang="en-US" altLang="en-US" sz="2400" dirty="0"/>
          </a:p>
          <a:p>
            <a:pPr lvl="1"/>
            <a:r>
              <a:rPr lang="en-GB" altLang="en-US" i="1" dirty="0">
                <a:ea typeface="Times" panose="02020603050405020304" pitchFamily="18" charset="0"/>
                <a:cs typeface="Times" panose="02020603050405020304" pitchFamily="18" charset="0"/>
              </a:rPr>
              <a:t>User interface design</a:t>
            </a:r>
            <a:r>
              <a:rPr lang="en-US" altLang="en-US" dirty="0"/>
              <a:t> </a:t>
            </a:r>
          </a:p>
          <a:p>
            <a:pPr lvl="1"/>
            <a:r>
              <a:rPr lang="en-GB" altLang="en-US" i="1" dirty="0">
                <a:ea typeface="Times" panose="02020603050405020304" pitchFamily="18" charset="0"/>
                <a:cs typeface="Times" panose="02020603050405020304" pitchFamily="18" charset="0"/>
              </a:rPr>
              <a:t>Algorithm design</a:t>
            </a:r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: </a:t>
            </a:r>
          </a:p>
          <a:p>
            <a:pPr lvl="2"/>
            <a:r>
              <a:rPr lang="en-GB" altLang="en-US" sz="2400" dirty="0">
                <a:ea typeface="Times" panose="02020603050405020304" pitchFamily="18" charset="0"/>
                <a:cs typeface="Times" panose="02020603050405020304" pitchFamily="18" charset="0"/>
              </a:rPr>
              <a:t>The design of computational mechanisms</a:t>
            </a:r>
            <a:r>
              <a:rPr lang="en-US" altLang="en-US" sz="2400" dirty="0"/>
              <a:t>.</a:t>
            </a:r>
          </a:p>
          <a:p>
            <a:pPr lvl="1"/>
            <a:r>
              <a:rPr lang="en-GB" altLang="en-US" i="1" dirty="0">
                <a:ea typeface="Times" panose="02020603050405020304" pitchFamily="18" charset="0"/>
                <a:cs typeface="Times" panose="02020603050405020304" pitchFamily="18" charset="0"/>
              </a:rPr>
              <a:t>Protocol design</a:t>
            </a:r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: </a:t>
            </a:r>
          </a:p>
          <a:p>
            <a:pPr lvl="2"/>
            <a:r>
              <a:rPr lang="en-GB" altLang="en-US" sz="2400" dirty="0">
                <a:ea typeface="Times" panose="02020603050405020304" pitchFamily="18" charset="0"/>
                <a:cs typeface="Times" panose="02020603050405020304" pitchFamily="18" charset="0"/>
              </a:rPr>
              <a:t>The design of communications protocol.</a:t>
            </a:r>
            <a:endParaRPr lang="en-US" altLang="en-US" sz="2400" dirty="0"/>
          </a:p>
          <a:p>
            <a:pPr lvl="1"/>
            <a:endParaRPr lang="en-US" altLang="en-US" sz="18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12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433887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Principles Leading to Good Design</a:t>
            </a:r>
            <a:r>
              <a:rPr lang="en-US" altLang="en-US" dirty="0"/>
              <a:t> </a:t>
            </a:r>
          </a:p>
        </p:txBody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Overall </a:t>
            </a:r>
            <a:r>
              <a:rPr lang="en-US" altLang="en-US" i="1" dirty="0"/>
              <a:t>goals</a:t>
            </a:r>
            <a:r>
              <a:rPr lang="en-US" altLang="en-US" dirty="0"/>
              <a:t> of good design:</a:t>
            </a:r>
          </a:p>
          <a:p>
            <a:pPr lvl="1"/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Increasing profit by reducing cost and increasing revenue</a:t>
            </a:r>
            <a:r>
              <a:rPr lang="en-US" altLang="en-US" dirty="0"/>
              <a:t> </a:t>
            </a:r>
          </a:p>
          <a:p>
            <a:pPr lvl="1"/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Ensuring that we actually conform with the requirements</a:t>
            </a:r>
            <a:r>
              <a:rPr lang="en-US" altLang="en-US" dirty="0"/>
              <a:t> </a:t>
            </a:r>
          </a:p>
          <a:p>
            <a:pPr lvl="1"/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Accelerating development</a:t>
            </a:r>
            <a:r>
              <a:rPr lang="en-US" altLang="en-US" dirty="0"/>
              <a:t> </a:t>
            </a:r>
          </a:p>
          <a:p>
            <a:pPr lvl="1"/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Increasing qualities such as</a:t>
            </a:r>
          </a:p>
          <a:p>
            <a:pPr lvl="2"/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Usability</a:t>
            </a:r>
          </a:p>
          <a:p>
            <a:pPr lvl="2"/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Efficiency</a:t>
            </a:r>
          </a:p>
          <a:p>
            <a:pPr lvl="2"/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Reliability</a:t>
            </a:r>
          </a:p>
          <a:p>
            <a:pPr lvl="2"/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Maintainability</a:t>
            </a:r>
          </a:p>
          <a:p>
            <a:pPr lvl="2"/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Reusability</a:t>
            </a:r>
            <a:r>
              <a:rPr lang="en-US" altLang="en-US" dirty="0"/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13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673954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Design Principle 1: Divide and conquer</a:t>
            </a:r>
            <a:r>
              <a:rPr lang="en-US" altLang="en-US"/>
              <a:t> </a:t>
            </a:r>
          </a:p>
        </p:txBody>
      </p:sp>
      <p:sp>
        <p:nvSpPr>
          <p:cNvPr id="49459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Trying to deal with something big all at once is normally much harder than dealing with a series of smaller things</a:t>
            </a:r>
            <a:r>
              <a:rPr lang="en-US" altLang="en-US"/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Separate people can work on each part</a:t>
            </a:r>
            <a:r>
              <a:rPr lang="en-US" altLang="en-US"/>
              <a:t>.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An individual software engineer can specialize.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Each individual component is smaller, and therefore easier to understand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Parts can be replaced or changed without having to replace or extensively change other parts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en-US" altLang="en-US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14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843239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Ways of dividing a software system</a:t>
            </a:r>
          </a:p>
        </p:txBody>
      </p:sp>
      <p:sp>
        <p:nvSpPr>
          <p:cNvPr id="498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distributed system is divided up into clients and servers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system is divided up into subsystems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subsystem can be divided up into one or more packages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package is divided up into classes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class is divided up into methods</a:t>
            </a:r>
            <a:r>
              <a:rPr lang="en-US" altLang="en-US"/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15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785642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88640"/>
            <a:ext cx="8132440" cy="1143000"/>
          </a:xfrm>
        </p:spPr>
        <p:txBody>
          <a:bodyPr/>
          <a:lstStyle/>
          <a:p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Design Principle 2: Increase cohesion where possible</a:t>
            </a:r>
            <a:r>
              <a:rPr lang="en-US" altLang="en-US" dirty="0"/>
              <a:t> </a:t>
            </a:r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3200" dirty="0">
                <a:ea typeface="Times" panose="02020603050405020304" pitchFamily="18" charset="0"/>
                <a:cs typeface="Times" panose="02020603050405020304" pitchFamily="18" charset="0"/>
              </a:rPr>
              <a:t>A subsystem or module has high cohesion if it keeps together things that are related to each other, and keeps out other things</a:t>
            </a:r>
          </a:p>
          <a:p>
            <a:pPr lvl="1"/>
            <a:r>
              <a:rPr lang="en-GB" altLang="en-US" sz="3200" dirty="0">
                <a:ea typeface="Times" panose="02020603050405020304" pitchFamily="18" charset="0"/>
                <a:cs typeface="Times" panose="02020603050405020304" pitchFamily="18" charset="0"/>
              </a:rPr>
              <a:t>This makes the system as a whole easier to understand and change</a:t>
            </a:r>
            <a:r>
              <a:rPr lang="en-US" altLang="en-US" sz="3200" dirty="0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/>
            <a:r>
              <a:rPr lang="en-US" altLang="en-US" sz="3200" dirty="0">
                <a:ea typeface="Times" panose="02020603050405020304" pitchFamily="18" charset="0"/>
                <a:cs typeface="Times" panose="02020603050405020304" pitchFamily="18" charset="0"/>
              </a:rPr>
              <a:t>Type of cohesion:</a:t>
            </a:r>
          </a:p>
          <a:p>
            <a:pPr lvl="2"/>
            <a:r>
              <a:rPr lang="en-US" altLang="en-US" sz="2800" dirty="0">
                <a:ea typeface="Times" panose="02020603050405020304" pitchFamily="18" charset="0"/>
                <a:cs typeface="Times" panose="02020603050405020304" pitchFamily="18" charset="0"/>
              </a:rPr>
              <a:t>Functional, Layer, Communicational, Sequential, Procedural, Temporal, Utility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16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031411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Functional cohesion</a:t>
            </a:r>
            <a:r>
              <a:rPr lang="en-GB" altLang="en-US" sz="2800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  <p:sp>
        <p:nvSpPr>
          <p:cNvPr id="501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This is achieved when all the code that computes a particular result is kept together - and everything else is kept out</a:t>
            </a:r>
            <a:r>
              <a:rPr lang="en-US" altLang="en-US"/>
              <a:t> </a:t>
            </a:r>
          </a:p>
          <a:p>
            <a:pPr lvl="1" algn="just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i.e. when a module only performs a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single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computation, and returns a result,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without having side-effects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Benefits to the system:</a:t>
            </a:r>
          </a:p>
          <a:p>
            <a:pPr lvl="2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Easier to understand</a:t>
            </a:r>
          </a:p>
          <a:p>
            <a:pPr lvl="2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More reusable</a:t>
            </a:r>
          </a:p>
          <a:p>
            <a:pPr lvl="2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Easier to replace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Modules that update a database, create a new file or interact with the user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are not functionally cohesive</a:t>
            </a:r>
            <a:r>
              <a:rPr lang="en-US" altLang="en-US"/>
              <a:t> 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17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983870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Layer cohesion</a:t>
            </a:r>
          </a:p>
        </p:txBody>
      </p:sp>
      <p:sp>
        <p:nvSpPr>
          <p:cNvPr id="503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All the facilities for providing or accessing a set of related services are kept together, and everything else is kept out</a:t>
            </a:r>
            <a:r>
              <a:rPr lang="en-US" altLang="en-US" sz="2000"/>
              <a:t> </a:t>
            </a:r>
          </a:p>
          <a:p>
            <a:pPr lvl="1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The layers should form a hierarchy</a:t>
            </a:r>
          </a:p>
          <a:p>
            <a:pPr lvl="2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Higher layers can access services of lower layers, </a:t>
            </a:r>
          </a:p>
          <a:p>
            <a:pPr lvl="2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Lower layers do not access higher layers</a:t>
            </a:r>
          </a:p>
          <a:p>
            <a:pPr lvl="1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The set of procedures through which a layer provides its services is the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application programming interface (API)</a:t>
            </a:r>
          </a:p>
          <a:p>
            <a:pPr lvl="1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You can replace a layer without having any impact on the other layers</a:t>
            </a:r>
          </a:p>
          <a:p>
            <a:pPr lvl="2"/>
            <a:r>
              <a:rPr lang="en-US" altLang="en-US" sz="2000">
                <a:ea typeface="Times" panose="02020603050405020304" pitchFamily="18" charset="0"/>
                <a:cs typeface="Times" panose="02020603050405020304" pitchFamily="18" charset="0"/>
              </a:rPr>
              <a:t>You just replicate the API 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en-US" sz="2000"/>
              <a:t> </a:t>
            </a:r>
            <a:br>
              <a:rPr lang="en-US" altLang="en-US" sz="2000"/>
            </a:br>
            <a:endParaRPr lang="en-US" altLang="en-US" sz="200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18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8112069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-207404"/>
            <a:ext cx="7772400" cy="1143000"/>
          </a:xfrm>
        </p:spPr>
        <p:txBody>
          <a:bodyPr/>
          <a:lstStyle/>
          <a:p>
            <a:r>
              <a:rPr lang="en-US" altLang="en-US" dirty="0"/>
              <a:t>Example of the use of layers</a:t>
            </a:r>
          </a:p>
        </p:txBody>
      </p:sp>
      <p:grpSp>
        <p:nvGrpSpPr>
          <p:cNvPr id="505865" name="Group 9"/>
          <p:cNvGrpSpPr>
            <a:grpSpLocks/>
          </p:cNvGrpSpPr>
          <p:nvPr/>
        </p:nvGrpSpPr>
        <p:grpSpPr bwMode="auto">
          <a:xfrm>
            <a:off x="5260975" y="1992313"/>
            <a:ext cx="1346200" cy="441325"/>
            <a:chOff x="3314" y="1255"/>
            <a:chExt cx="848" cy="278"/>
          </a:xfrm>
        </p:grpSpPr>
        <p:sp>
          <p:nvSpPr>
            <p:cNvPr id="505862" name="Rectangle 6"/>
            <p:cNvSpPr>
              <a:spLocks noChangeArrowheads="1"/>
            </p:cNvSpPr>
            <p:nvPr/>
          </p:nvSpPr>
          <p:spPr bwMode="auto">
            <a:xfrm>
              <a:off x="3314" y="1260"/>
              <a:ext cx="699" cy="257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505863" name="Rectangle 7"/>
            <p:cNvSpPr>
              <a:spLocks noChangeArrowheads="1"/>
            </p:cNvSpPr>
            <p:nvPr/>
          </p:nvSpPr>
          <p:spPr bwMode="auto">
            <a:xfrm>
              <a:off x="3329" y="1255"/>
              <a:ext cx="833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Screen display</a:t>
              </a:r>
              <a:endParaRPr lang="en-CA" altLang="fr-FR"/>
            </a:p>
          </p:txBody>
        </p:sp>
        <p:sp>
          <p:nvSpPr>
            <p:cNvPr id="505864" name="Rectangle 8"/>
            <p:cNvSpPr>
              <a:spLocks noChangeArrowheads="1"/>
            </p:cNvSpPr>
            <p:nvPr/>
          </p:nvSpPr>
          <p:spPr bwMode="auto">
            <a:xfrm>
              <a:off x="3483" y="1368"/>
              <a:ext cx="442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facilities</a:t>
              </a:r>
              <a:endParaRPr lang="en-CA" altLang="fr-FR"/>
            </a:p>
          </p:txBody>
        </p:sp>
      </p:grpSp>
      <p:grpSp>
        <p:nvGrpSpPr>
          <p:cNvPr id="505869" name="Group 13"/>
          <p:cNvGrpSpPr>
            <a:grpSpLocks/>
          </p:cNvGrpSpPr>
          <p:nvPr/>
        </p:nvGrpSpPr>
        <p:grpSpPr bwMode="auto">
          <a:xfrm>
            <a:off x="5521325" y="2678113"/>
            <a:ext cx="1233488" cy="441325"/>
            <a:chOff x="3478" y="1687"/>
            <a:chExt cx="777" cy="278"/>
          </a:xfrm>
        </p:grpSpPr>
        <p:sp>
          <p:nvSpPr>
            <p:cNvPr id="505866" name="Rectangle 10"/>
            <p:cNvSpPr>
              <a:spLocks noChangeArrowheads="1"/>
            </p:cNvSpPr>
            <p:nvPr/>
          </p:nvSpPr>
          <p:spPr bwMode="auto">
            <a:xfrm>
              <a:off x="3478" y="1692"/>
              <a:ext cx="679" cy="257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505867" name="Rectangle 11"/>
            <p:cNvSpPr>
              <a:spLocks noChangeArrowheads="1"/>
            </p:cNvSpPr>
            <p:nvPr/>
          </p:nvSpPr>
          <p:spPr bwMode="auto">
            <a:xfrm>
              <a:off x="3514" y="1687"/>
              <a:ext cx="74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User account</a:t>
              </a:r>
              <a:endParaRPr lang="en-CA" altLang="fr-FR"/>
            </a:p>
          </p:txBody>
        </p:sp>
        <p:sp>
          <p:nvSpPr>
            <p:cNvPr id="505868" name="Rectangle 12"/>
            <p:cNvSpPr>
              <a:spLocks noChangeArrowheads="1"/>
            </p:cNvSpPr>
            <p:nvPr/>
          </p:nvSpPr>
          <p:spPr bwMode="auto">
            <a:xfrm>
              <a:off x="3514" y="1800"/>
              <a:ext cx="689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management</a:t>
              </a:r>
              <a:endParaRPr lang="en-CA" altLang="fr-FR"/>
            </a:p>
          </p:txBody>
        </p:sp>
      </p:grpSp>
      <p:grpSp>
        <p:nvGrpSpPr>
          <p:cNvPr id="505873" name="Group 17"/>
          <p:cNvGrpSpPr>
            <a:grpSpLocks/>
          </p:cNvGrpSpPr>
          <p:nvPr/>
        </p:nvGrpSpPr>
        <p:grpSpPr bwMode="auto">
          <a:xfrm>
            <a:off x="5848350" y="3348038"/>
            <a:ext cx="1012825" cy="441325"/>
            <a:chOff x="3684" y="2109"/>
            <a:chExt cx="638" cy="278"/>
          </a:xfrm>
        </p:grpSpPr>
        <p:sp>
          <p:nvSpPr>
            <p:cNvPr id="505870" name="Rectangle 14"/>
            <p:cNvSpPr>
              <a:spLocks noChangeArrowheads="1"/>
            </p:cNvSpPr>
            <p:nvPr/>
          </p:nvSpPr>
          <p:spPr bwMode="auto">
            <a:xfrm>
              <a:off x="3684" y="2124"/>
              <a:ext cx="638" cy="257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505871" name="Rectangle 15"/>
            <p:cNvSpPr>
              <a:spLocks noChangeArrowheads="1"/>
            </p:cNvSpPr>
            <p:nvPr/>
          </p:nvSpPr>
          <p:spPr bwMode="auto">
            <a:xfrm>
              <a:off x="3802" y="2109"/>
              <a:ext cx="309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File</a:t>
              </a:r>
              <a:endParaRPr lang="en-CA" altLang="fr-FR"/>
            </a:p>
          </p:txBody>
        </p:sp>
        <p:sp>
          <p:nvSpPr>
            <p:cNvPr id="505872" name="Rectangle 16"/>
            <p:cNvSpPr>
              <a:spLocks noChangeArrowheads="1"/>
            </p:cNvSpPr>
            <p:nvPr/>
          </p:nvSpPr>
          <p:spPr bwMode="auto">
            <a:xfrm>
              <a:off x="3730" y="2222"/>
              <a:ext cx="36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system</a:t>
              </a:r>
              <a:endParaRPr lang="en-CA" altLang="fr-FR"/>
            </a:p>
          </p:txBody>
        </p:sp>
      </p:grpSp>
      <p:sp>
        <p:nvSpPr>
          <p:cNvPr id="505874" name="Rectangle 18"/>
          <p:cNvSpPr>
            <a:spLocks noChangeArrowheads="1"/>
          </p:cNvSpPr>
          <p:nvPr/>
        </p:nvSpPr>
        <p:spPr bwMode="auto">
          <a:xfrm>
            <a:off x="4851400" y="4041775"/>
            <a:ext cx="1601788" cy="60483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05875" name="Rectangle 19"/>
          <p:cNvSpPr>
            <a:spLocks noChangeArrowheads="1"/>
          </p:cNvSpPr>
          <p:nvPr/>
        </p:nvSpPr>
        <p:spPr bwMode="auto">
          <a:xfrm>
            <a:off x="5432425" y="4033838"/>
            <a:ext cx="70167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Kernel</a:t>
            </a:r>
            <a:endParaRPr lang="en-CA" altLang="fr-FR"/>
          </a:p>
        </p:txBody>
      </p:sp>
      <p:sp>
        <p:nvSpPr>
          <p:cNvPr id="505876" name="Rectangle 20"/>
          <p:cNvSpPr>
            <a:spLocks noChangeArrowheads="1"/>
          </p:cNvSpPr>
          <p:nvPr/>
        </p:nvSpPr>
        <p:spPr bwMode="auto">
          <a:xfrm>
            <a:off x="4926013" y="4213225"/>
            <a:ext cx="16986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(handling processes</a:t>
            </a:r>
            <a:endParaRPr lang="en-CA" altLang="fr-FR"/>
          </a:p>
        </p:txBody>
      </p:sp>
      <p:sp>
        <p:nvSpPr>
          <p:cNvPr id="505877" name="Rectangle 21"/>
          <p:cNvSpPr>
            <a:spLocks noChangeArrowheads="1"/>
          </p:cNvSpPr>
          <p:nvPr/>
        </p:nvSpPr>
        <p:spPr bwMode="auto">
          <a:xfrm>
            <a:off x="5121275" y="4392613"/>
            <a:ext cx="1176338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and swapping)</a:t>
            </a:r>
            <a:endParaRPr lang="en-CA" altLang="fr-FR"/>
          </a:p>
        </p:txBody>
      </p:sp>
      <p:sp>
        <p:nvSpPr>
          <p:cNvPr id="505878" name="Rectangle 22"/>
          <p:cNvSpPr>
            <a:spLocks noChangeArrowheads="1"/>
          </p:cNvSpPr>
          <p:nvPr/>
        </p:nvSpPr>
        <p:spPr bwMode="auto">
          <a:xfrm>
            <a:off x="4705350" y="1493838"/>
            <a:ext cx="1633538" cy="246062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05879" name="Rectangle 23"/>
          <p:cNvSpPr>
            <a:spLocks noChangeArrowheads="1"/>
          </p:cNvSpPr>
          <p:nvPr/>
        </p:nvSpPr>
        <p:spPr bwMode="auto">
          <a:xfrm>
            <a:off x="4795838" y="1485900"/>
            <a:ext cx="169862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Application programs</a:t>
            </a:r>
            <a:endParaRPr lang="en-CA" altLang="fr-FR"/>
          </a:p>
        </p:txBody>
      </p:sp>
      <p:sp>
        <p:nvSpPr>
          <p:cNvPr id="505880" name="Line 24"/>
          <p:cNvSpPr>
            <a:spLocks noChangeShapeType="1"/>
          </p:cNvSpPr>
          <p:nvPr/>
        </p:nvSpPr>
        <p:spPr bwMode="auto">
          <a:xfrm flipV="1">
            <a:off x="6346825" y="3771900"/>
            <a:ext cx="1588" cy="2619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05881" name="Line 25"/>
          <p:cNvSpPr>
            <a:spLocks noChangeShapeType="1"/>
          </p:cNvSpPr>
          <p:nvPr/>
        </p:nvSpPr>
        <p:spPr bwMode="auto">
          <a:xfrm flipV="1">
            <a:off x="6281738" y="3101975"/>
            <a:ext cx="1587" cy="24606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05882" name="Line 26"/>
          <p:cNvSpPr>
            <a:spLocks noChangeShapeType="1"/>
          </p:cNvSpPr>
          <p:nvPr/>
        </p:nvSpPr>
        <p:spPr bwMode="auto">
          <a:xfrm>
            <a:off x="5676900" y="3101975"/>
            <a:ext cx="1588" cy="91440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05883" name="Line 27"/>
          <p:cNvSpPr>
            <a:spLocks noChangeShapeType="1"/>
          </p:cNvSpPr>
          <p:nvPr/>
        </p:nvSpPr>
        <p:spPr bwMode="auto">
          <a:xfrm flipV="1">
            <a:off x="5954713" y="2416175"/>
            <a:ext cx="1587" cy="24606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05884" name="Line 28"/>
          <p:cNvSpPr>
            <a:spLocks noChangeShapeType="1"/>
          </p:cNvSpPr>
          <p:nvPr/>
        </p:nvSpPr>
        <p:spPr bwMode="auto">
          <a:xfrm>
            <a:off x="5414963" y="2416175"/>
            <a:ext cx="1587" cy="160020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05885" name="Line 29"/>
          <p:cNvSpPr>
            <a:spLocks noChangeShapeType="1"/>
          </p:cNvSpPr>
          <p:nvPr/>
        </p:nvSpPr>
        <p:spPr bwMode="auto">
          <a:xfrm flipV="1">
            <a:off x="5791200" y="1730375"/>
            <a:ext cx="1588" cy="246063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05886" name="Line 30"/>
          <p:cNvSpPr>
            <a:spLocks noChangeShapeType="1"/>
          </p:cNvSpPr>
          <p:nvPr/>
        </p:nvSpPr>
        <p:spPr bwMode="auto">
          <a:xfrm flipV="1">
            <a:off x="5170488" y="1730375"/>
            <a:ext cx="1587" cy="228600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05887" name="Rectangle 31"/>
          <p:cNvSpPr>
            <a:spLocks noChangeArrowheads="1"/>
          </p:cNvSpPr>
          <p:nvPr/>
        </p:nvSpPr>
        <p:spPr bwMode="auto">
          <a:xfrm>
            <a:off x="2500313" y="2865438"/>
            <a:ext cx="719137" cy="409575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05888" name="Rectangle 32"/>
          <p:cNvSpPr>
            <a:spLocks noChangeArrowheads="1"/>
          </p:cNvSpPr>
          <p:nvPr/>
        </p:nvSpPr>
        <p:spPr bwMode="auto">
          <a:xfrm>
            <a:off x="2671763" y="2857500"/>
            <a:ext cx="522287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User</a:t>
            </a:r>
            <a:endParaRPr lang="en-CA" altLang="fr-FR"/>
          </a:p>
        </p:txBody>
      </p:sp>
      <p:sp>
        <p:nvSpPr>
          <p:cNvPr id="505889" name="Rectangle 33"/>
          <p:cNvSpPr>
            <a:spLocks noChangeArrowheads="1"/>
          </p:cNvSpPr>
          <p:nvPr/>
        </p:nvSpPr>
        <p:spPr bwMode="auto">
          <a:xfrm>
            <a:off x="2525713" y="3036888"/>
            <a:ext cx="735012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interface</a:t>
            </a:r>
            <a:endParaRPr lang="en-CA" altLang="fr-FR"/>
          </a:p>
        </p:txBody>
      </p:sp>
      <p:sp>
        <p:nvSpPr>
          <p:cNvPr id="505890" name="Rectangle 34"/>
          <p:cNvSpPr>
            <a:spLocks noChangeArrowheads="1"/>
          </p:cNvSpPr>
          <p:nvPr/>
        </p:nvSpPr>
        <p:spPr bwMode="auto">
          <a:xfrm>
            <a:off x="1962150" y="3551238"/>
            <a:ext cx="1797050" cy="409575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05891" name="Rectangle 35"/>
          <p:cNvSpPr>
            <a:spLocks noChangeArrowheads="1"/>
          </p:cNvSpPr>
          <p:nvPr/>
        </p:nvSpPr>
        <p:spPr bwMode="auto">
          <a:xfrm>
            <a:off x="2443163" y="3543300"/>
            <a:ext cx="107791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Application</a:t>
            </a:r>
            <a:endParaRPr lang="en-CA" altLang="fr-FR"/>
          </a:p>
        </p:txBody>
      </p:sp>
      <p:sp>
        <p:nvSpPr>
          <p:cNvPr id="505892" name="Rectangle 36"/>
          <p:cNvSpPr>
            <a:spLocks noChangeArrowheads="1"/>
          </p:cNvSpPr>
          <p:nvPr/>
        </p:nvSpPr>
        <p:spPr bwMode="auto">
          <a:xfrm>
            <a:off x="2671763" y="3722688"/>
            <a:ext cx="4413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logic</a:t>
            </a:r>
            <a:endParaRPr lang="en-CA" altLang="fr-FR"/>
          </a:p>
        </p:txBody>
      </p:sp>
      <p:sp>
        <p:nvSpPr>
          <p:cNvPr id="505893" name="Rectangle 37"/>
          <p:cNvSpPr>
            <a:spLocks noChangeArrowheads="1"/>
          </p:cNvSpPr>
          <p:nvPr/>
        </p:nvSpPr>
        <p:spPr bwMode="auto">
          <a:xfrm>
            <a:off x="2468563" y="4237038"/>
            <a:ext cx="784225" cy="409575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05894" name="Rectangle 38"/>
          <p:cNvSpPr>
            <a:spLocks noChangeArrowheads="1"/>
          </p:cNvSpPr>
          <p:nvPr/>
        </p:nvSpPr>
        <p:spPr bwMode="auto">
          <a:xfrm>
            <a:off x="2509838" y="4229100"/>
            <a:ext cx="9144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Database</a:t>
            </a:r>
            <a:endParaRPr lang="en-CA" altLang="fr-FR"/>
          </a:p>
        </p:txBody>
      </p:sp>
      <p:sp>
        <p:nvSpPr>
          <p:cNvPr id="505895" name="Rectangle 39"/>
          <p:cNvSpPr>
            <a:spLocks noChangeArrowheads="1"/>
          </p:cNvSpPr>
          <p:nvPr/>
        </p:nvSpPr>
        <p:spPr bwMode="auto">
          <a:xfrm>
            <a:off x="2590800" y="4408488"/>
            <a:ext cx="5556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access</a:t>
            </a:r>
            <a:endParaRPr lang="en-CA" altLang="fr-FR"/>
          </a:p>
        </p:txBody>
      </p:sp>
      <p:grpSp>
        <p:nvGrpSpPr>
          <p:cNvPr id="505899" name="Group 43"/>
          <p:cNvGrpSpPr>
            <a:grpSpLocks/>
          </p:cNvGrpSpPr>
          <p:nvPr/>
        </p:nvGrpSpPr>
        <p:grpSpPr bwMode="auto">
          <a:xfrm>
            <a:off x="3349625" y="4229100"/>
            <a:ext cx="1282700" cy="441325"/>
            <a:chOff x="2110" y="2664"/>
            <a:chExt cx="808" cy="278"/>
          </a:xfrm>
        </p:grpSpPr>
        <p:sp>
          <p:nvSpPr>
            <p:cNvPr id="505896" name="Rectangle 40"/>
            <p:cNvSpPr>
              <a:spLocks noChangeArrowheads="1"/>
            </p:cNvSpPr>
            <p:nvPr/>
          </p:nvSpPr>
          <p:spPr bwMode="auto">
            <a:xfrm>
              <a:off x="2110" y="2669"/>
              <a:ext cx="731" cy="258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505897" name="Rectangle 41"/>
            <p:cNvSpPr>
              <a:spLocks noChangeArrowheads="1"/>
            </p:cNvSpPr>
            <p:nvPr/>
          </p:nvSpPr>
          <p:spPr bwMode="auto">
            <a:xfrm>
              <a:off x="2290" y="2664"/>
              <a:ext cx="494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Network</a:t>
              </a:r>
              <a:endParaRPr lang="en-CA" altLang="fr-FR"/>
            </a:p>
          </p:txBody>
        </p:sp>
        <p:sp>
          <p:nvSpPr>
            <p:cNvPr id="505898" name="Rectangle 42"/>
            <p:cNvSpPr>
              <a:spLocks noChangeArrowheads="1"/>
            </p:cNvSpPr>
            <p:nvPr/>
          </p:nvSpPr>
          <p:spPr bwMode="auto">
            <a:xfrm>
              <a:off x="2126" y="2777"/>
              <a:ext cx="792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communication</a:t>
              </a:r>
              <a:endParaRPr lang="en-CA" altLang="fr-FR"/>
            </a:p>
          </p:txBody>
        </p:sp>
      </p:grpSp>
      <p:sp>
        <p:nvSpPr>
          <p:cNvPr id="505900" name="Line 44"/>
          <p:cNvSpPr>
            <a:spLocks noChangeShapeType="1"/>
          </p:cNvSpPr>
          <p:nvPr/>
        </p:nvSpPr>
        <p:spPr bwMode="auto">
          <a:xfrm flipV="1">
            <a:off x="3684588" y="3968750"/>
            <a:ext cx="1587" cy="2444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05901" name="Line 45"/>
          <p:cNvSpPr>
            <a:spLocks noChangeShapeType="1"/>
          </p:cNvSpPr>
          <p:nvPr/>
        </p:nvSpPr>
        <p:spPr bwMode="auto">
          <a:xfrm flipV="1">
            <a:off x="2900363" y="3968750"/>
            <a:ext cx="1587" cy="2444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05902" name="Line 46"/>
          <p:cNvSpPr>
            <a:spLocks noChangeShapeType="1"/>
          </p:cNvSpPr>
          <p:nvPr/>
        </p:nvSpPr>
        <p:spPr bwMode="auto">
          <a:xfrm flipV="1">
            <a:off x="2852738" y="3282950"/>
            <a:ext cx="1587" cy="2444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505906" name="Group 50"/>
          <p:cNvGrpSpPr>
            <a:grpSpLocks/>
          </p:cNvGrpSpPr>
          <p:nvPr/>
        </p:nvGrpSpPr>
        <p:grpSpPr bwMode="auto">
          <a:xfrm>
            <a:off x="7383463" y="4229100"/>
            <a:ext cx="1216025" cy="441325"/>
            <a:chOff x="4651" y="2664"/>
            <a:chExt cx="766" cy="278"/>
          </a:xfrm>
        </p:grpSpPr>
        <p:sp>
          <p:nvSpPr>
            <p:cNvPr id="505903" name="Rectangle 47"/>
            <p:cNvSpPr>
              <a:spLocks noChangeArrowheads="1"/>
            </p:cNvSpPr>
            <p:nvPr/>
          </p:nvSpPr>
          <p:spPr bwMode="auto">
            <a:xfrm>
              <a:off x="4651" y="2669"/>
              <a:ext cx="658" cy="258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505904" name="Rectangle 48"/>
            <p:cNvSpPr>
              <a:spLocks noChangeArrowheads="1"/>
            </p:cNvSpPr>
            <p:nvPr/>
          </p:nvSpPr>
          <p:spPr bwMode="auto">
            <a:xfrm>
              <a:off x="4687" y="2664"/>
              <a:ext cx="73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Transmitting</a:t>
              </a:r>
              <a:endParaRPr lang="en-CA" altLang="fr-FR"/>
            </a:p>
          </p:txBody>
        </p:sp>
        <p:sp>
          <p:nvSpPr>
            <p:cNvPr id="505905" name="Rectangle 49"/>
            <p:cNvSpPr>
              <a:spLocks noChangeArrowheads="1"/>
            </p:cNvSpPr>
            <p:nvPr/>
          </p:nvSpPr>
          <p:spPr bwMode="auto">
            <a:xfrm>
              <a:off x="4666" y="2777"/>
              <a:ext cx="699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and receiving</a:t>
              </a:r>
              <a:endParaRPr lang="en-CA" altLang="fr-FR"/>
            </a:p>
          </p:txBody>
        </p:sp>
      </p:grpSp>
      <p:grpSp>
        <p:nvGrpSpPr>
          <p:cNvPr id="505910" name="Group 54"/>
          <p:cNvGrpSpPr>
            <a:grpSpLocks/>
          </p:cNvGrpSpPr>
          <p:nvPr/>
        </p:nvGrpSpPr>
        <p:grpSpPr bwMode="auto">
          <a:xfrm>
            <a:off x="7415213" y="3543300"/>
            <a:ext cx="1184275" cy="441325"/>
            <a:chOff x="4671" y="2232"/>
            <a:chExt cx="746" cy="278"/>
          </a:xfrm>
        </p:grpSpPr>
        <p:sp>
          <p:nvSpPr>
            <p:cNvPr id="505907" name="Rectangle 51"/>
            <p:cNvSpPr>
              <a:spLocks noChangeArrowheads="1"/>
            </p:cNvSpPr>
            <p:nvPr/>
          </p:nvSpPr>
          <p:spPr bwMode="auto">
            <a:xfrm>
              <a:off x="4671" y="2237"/>
              <a:ext cx="618" cy="258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505908" name="Rectangle 52"/>
            <p:cNvSpPr>
              <a:spLocks noChangeArrowheads="1"/>
            </p:cNvSpPr>
            <p:nvPr/>
          </p:nvSpPr>
          <p:spPr bwMode="auto">
            <a:xfrm>
              <a:off x="4687" y="2232"/>
              <a:ext cx="73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Dealing with</a:t>
              </a:r>
              <a:endParaRPr lang="en-CA" altLang="fr-FR"/>
            </a:p>
          </p:txBody>
        </p:sp>
        <p:sp>
          <p:nvSpPr>
            <p:cNvPr id="505909" name="Rectangle 53"/>
            <p:cNvSpPr>
              <a:spLocks noChangeArrowheads="1"/>
            </p:cNvSpPr>
            <p:nvPr/>
          </p:nvSpPr>
          <p:spPr bwMode="auto">
            <a:xfrm>
              <a:off x="4790" y="2345"/>
              <a:ext cx="391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packets</a:t>
              </a:r>
              <a:endParaRPr lang="en-CA" altLang="fr-FR"/>
            </a:p>
          </p:txBody>
        </p:sp>
      </p:grpSp>
      <p:grpSp>
        <p:nvGrpSpPr>
          <p:cNvPr id="505914" name="Group 58"/>
          <p:cNvGrpSpPr>
            <a:grpSpLocks/>
          </p:cNvGrpSpPr>
          <p:nvPr/>
        </p:nvGrpSpPr>
        <p:grpSpPr bwMode="auto">
          <a:xfrm>
            <a:off x="7415213" y="2857500"/>
            <a:ext cx="1184275" cy="441325"/>
            <a:chOff x="4671" y="1800"/>
            <a:chExt cx="746" cy="278"/>
          </a:xfrm>
        </p:grpSpPr>
        <p:sp>
          <p:nvSpPr>
            <p:cNvPr id="505911" name="Rectangle 55"/>
            <p:cNvSpPr>
              <a:spLocks noChangeArrowheads="1"/>
            </p:cNvSpPr>
            <p:nvPr/>
          </p:nvSpPr>
          <p:spPr bwMode="auto">
            <a:xfrm>
              <a:off x="4671" y="1805"/>
              <a:ext cx="618" cy="258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505912" name="Rectangle 56"/>
            <p:cNvSpPr>
              <a:spLocks noChangeArrowheads="1"/>
            </p:cNvSpPr>
            <p:nvPr/>
          </p:nvSpPr>
          <p:spPr bwMode="auto">
            <a:xfrm>
              <a:off x="4687" y="1800"/>
              <a:ext cx="73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Dealing with</a:t>
              </a:r>
              <a:endParaRPr lang="en-CA" altLang="fr-FR"/>
            </a:p>
          </p:txBody>
        </p:sp>
        <p:sp>
          <p:nvSpPr>
            <p:cNvPr id="505913" name="Rectangle 57"/>
            <p:cNvSpPr>
              <a:spLocks noChangeArrowheads="1"/>
            </p:cNvSpPr>
            <p:nvPr/>
          </p:nvSpPr>
          <p:spPr bwMode="auto">
            <a:xfrm>
              <a:off x="4697" y="1913"/>
              <a:ext cx="61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connections</a:t>
              </a:r>
              <a:endParaRPr lang="en-CA" altLang="fr-FR"/>
            </a:p>
          </p:txBody>
        </p:sp>
      </p:grpSp>
      <p:grpSp>
        <p:nvGrpSpPr>
          <p:cNvPr id="505918" name="Group 62"/>
          <p:cNvGrpSpPr>
            <a:grpSpLocks/>
          </p:cNvGrpSpPr>
          <p:nvPr/>
        </p:nvGrpSpPr>
        <p:grpSpPr bwMode="auto">
          <a:xfrm>
            <a:off x="7121525" y="2187575"/>
            <a:ext cx="1690688" cy="441325"/>
            <a:chOff x="4486" y="1378"/>
            <a:chExt cx="1065" cy="278"/>
          </a:xfrm>
        </p:grpSpPr>
        <p:sp>
          <p:nvSpPr>
            <p:cNvPr id="505915" name="Rectangle 59"/>
            <p:cNvSpPr>
              <a:spLocks noChangeArrowheads="1"/>
            </p:cNvSpPr>
            <p:nvPr/>
          </p:nvSpPr>
          <p:spPr bwMode="auto">
            <a:xfrm>
              <a:off x="4486" y="1383"/>
              <a:ext cx="988" cy="258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505916" name="Rectangle 60"/>
            <p:cNvSpPr>
              <a:spLocks noChangeArrowheads="1"/>
            </p:cNvSpPr>
            <p:nvPr/>
          </p:nvSpPr>
          <p:spPr bwMode="auto">
            <a:xfrm>
              <a:off x="4697" y="1378"/>
              <a:ext cx="730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Dealing with</a:t>
              </a:r>
              <a:endParaRPr lang="en-CA" altLang="fr-FR"/>
            </a:p>
          </p:txBody>
        </p:sp>
        <p:sp>
          <p:nvSpPr>
            <p:cNvPr id="505917" name="Rectangle 61"/>
            <p:cNvSpPr>
              <a:spLocks noChangeArrowheads="1"/>
            </p:cNvSpPr>
            <p:nvPr/>
          </p:nvSpPr>
          <p:spPr bwMode="auto">
            <a:xfrm>
              <a:off x="4502" y="1491"/>
              <a:ext cx="1049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application protocols</a:t>
              </a:r>
              <a:endParaRPr lang="en-CA" altLang="fr-FR"/>
            </a:p>
          </p:txBody>
        </p:sp>
      </p:grpSp>
      <p:sp>
        <p:nvSpPr>
          <p:cNvPr id="505919" name="Line 63"/>
          <p:cNvSpPr>
            <a:spLocks noChangeShapeType="1"/>
          </p:cNvSpPr>
          <p:nvPr/>
        </p:nvSpPr>
        <p:spPr bwMode="auto">
          <a:xfrm flipV="1">
            <a:off x="7881938" y="3968750"/>
            <a:ext cx="1587" cy="2444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05920" name="Line 64"/>
          <p:cNvSpPr>
            <a:spLocks noChangeShapeType="1"/>
          </p:cNvSpPr>
          <p:nvPr/>
        </p:nvSpPr>
        <p:spPr bwMode="auto">
          <a:xfrm flipV="1">
            <a:off x="7897813" y="3282950"/>
            <a:ext cx="1587" cy="2444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05921" name="Line 65"/>
          <p:cNvSpPr>
            <a:spLocks noChangeShapeType="1"/>
          </p:cNvSpPr>
          <p:nvPr/>
        </p:nvSpPr>
        <p:spPr bwMode="auto">
          <a:xfrm flipV="1">
            <a:off x="7897813" y="2595563"/>
            <a:ext cx="1587" cy="24606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05922" name="Rectangle 66"/>
          <p:cNvSpPr>
            <a:spLocks noChangeArrowheads="1"/>
          </p:cNvSpPr>
          <p:nvPr/>
        </p:nvSpPr>
        <p:spPr bwMode="auto">
          <a:xfrm>
            <a:off x="1985963" y="4767263"/>
            <a:ext cx="15843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</a:rPr>
              <a:t>a) Typical layers in an </a:t>
            </a:r>
            <a:endParaRPr lang="en-CA" altLang="fr-FR"/>
          </a:p>
        </p:txBody>
      </p:sp>
      <p:sp>
        <p:nvSpPr>
          <p:cNvPr id="505923" name="Rectangle 67"/>
          <p:cNvSpPr>
            <a:spLocks noChangeArrowheads="1"/>
          </p:cNvSpPr>
          <p:nvPr/>
        </p:nvSpPr>
        <p:spPr bwMode="auto">
          <a:xfrm>
            <a:off x="1985963" y="4964113"/>
            <a:ext cx="15668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</a:rPr>
              <a:t>    application program</a:t>
            </a:r>
            <a:endParaRPr lang="en-CA" altLang="fr-FR"/>
          </a:p>
        </p:txBody>
      </p:sp>
      <p:sp>
        <p:nvSpPr>
          <p:cNvPr id="505924" name="Rectangle 68"/>
          <p:cNvSpPr>
            <a:spLocks noChangeArrowheads="1"/>
          </p:cNvSpPr>
          <p:nvPr/>
        </p:nvSpPr>
        <p:spPr bwMode="auto">
          <a:xfrm>
            <a:off x="4910138" y="4767263"/>
            <a:ext cx="1600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</a:rPr>
              <a:t>b) Typical layers in an </a:t>
            </a:r>
            <a:endParaRPr lang="en-CA" altLang="fr-FR"/>
          </a:p>
        </p:txBody>
      </p:sp>
      <p:sp>
        <p:nvSpPr>
          <p:cNvPr id="505925" name="Rectangle 69"/>
          <p:cNvSpPr>
            <a:spLocks noChangeArrowheads="1"/>
          </p:cNvSpPr>
          <p:nvPr/>
        </p:nvSpPr>
        <p:spPr bwMode="auto">
          <a:xfrm>
            <a:off x="4910138" y="4964113"/>
            <a:ext cx="1371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</a:rPr>
              <a:t>    operating system</a:t>
            </a:r>
            <a:endParaRPr lang="en-CA" altLang="fr-FR"/>
          </a:p>
        </p:txBody>
      </p:sp>
      <p:sp>
        <p:nvSpPr>
          <p:cNvPr id="505926" name="Rectangle 70"/>
          <p:cNvSpPr>
            <a:spLocks noChangeArrowheads="1"/>
          </p:cNvSpPr>
          <p:nvPr/>
        </p:nvSpPr>
        <p:spPr bwMode="auto">
          <a:xfrm>
            <a:off x="6999288" y="4767263"/>
            <a:ext cx="190976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</a:rPr>
              <a:t>c) Simplified view of layers </a:t>
            </a:r>
            <a:endParaRPr lang="en-CA" altLang="fr-FR"/>
          </a:p>
        </p:txBody>
      </p:sp>
      <p:sp>
        <p:nvSpPr>
          <p:cNvPr id="505927" name="Rectangle 71"/>
          <p:cNvSpPr>
            <a:spLocks noChangeArrowheads="1"/>
          </p:cNvSpPr>
          <p:nvPr/>
        </p:nvSpPr>
        <p:spPr bwMode="auto">
          <a:xfrm>
            <a:off x="6999288" y="4964113"/>
            <a:ext cx="20732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</a:rPr>
              <a:t>    in a communication system</a:t>
            </a:r>
            <a:endParaRPr lang="en-CA" altLang="fr-FR"/>
          </a:p>
        </p:txBody>
      </p:sp>
      <p:sp>
        <p:nvSpPr>
          <p:cNvPr id="505928" name="Rectangle 72"/>
          <p:cNvSpPr>
            <a:spLocks noChangeArrowheads="1"/>
          </p:cNvSpPr>
          <p:nvPr/>
        </p:nvSpPr>
        <p:spPr bwMode="auto">
          <a:xfrm>
            <a:off x="1014413" y="4237038"/>
            <a:ext cx="1355725" cy="409575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05929" name="Rectangle 73"/>
          <p:cNvSpPr>
            <a:spLocks noChangeArrowheads="1"/>
          </p:cNvSpPr>
          <p:nvPr/>
        </p:nvSpPr>
        <p:spPr bwMode="auto">
          <a:xfrm>
            <a:off x="1039813" y="4229100"/>
            <a:ext cx="1519237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Operating system</a:t>
            </a:r>
            <a:endParaRPr lang="en-CA" altLang="fr-FR"/>
          </a:p>
        </p:txBody>
      </p:sp>
      <p:sp>
        <p:nvSpPr>
          <p:cNvPr id="505930" name="Rectangle 74"/>
          <p:cNvSpPr>
            <a:spLocks noChangeArrowheads="1"/>
          </p:cNvSpPr>
          <p:nvPr/>
        </p:nvSpPr>
        <p:spPr bwMode="auto">
          <a:xfrm>
            <a:off x="1431925" y="4408488"/>
            <a:ext cx="555625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access</a:t>
            </a:r>
            <a:endParaRPr lang="en-CA" altLang="fr-FR"/>
          </a:p>
        </p:txBody>
      </p:sp>
      <p:sp>
        <p:nvSpPr>
          <p:cNvPr id="505931" name="Line 75"/>
          <p:cNvSpPr>
            <a:spLocks noChangeShapeType="1"/>
          </p:cNvSpPr>
          <p:nvPr/>
        </p:nvSpPr>
        <p:spPr bwMode="auto">
          <a:xfrm flipV="1">
            <a:off x="2263775" y="3968750"/>
            <a:ext cx="1588" cy="2444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05932" name="Rectangle 76"/>
          <p:cNvSpPr>
            <a:spLocks noChangeArrowheads="1"/>
          </p:cNvSpPr>
          <p:nvPr/>
        </p:nvSpPr>
        <p:spPr bwMode="auto">
          <a:xfrm>
            <a:off x="1014413" y="4122738"/>
            <a:ext cx="230187" cy="1143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05933" name="Rectangle 77"/>
          <p:cNvSpPr>
            <a:spLocks noChangeArrowheads="1"/>
          </p:cNvSpPr>
          <p:nvPr/>
        </p:nvSpPr>
        <p:spPr bwMode="auto">
          <a:xfrm>
            <a:off x="2468563" y="4122738"/>
            <a:ext cx="228600" cy="1143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05934" name="Rectangle 78"/>
          <p:cNvSpPr>
            <a:spLocks noChangeArrowheads="1"/>
          </p:cNvSpPr>
          <p:nvPr/>
        </p:nvSpPr>
        <p:spPr bwMode="auto">
          <a:xfrm>
            <a:off x="3349625" y="4122738"/>
            <a:ext cx="246063" cy="1143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05935" name="Rectangle 79"/>
          <p:cNvSpPr>
            <a:spLocks noChangeArrowheads="1"/>
          </p:cNvSpPr>
          <p:nvPr/>
        </p:nvSpPr>
        <p:spPr bwMode="auto">
          <a:xfrm>
            <a:off x="1962150" y="3436938"/>
            <a:ext cx="228600" cy="1143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05936" name="Rectangle 80"/>
          <p:cNvSpPr>
            <a:spLocks noChangeArrowheads="1"/>
          </p:cNvSpPr>
          <p:nvPr/>
        </p:nvSpPr>
        <p:spPr bwMode="auto">
          <a:xfrm>
            <a:off x="2500313" y="2751138"/>
            <a:ext cx="230187" cy="1143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05937" name="Rectangle 81"/>
          <p:cNvSpPr>
            <a:spLocks noChangeArrowheads="1"/>
          </p:cNvSpPr>
          <p:nvPr/>
        </p:nvSpPr>
        <p:spPr bwMode="auto">
          <a:xfrm>
            <a:off x="4851400" y="3927475"/>
            <a:ext cx="230188" cy="1143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05938" name="Rectangle 82"/>
          <p:cNvSpPr>
            <a:spLocks noChangeArrowheads="1"/>
          </p:cNvSpPr>
          <p:nvPr/>
        </p:nvSpPr>
        <p:spPr bwMode="auto">
          <a:xfrm>
            <a:off x="5848350" y="3257550"/>
            <a:ext cx="228600" cy="1143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05939" name="Rectangle 83"/>
          <p:cNvSpPr>
            <a:spLocks noChangeArrowheads="1"/>
          </p:cNvSpPr>
          <p:nvPr/>
        </p:nvSpPr>
        <p:spPr bwMode="auto">
          <a:xfrm>
            <a:off x="5521325" y="2571750"/>
            <a:ext cx="228600" cy="1143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05940" name="Rectangle 84"/>
          <p:cNvSpPr>
            <a:spLocks noChangeArrowheads="1"/>
          </p:cNvSpPr>
          <p:nvPr/>
        </p:nvSpPr>
        <p:spPr bwMode="auto">
          <a:xfrm>
            <a:off x="5260975" y="1885950"/>
            <a:ext cx="228600" cy="1143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05941" name="Rectangle 85"/>
          <p:cNvSpPr>
            <a:spLocks noChangeArrowheads="1"/>
          </p:cNvSpPr>
          <p:nvPr/>
        </p:nvSpPr>
        <p:spPr bwMode="auto">
          <a:xfrm>
            <a:off x="4705350" y="1379538"/>
            <a:ext cx="228600" cy="1143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05942" name="Rectangle 86"/>
          <p:cNvSpPr>
            <a:spLocks noChangeArrowheads="1"/>
          </p:cNvSpPr>
          <p:nvPr/>
        </p:nvSpPr>
        <p:spPr bwMode="auto">
          <a:xfrm>
            <a:off x="7121525" y="2081213"/>
            <a:ext cx="228600" cy="115887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05943" name="Rectangle 87"/>
          <p:cNvSpPr>
            <a:spLocks noChangeArrowheads="1"/>
          </p:cNvSpPr>
          <p:nvPr/>
        </p:nvSpPr>
        <p:spPr bwMode="auto">
          <a:xfrm>
            <a:off x="7415213" y="2751138"/>
            <a:ext cx="230187" cy="1143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05944" name="Rectangle 88"/>
          <p:cNvSpPr>
            <a:spLocks noChangeArrowheads="1"/>
          </p:cNvSpPr>
          <p:nvPr/>
        </p:nvSpPr>
        <p:spPr bwMode="auto">
          <a:xfrm>
            <a:off x="7415213" y="3436938"/>
            <a:ext cx="246062" cy="1143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05945" name="Rectangle 89"/>
          <p:cNvSpPr>
            <a:spLocks noChangeArrowheads="1"/>
          </p:cNvSpPr>
          <p:nvPr/>
        </p:nvSpPr>
        <p:spPr bwMode="auto">
          <a:xfrm>
            <a:off x="7383463" y="4122738"/>
            <a:ext cx="228600" cy="1143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grpSp>
        <p:nvGrpSpPr>
          <p:cNvPr id="505948" name="Group 92"/>
          <p:cNvGrpSpPr>
            <a:grpSpLocks/>
          </p:cNvGrpSpPr>
          <p:nvPr/>
        </p:nvGrpSpPr>
        <p:grpSpPr bwMode="auto">
          <a:xfrm>
            <a:off x="2214563" y="4164013"/>
            <a:ext cx="98425" cy="49212"/>
            <a:chOff x="1395" y="2623"/>
            <a:chExt cx="62" cy="31"/>
          </a:xfrm>
        </p:grpSpPr>
        <p:sp>
          <p:nvSpPr>
            <p:cNvPr id="505946" name="Line 90"/>
            <p:cNvSpPr>
              <a:spLocks noChangeShapeType="1"/>
            </p:cNvSpPr>
            <p:nvPr/>
          </p:nvSpPr>
          <p:spPr bwMode="auto">
            <a:xfrm flipV="1">
              <a:off x="1426" y="2623"/>
              <a:ext cx="31" cy="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505947" name="Line 91"/>
            <p:cNvSpPr>
              <a:spLocks noChangeShapeType="1"/>
            </p:cNvSpPr>
            <p:nvPr/>
          </p:nvSpPr>
          <p:spPr bwMode="auto">
            <a:xfrm flipH="1" flipV="1">
              <a:off x="1395" y="2623"/>
              <a:ext cx="31" cy="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505951" name="Group 95"/>
          <p:cNvGrpSpPr>
            <a:grpSpLocks/>
          </p:cNvGrpSpPr>
          <p:nvPr/>
        </p:nvGrpSpPr>
        <p:grpSpPr bwMode="auto">
          <a:xfrm>
            <a:off x="2852738" y="4164013"/>
            <a:ext cx="96837" cy="49212"/>
            <a:chOff x="1797" y="2623"/>
            <a:chExt cx="61" cy="31"/>
          </a:xfrm>
        </p:grpSpPr>
        <p:sp>
          <p:nvSpPr>
            <p:cNvPr id="505949" name="Line 93"/>
            <p:cNvSpPr>
              <a:spLocks noChangeShapeType="1"/>
            </p:cNvSpPr>
            <p:nvPr/>
          </p:nvSpPr>
          <p:spPr bwMode="auto">
            <a:xfrm flipV="1">
              <a:off x="1827" y="2623"/>
              <a:ext cx="31" cy="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505950" name="Line 94"/>
            <p:cNvSpPr>
              <a:spLocks noChangeShapeType="1"/>
            </p:cNvSpPr>
            <p:nvPr/>
          </p:nvSpPr>
          <p:spPr bwMode="auto">
            <a:xfrm flipH="1" flipV="1">
              <a:off x="1797" y="2623"/>
              <a:ext cx="30" cy="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505954" name="Group 98"/>
          <p:cNvGrpSpPr>
            <a:grpSpLocks/>
          </p:cNvGrpSpPr>
          <p:nvPr/>
        </p:nvGrpSpPr>
        <p:grpSpPr bwMode="auto">
          <a:xfrm>
            <a:off x="3635375" y="4164013"/>
            <a:ext cx="98425" cy="49212"/>
            <a:chOff x="2290" y="2623"/>
            <a:chExt cx="62" cy="31"/>
          </a:xfrm>
        </p:grpSpPr>
        <p:sp>
          <p:nvSpPr>
            <p:cNvPr id="505952" name="Line 96"/>
            <p:cNvSpPr>
              <a:spLocks noChangeShapeType="1"/>
            </p:cNvSpPr>
            <p:nvPr/>
          </p:nvSpPr>
          <p:spPr bwMode="auto">
            <a:xfrm flipV="1">
              <a:off x="2321" y="2623"/>
              <a:ext cx="31" cy="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505953" name="Line 97"/>
            <p:cNvSpPr>
              <a:spLocks noChangeShapeType="1"/>
            </p:cNvSpPr>
            <p:nvPr/>
          </p:nvSpPr>
          <p:spPr bwMode="auto">
            <a:xfrm flipH="1" flipV="1">
              <a:off x="2290" y="2623"/>
              <a:ext cx="31" cy="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505957" name="Group 101"/>
          <p:cNvGrpSpPr>
            <a:grpSpLocks/>
          </p:cNvGrpSpPr>
          <p:nvPr/>
        </p:nvGrpSpPr>
        <p:grpSpPr bwMode="auto">
          <a:xfrm>
            <a:off x="2803525" y="3478213"/>
            <a:ext cx="96838" cy="49212"/>
            <a:chOff x="1766" y="2191"/>
            <a:chExt cx="61" cy="31"/>
          </a:xfrm>
        </p:grpSpPr>
        <p:sp>
          <p:nvSpPr>
            <p:cNvPr id="505955" name="Line 99"/>
            <p:cNvSpPr>
              <a:spLocks noChangeShapeType="1"/>
            </p:cNvSpPr>
            <p:nvPr/>
          </p:nvSpPr>
          <p:spPr bwMode="auto">
            <a:xfrm flipV="1">
              <a:off x="1797" y="2191"/>
              <a:ext cx="30" cy="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505956" name="Line 100"/>
            <p:cNvSpPr>
              <a:spLocks noChangeShapeType="1"/>
            </p:cNvSpPr>
            <p:nvPr/>
          </p:nvSpPr>
          <p:spPr bwMode="auto">
            <a:xfrm flipH="1" flipV="1">
              <a:off x="1766" y="2191"/>
              <a:ext cx="31" cy="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505960" name="Group 104"/>
          <p:cNvGrpSpPr>
            <a:grpSpLocks/>
          </p:cNvGrpSpPr>
          <p:nvPr/>
        </p:nvGrpSpPr>
        <p:grpSpPr bwMode="auto">
          <a:xfrm>
            <a:off x="5741988" y="1927225"/>
            <a:ext cx="98425" cy="49213"/>
            <a:chOff x="3617" y="1214"/>
            <a:chExt cx="62" cy="31"/>
          </a:xfrm>
        </p:grpSpPr>
        <p:sp>
          <p:nvSpPr>
            <p:cNvPr id="505958" name="Line 102"/>
            <p:cNvSpPr>
              <a:spLocks noChangeShapeType="1"/>
            </p:cNvSpPr>
            <p:nvPr/>
          </p:nvSpPr>
          <p:spPr bwMode="auto">
            <a:xfrm flipV="1">
              <a:off x="3648" y="1214"/>
              <a:ext cx="31" cy="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505959" name="Line 103"/>
            <p:cNvSpPr>
              <a:spLocks noChangeShapeType="1"/>
            </p:cNvSpPr>
            <p:nvPr/>
          </p:nvSpPr>
          <p:spPr bwMode="auto">
            <a:xfrm flipH="1" flipV="1">
              <a:off x="3617" y="1214"/>
              <a:ext cx="31" cy="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505963" name="Group 107"/>
          <p:cNvGrpSpPr>
            <a:grpSpLocks/>
          </p:cNvGrpSpPr>
          <p:nvPr/>
        </p:nvGrpSpPr>
        <p:grpSpPr bwMode="auto">
          <a:xfrm>
            <a:off x="5905500" y="2613025"/>
            <a:ext cx="98425" cy="49213"/>
            <a:chOff x="3720" y="1646"/>
            <a:chExt cx="62" cy="31"/>
          </a:xfrm>
        </p:grpSpPr>
        <p:sp>
          <p:nvSpPr>
            <p:cNvPr id="505961" name="Line 105"/>
            <p:cNvSpPr>
              <a:spLocks noChangeShapeType="1"/>
            </p:cNvSpPr>
            <p:nvPr/>
          </p:nvSpPr>
          <p:spPr bwMode="auto">
            <a:xfrm flipV="1">
              <a:off x="3751" y="1646"/>
              <a:ext cx="31" cy="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505962" name="Line 106"/>
            <p:cNvSpPr>
              <a:spLocks noChangeShapeType="1"/>
            </p:cNvSpPr>
            <p:nvPr/>
          </p:nvSpPr>
          <p:spPr bwMode="auto">
            <a:xfrm flipH="1" flipV="1">
              <a:off x="3720" y="1646"/>
              <a:ext cx="31" cy="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505966" name="Group 110"/>
          <p:cNvGrpSpPr>
            <a:grpSpLocks/>
          </p:cNvGrpSpPr>
          <p:nvPr/>
        </p:nvGrpSpPr>
        <p:grpSpPr bwMode="auto">
          <a:xfrm>
            <a:off x="6232525" y="3298825"/>
            <a:ext cx="96838" cy="49213"/>
            <a:chOff x="3926" y="2078"/>
            <a:chExt cx="61" cy="31"/>
          </a:xfrm>
        </p:grpSpPr>
        <p:sp>
          <p:nvSpPr>
            <p:cNvPr id="505964" name="Line 108"/>
            <p:cNvSpPr>
              <a:spLocks noChangeShapeType="1"/>
            </p:cNvSpPr>
            <p:nvPr/>
          </p:nvSpPr>
          <p:spPr bwMode="auto">
            <a:xfrm flipV="1">
              <a:off x="3957" y="2078"/>
              <a:ext cx="30" cy="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505965" name="Line 109"/>
            <p:cNvSpPr>
              <a:spLocks noChangeShapeType="1"/>
            </p:cNvSpPr>
            <p:nvPr/>
          </p:nvSpPr>
          <p:spPr bwMode="auto">
            <a:xfrm flipH="1" flipV="1">
              <a:off x="3926" y="2078"/>
              <a:ext cx="31" cy="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505969" name="Group 113"/>
          <p:cNvGrpSpPr>
            <a:grpSpLocks/>
          </p:cNvGrpSpPr>
          <p:nvPr/>
        </p:nvGrpSpPr>
        <p:grpSpPr bwMode="auto">
          <a:xfrm>
            <a:off x="6297613" y="3968750"/>
            <a:ext cx="98425" cy="47625"/>
            <a:chOff x="3967" y="2500"/>
            <a:chExt cx="62" cy="30"/>
          </a:xfrm>
        </p:grpSpPr>
        <p:sp>
          <p:nvSpPr>
            <p:cNvPr id="505967" name="Line 111"/>
            <p:cNvSpPr>
              <a:spLocks noChangeShapeType="1"/>
            </p:cNvSpPr>
            <p:nvPr/>
          </p:nvSpPr>
          <p:spPr bwMode="auto">
            <a:xfrm flipV="1">
              <a:off x="3998" y="2500"/>
              <a:ext cx="31" cy="3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505968" name="Line 112"/>
            <p:cNvSpPr>
              <a:spLocks noChangeShapeType="1"/>
            </p:cNvSpPr>
            <p:nvPr/>
          </p:nvSpPr>
          <p:spPr bwMode="auto">
            <a:xfrm flipH="1" flipV="1">
              <a:off x="3967" y="2500"/>
              <a:ext cx="31" cy="3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505972" name="Group 116"/>
          <p:cNvGrpSpPr>
            <a:grpSpLocks/>
          </p:cNvGrpSpPr>
          <p:nvPr/>
        </p:nvGrpSpPr>
        <p:grpSpPr bwMode="auto">
          <a:xfrm>
            <a:off x="5627688" y="3968750"/>
            <a:ext cx="98425" cy="47625"/>
            <a:chOff x="3545" y="2500"/>
            <a:chExt cx="62" cy="30"/>
          </a:xfrm>
        </p:grpSpPr>
        <p:sp>
          <p:nvSpPr>
            <p:cNvPr id="505970" name="Line 114"/>
            <p:cNvSpPr>
              <a:spLocks noChangeShapeType="1"/>
            </p:cNvSpPr>
            <p:nvPr/>
          </p:nvSpPr>
          <p:spPr bwMode="auto">
            <a:xfrm flipV="1">
              <a:off x="3576" y="2500"/>
              <a:ext cx="31" cy="3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505971" name="Line 115"/>
            <p:cNvSpPr>
              <a:spLocks noChangeShapeType="1"/>
            </p:cNvSpPr>
            <p:nvPr/>
          </p:nvSpPr>
          <p:spPr bwMode="auto">
            <a:xfrm flipH="1" flipV="1">
              <a:off x="3545" y="2500"/>
              <a:ext cx="31" cy="3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505975" name="Group 119"/>
          <p:cNvGrpSpPr>
            <a:grpSpLocks/>
          </p:cNvGrpSpPr>
          <p:nvPr/>
        </p:nvGrpSpPr>
        <p:grpSpPr bwMode="auto">
          <a:xfrm>
            <a:off x="5121275" y="3968750"/>
            <a:ext cx="98425" cy="47625"/>
            <a:chOff x="3226" y="2500"/>
            <a:chExt cx="62" cy="30"/>
          </a:xfrm>
        </p:grpSpPr>
        <p:sp>
          <p:nvSpPr>
            <p:cNvPr id="505973" name="Line 117"/>
            <p:cNvSpPr>
              <a:spLocks noChangeShapeType="1"/>
            </p:cNvSpPr>
            <p:nvPr/>
          </p:nvSpPr>
          <p:spPr bwMode="auto">
            <a:xfrm flipV="1">
              <a:off x="3257" y="2500"/>
              <a:ext cx="31" cy="3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505974" name="Line 118"/>
            <p:cNvSpPr>
              <a:spLocks noChangeShapeType="1"/>
            </p:cNvSpPr>
            <p:nvPr/>
          </p:nvSpPr>
          <p:spPr bwMode="auto">
            <a:xfrm flipH="1" flipV="1">
              <a:off x="3226" y="2500"/>
              <a:ext cx="31" cy="3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505978" name="Group 122"/>
          <p:cNvGrpSpPr>
            <a:grpSpLocks/>
          </p:cNvGrpSpPr>
          <p:nvPr/>
        </p:nvGrpSpPr>
        <p:grpSpPr bwMode="auto">
          <a:xfrm>
            <a:off x="5367338" y="3968750"/>
            <a:ext cx="96837" cy="47625"/>
            <a:chOff x="3381" y="2500"/>
            <a:chExt cx="61" cy="30"/>
          </a:xfrm>
        </p:grpSpPr>
        <p:sp>
          <p:nvSpPr>
            <p:cNvPr id="505976" name="Line 120"/>
            <p:cNvSpPr>
              <a:spLocks noChangeShapeType="1"/>
            </p:cNvSpPr>
            <p:nvPr/>
          </p:nvSpPr>
          <p:spPr bwMode="auto">
            <a:xfrm flipV="1">
              <a:off x="3411" y="2500"/>
              <a:ext cx="31" cy="3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505977" name="Line 121"/>
            <p:cNvSpPr>
              <a:spLocks noChangeShapeType="1"/>
            </p:cNvSpPr>
            <p:nvPr/>
          </p:nvSpPr>
          <p:spPr bwMode="auto">
            <a:xfrm flipH="1" flipV="1">
              <a:off x="3381" y="2500"/>
              <a:ext cx="30" cy="3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505981" name="Group 125"/>
          <p:cNvGrpSpPr>
            <a:grpSpLocks/>
          </p:cNvGrpSpPr>
          <p:nvPr/>
        </p:nvGrpSpPr>
        <p:grpSpPr bwMode="auto">
          <a:xfrm>
            <a:off x="7832725" y="4164013"/>
            <a:ext cx="96838" cy="49212"/>
            <a:chOff x="4934" y="2623"/>
            <a:chExt cx="61" cy="31"/>
          </a:xfrm>
        </p:grpSpPr>
        <p:sp>
          <p:nvSpPr>
            <p:cNvPr id="505979" name="Line 123"/>
            <p:cNvSpPr>
              <a:spLocks noChangeShapeType="1"/>
            </p:cNvSpPr>
            <p:nvPr/>
          </p:nvSpPr>
          <p:spPr bwMode="auto">
            <a:xfrm flipV="1">
              <a:off x="4965" y="2623"/>
              <a:ext cx="30" cy="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505980" name="Line 124"/>
            <p:cNvSpPr>
              <a:spLocks noChangeShapeType="1"/>
            </p:cNvSpPr>
            <p:nvPr/>
          </p:nvSpPr>
          <p:spPr bwMode="auto">
            <a:xfrm flipH="1" flipV="1">
              <a:off x="4934" y="2623"/>
              <a:ext cx="31" cy="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505984" name="Group 128"/>
          <p:cNvGrpSpPr>
            <a:grpSpLocks/>
          </p:cNvGrpSpPr>
          <p:nvPr/>
        </p:nvGrpSpPr>
        <p:grpSpPr bwMode="auto">
          <a:xfrm>
            <a:off x="7848600" y="3478213"/>
            <a:ext cx="98425" cy="49212"/>
            <a:chOff x="4944" y="2191"/>
            <a:chExt cx="62" cy="31"/>
          </a:xfrm>
        </p:grpSpPr>
        <p:sp>
          <p:nvSpPr>
            <p:cNvPr id="505982" name="Line 126"/>
            <p:cNvSpPr>
              <a:spLocks noChangeShapeType="1"/>
            </p:cNvSpPr>
            <p:nvPr/>
          </p:nvSpPr>
          <p:spPr bwMode="auto">
            <a:xfrm flipV="1">
              <a:off x="4975" y="2191"/>
              <a:ext cx="31" cy="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505983" name="Line 127"/>
            <p:cNvSpPr>
              <a:spLocks noChangeShapeType="1"/>
            </p:cNvSpPr>
            <p:nvPr/>
          </p:nvSpPr>
          <p:spPr bwMode="auto">
            <a:xfrm flipH="1" flipV="1">
              <a:off x="4944" y="2191"/>
              <a:ext cx="31" cy="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505987" name="Group 131"/>
          <p:cNvGrpSpPr>
            <a:grpSpLocks/>
          </p:cNvGrpSpPr>
          <p:nvPr/>
        </p:nvGrpSpPr>
        <p:grpSpPr bwMode="auto">
          <a:xfrm>
            <a:off x="7848600" y="2792413"/>
            <a:ext cx="98425" cy="49212"/>
            <a:chOff x="4944" y="1759"/>
            <a:chExt cx="62" cy="31"/>
          </a:xfrm>
        </p:grpSpPr>
        <p:sp>
          <p:nvSpPr>
            <p:cNvPr id="505985" name="Line 129"/>
            <p:cNvSpPr>
              <a:spLocks noChangeShapeType="1"/>
            </p:cNvSpPr>
            <p:nvPr/>
          </p:nvSpPr>
          <p:spPr bwMode="auto">
            <a:xfrm flipV="1">
              <a:off x="4975" y="1759"/>
              <a:ext cx="31" cy="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505986" name="Line 130"/>
            <p:cNvSpPr>
              <a:spLocks noChangeShapeType="1"/>
            </p:cNvSpPr>
            <p:nvPr/>
          </p:nvSpPr>
          <p:spPr bwMode="auto">
            <a:xfrm flipH="1" flipV="1">
              <a:off x="4944" y="1759"/>
              <a:ext cx="31" cy="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19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113017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Communicational cohesion</a:t>
            </a:r>
          </a:p>
        </p:txBody>
      </p:sp>
      <p:sp>
        <p:nvSpPr>
          <p:cNvPr id="506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All the modules that access or manipulate certain data are kept together (e.g. in the same class) - and everything else is kept out</a:t>
            </a:r>
            <a:r>
              <a:rPr lang="en-US" altLang="en-US"/>
              <a:t> </a:t>
            </a:r>
          </a:p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class would have good communicational cohesion </a:t>
            </a:r>
          </a:p>
          <a:p>
            <a:pPr lvl="2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if all the system’s facilities for storing and manipulating its data are contained in this class.</a:t>
            </a:r>
          </a:p>
          <a:p>
            <a:pPr lvl="2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if the class does not do anything other than manage its data.</a:t>
            </a:r>
            <a:endParaRPr lang="en-US" altLang="en-US"/>
          </a:p>
          <a:p>
            <a:pPr lvl="1"/>
            <a:r>
              <a:rPr lang="en-US" altLang="en-US"/>
              <a:t>Main advantage: 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When you need to make changes to the data, you  find all the code in one place</a:t>
            </a:r>
            <a:r>
              <a:rPr lang="en-US" altLang="en-US"/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20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780092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Sequential cohesion</a:t>
            </a:r>
          </a:p>
        </p:txBody>
      </p:sp>
      <p:sp>
        <p:nvSpPr>
          <p:cNvPr id="508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Procedures, in which one procedure provides input to the next, are kept together – and everything else is kept out</a:t>
            </a:r>
          </a:p>
          <a:p>
            <a:pPr lvl="1"/>
            <a:r>
              <a:rPr lang="en-US" altLang="en-US"/>
              <a:t>You should 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achieve sequential cohesion, only once you have already achieved the preceding types of cohesion. </a:t>
            </a:r>
            <a:r>
              <a:rPr lang="en-US" altLang="en-US"/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21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5058566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Procedural cohesion</a:t>
            </a:r>
          </a:p>
        </p:txBody>
      </p:sp>
      <p:sp>
        <p:nvSpPr>
          <p:cNvPr id="510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Keep together several procedures that are used one after another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Even if one does not necessarily provide input to the next.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Weaker than sequential cohesion</a:t>
            </a:r>
            <a:r>
              <a:rPr lang="en-US" altLang="en-US"/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22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098170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Temporal Cohesion</a:t>
            </a:r>
            <a:endParaRPr lang="en-GB" altLang="en-US" b="1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13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Operations that are performed during the same phase of the execution of the program are kept together, and everything else is kept out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For example, placing together the code used during system start-up or initialization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Weaker than procedural cohesion.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23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3072762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Utility cohesion</a:t>
            </a:r>
          </a:p>
        </p:txBody>
      </p:sp>
      <p:sp>
        <p:nvSpPr>
          <p:cNvPr id="515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When related utilities which cannot be logically placed in other cohesive units are kept together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utility is a procedure or class that has wide applicability to many different subsystems and is designed to be reusable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For example, the </a:t>
            </a:r>
            <a:r>
              <a:rPr lang="en-GB" altLang="en-US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java.lang.Math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class.</a:t>
            </a:r>
            <a:endParaRPr lang="en-US" altLang="en-US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24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0876976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Design Principle 3: Reduce coupling where possible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  <p:sp>
        <p:nvSpPr>
          <p:cNvPr id="416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Coupling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occurs when there are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interdependencies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between one module and another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When interdependencies exist, changes in one place will require changes somewhere else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network of interdependencies makes it hard to see at a glance how some component works.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Type of coupling:</a:t>
            </a:r>
          </a:p>
          <a:p>
            <a:pPr lvl="2"/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Content, Common, Control, Stamp, Data, Routine Call, Type use, Inclusion/Import, External 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4167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5048250"/>
            <a:ext cx="3200400" cy="117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25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7639718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Content coupling: </a:t>
            </a:r>
          </a:p>
        </p:txBody>
      </p:sp>
      <p:sp>
        <p:nvSpPr>
          <p:cNvPr id="417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Occurs when one component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surreptitiously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modifies data that is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internal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to another component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To reduce content coupling you should therefore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encapsulate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all instance variables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declare them </a:t>
            </a:r>
            <a:r>
              <a:rPr lang="en-GB" altLang="en-US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private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and provide get and set methods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worse form of content coupling occurs when you directly modify an instance variable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of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an instance variable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26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8581651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-99392"/>
            <a:ext cx="7772400" cy="1143000"/>
          </a:xfrm>
        </p:spPr>
        <p:txBody>
          <a:bodyPr/>
          <a:lstStyle/>
          <a:p>
            <a:r>
              <a:rPr lang="en-US" altLang="en-US"/>
              <a:t>Example of content coupling</a:t>
            </a:r>
          </a:p>
        </p:txBody>
      </p:sp>
      <p:sp>
        <p:nvSpPr>
          <p:cNvPr id="519172" name="Rectangle 4"/>
          <p:cNvSpPr>
            <a:spLocks noChangeArrowheads="1"/>
          </p:cNvSpPr>
          <p:nvPr/>
        </p:nvSpPr>
        <p:spPr bwMode="auto">
          <a:xfrm>
            <a:off x="1600200" y="1050925"/>
            <a:ext cx="7086600" cy="534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en-US" sz="18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public class Line</a:t>
            </a:r>
          </a:p>
          <a:p>
            <a:r>
              <a:rPr lang="en-GB" altLang="en-US" sz="18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{</a:t>
            </a:r>
          </a:p>
          <a:p>
            <a:r>
              <a:rPr lang="en-GB" altLang="en-US" sz="18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private Point start, end;</a:t>
            </a:r>
          </a:p>
          <a:p>
            <a:r>
              <a:rPr lang="en-GB" altLang="en-US" sz="18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...</a:t>
            </a:r>
          </a:p>
          <a:p>
            <a:r>
              <a:rPr lang="en-GB" altLang="en-US" sz="18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public Point getStart() { return start; }</a:t>
            </a:r>
          </a:p>
          <a:p>
            <a:r>
              <a:rPr lang="en-GB" altLang="en-US" sz="18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public Point getEnd()  { return end; }</a:t>
            </a:r>
          </a:p>
          <a:p>
            <a:r>
              <a:rPr lang="en-GB" altLang="en-US" sz="18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r>
              <a:rPr lang="en-GB" altLang="en-US" sz="18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 </a:t>
            </a:r>
          </a:p>
          <a:p>
            <a:r>
              <a:rPr lang="en-GB" altLang="en-US" sz="18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public class Arch</a:t>
            </a:r>
          </a:p>
          <a:p>
            <a:r>
              <a:rPr lang="en-GB" altLang="en-US" sz="18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{</a:t>
            </a:r>
          </a:p>
          <a:p>
            <a:r>
              <a:rPr lang="en-GB" altLang="en-US" sz="18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private Line baseline;</a:t>
            </a:r>
          </a:p>
          <a:p>
            <a:r>
              <a:rPr lang="en-GB" altLang="en-US" sz="18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...</a:t>
            </a:r>
          </a:p>
          <a:p>
            <a:r>
              <a:rPr lang="en-GB" altLang="en-US" sz="18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void slant(int newY)</a:t>
            </a:r>
          </a:p>
          <a:p>
            <a:r>
              <a:rPr lang="en-GB" altLang="en-US" sz="18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{</a:t>
            </a:r>
          </a:p>
          <a:p>
            <a:r>
              <a:rPr lang="en-GB" altLang="en-US" sz="18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Point theEnd = baseline.getEnd();</a:t>
            </a:r>
          </a:p>
          <a:p>
            <a:r>
              <a:rPr lang="en-GB" altLang="en-US" sz="18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theEnd.setLocation(theEnd.getX(),newY);</a:t>
            </a:r>
          </a:p>
          <a:p>
            <a:r>
              <a:rPr lang="en-GB" altLang="en-US" sz="18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}</a:t>
            </a:r>
          </a:p>
          <a:p>
            <a:r>
              <a:rPr lang="en-GB" altLang="en-US" sz="18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endParaRPr lang="en-GB" altLang="en-US" sz="2000" b="1">
              <a:latin typeface="Courier" pitchFamily="49" charset="0"/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27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8169573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Common coupling</a:t>
            </a:r>
          </a:p>
        </p:txBody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Occurs whenever you use a global variable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All the components using the global variable become coupled to each other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weaker form of common coupling is when a variable can be accessed by a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subset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of the system’s classes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e.g. a Java package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Can be acceptable for creating global variables that represent system-wide default values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Singleton pattern provides encapsulated global access to an object</a:t>
            </a:r>
            <a:r>
              <a:rPr lang="en-US" altLang="en-US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GB" altLang="en-US" b="1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28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126493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Control coupling </a:t>
            </a:r>
          </a:p>
        </p:txBody>
      </p:sp>
      <p:sp>
        <p:nvSpPr>
          <p:cNvPr id="520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Occurs when one procedure calls another using a ‘flag’ or ‘command’ that explicitly controls what the second procedure does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To make a change you have to change both the calling and called method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use of polymorphic operations is normally the best way to avoid control coupling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One way to reduce the control coupling could be to have a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look-up table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commands are then mapped to a method that should be called when that command is issued</a:t>
            </a:r>
            <a:r>
              <a:rPr lang="en-US" altLang="en-US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29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188677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Example of control coupling</a:t>
            </a:r>
          </a:p>
        </p:txBody>
      </p:sp>
      <p:sp>
        <p:nvSpPr>
          <p:cNvPr id="522244" name="Rectangle 4"/>
          <p:cNvSpPr>
            <a:spLocks noChangeArrowheads="1"/>
          </p:cNvSpPr>
          <p:nvPr/>
        </p:nvSpPr>
        <p:spPr bwMode="auto">
          <a:xfrm>
            <a:off x="1524000" y="1676400"/>
            <a:ext cx="5867400" cy="344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fr-FR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public routineX(String command)</a:t>
            </a:r>
          </a:p>
          <a:p>
            <a:r>
              <a:rPr lang="en-GB" altLang="fr-FR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{</a:t>
            </a:r>
          </a:p>
          <a:p>
            <a:r>
              <a:rPr lang="en-GB" altLang="fr-FR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if (command.equals("drawCircle")</a:t>
            </a:r>
          </a:p>
          <a:p>
            <a:r>
              <a:rPr lang="en-GB" altLang="fr-FR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{</a:t>
            </a:r>
          </a:p>
          <a:p>
            <a:r>
              <a:rPr lang="en-GB" altLang="fr-FR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  drawCircle();</a:t>
            </a:r>
          </a:p>
          <a:p>
            <a:r>
              <a:rPr lang="en-GB" altLang="fr-FR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}</a:t>
            </a:r>
          </a:p>
          <a:p>
            <a:r>
              <a:rPr lang="en-GB" altLang="fr-FR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else</a:t>
            </a:r>
          </a:p>
          <a:p>
            <a:r>
              <a:rPr lang="en-GB" altLang="fr-FR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{</a:t>
            </a:r>
          </a:p>
          <a:p>
            <a:r>
              <a:rPr lang="en-GB" altLang="fr-FR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  drawRectangle();</a:t>
            </a:r>
          </a:p>
          <a:p>
            <a:r>
              <a:rPr lang="en-GB" altLang="fr-FR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}</a:t>
            </a:r>
          </a:p>
          <a:p>
            <a:r>
              <a:rPr lang="en-GB" altLang="fr-FR" sz="2000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  <a:r>
              <a:rPr lang="en-US" altLang="en-US" sz="2000">
                <a:latin typeface="Courier" pitchFamily="49" charset="0"/>
              </a:rPr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30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42885316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Stamp coupling: </a:t>
            </a:r>
          </a:p>
        </p:txBody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Occurs whenever one of your application classes is declared as the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type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of a method argument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/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Since one class now uses the other, changing the system becomes harder</a:t>
            </a:r>
          </a:p>
          <a:p>
            <a:pPr lvl="2"/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Reusing one class requires reusing the other</a:t>
            </a:r>
          </a:p>
          <a:p>
            <a:pPr lvl="2"/>
            <a:endParaRPr lang="en-US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Two ways to reduce stamp coupling,</a:t>
            </a:r>
            <a:endParaRPr lang="en-US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using an interface as the argument type</a:t>
            </a:r>
            <a:endParaRPr lang="en-US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passing simple variables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31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917703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stamp coupling</a:t>
            </a:r>
          </a:p>
        </p:txBody>
      </p:sp>
      <p:sp>
        <p:nvSpPr>
          <p:cNvPr id="523268" name="Rectangle 4"/>
          <p:cNvSpPr>
            <a:spLocks noChangeArrowheads="1"/>
          </p:cNvSpPr>
          <p:nvPr/>
        </p:nvSpPr>
        <p:spPr bwMode="auto">
          <a:xfrm>
            <a:off x="1295400" y="1371600"/>
            <a:ext cx="7620000" cy="222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public class Emailer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{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public void sendEmail(Employee e, String text)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{...}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...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endParaRPr lang="en-GB" altLang="en-US" sz="2000">
              <a:latin typeface="Courier" pitchFamily="49" charset="0"/>
            </a:endParaRPr>
          </a:p>
        </p:txBody>
      </p:sp>
      <p:sp>
        <p:nvSpPr>
          <p:cNvPr id="523270" name="Rectangle 6"/>
          <p:cNvSpPr>
            <a:spLocks noChangeArrowheads="1"/>
          </p:cNvSpPr>
          <p:nvPr/>
        </p:nvSpPr>
        <p:spPr bwMode="auto">
          <a:xfrm>
            <a:off x="1295400" y="3870325"/>
            <a:ext cx="7467600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public class Emailer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{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public void sendEmail(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String name, String email, String text) 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{...}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...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endParaRPr lang="en-GB" altLang="en-US" sz="2000">
              <a:latin typeface="Courier" pitchFamily="49" charset="0"/>
            </a:endParaRPr>
          </a:p>
        </p:txBody>
      </p:sp>
      <p:sp>
        <p:nvSpPr>
          <p:cNvPr id="523271" name="Rectangle 7"/>
          <p:cNvSpPr>
            <a:spLocks noChangeArrowheads="1"/>
          </p:cNvSpPr>
          <p:nvPr/>
        </p:nvSpPr>
        <p:spPr bwMode="auto">
          <a:xfrm>
            <a:off x="990600" y="3429000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Using simple data types to avoid it:</a:t>
            </a:r>
            <a:endParaRPr lang="en-US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32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7470949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stamp coupling</a:t>
            </a:r>
          </a:p>
        </p:txBody>
      </p:sp>
      <p:sp>
        <p:nvSpPr>
          <p:cNvPr id="566275" name="Rectangle 3"/>
          <p:cNvSpPr>
            <a:spLocks noChangeArrowheads="1"/>
          </p:cNvSpPr>
          <p:nvPr/>
        </p:nvSpPr>
        <p:spPr bwMode="auto">
          <a:xfrm>
            <a:off x="1371600" y="1524000"/>
            <a:ext cx="7239000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public interface Addressee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{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public abstract String getName();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public abstract String getEmail();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 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public class Employee implements Addressee {…}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 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public class Emailer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{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public void sendEmail(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  Addressee e, String text)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{...}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  ...</a:t>
            </a:r>
          </a:p>
          <a:p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}</a:t>
            </a:r>
          </a:p>
          <a:p>
            <a:endParaRPr lang="en-GB" altLang="en-US" sz="2000">
              <a:latin typeface="Courier" pitchFamily="49" charset="0"/>
            </a:endParaRPr>
          </a:p>
        </p:txBody>
      </p:sp>
      <p:sp>
        <p:nvSpPr>
          <p:cNvPr id="566276" name="Rectangle 4"/>
          <p:cNvSpPr>
            <a:spLocks noChangeArrowheads="1"/>
          </p:cNvSpPr>
          <p:nvPr/>
        </p:nvSpPr>
        <p:spPr bwMode="auto">
          <a:xfrm>
            <a:off x="1066800" y="1143000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Using an interface to avoid it:</a:t>
            </a:r>
            <a:endParaRPr lang="en-US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6E62C-9CD2-477B-B472-E1C0D19F9100}" type="slidenum">
              <a:rPr lang="nl-NL" altLang="fr-FR" smtClean="0"/>
              <a:pPr>
                <a:defRPr/>
              </a:pPr>
              <a:t>33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9700866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Data coupling</a:t>
            </a:r>
          </a:p>
        </p:txBody>
      </p:sp>
      <p:sp>
        <p:nvSpPr>
          <p:cNvPr id="432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Occurs whenever the types of method arguments are either primitive or else simple library classes</a:t>
            </a:r>
            <a:r>
              <a:rPr lang="en-US" altLang="en-US" b="0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GB" altLang="en-US" b="0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more arguments a method has, the higher the coupling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2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All methods that use the method must pass all the arguments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You should reduce coupling by not giving methods unnecessary arguments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>
              <a:lnSpc>
                <a:spcPct val="90000"/>
              </a:lnSpc>
            </a:pP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There is a trade-off between data coupling and stamp coupling</a:t>
            </a:r>
          </a:p>
          <a:p>
            <a:pPr lvl="2">
              <a:lnSpc>
                <a:spcPct val="90000"/>
              </a:lnSpc>
            </a:pP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Increasing one often decreases the other 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34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3390271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Routine call coupling</a:t>
            </a:r>
          </a:p>
        </p:txBody>
      </p:sp>
      <p:sp>
        <p:nvSpPr>
          <p:cNvPr id="525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Occurs when one routine (or method in an object oriented system) calls another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routines are coupled because they depend on each other’s behaviour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Routine call coupling is always present in any system. </a:t>
            </a:r>
          </a:p>
          <a:p>
            <a:pPr lvl="1"/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If you repetitively use a sequence of two or more methods to compute something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then you can reduce routine call coupling by writing a single routine that encapsulates the sequence</a:t>
            </a:r>
            <a:r>
              <a:rPr lang="en-GB" altLang="en-US" b="1">
                <a:ea typeface="Times" panose="02020603050405020304" pitchFamily="18" charset="0"/>
                <a:cs typeface="Times" panose="02020603050405020304" pitchFamily="18" charset="0"/>
              </a:rPr>
              <a:t>.</a:t>
            </a:r>
            <a:r>
              <a:rPr lang="en-US" altLang="en-US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GB" altLang="en-US" b="1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35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6887127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Type use coupling</a:t>
            </a:r>
            <a:r>
              <a:rPr lang="en-GB" altLang="en-US" b="1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  <p:sp>
        <p:nvSpPr>
          <p:cNvPr id="526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Occurs w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hen a module uses a data type defined in another module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It occurs any time a class declares an instance variable or a local variable as having another class for its type.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consequence of type use coupling is that if the type definition changes, then the users of the type may have to change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Always declare the type of a variable to be the most general possible class or interface that contains the required operations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36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0088316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Inclusion or import coupling </a:t>
            </a:r>
          </a:p>
        </p:txBody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Occurs when one component imports a package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(as in Java)</a:t>
            </a:r>
          </a:p>
          <a:p>
            <a:pPr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or when one component includes another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(as in C++).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 algn="just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including or importing component is now exposed to everything in the included or imported component.</a:t>
            </a:r>
          </a:p>
          <a:p>
            <a:pPr lvl="1" algn="just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If the included/imported component changes something or adds something.</a:t>
            </a:r>
          </a:p>
          <a:p>
            <a:pPr lvl="2" algn="just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This may raises a conflict with something in the includer, forcing the includer to change.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An item in an imported 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component might have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the same name as something you have already defined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37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5962581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External coupling </a:t>
            </a:r>
          </a:p>
        </p:txBody>
      </p:sp>
      <p:sp>
        <p:nvSpPr>
          <p:cNvPr id="528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When a module has a dependency on such things as the operating system, shared libraries or the hardware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It is best to reduce the number of places in the code where such dependencies exist.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Façade design pattern can reduce external coupling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38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3108957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Design Principle 4: Keep the level of abstraction as high as possible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Ensure that your designs allow you to hide or defer consideration of details, thus reducing complexity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good abstraction is said to provide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information hiding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Abstractions allow you to understand the essence of a subsystem without having to know unnecessary details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39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7535743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GB" altLang="en-US" sz="3600">
                <a:ea typeface="Times" panose="02020603050405020304" pitchFamily="18" charset="0"/>
                <a:cs typeface="Times" panose="02020603050405020304" pitchFamily="18" charset="0"/>
              </a:rPr>
              <a:t>Abstraction and classes</a:t>
            </a:r>
          </a:p>
        </p:txBody>
      </p:sp>
      <p:sp>
        <p:nvSpPr>
          <p:cNvPr id="529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Classes are data abstractions that contain procedural abstractions</a:t>
            </a:r>
          </a:p>
          <a:p>
            <a:pPr lvl="1" algn="just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Abstraction is increased by defining all variables as private. </a:t>
            </a:r>
          </a:p>
          <a:p>
            <a:pPr lvl="1" algn="just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fewer public methods in a class, the better the abstraction </a:t>
            </a:r>
          </a:p>
          <a:p>
            <a:pPr lvl="1" algn="just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Superclasses and interfaces increase the level of abstraction </a:t>
            </a:r>
          </a:p>
          <a:p>
            <a:pPr lvl="1" algn="just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Attributes and associations are also data abstractions.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Methods are procedural abstractions </a:t>
            </a:r>
          </a:p>
          <a:p>
            <a:pPr lvl="2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Better abstractions are achieved by giving methods fewer parameters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40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8515487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Design Principle 5: Increase reusability where possible</a:t>
            </a:r>
          </a:p>
        </p:txBody>
      </p:sp>
      <p:sp>
        <p:nvSpPr>
          <p:cNvPr id="419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D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esign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the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various aspects of your system so that they can be used again in other contexts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Generalize your design as much as possible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Follow the preceding three design principles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Design your system to contain hooks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Simplify your design as much as possible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41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5831691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Design Principle 6: Reuse existing designs and code where possible</a:t>
            </a:r>
          </a:p>
        </p:txBody>
      </p:sp>
      <p:sp>
        <p:nvSpPr>
          <p:cNvPr id="420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Design with reuse is complementary to design for reusability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Actively reusing designs or code allows you to take advantage of the investment you or others have made in reusable components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2"/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Cloning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should not be seen as a form of reuse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42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9202439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Design Principle 7: Design for flexibility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  <p:sp>
        <p:nvSpPr>
          <p:cNvPr id="421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Actively anticipate changes that a design may have to undergo in the future, and prepare for them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Reduce coupling and increase cohesion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Create abstractions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Do not hard-code anything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Leav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e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all options open</a:t>
            </a:r>
            <a:endParaRPr lang="en-US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2"/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Do not restrict the options of people who have to modify the system later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Use reusable code and make code reusable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43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6783411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Design Principle 8: Anticipate obsolescence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  <p:sp>
        <p:nvSpPr>
          <p:cNvPr id="422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Plan for changes in the technology or environment so the software will continue to run or can be easily changed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Avoid using early releases of technology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Avoid using software libraries that are specific to particular environments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Avoid using undocumented features or little-used features of software libraries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Avoid using software or special hardware from companies that are less likely to provide long-term support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Use standard languages and technologies that are supported by multiple vendors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44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42174506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Design Principle 9: Design for Portability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  <p:sp>
        <p:nvSpPr>
          <p:cNvPr id="436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Have the software run on as many platforms as possible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Avoid the use of facilities that are specific to one particular environment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/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E.g. a library only available in Microsoft Windows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45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1198236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Design Principle 10: Design for Testability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Take steps to make testing easier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Design a program to automatically test the software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Discussed more in Chapter 10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Ensure that all the functionality of the code can by driven by an external program, bypassing a graphical user interface</a:t>
            </a:r>
          </a:p>
          <a:p>
            <a:pPr lvl="1"/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In Java, you can create a main() method in each class in order to exercise the other methods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46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5736239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Design Principle 11: Design defensively</a:t>
            </a:r>
          </a:p>
        </p:txBody>
      </p:sp>
      <p:sp>
        <p:nvSpPr>
          <p:cNvPr id="532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Never trust how others will try to use a component you are designing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Handle all cases where other code might attempt to use your component inappropriately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Check that all of the inputs to your component are valid: the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preconditions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Unfortunately, over-zealous defensive design can result in unnecessarily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repetitive checking</a:t>
            </a:r>
            <a:endParaRPr lang="en-US" altLang="en-US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47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444611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Design by contract</a:t>
            </a:r>
          </a:p>
        </p:txBody>
      </p:sp>
      <p:sp>
        <p:nvSpPr>
          <p:cNvPr id="534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technique that allows you to design defensively in an efficient and systematic way</a:t>
            </a:r>
            <a:r>
              <a:rPr lang="en-US" altLang="en-US"/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Key idea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each method has an explicit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contract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with its callers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contract has a set of assertions that state: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What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preconditions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the called method requires to be true when it starts executing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What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postconditions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the called method agrees to ensure are true when it finishes executing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What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invariants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the called method agrees will not change as it executes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 </a:t>
            </a:r>
            <a:r>
              <a:rPr lang="en-US" altLang="en-US"/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48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9826651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9.3 Techniques for making good design decisions</a:t>
            </a:r>
            <a:r>
              <a:rPr lang="en-US" altLang="en-US"/>
              <a:t> </a:t>
            </a:r>
          </a:p>
        </p:txBody>
      </p:sp>
      <p:sp>
        <p:nvSpPr>
          <p:cNvPr id="443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Using priorities and objectives to decide among alternatives</a:t>
            </a:r>
            <a:r>
              <a:rPr lang="en-US" altLang="en-US"/>
              <a:t> </a:t>
            </a:r>
          </a:p>
          <a:p>
            <a:pPr lvl="1" algn="just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Step 1: List and describe the alternatives for the design decision.</a:t>
            </a:r>
          </a:p>
          <a:p>
            <a:pPr lvl="1" algn="just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Step 2: List the advantages and disadvantages of each alternative with respect to your objectives and priorities.</a:t>
            </a:r>
          </a:p>
          <a:p>
            <a:pPr lvl="1" algn="just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Step 3: Determine whether any of the alternatives prevents you from meeting one or more of the objectives.</a:t>
            </a:r>
          </a:p>
          <a:p>
            <a:pPr lvl="1" algn="just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Step 4: Choose the alternative that helps you to best meet your objectives. </a:t>
            </a:r>
          </a:p>
          <a:p>
            <a:pPr lvl="1" algn="just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Step 5: Adjust priorities for subsequent decision making.</a:t>
            </a:r>
            <a:r>
              <a:rPr lang="en-US" altLang="en-US"/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49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5802459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Grp="1" noChangeArrowheads="1"/>
          </p:cNvSpPr>
          <p:nvPr>
            <p:ph type="title"/>
          </p:nvPr>
        </p:nvSpPr>
        <p:spPr>
          <a:xfrm>
            <a:off x="863588" y="-315416"/>
            <a:ext cx="7772400" cy="1143000"/>
          </a:xfrm>
        </p:spPr>
        <p:txBody>
          <a:bodyPr/>
          <a:lstStyle/>
          <a:p>
            <a:r>
              <a:rPr lang="en-US" altLang="en-US" dirty="0"/>
              <a:t>Example priorities and objectives</a:t>
            </a:r>
          </a:p>
        </p:txBody>
      </p:sp>
      <p:sp>
        <p:nvSpPr>
          <p:cNvPr id="489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066800"/>
            <a:ext cx="8229600" cy="5105400"/>
          </a:xfrm>
        </p:spPr>
        <p:txBody>
          <a:bodyPr/>
          <a:lstStyle/>
          <a:p>
            <a:pPr algn="just">
              <a:lnSpc>
                <a:spcPct val="96000"/>
              </a:lnSpc>
            </a:pPr>
            <a:r>
              <a:rPr lang="en-GB" altLang="en-US" b="0" dirty="0">
                <a:ea typeface="Times" panose="02020603050405020304" pitchFamily="18" charset="0"/>
                <a:cs typeface="Times" panose="02020603050405020304" pitchFamily="18" charset="0"/>
              </a:rPr>
              <a:t>Imagine a system has the following objectives, starting with top priority:</a:t>
            </a:r>
          </a:p>
          <a:p>
            <a:pPr lvl="1" algn="just">
              <a:lnSpc>
                <a:spcPct val="96000"/>
              </a:lnSpc>
            </a:pPr>
            <a:r>
              <a:rPr lang="en-GB" altLang="en-US" b="1" dirty="0">
                <a:ea typeface="Times" panose="02020603050405020304" pitchFamily="18" charset="0"/>
                <a:cs typeface="Times" panose="02020603050405020304" pitchFamily="18" charset="0"/>
              </a:rPr>
              <a:t>Security</a:t>
            </a:r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: Encryption must not be breakable within 100 hours of computing time on a 400Mhz Intel processor, using known cryptanalysis techniques. </a:t>
            </a:r>
          </a:p>
          <a:p>
            <a:pPr lvl="1" algn="just">
              <a:lnSpc>
                <a:spcPct val="96000"/>
              </a:lnSpc>
            </a:pPr>
            <a:r>
              <a:rPr lang="en-GB" altLang="en-US" b="1" dirty="0">
                <a:ea typeface="Times" panose="02020603050405020304" pitchFamily="18" charset="0"/>
                <a:cs typeface="Times" panose="02020603050405020304" pitchFamily="18" charset="0"/>
              </a:rPr>
              <a:t>Maintainability</a:t>
            </a:r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. No specific objective.</a:t>
            </a:r>
          </a:p>
          <a:p>
            <a:pPr lvl="1" algn="just">
              <a:lnSpc>
                <a:spcPct val="96000"/>
              </a:lnSpc>
            </a:pPr>
            <a:r>
              <a:rPr lang="en-GB" altLang="en-US" b="1" dirty="0">
                <a:ea typeface="Times" panose="02020603050405020304" pitchFamily="18" charset="0"/>
                <a:cs typeface="Times" panose="02020603050405020304" pitchFamily="18" charset="0"/>
              </a:rPr>
              <a:t>CPU efficiency</a:t>
            </a:r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. Must respond to the user within one second when running on a 400MHz Intel processor.</a:t>
            </a:r>
          </a:p>
          <a:p>
            <a:pPr lvl="1" algn="just">
              <a:lnSpc>
                <a:spcPct val="96000"/>
              </a:lnSpc>
            </a:pPr>
            <a:r>
              <a:rPr lang="en-GB" altLang="en-US" b="1" dirty="0">
                <a:ea typeface="Times" panose="02020603050405020304" pitchFamily="18" charset="0"/>
                <a:cs typeface="Times" panose="02020603050405020304" pitchFamily="18" charset="0"/>
              </a:rPr>
              <a:t>Network bandwidth efficiency</a:t>
            </a:r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: Must not require transmission of more than 8KB of data per transaction.</a:t>
            </a:r>
          </a:p>
          <a:p>
            <a:pPr lvl="1" algn="just">
              <a:lnSpc>
                <a:spcPct val="96000"/>
              </a:lnSpc>
            </a:pPr>
            <a:r>
              <a:rPr lang="en-GB" altLang="en-US" b="1" dirty="0">
                <a:ea typeface="Times" panose="02020603050405020304" pitchFamily="18" charset="0"/>
                <a:cs typeface="Times" panose="02020603050405020304" pitchFamily="18" charset="0"/>
              </a:rPr>
              <a:t>Memory efficiency</a:t>
            </a:r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. Must not consume over 20MB of RAM.</a:t>
            </a:r>
          </a:p>
          <a:p>
            <a:pPr lvl="1" algn="just">
              <a:lnSpc>
                <a:spcPct val="96000"/>
              </a:lnSpc>
            </a:pPr>
            <a:r>
              <a:rPr lang="en-GB" altLang="en-US" b="1" dirty="0">
                <a:ea typeface="Times" panose="02020603050405020304" pitchFamily="18" charset="0"/>
                <a:cs typeface="Times" panose="02020603050405020304" pitchFamily="18" charset="0"/>
              </a:rPr>
              <a:t>Portability. </a:t>
            </a:r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Must be able to run on Windows 98, NT 4 and ME as well as Linux</a:t>
            </a:r>
            <a:endParaRPr lang="en-US" altLang="en-US" dirty="0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50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8339089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evaluation of alternatives</a:t>
            </a:r>
          </a:p>
        </p:txBody>
      </p:sp>
      <p:graphicFrame>
        <p:nvGraphicFramePr>
          <p:cNvPr id="490500" name="Object 4"/>
          <p:cNvGraphicFramePr>
            <a:graphicFrameLocks noChangeAspect="1"/>
          </p:cNvGraphicFramePr>
          <p:nvPr/>
        </p:nvGraphicFramePr>
        <p:xfrm>
          <a:off x="1066800" y="1752600"/>
          <a:ext cx="8686800" cy="250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Document" r:id="rId3" imgW="5626608" imgH="1624584" progId="Word.Document.8">
                  <p:embed/>
                </p:oleObj>
              </mc:Choice>
              <mc:Fallback>
                <p:oleObj name="Document" r:id="rId3" imgW="5626608" imgH="1624584" progId="Word.Document.8">
                  <p:embed/>
                  <p:pic>
                    <p:nvPicPr>
                      <p:cNvPr id="49050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752600"/>
                        <a:ext cx="8686800" cy="2506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0501" name="Text Box 5"/>
          <p:cNvSpPr txBox="1">
            <a:spLocks noChangeArrowheads="1"/>
          </p:cNvSpPr>
          <p:nvPr/>
        </p:nvSpPr>
        <p:spPr bwMode="auto">
          <a:xfrm>
            <a:off x="3557588" y="4568825"/>
            <a:ext cx="3898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‘NO’ means that the objective is not met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51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5453410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Using cost-benefit analysis to choose among alternatives</a:t>
            </a:r>
          </a:p>
        </p:txBody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To estimate the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costs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, add up: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incremental cost of doing the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software engineering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work, including ongoing maintenance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incremental costs of any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development technology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required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incremental costs that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end-users and product support personnel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will experience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To estimate the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benefits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, add up: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incremental software engineering time saved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incremental benefits measured in terms of either increased sales or else financial benefit to users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en-US" altLang="en-US"/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52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4533436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Software Architecture</a:t>
            </a:r>
            <a:endParaRPr lang="en-US" altLang="en-US" dirty="0"/>
          </a:p>
        </p:txBody>
      </p:sp>
      <p:sp>
        <p:nvSpPr>
          <p:cNvPr id="447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Software architecture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is process of designing the global organization of a software system, including: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Dividing software into subsystems.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Deciding how these will interact.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Determining their interfaces</a:t>
            </a:r>
            <a:r>
              <a:rPr lang="en-US" altLang="en-US"/>
              <a:t>.</a:t>
            </a:r>
          </a:p>
          <a:p>
            <a:pPr lvl="2" algn="just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architecture is the core of the design, so all software engineers need to understand it.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architecture will often constrain the overall efficiency, reusability and maintainability of the system</a:t>
            </a:r>
            <a:r>
              <a:rPr lang="en-US" altLang="en-US"/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53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7360079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importance of software architecture</a:t>
            </a:r>
            <a:r>
              <a:rPr lang="en-US" altLang="en-US"/>
              <a:t> </a:t>
            </a:r>
          </a:p>
        </p:txBody>
      </p:sp>
      <p:sp>
        <p:nvSpPr>
          <p:cNvPr id="449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Why you need to develop an architectural model: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To enable everyone to better understand the system</a:t>
            </a:r>
            <a:r>
              <a:rPr lang="en-US" altLang="en-US"/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To allow people to work on individual pieces of the system in isolation</a:t>
            </a:r>
            <a:endParaRPr lang="en-US" altLang="en-US"/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To prepare for extension of the system</a:t>
            </a:r>
            <a:r>
              <a:rPr lang="en-US" altLang="en-US"/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To facilitate reuse and reusability</a:t>
            </a:r>
            <a:r>
              <a:rPr lang="en-US" altLang="en-US"/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54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9592225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Contents of a good architectural model</a:t>
            </a:r>
            <a:r>
              <a:rPr lang="en-US" altLang="en-US"/>
              <a:t> </a:t>
            </a:r>
          </a:p>
        </p:txBody>
      </p:sp>
      <p:sp>
        <p:nvSpPr>
          <p:cNvPr id="451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system’s architecture will often be expressed in terms of several different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views</a:t>
            </a:r>
            <a:r>
              <a:rPr lang="en-US" altLang="en-US"/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logical breakdown into subsystems</a:t>
            </a:r>
            <a:r>
              <a:rPr lang="en-US" altLang="en-US"/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interfaces among the subsystems </a:t>
            </a:r>
            <a:endParaRPr lang="en-US" altLang="en-US"/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dynamics of the interaction among components at run time</a:t>
            </a:r>
            <a:r>
              <a:rPr lang="en-US" altLang="en-US"/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data that will be shared among the subsystems</a:t>
            </a:r>
            <a:r>
              <a:rPr lang="en-US" altLang="en-US"/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components that will exist at run time, and the machines or devices on which they will be located</a:t>
            </a:r>
            <a:r>
              <a:rPr lang="en-US" altLang="en-US"/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55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7948338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Design stable architecture</a:t>
            </a:r>
          </a:p>
        </p:txBody>
      </p:sp>
      <p:sp>
        <p:nvSpPr>
          <p:cNvPr id="537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To ensure the maintainability and reliability of a system, an architectural model must be designed to be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stable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.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Being stable means that the new features can be easily added with only small changes to the architecture</a:t>
            </a:r>
            <a:r>
              <a:rPr lang="en-US" altLang="en-US"/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56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2136250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Developing an architectural model</a:t>
            </a:r>
            <a:r>
              <a:rPr lang="en-US" altLang="en-US"/>
              <a:t> </a:t>
            </a:r>
          </a:p>
        </p:txBody>
      </p:sp>
      <p:sp>
        <p:nvSpPr>
          <p:cNvPr id="453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Start by sketching an outline of the architecture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Based on the principal requirements and use cases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Determine the main components that will be needed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Choose among the various architectural patterns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Discussed next</a:t>
            </a:r>
          </a:p>
          <a:p>
            <a:pPr lvl="1"/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Suggestion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have several different teams independently develop a first draft of the architecture and merge together the best ideas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57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1134658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Developing an architectural model</a:t>
            </a:r>
          </a:p>
        </p:txBody>
      </p:sp>
      <p:sp>
        <p:nvSpPr>
          <p:cNvPr id="538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Refine the architecture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Identify the main ways in which the components will interact and the interfaces between them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Decide how each piece of data and functionality will be distributed among the various components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Determine if you can re-use an existing framework, if you can build a framework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Consider each use case and adjust the architecture to make it realizable</a:t>
            </a:r>
            <a:r>
              <a:rPr lang="en-US" altLang="en-US"/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Mature the architecture</a:t>
            </a:r>
            <a:r>
              <a:rPr lang="en-US" altLang="en-US"/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58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8698467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Describing an architecture using UML</a:t>
            </a:r>
            <a:r>
              <a:rPr lang="en-US" altLang="en-US"/>
              <a:t> </a:t>
            </a:r>
          </a:p>
        </p:txBody>
      </p:sp>
      <p:sp>
        <p:nvSpPr>
          <p:cNvPr id="455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All UML diagrams can be useful to describe aspects of the architectural model</a:t>
            </a:r>
            <a:r>
              <a:rPr lang="en-US" altLang="en-US"/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Four UML diagrams are particularly suitable for architecture modelling: 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Package diagrams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Subsystem diagrams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Component diagrams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Deployment diagrams</a:t>
            </a:r>
            <a:r>
              <a:rPr lang="en-US" altLang="en-US"/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59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41728721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Package diagrams</a:t>
            </a:r>
          </a:p>
        </p:txBody>
      </p:sp>
      <p:pic>
        <p:nvPicPr>
          <p:cNvPr id="4577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286000"/>
            <a:ext cx="7620000" cy="207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60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10948372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0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-171400"/>
            <a:ext cx="7772400" cy="1143000"/>
          </a:xfrm>
        </p:spPr>
        <p:txBody>
          <a:bodyPr/>
          <a:lstStyle/>
          <a:p>
            <a:r>
              <a:rPr lang="en-US" altLang="en-US" dirty="0"/>
              <a:t>Subsystem diagrams</a:t>
            </a:r>
          </a:p>
        </p:txBody>
      </p:sp>
      <p:sp>
        <p:nvSpPr>
          <p:cNvPr id="539654" name="Rectangle 6"/>
          <p:cNvSpPr>
            <a:spLocks noChangeArrowheads="1"/>
          </p:cNvSpPr>
          <p:nvPr/>
        </p:nvSpPr>
        <p:spPr bwMode="auto">
          <a:xfrm>
            <a:off x="1458913" y="1646238"/>
            <a:ext cx="7042150" cy="4187825"/>
          </a:xfrm>
          <a:prstGeom prst="rect">
            <a:avLst/>
          </a:prstGeom>
          <a:noFill/>
          <a:ln w="22225">
            <a:solidFill>
              <a:srgbClr val="1F1A1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655" name="Rectangle 7"/>
          <p:cNvSpPr>
            <a:spLocks noChangeArrowheads="1"/>
          </p:cNvSpPr>
          <p:nvPr/>
        </p:nvSpPr>
        <p:spPr bwMode="auto">
          <a:xfrm>
            <a:off x="1458913" y="1257300"/>
            <a:ext cx="1358900" cy="385763"/>
          </a:xfrm>
          <a:prstGeom prst="rect">
            <a:avLst/>
          </a:prstGeom>
          <a:noFill/>
          <a:ln w="22225">
            <a:solidFill>
              <a:srgbClr val="1F1A1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656" name="Rectangle 8"/>
          <p:cNvSpPr>
            <a:spLocks noChangeArrowheads="1"/>
          </p:cNvSpPr>
          <p:nvPr/>
        </p:nvSpPr>
        <p:spPr bwMode="auto">
          <a:xfrm>
            <a:off x="1651000" y="1838325"/>
            <a:ext cx="35115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600">
                <a:solidFill>
                  <a:srgbClr val="000000"/>
                </a:solidFill>
                <a:latin typeface="Arial" panose="020B0604020202020204" pitchFamily="34" charset="0"/>
              </a:rPr>
              <a:t>requestToRegister(aStudent) : boolean</a:t>
            </a:r>
            <a:endParaRPr lang="en-CA" altLang="fr-FR"/>
          </a:p>
        </p:txBody>
      </p:sp>
      <p:sp>
        <p:nvSpPr>
          <p:cNvPr id="539657" name="Rectangle 9"/>
          <p:cNvSpPr>
            <a:spLocks noChangeArrowheads="1"/>
          </p:cNvSpPr>
          <p:nvPr/>
        </p:nvSpPr>
        <p:spPr bwMode="auto">
          <a:xfrm>
            <a:off x="1651000" y="2065338"/>
            <a:ext cx="20097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600">
                <a:solidFill>
                  <a:srgbClr val="000000"/>
                </a:solidFill>
                <a:latin typeface="Arial" panose="020B0604020202020204" pitchFamily="34" charset="0"/>
              </a:rPr>
              <a:t>dropCourse(aStudent)</a:t>
            </a:r>
            <a:endParaRPr lang="en-CA" altLang="fr-FR"/>
          </a:p>
        </p:txBody>
      </p:sp>
      <p:sp>
        <p:nvSpPr>
          <p:cNvPr id="539658" name="Rectangle 10"/>
          <p:cNvSpPr>
            <a:spLocks noChangeArrowheads="1"/>
          </p:cNvSpPr>
          <p:nvPr/>
        </p:nvSpPr>
        <p:spPr bwMode="auto">
          <a:xfrm>
            <a:off x="1651000" y="2290763"/>
            <a:ext cx="21383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600">
                <a:solidFill>
                  <a:srgbClr val="000000"/>
                </a:solidFill>
                <a:latin typeface="Arial" panose="020B0604020202020204" pitchFamily="34" charset="0"/>
              </a:rPr>
              <a:t>getSchedule( ) : Iterator</a:t>
            </a:r>
            <a:endParaRPr lang="en-CA" altLang="fr-FR"/>
          </a:p>
        </p:txBody>
      </p:sp>
      <p:sp>
        <p:nvSpPr>
          <p:cNvPr id="539659" name="Line 11"/>
          <p:cNvSpPr>
            <a:spLocks noChangeShapeType="1"/>
          </p:cNvSpPr>
          <p:nvPr/>
        </p:nvSpPr>
        <p:spPr bwMode="auto">
          <a:xfrm flipV="1">
            <a:off x="5454650" y="1635125"/>
            <a:ext cx="1588" cy="421005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660" name="Line 12"/>
          <p:cNvSpPr>
            <a:spLocks noChangeShapeType="1"/>
          </p:cNvSpPr>
          <p:nvPr/>
        </p:nvSpPr>
        <p:spPr bwMode="auto">
          <a:xfrm>
            <a:off x="1447800" y="2743200"/>
            <a:ext cx="4006850" cy="15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661" name="Line 13"/>
          <p:cNvSpPr>
            <a:spLocks noChangeShapeType="1"/>
          </p:cNvSpPr>
          <p:nvPr/>
        </p:nvSpPr>
        <p:spPr bwMode="auto">
          <a:xfrm flipV="1">
            <a:off x="2376488" y="1435100"/>
            <a:ext cx="1587" cy="904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662" name="Line 14"/>
          <p:cNvSpPr>
            <a:spLocks noChangeShapeType="1"/>
          </p:cNvSpPr>
          <p:nvPr/>
        </p:nvSpPr>
        <p:spPr bwMode="auto">
          <a:xfrm flipV="1">
            <a:off x="2647950" y="1435100"/>
            <a:ext cx="1588" cy="904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663" name="Line 15"/>
          <p:cNvSpPr>
            <a:spLocks noChangeShapeType="1"/>
          </p:cNvSpPr>
          <p:nvPr/>
        </p:nvSpPr>
        <p:spPr bwMode="auto">
          <a:xfrm flipH="1">
            <a:off x="2376488" y="1430338"/>
            <a:ext cx="271462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664" name="Line 16"/>
          <p:cNvSpPr>
            <a:spLocks noChangeShapeType="1"/>
          </p:cNvSpPr>
          <p:nvPr/>
        </p:nvSpPr>
        <p:spPr bwMode="auto">
          <a:xfrm flipV="1">
            <a:off x="2511425" y="1339850"/>
            <a:ext cx="1588" cy="904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665" name="Line 17"/>
          <p:cNvSpPr>
            <a:spLocks noChangeShapeType="1"/>
          </p:cNvSpPr>
          <p:nvPr/>
        </p:nvSpPr>
        <p:spPr bwMode="auto">
          <a:xfrm flipV="1">
            <a:off x="2262188" y="3671888"/>
            <a:ext cx="703262" cy="588962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666" name="Oval 18"/>
          <p:cNvSpPr>
            <a:spLocks noChangeArrowheads="1"/>
          </p:cNvSpPr>
          <p:nvPr/>
        </p:nvSpPr>
        <p:spPr bwMode="auto">
          <a:xfrm>
            <a:off x="2952750" y="3162300"/>
            <a:ext cx="1676400" cy="815975"/>
          </a:xfrm>
          <a:prstGeom prst="ellips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667" name="Rectangle 19"/>
          <p:cNvSpPr>
            <a:spLocks noChangeArrowheads="1"/>
          </p:cNvSpPr>
          <p:nvPr/>
        </p:nvSpPr>
        <p:spPr bwMode="auto">
          <a:xfrm>
            <a:off x="3303588" y="3332163"/>
            <a:ext cx="13350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600">
                <a:solidFill>
                  <a:srgbClr val="000000"/>
                </a:solidFill>
                <a:latin typeface="Arial" panose="020B0604020202020204" pitchFamily="34" charset="0"/>
              </a:rPr>
              <a:t>Register in </a:t>
            </a:r>
            <a:endParaRPr lang="en-CA" altLang="fr-FR"/>
          </a:p>
        </p:txBody>
      </p:sp>
      <p:sp>
        <p:nvSpPr>
          <p:cNvPr id="539668" name="Rectangle 20"/>
          <p:cNvSpPr>
            <a:spLocks noChangeArrowheads="1"/>
          </p:cNvSpPr>
          <p:nvPr/>
        </p:nvSpPr>
        <p:spPr bwMode="auto">
          <a:xfrm>
            <a:off x="3303588" y="3559175"/>
            <a:ext cx="9048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600">
                <a:solidFill>
                  <a:srgbClr val="000000"/>
                </a:solidFill>
                <a:latin typeface="Arial" panose="020B0604020202020204" pitchFamily="34" charset="0"/>
              </a:rPr>
              <a:t>a course</a:t>
            </a:r>
            <a:endParaRPr lang="en-CA" altLang="fr-FR"/>
          </a:p>
        </p:txBody>
      </p:sp>
      <p:grpSp>
        <p:nvGrpSpPr>
          <p:cNvPr id="539675" name="Group 27"/>
          <p:cNvGrpSpPr>
            <a:grpSpLocks/>
          </p:cNvGrpSpPr>
          <p:nvPr/>
        </p:nvGrpSpPr>
        <p:grpSpPr bwMode="auto">
          <a:xfrm>
            <a:off x="1651000" y="3817938"/>
            <a:ext cx="476250" cy="758825"/>
            <a:chOff x="1040" y="2405"/>
            <a:chExt cx="300" cy="478"/>
          </a:xfrm>
        </p:grpSpPr>
        <p:sp>
          <p:nvSpPr>
            <p:cNvPr id="539669" name="Oval 21"/>
            <p:cNvSpPr>
              <a:spLocks noChangeArrowheads="1"/>
            </p:cNvSpPr>
            <p:nvPr/>
          </p:nvSpPr>
          <p:spPr bwMode="auto">
            <a:xfrm>
              <a:off x="1104" y="2405"/>
              <a:ext cx="186" cy="158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539670" name="Line 22"/>
            <p:cNvSpPr>
              <a:spLocks noChangeShapeType="1"/>
            </p:cNvSpPr>
            <p:nvPr/>
          </p:nvSpPr>
          <p:spPr bwMode="auto">
            <a:xfrm>
              <a:off x="1197" y="2555"/>
              <a:ext cx="1" cy="24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539671" name="Line 23"/>
            <p:cNvSpPr>
              <a:spLocks noChangeShapeType="1"/>
            </p:cNvSpPr>
            <p:nvPr/>
          </p:nvSpPr>
          <p:spPr bwMode="auto">
            <a:xfrm>
              <a:off x="1197" y="2798"/>
              <a:ext cx="143" cy="8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539672" name="Line 24"/>
            <p:cNvSpPr>
              <a:spLocks noChangeShapeType="1"/>
            </p:cNvSpPr>
            <p:nvPr/>
          </p:nvSpPr>
          <p:spPr bwMode="auto">
            <a:xfrm flipH="1">
              <a:off x="1040" y="2798"/>
              <a:ext cx="157" cy="85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539673" name="Line 25"/>
            <p:cNvSpPr>
              <a:spLocks noChangeShapeType="1"/>
            </p:cNvSpPr>
            <p:nvPr/>
          </p:nvSpPr>
          <p:spPr bwMode="auto">
            <a:xfrm flipV="1">
              <a:off x="1040" y="2641"/>
              <a:ext cx="157" cy="4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539674" name="Line 26"/>
            <p:cNvSpPr>
              <a:spLocks noChangeShapeType="1"/>
            </p:cNvSpPr>
            <p:nvPr/>
          </p:nvSpPr>
          <p:spPr bwMode="auto">
            <a:xfrm>
              <a:off x="1197" y="2641"/>
              <a:ext cx="143" cy="43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539676" name="Rectangle 28"/>
          <p:cNvSpPr>
            <a:spLocks noChangeArrowheads="1"/>
          </p:cNvSpPr>
          <p:nvPr/>
        </p:nvSpPr>
        <p:spPr bwMode="auto">
          <a:xfrm>
            <a:off x="1584325" y="4622800"/>
            <a:ext cx="10414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600">
                <a:solidFill>
                  <a:srgbClr val="000000"/>
                </a:solidFill>
                <a:latin typeface="Arial" panose="020B0604020202020204" pitchFamily="34" charset="0"/>
              </a:rPr>
              <a:t>Student </a:t>
            </a:r>
            <a:endParaRPr lang="en-CA" altLang="fr-FR"/>
          </a:p>
        </p:txBody>
      </p:sp>
      <p:sp>
        <p:nvSpPr>
          <p:cNvPr id="539677" name="Rectangle 29"/>
          <p:cNvSpPr>
            <a:spLocks noChangeArrowheads="1"/>
          </p:cNvSpPr>
          <p:nvPr/>
        </p:nvSpPr>
        <p:spPr bwMode="auto">
          <a:xfrm>
            <a:off x="1719263" y="4849813"/>
            <a:ext cx="58896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600">
                <a:solidFill>
                  <a:srgbClr val="000000"/>
                </a:solidFill>
                <a:latin typeface="Arial" panose="020B0604020202020204" pitchFamily="34" charset="0"/>
              </a:rPr>
              <a:t>Actor</a:t>
            </a:r>
            <a:endParaRPr lang="en-CA" altLang="fr-FR"/>
          </a:p>
        </p:txBody>
      </p:sp>
      <p:sp>
        <p:nvSpPr>
          <p:cNvPr id="539678" name="Oval 30"/>
          <p:cNvSpPr>
            <a:spLocks noChangeArrowheads="1"/>
          </p:cNvSpPr>
          <p:nvPr/>
        </p:nvSpPr>
        <p:spPr bwMode="auto">
          <a:xfrm>
            <a:off x="2976563" y="4995863"/>
            <a:ext cx="1674812" cy="792162"/>
          </a:xfrm>
          <a:prstGeom prst="ellips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679" name="Rectangle 31"/>
          <p:cNvSpPr>
            <a:spLocks noChangeArrowheads="1"/>
          </p:cNvSpPr>
          <p:nvPr/>
        </p:nvSpPr>
        <p:spPr bwMode="auto">
          <a:xfrm>
            <a:off x="3349625" y="5143500"/>
            <a:ext cx="10414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600">
                <a:solidFill>
                  <a:srgbClr val="000000"/>
                </a:solidFill>
                <a:latin typeface="Arial" panose="020B0604020202020204" pitchFamily="34" charset="0"/>
              </a:rPr>
              <a:t>Display </a:t>
            </a:r>
            <a:endParaRPr lang="en-CA" altLang="fr-FR"/>
          </a:p>
        </p:txBody>
      </p:sp>
      <p:sp>
        <p:nvSpPr>
          <p:cNvPr id="539680" name="Rectangle 32"/>
          <p:cNvSpPr>
            <a:spLocks noChangeArrowheads="1"/>
          </p:cNvSpPr>
          <p:nvPr/>
        </p:nvSpPr>
        <p:spPr bwMode="auto">
          <a:xfrm>
            <a:off x="3349625" y="5370513"/>
            <a:ext cx="92868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600">
                <a:solidFill>
                  <a:srgbClr val="000000"/>
                </a:solidFill>
                <a:latin typeface="Arial" panose="020B0604020202020204" pitchFamily="34" charset="0"/>
              </a:rPr>
              <a:t>schedule</a:t>
            </a:r>
            <a:endParaRPr lang="en-CA" altLang="fr-FR"/>
          </a:p>
        </p:txBody>
      </p:sp>
      <p:sp>
        <p:nvSpPr>
          <p:cNvPr id="539681" name="Oval 33"/>
          <p:cNvSpPr>
            <a:spLocks noChangeArrowheads="1"/>
          </p:cNvSpPr>
          <p:nvPr/>
        </p:nvSpPr>
        <p:spPr bwMode="auto">
          <a:xfrm>
            <a:off x="2976563" y="4090988"/>
            <a:ext cx="1674812" cy="792162"/>
          </a:xfrm>
          <a:prstGeom prst="ellips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682" name="Rectangle 34"/>
          <p:cNvSpPr>
            <a:spLocks noChangeArrowheads="1"/>
          </p:cNvSpPr>
          <p:nvPr/>
        </p:nvSpPr>
        <p:spPr bwMode="auto">
          <a:xfrm>
            <a:off x="3327400" y="4238625"/>
            <a:ext cx="7699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600">
                <a:solidFill>
                  <a:srgbClr val="000000"/>
                </a:solidFill>
                <a:latin typeface="Arial" panose="020B0604020202020204" pitchFamily="34" charset="0"/>
              </a:rPr>
              <a:t>Drop </a:t>
            </a:r>
            <a:endParaRPr lang="en-CA" altLang="fr-FR"/>
          </a:p>
        </p:txBody>
      </p:sp>
      <p:sp>
        <p:nvSpPr>
          <p:cNvPr id="539683" name="Rectangle 35"/>
          <p:cNvSpPr>
            <a:spLocks noChangeArrowheads="1"/>
          </p:cNvSpPr>
          <p:nvPr/>
        </p:nvSpPr>
        <p:spPr bwMode="auto">
          <a:xfrm>
            <a:off x="3327400" y="4464050"/>
            <a:ext cx="9048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600">
                <a:solidFill>
                  <a:srgbClr val="000000"/>
                </a:solidFill>
                <a:latin typeface="Arial" panose="020B0604020202020204" pitchFamily="34" charset="0"/>
              </a:rPr>
              <a:t>a course</a:t>
            </a:r>
            <a:endParaRPr lang="en-CA" altLang="fr-FR"/>
          </a:p>
        </p:txBody>
      </p:sp>
      <p:sp>
        <p:nvSpPr>
          <p:cNvPr id="539684" name="Line 36"/>
          <p:cNvSpPr>
            <a:spLocks noChangeShapeType="1"/>
          </p:cNvSpPr>
          <p:nvPr/>
        </p:nvSpPr>
        <p:spPr bwMode="auto">
          <a:xfrm>
            <a:off x="2262188" y="4283075"/>
            <a:ext cx="815975" cy="90487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685" name="Line 37"/>
          <p:cNvSpPr>
            <a:spLocks noChangeShapeType="1"/>
          </p:cNvSpPr>
          <p:nvPr/>
        </p:nvSpPr>
        <p:spPr bwMode="auto">
          <a:xfrm>
            <a:off x="2262188" y="4260850"/>
            <a:ext cx="725487" cy="904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686" name="Rectangle 38"/>
          <p:cNvSpPr>
            <a:spLocks noChangeArrowheads="1"/>
          </p:cNvSpPr>
          <p:nvPr/>
        </p:nvSpPr>
        <p:spPr bwMode="auto">
          <a:xfrm>
            <a:off x="5794375" y="2222500"/>
            <a:ext cx="114300" cy="2952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687" name="Rectangle 39"/>
          <p:cNvSpPr>
            <a:spLocks noChangeArrowheads="1"/>
          </p:cNvSpPr>
          <p:nvPr/>
        </p:nvSpPr>
        <p:spPr bwMode="auto">
          <a:xfrm>
            <a:off x="5794375" y="2224088"/>
            <a:ext cx="1809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6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fr-FR"/>
          </a:p>
        </p:txBody>
      </p:sp>
      <p:sp>
        <p:nvSpPr>
          <p:cNvPr id="539688" name="Rectangle 40"/>
          <p:cNvSpPr>
            <a:spLocks noChangeArrowheads="1"/>
          </p:cNvSpPr>
          <p:nvPr/>
        </p:nvSpPr>
        <p:spPr bwMode="auto">
          <a:xfrm>
            <a:off x="5794375" y="2222500"/>
            <a:ext cx="114300" cy="2952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689" name="Rectangle 41"/>
          <p:cNvSpPr>
            <a:spLocks noChangeArrowheads="1"/>
          </p:cNvSpPr>
          <p:nvPr/>
        </p:nvSpPr>
        <p:spPr bwMode="auto">
          <a:xfrm>
            <a:off x="5794375" y="2224088"/>
            <a:ext cx="1809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6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fr-FR"/>
          </a:p>
        </p:txBody>
      </p:sp>
      <p:sp>
        <p:nvSpPr>
          <p:cNvPr id="539690" name="Rectangle 42"/>
          <p:cNvSpPr>
            <a:spLocks noChangeArrowheads="1"/>
          </p:cNvSpPr>
          <p:nvPr/>
        </p:nvSpPr>
        <p:spPr bwMode="auto">
          <a:xfrm>
            <a:off x="5794375" y="2222500"/>
            <a:ext cx="114300" cy="2952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691" name="Rectangle 43"/>
          <p:cNvSpPr>
            <a:spLocks noChangeArrowheads="1"/>
          </p:cNvSpPr>
          <p:nvPr/>
        </p:nvSpPr>
        <p:spPr bwMode="auto">
          <a:xfrm>
            <a:off x="5794375" y="2224088"/>
            <a:ext cx="1809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6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fr-FR"/>
          </a:p>
        </p:txBody>
      </p:sp>
      <p:sp>
        <p:nvSpPr>
          <p:cNvPr id="539692" name="Rectangle 44"/>
          <p:cNvSpPr>
            <a:spLocks noChangeArrowheads="1"/>
          </p:cNvSpPr>
          <p:nvPr/>
        </p:nvSpPr>
        <p:spPr bwMode="auto">
          <a:xfrm>
            <a:off x="5794375" y="2222500"/>
            <a:ext cx="114300" cy="2952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693" name="Rectangle 45"/>
          <p:cNvSpPr>
            <a:spLocks noChangeArrowheads="1"/>
          </p:cNvSpPr>
          <p:nvPr/>
        </p:nvSpPr>
        <p:spPr bwMode="auto">
          <a:xfrm>
            <a:off x="5794375" y="2224088"/>
            <a:ext cx="1809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6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fr-FR"/>
          </a:p>
        </p:txBody>
      </p:sp>
      <p:sp>
        <p:nvSpPr>
          <p:cNvPr id="539694" name="Rectangle 46"/>
          <p:cNvSpPr>
            <a:spLocks noChangeArrowheads="1"/>
          </p:cNvSpPr>
          <p:nvPr/>
        </p:nvSpPr>
        <p:spPr bwMode="auto">
          <a:xfrm>
            <a:off x="5794375" y="2222500"/>
            <a:ext cx="114300" cy="2952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695" name="Rectangle 47"/>
          <p:cNvSpPr>
            <a:spLocks noChangeArrowheads="1"/>
          </p:cNvSpPr>
          <p:nvPr/>
        </p:nvSpPr>
        <p:spPr bwMode="auto">
          <a:xfrm>
            <a:off x="5794375" y="2224088"/>
            <a:ext cx="1809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6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fr-FR"/>
          </a:p>
        </p:txBody>
      </p:sp>
      <p:sp>
        <p:nvSpPr>
          <p:cNvPr id="539696" name="Rectangle 48"/>
          <p:cNvSpPr>
            <a:spLocks noChangeArrowheads="1"/>
          </p:cNvSpPr>
          <p:nvPr/>
        </p:nvSpPr>
        <p:spPr bwMode="auto">
          <a:xfrm>
            <a:off x="5794375" y="2222500"/>
            <a:ext cx="114300" cy="2952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697" name="Rectangle 49"/>
          <p:cNvSpPr>
            <a:spLocks noChangeArrowheads="1"/>
          </p:cNvSpPr>
          <p:nvPr/>
        </p:nvSpPr>
        <p:spPr bwMode="auto">
          <a:xfrm>
            <a:off x="5964238" y="2052638"/>
            <a:ext cx="1925637" cy="657225"/>
          </a:xfrm>
          <a:prstGeom prst="rect">
            <a:avLst/>
          </a:prstGeom>
          <a:noFill/>
          <a:ln w="222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698" name="Rectangle 50"/>
          <p:cNvSpPr>
            <a:spLocks noChangeArrowheads="1"/>
          </p:cNvSpPr>
          <p:nvPr/>
        </p:nvSpPr>
        <p:spPr bwMode="auto">
          <a:xfrm>
            <a:off x="6202363" y="2200275"/>
            <a:ext cx="14319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600" b="1">
                <a:solidFill>
                  <a:srgbClr val="000000"/>
                </a:solidFill>
                <a:latin typeface="Arial" panose="020B0604020202020204" pitchFamily="34" charset="0"/>
              </a:rPr>
              <a:t>CourseSection</a:t>
            </a:r>
            <a:endParaRPr lang="en-CA" altLang="fr-FR"/>
          </a:p>
        </p:txBody>
      </p:sp>
      <p:sp>
        <p:nvSpPr>
          <p:cNvPr id="539699" name="Rectangle 51"/>
          <p:cNvSpPr>
            <a:spLocks noChangeArrowheads="1"/>
          </p:cNvSpPr>
          <p:nvPr/>
        </p:nvSpPr>
        <p:spPr bwMode="auto">
          <a:xfrm>
            <a:off x="6881813" y="3830638"/>
            <a:ext cx="1809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6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fr-FR"/>
          </a:p>
        </p:txBody>
      </p:sp>
      <p:sp>
        <p:nvSpPr>
          <p:cNvPr id="539700" name="Line 52"/>
          <p:cNvSpPr>
            <a:spLocks noChangeShapeType="1"/>
          </p:cNvSpPr>
          <p:nvPr/>
        </p:nvSpPr>
        <p:spPr bwMode="auto">
          <a:xfrm>
            <a:off x="6835775" y="3806825"/>
            <a:ext cx="1588" cy="4079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701" name="Rectangle 53"/>
          <p:cNvSpPr>
            <a:spLocks noChangeArrowheads="1"/>
          </p:cNvSpPr>
          <p:nvPr/>
        </p:nvSpPr>
        <p:spPr bwMode="auto">
          <a:xfrm>
            <a:off x="6881813" y="2925763"/>
            <a:ext cx="1809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600">
                <a:solidFill>
                  <a:srgbClr val="000000"/>
                </a:solidFill>
                <a:latin typeface="Arial" panose="020B0604020202020204" pitchFamily="34" charset="0"/>
              </a:rPr>
              <a:t>*</a:t>
            </a:r>
            <a:endParaRPr lang="en-CA" altLang="fr-FR"/>
          </a:p>
        </p:txBody>
      </p:sp>
      <p:grpSp>
        <p:nvGrpSpPr>
          <p:cNvPr id="539704" name="Group 56"/>
          <p:cNvGrpSpPr>
            <a:grpSpLocks/>
          </p:cNvGrpSpPr>
          <p:nvPr/>
        </p:nvGrpSpPr>
        <p:grpSpPr bwMode="auto">
          <a:xfrm>
            <a:off x="6122988" y="3162300"/>
            <a:ext cx="1460500" cy="657225"/>
            <a:chOff x="3857" y="1992"/>
            <a:chExt cx="920" cy="414"/>
          </a:xfrm>
        </p:grpSpPr>
        <p:sp>
          <p:nvSpPr>
            <p:cNvPr id="539702" name="Rectangle 54"/>
            <p:cNvSpPr>
              <a:spLocks noChangeArrowheads="1"/>
            </p:cNvSpPr>
            <p:nvPr/>
          </p:nvSpPr>
          <p:spPr bwMode="auto">
            <a:xfrm>
              <a:off x="3857" y="1992"/>
              <a:ext cx="913" cy="414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539703" name="Rectangle 55"/>
            <p:cNvSpPr>
              <a:spLocks noChangeArrowheads="1"/>
            </p:cNvSpPr>
            <p:nvPr/>
          </p:nvSpPr>
          <p:spPr bwMode="auto">
            <a:xfrm>
              <a:off x="3921" y="2085"/>
              <a:ext cx="856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600" b="1">
                  <a:solidFill>
                    <a:srgbClr val="000000"/>
                  </a:solidFill>
                  <a:latin typeface="Arial" panose="020B0604020202020204" pitchFamily="34" charset="0"/>
                </a:rPr>
                <a:t>Registration</a:t>
              </a:r>
              <a:endParaRPr lang="en-CA" altLang="fr-FR"/>
            </a:p>
          </p:txBody>
        </p:sp>
      </p:grpSp>
      <p:grpSp>
        <p:nvGrpSpPr>
          <p:cNvPr id="539707" name="Group 59"/>
          <p:cNvGrpSpPr>
            <a:grpSpLocks/>
          </p:cNvGrpSpPr>
          <p:nvPr/>
        </p:nvGrpSpPr>
        <p:grpSpPr bwMode="auto">
          <a:xfrm>
            <a:off x="6145213" y="4248150"/>
            <a:ext cx="1404937" cy="657225"/>
            <a:chOff x="3871" y="2676"/>
            <a:chExt cx="885" cy="414"/>
          </a:xfrm>
        </p:grpSpPr>
        <p:sp>
          <p:nvSpPr>
            <p:cNvPr id="539705" name="Rectangle 57"/>
            <p:cNvSpPr>
              <a:spLocks noChangeArrowheads="1"/>
            </p:cNvSpPr>
            <p:nvPr/>
          </p:nvSpPr>
          <p:spPr bwMode="auto">
            <a:xfrm>
              <a:off x="3871" y="2676"/>
              <a:ext cx="885" cy="414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539706" name="Rectangle 58"/>
            <p:cNvSpPr>
              <a:spLocks noChangeArrowheads="1"/>
            </p:cNvSpPr>
            <p:nvPr/>
          </p:nvSpPr>
          <p:spPr bwMode="auto">
            <a:xfrm>
              <a:off x="4035" y="2755"/>
              <a:ext cx="556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600" b="1">
                  <a:solidFill>
                    <a:srgbClr val="000000"/>
                  </a:solidFill>
                  <a:latin typeface="Arial" panose="020B0604020202020204" pitchFamily="34" charset="0"/>
                </a:rPr>
                <a:t>Student</a:t>
              </a:r>
              <a:endParaRPr lang="en-CA" altLang="fr-FR"/>
            </a:p>
          </p:txBody>
        </p:sp>
      </p:grpSp>
      <p:sp>
        <p:nvSpPr>
          <p:cNvPr id="539708" name="Line 60"/>
          <p:cNvSpPr>
            <a:spLocks noChangeShapeType="1"/>
          </p:cNvSpPr>
          <p:nvPr/>
        </p:nvSpPr>
        <p:spPr bwMode="auto">
          <a:xfrm>
            <a:off x="6835775" y="2720975"/>
            <a:ext cx="1588" cy="4079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709" name="Line 61"/>
          <p:cNvSpPr>
            <a:spLocks noChangeShapeType="1"/>
          </p:cNvSpPr>
          <p:nvPr/>
        </p:nvSpPr>
        <p:spPr bwMode="auto">
          <a:xfrm>
            <a:off x="3916363" y="2517775"/>
            <a:ext cx="2217737" cy="176530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710" name="Line 62"/>
          <p:cNvSpPr>
            <a:spLocks noChangeShapeType="1"/>
          </p:cNvSpPr>
          <p:nvPr/>
        </p:nvSpPr>
        <p:spPr bwMode="auto">
          <a:xfrm flipH="1" flipV="1">
            <a:off x="5251450" y="2019300"/>
            <a:ext cx="701675" cy="31750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711" name="Line 63"/>
          <p:cNvSpPr>
            <a:spLocks noChangeShapeType="1"/>
          </p:cNvSpPr>
          <p:nvPr/>
        </p:nvSpPr>
        <p:spPr bwMode="auto">
          <a:xfrm flipH="1" flipV="1">
            <a:off x="3825875" y="2222500"/>
            <a:ext cx="2127250" cy="136525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712" name="Freeform 64"/>
          <p:cNvSpPr>
            <a:spLocks/>
          </p:cNvSpPr>
          <p:nvPr/>
        </p:nvSpPr>
        <p:spPr bwMode="auto">
          <a:xfrm>
            <a:off x="3711575" y="2087563"/>
            <a:ext cx="180975" cy="249237"/>
          </a:xfrm>
          <a:custGeom>
            <a:avLst/>
            <a:gdLst>
              <a:gd name="T0" fmla="*/ 0 w 114"/>
              <a:gd name="T1" fmla="*/ 85 h 157"/>
              <a:gd name="T2" fmla="*/ 114 w 114"/>
              <a:gd name="T3" fmla="*/ 0 h 157"/>
              <a:gd name="T4" fmla="*/ 114 w 114"/>
              <a:gd name="T5" fmla="*/ 157 h 157"/>
              <a:gd name="T6" fmla="*/ 0 w 114"/>
              <a:gd name="T7" fmla="*/ 85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4" h="157">
                <a:moveTo>
                  <a:pt x="0" y="85"/>
                </a:moveTo>
                <a:lnTo>
                  <a:pt x="114" y="0"/>
                </a:lnTo>
                <a:lnTo>
                  <a:pt x="114" y="157"/>
                </a:lnTo>
                <a:lnTo>
                  <a:pt x="0" y="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713" name="Freeform 65"/>
          <p:cNvSpPr>
            <a:spLocks/>
          </p:cNvSpPr>
          <p:nvPr/>
        </p:nvSpPr>
        <p:spPr bwMode="auto">
          <a:xfrm>
            <a:off x="3711575" y="2087563"/>
            <a:ext cx="180975" cy="249237"/>
          </a:xfrm>
          <a:custGeom>
            <a:avLst/>
            <a:gdLst>
              <a:gd name="T0" fmla="*/ 0 w 114"/>
              <a:gd name="T1" fmla="*/ 85 h 157"/>
              <a:gd name="T2" fmla="*/ 114 w 114"/>
              <a:gd name="T3" fmla="*/ 0 h 157"/>
              <a:gd name="T4" fmla="*/ 114 w 114"/>
              <a:gd name="T5" fmla="*/ 157 h 157"/>
              <a:gd name="T6" fmla="*/ 0 w 114"/>
              <a:gd name="T7" fmla="*/ 85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4" h="157">
                <a:moveTo>
                  <a:pt x="0" y="85"/>
                </a:moveTo>
                <a:lnTo>
                  <a:pt x="114" y="0"/>
                </a:lnTo>
                <a:lnTo>
                  <a:pt x="114" y="157"/>
                </a:lnTo>
                <a:lnTo>
                  <a:pt x="0" y="85"/>
                </a:lnTo>
                <a:close/>
              </a:path>
            </a:pathLst>
          </a:custGeom>
          <a:solidFill>
            <a:srgbClr val="FFFFFF"/>
          </a:solidFill>
          <a:ln w="2222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39714" name="Rectangle 66"/>
          <p:cNvSpPr>
            <a:spLocks noChangeArrowheads="1"/>
          </p:cNvSpPr>
          <p:nvPr/>
        </p:nvSpPr>
        <p:spPr bwMode="auto">
          <a:xfrm>
            <a:off x="5580063" y="3546475"/>
            <a:ext cx="90487" cy="407988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39715" name="Rectangle 67"/>
          <p:cNvSpPr>
            <a:spLocks noChangeArrowheads="1"/>
          </p:cNvSpPr>
          <p:nvPr/>
        </p:nvSpPr>
        <p:spPr bwMode="auto">
          <a:xfrm>
            <a:off x="5580063" y="3546475"/>
            <a:ext cx="90487" cy="407988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39716" name="Rectangle 68"/>
          <p:cNvSpPr>
            <a:spLocks noChangeArrowheads="1"/>
          </p:cNvSpPr>
          <p:nvPr/>
        </p:nvSpPr>
        <p:spPr bwMode="auto">
          <a:xfrm>
            <a:off x="5353050" y="3546475"/>
            <a:ext cx="90488" cy="407988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39717" name="Rectangle 69"/>
          <p:cNvSpPr>
            <a:spLocks noChangeArrowheads="1"/>
          </p:cNvSpPr>
          <p:nvPr/>
        </p:nvSpPr>
        <p:spPr bwMode="auto">
          <a:xfrm>
            <a:off x="5126038" y="3321050"/>
            <a:ext cx="92075" cy="407988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39718" name="Rectangle 70"/>
          <p:cNvSpPr>
            <a:spLocks noChangeArrowheads="1"/>
          </p:cNvSpPr>
          <p:nvPr/>
        </p:nvSpPr>
        <p:spPr bwMode="auto">
          <a:xfrm>
            <a:off x="4900613" y="3094038"/>
            <a:ext cx="90487" cy="407987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39719" name="Rectangle 71"/>
          <p:cNvSpPr>
            <a:spLocks noChangeArrowheads="1"/>
          </p:cNvSpPr>
          <p:nvPr/>
        </p:nvSpPr>
        <p:spPr bwMode="auto">
          <a:xfrm>
            <a:off x="4673600" y="2868613"/>
            <a:ext cx="92075" cy="407987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39720" name="Rectangle 72"/>
          <p:cNvSpPr>
            <a:spLocks noChangeArrowheads="1"/>
          </p:cNvSpPr>
          <p:nvPr/>
        </p:nvSpPr>
        <p:spPr bwMode="auto">
          <a:xfrm>
            <a:off x="4448175" y="2822575"/>
            <a:ext cx="90488" cy="204788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39721" name="Rectangle 73"/>
          <p:cNvSpPr>
            <a:spLocks noChangeArrowheads="1"/>
          </p:cNvSpPr>
          <p:nvPr/>
        </p:nvSpPr>
        <p:spPr bwMode="auto">
          <a:xfrm>
            <a:off x="4221163" y="2800350"/>
            <a:ext cx="90487" cy="90488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39722" name="Rectangle 74"/>
          <p:cNvSpPr>
            <a:spLocks noChangeArrowheads="1"/>
          </p:cNvSpPr>
          <p:nvPr/>
        </p:nvSpPr>
        <p:spPr bwMode="auto">
          <a:xfrm>
            <a:off x="4017963" y="2528888"/>
            <a:ext cx="90487" cy="158750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39723" name="Rectangle 75"/>
          <p:cNvSpPr>
            <a:spLocks noChangeArrowheads="1"/>
          </p:cNvSpPr>
          <p:nvPr/>
        </p:nvSpPr>
        <p:spPr bwMode="auto">
          <a:xfrm>
            <a:off x="5805488" y="3773488"/>
            <a:ext cx="92075" cy="407987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39724" name="Rectangle 76"/>
          <p:cNvSpPr>
            <a:spLocks noChangeArrowheads="1"/>
          </p:cNvSpPr>
          <p:nvPr/>
        </p:nvSpPr>
        <p:spPr bwMode="auto">
          <a:xfrm>
            <a:off x="6010275" y="4000500"/>
            <a:ext cx="90488" cy="406400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39725" name="Freeform 77"/>
          <p:cNvSpPr>
            <a:spLocks/>
          </p:cNvSpPr>
          <p:nvPr/>
        </p:nvSpPr>
        <p:spPr bwMode="auto">
          <a:xfrm>
            <a:off x="3825875" y="2427288"/>
            <a:ext cx="203200" cy="225425"/>
          </a:xfrm>
          <a:custGeom>
            <a:avLst/>
            <a:gdLst>
              <a:gd name="T0" fmla="*/ 0 w 128"/>
              <a:gd name="T1" fmla="*/ 0 h 142"/>
              <a:gd name="T2" fmla="*/ 128 w 128"/>
              <a:gd name="T3" fmla="*/ 28 h 142"/>
              <a:gd name="T4" fmla="*/ 28 w 128"/>
              <a:gd name="T5" fmla="*/ 142 h 142"/>
              <a:gd name="T6" fmla="*/ 0 w 128"/>
              <a:gd name="T7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8" h="142">
                <a:moveTo>
                  <a:pt x="0" y="0"/>
                </a:moveTo>
                <a:lnTo>
                  <a:pt x="128" y="28"/>
                </a:lnTo>
                <a:lnTo>
                  <a:pt x="28" y="14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726" name="Freeform 78"/>
          <p:cNvSpPr>
            <a:spLocks/>
          </p:cNvSpPr>
          <p:nvPr/>
        </p:nvSpPr>
        <p:spPr bwMode="auto">
          <a:xfrm>
            <a:off x="3825875" y="2427288"/>
            <a:ext cx="203200" cy="225425"/>
          </a:xfrm>
          <a:custGeom>
            <a:avLst/>
            <a:gdLst>
              <a:gd name="T0" fmla="*/ 0 w 128"/>
              <a:gd name="T1" fmla="*/ 0 h 142"/>
              <a:gd name="T2" fmla="*/ 128 w 128"/>
              <a:gd name="T3" fmla="*/ 28 h 142"/>
              <a:gd name="T4" fmla="*/ 28 w 128"/>
              <a:gd name="T5" fmla="*/ 142 h 142"/>
              <a:gd name="T6" fmla="*/ 0 w 128"/>
              <a:gd name="T7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8" h="142">
                <a:moveTo>
                  <a:pt x="0" y="0"/>
                </a:moveTo>
                <a:lnTo>
                  <a:pt x="128" y="28"/>
                </a:lnTo>
                <a:lnTo>
                  <a:pt x="28" y="14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222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39727" name="Freeform 79"/>
          <p:cNvSpPr>
            <a:spLocks/>
          </p:cNvSpPr>
          <p:nvPr/>
        </p:nvSpPr>
        <p:spPr bwMode="auto">
          <a:xfrm>
            <a:off x="5205413" y="1974850"/>
            <a:ext cx="204787" cy="203200"/>
          </a:xfrm>
          <a:custGeom>
            <a:avLst/>
            <a:gdLst>
              <a:gd name="T0" fmla="*/ 0 w 129"/>
              <a:gd name="T1" fmla="*/ 0 h 128"/>
              <a:gd name="T2" fmla="*/ 129 w 129"/>
              <a:gd name="T3" fmla="*/ 0 h 128"/>
              <a:gd name="T4" fmla="*/ 43 w 129"/>
              <a:gd name="T5" fmla="*/ 128 h 128"/>
              <a:gd name="T6" fmla="*/ 0 w 129"/>
              <a:gd name="T7" fmla="*/ 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9" h="128">
                <a:moveTo>
                  <a:pt x="0" y="0"/>
                </a:moveTo>
                <a:lnTo>
                  <a:pt x="129" y="0"/>
                </a:lnTo>
                <a:lnTo>
                  <a:pt x="43" y="1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39728" name="Freeform 80"/>
          <p:cNvSpPr>
            <a:spLocks/>
          </p:cNvSpPr>
          <p:nvPr/>
        </p:nvSpPr>
        <p:spPr bwMode="auto">
          <a:xfrm>
            <a:off x="5205413" y="1974850"/>
            <a:ext cx="204787" cy="203200"/>
          </a:xfrm>
          <a:custGeom>
            <a:avLst/>
            <a:gdLst>
              <a:gd name="T0" fmla="*/ 0 w 129"/>
              <a:gd name="T1" fmla="*/ 0 h 128"/>
              <a:gd name="T2" fmla="*/ 129 w 129"/>
              <a:gd name="T3" fmla="*/ 0 h 128"/>
              <a:gd name="T4" fmla="*/ 43 w 129"/>
              <a:gd name="T5" fmla="*/ 128 h 128"/>
              <a:gd name="T6" fmla="*/ 0 w 129"/>
              <a:gd name="T7" fmla="*/ 0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9" h="128">
                <a:moveTo>
                  <a:pt x="0" y="0"/>
                </a:moveTo>
                <a:lnTo>
                  <a:pt x="129" y="0"/>
                </a:lnTo>
                <a:lnTo>
                  <a:pt x="43" y="1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222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39729" name="Rectangle 81"/>
          <p:cNvSpPr>
            <a:spLocks noChangeArrowheads="1"/>
          </p:cNvSpPr>
          <p:nvPr/>
        </p:nvSpPr>
        <p:spPr bwMode="auto">
          <a:xfrm>
            <a:off x="5783263" y="2120900"/>
            <a:ext cx="68262" cy="407988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39730" name="Rectangle 82"/>
          <p:cNvSpPr>
            <a:spLocks noChangeArrowheads="1"/>
          </p:cNvSpPr>
          <p:nvPr/>
        </p:nvSpPr>
        <p:spPr bwMode="auto">
          <a:xfrm>
            <a:off x="5556250" y="2120900"/>
            <a:ext cx="68263" cy="407988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39731" name="Rectangle 83"/>
          <p:cNvSpPr>
            <a:spLocks noChangeArrowheads="1"/>
          </p:cNvSpPr>
          <p:nvPr/>
        </p:nvSpPr>
        <p:spPr bwMode="auto">
          <a:xfrm>
            <a:off x="5330825" y="2166938"/>
            <a:ext cx="90488" cy="407987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39732" name="Rectangle 84"/>
          <p:cNvSpPr>
            <a:spLocks noChangeArrowheads="1"/>
          </p:cNvSpPr>
          <p:nvPr/>
        </p:nvSpPr>
        <p:spPr bwMode="auto">
          <a:xfrm>
            <a:off x="5126038" y="2143125"/>
            <a:ext cx="92075" cy="407988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39733" name="Rectangle 85"/>
          <p:cNvSpPr>
            <a:spLocks noChangeArrowheads="1"/>
          </p:cNvSpPr>
          <p:nvPr/>
        </p:nvSpPr>
        <p:spPr bwMode="auto">
          <a:xfrm>
            <a:off x="4900613" y="2166938"/>
            <a:ext cx="90487" cy="407987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39734" name="Rectangle 86"/>
          <p:cNvSpPr>
            <a:spLocks noChangeArrowheads="1"/>
          </p:cNvSpPr>
          <p:nvPr/>
        </p:nvSpPr>
        <p:spPr bwMode="auto">
          <a:xfrm>
            <a:off x="4673600" y="2166938"/>
            <a:ext cx="92075" cy="407987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39735" name="Rectangle 87"/>
          <p:cNvSpPr>
            <a:spLocks noChangeArrowheads="1"/>
          </p:cNvSpPr>
          <p:nvPr/>
        </p:nvSpPr>
        <p:spPr bwMode="auto">
          <a:xfrm>
            <a:off x="4448175" y="2166938"/>
            <a:ext cx="90488" cy="407987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39736" name="Rectangle 88"/>
          <p:cNvSpPr>
            <a:spLocks noChangeArrowheads="1"/>
          </p:cNvSpPr>
          <p:nvPr/>
        </p:nvSpPr>
        <p:spPr bwMode="auto">
          <a:xfrm>
            <a:off x="4221163" y="2166938"/>
            <a:ext cx="90487" cy="407987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39737" name="Rectangle 89"/>
          <p:cNvSpPr>
            <a:spLocks noChangeArrowheads="1"/>
          </p:cNvSpPr>
          <p:nvPr/>
        </p:nvSpPr>
        <p:spPr bwMode="auto">
          <a:xfrm>
            <a:off x="3994150" y="2166938"/>
            <a:ext cx="92075" cy="180975"/>
          </a:xfrm>
          <a:prstGeom prst="rect">
            <a:avLst/>
          </a:prstGeom>
          <a:solidFill>
            <a:srgbClr val="FFFFFF"/>
          </a:solidFill>
          <a:ln w="222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39738" name="Rectangle 90"/>
          <p:cNvSpPr>
            <a:spLocks noChangeArrowheads="1"/>
          </p:cNvSpPr>
          <p:nvPr/>
        </p:nvSpPr>
        <p:spPr bwMode="auto">
          <a:xfrm>
            <a:off x="5953125" y="1703388"/>
            <a:ext cx="2241550" cy="29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600" b="1">
                <a:solidFill>
                  <a:srgbClr val="000000"/>
                </a:solidFill>
                <a:latin typeface="Arial" panose="020B0604020202020204" pitchFamily="34" charset="0"/>
              </a:rPr>
              <a:t>Realization Elements</a:t>
            </a:r>
            <a:endParaRPr lang="en-CA" altLang="fr-FR"/>
          </a:p>
        </p:txBody>
      </p:sp>
      <p:sp>
        <p:nvSpPr>
          <p:cNvPr id="539739" name="Rectangle 91"/>
          <p:cNvSpPr>
            <a:spLocks noChangeArrowheads="1"/>
          </p:cNvSpPr>
          <p:nvPr/>
        </p:nvSpPr>
        <p:spPr bwMode="auto">
          <a:xfrm>
            <a:off x="1697038" y="2811463"/>
            <a:ext cx="2422525" cy="29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600" b="1">
                <a:solidFill>
                  <a:srgbClr val="000000"/>
                </a:solidFill>
                <a:latin typeface="Arial" panose="020B0604020202020204" pitchFamily="34" charset="0"/>
              </a:rPr>
              <a:t>Specification Elements</a:t>
            </a:r>
            <a:endParaRPr lang="en-CA" altLang="fr-FR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61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0857356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Component diagrams</a:t>
            </a:r>
          </a:p>
        </p:txBody>
      </p:sp>
      <p:sp>
        <p:nvSpPr>
          <p:cNvPr id="458760" name="Rectangle 8"/>
          <p:cNvSpPr>
            <a:spLocks noChangeArrowheads="1"/>
          </p:cNvSpPr>
          <p:nvPr/>
        </p:nvSpPr>
        <p:spPr bwMode="auto">
          <a:xfrm>
            <a:off x="1914525" y="3081338"/>
            <a:ext cx="1027113" cy="55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600">
                <a:solidFill>
                  <a:srgbClr val="000000"/>
                </a:solidFill>
                <a:latin typeface="Arial" panose="020B0604020202020204" pitchFamily="34" charset="0"/>
              </a:rPr>
              <a:t>Client</a:t>
            </a:r>
            <a:endParaRPr lang="en-US" altLang="en-US"/>
          </a:p>
        </p:txBody>
      </p:sp>
      <p:sp>
        <p:nvSpPr>
          <p:cNvPr id="458761" name="Rectangle 9"/>
          <p:cNvSpPr>
            <a:spLocks noChangeArrowheads="1"/>
          </p:cNvSpPr>
          <p:nvPr/>
        </p:nvSpPr>
        <p:spPr bwMode="auto">
          <a:xfrm>
            <a:off x="1417638" y="2695575"/>
            <a:ext cx="2203450" cy="1212850"/>
          </a:xfrm>
          <a:prstGeom prst="rect">
            <a:avLst/>
          </a:prstGeom>
          <a:noFill/>
          <a:ln w="36513">
            <a:solidFill>
              <a:srgbClr val="1F1A1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8762" name="Freeform 10"/>
          <p:cNvSpPr>
            <a:spLocks/>
          </p:cNvSpPr>
          <p:nvPr/>
        </p:nvSpPr>
        <p:spPr bwMode="auto">
          <a:xfrm>
            <a:off x="1143000" y="3411538"/>
            <a:ext cx="403225" cy="220662"/>
          </a:xfrm>
          <a:custGeom>
            <a:avLst/>
            <a:gdLst>
              <a:gd name="T0" fmla="*/ 0 w 254"/>
              <a:gd name="T1" fmla="*/ 0 h 139"/>
              <a:gd name="T2" fmla="*/ 254 w 254"/>
              <a:gd name="T3" fmla="*/ 0 h 139"/>
              <a:gd name="T4" fmla="*/ 254 w 254"/>
              <a:gd name="T5" fmla="*/ 139 h 139"/>
              <a:gd name="T6" fmla="*/ 0 w 254"/>
              <a:gd name="T7" fmla="*/ 139 h 139"/>
              <a:gd name="T8" fmla="*/ 0 w 254"/>
              <a:gd name="T9" fmla="*/ 0 h 139"/>
              <a:gd name="T10" fmla="*/ 0 w 254"/>
              <a:gd name="T11" fmla="*/ 0 h 139"/>
              <a:gd name="T12" fmla="*/ 0 w 254"/>
              <a:gd name="T13" fmla="*/ 0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4" h="139">
                <a:moveTo>
                  <a:pt x="0" y="0"/>
                </a:moveTo>
                <a:lnTo>
                  <a:pt x="254" y="0"/>
                </a:lnTo>
                <a:lnTo>
                  <a:pt x="254" y="139"/>
                </a:lnTo>
                <a:lnTo>
                  <a:pt x="0" y="139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8763" name="Rectangle 11"/>
          <p:cNvSpPr>
            <a:spLocks noChangeArrowheads="1"/>
          </p:cNvSpPr>
          <p:nvPr/>
        </p:nvSpPr>
        <p:spPr bwMode="auto">
          <a:xfrm>
            <a:off x="1160463" y="3429000"/>
            <a:ext cx="368300" cy="185738"/>
          </a:xfrm>
          <a:prstGeom prst="rect">
            <a:avLst/>
          </a:prstGeom>
          <a:solidFill>
            <a:srgbClr val="FFFFFF"/>
          </a:solidFill>
          <a:ln w="36513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58764" name="Rectangle 12"/>
          <p:cNvSpPr>
            <a:spLocks noChangeArrowheads="1"/>
          </p:cNvSpPr>
          <p:nvPr/>
        </p:nvSpPr>
        <p:spPr bwMode="auto">
          <a:xfrm>
            <a:off x="7639050" y="3081338"/>
            <a:ext cx="1174750" cy="55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600">
                <a:solidFill>
                  <a:srgbClr val="000000"/>
                </a:solidFill>
                <a:latin typeface="Arial" panose="020B0604020202020204" pitchFamily="34" charset="0"/>
              </a:rPr>
              <a:t>Server</a:t>
            </a:r>
            <a:endParaRPr lang="en-US" altLang="en-US"/>
          </a:p>
        </p:txBody>
      </p:sp>
      <p:sp>
        <p:nvSpPr>
          <p:cNvPr id="458765" name="Rectangle 13"/>
          <p:cNvSpPr>
            <a:spLocks noChangeArrowheads="1"/>
          </p:cNvSpPr>
          <p:nvPr/>
        </p:nvSpPr>
        <p:spPr bwMode="auto">
          <a:xfrm>
            <a:off x="6996113" y="2695575"/>
            <a:ext cx="2093912" cy="1212850"/>
          </a:xfrm>
          <a:prstGeom prst="rect">
            <a:avLst/>
          </a:prstGeom>
          <a:noFill/>
          <a:ln w="36513">
            <a:solidFill>
              <a:srgbClr val="1F1A1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8766" name="Rectangle 14"/>
          <p:cNvSpPr>
            <a:spLocks noChangeArrowheads="1"/>
          </p:cNvSpPr>
          <p:nvPr/>
        </p:nvSpPr>
        <p:spPr bwMode="auto">
          <a:xfrm>
            <a:off x="3657600" y="2787650"/>
            <a:ext cx="2990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2600">
                <a:solidFill>
                  <a:srgbClr val="000000"/>
                </a:solidFill>
                <a:latin typeface="Arial" panose="020B0604020202020204" pitchFamily="34" charset="0"/>
              </a:rPr>
              <a:t>&lt;&lt;communication&gt;&gt;</a:t>
            </a:r>
            <a:endParaRPr lang="en-US" altLang="en-US"/>
          </a:p>
        </p:txBody>
      </p:sp>
      <p:sp>
        <p:nvSpPr>
          <p:cNvPr id="458767" name="Freeform 15"/>
          <p:cNvSpPr>
            <a:spLocks/>
          </p:cNvSpPr>
          <p:nvPr/>
        </p:nvSpPr>
        <p:spPr bwMode="auto">
          <a:xfrm>
            <a:off x="1143000" y="2935288"/>
            <a:ext cx="403225" cy="219075"/>
          </a:xfrm>
          <a:custGeom>
            <a:avLst/>
            <a:gdLst>
              <a:gd name="T0" fmla="*/ 0 w 254"/>
              <a:gd name="T1" fmla="*/ 0 h 138"/>
              <a:gd name="T2" fmla="*/ 254 w 254"/>
              <a:gd name="T3" fmla="*/ 0 h 138"/>
              <a:gd name="T4" fmla="*/ 254 w 254"/>
              <a:gd name="T5" fmla="*/ 138 h 138"/>
              <a:gd name="T6" fmla="*/ 0 w 254"/>
              <a:gd name="T7" fmla="*/ 138 h 138"/>
              <a:gd name="T8" fmla="*/ 0 w 254"/>
              <a:gd name="T9" fmla="*/ 0 h 138"/>
              <a:gd name="T10" fmla="*/ 0 w 254"/>
              <a:gd name="T11" fmla="*/ 0 h 138"/>
              <a:gd name="T12" fmla="*/ 0 w 254"/>
              <a:gd name="T13" fmla="*/ 0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4" h="138">
                <a:moveTo>
                  <a:pt x="0" y="0"/>
                </a:moveTo>
                <a:lnTo>
                  <a:pt x="254" y="0"/>
                </a:lnTo>
                <a:lnTo>
                  <a:pt x="254" y="138"/>
                </a:lnTo>
                <a:lnTo>
                  <a:pt x="0" y="138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8768" name="Rectangle 16"/>
          <p:cNvSpPr>
            <a:spLocks noChangeArrowheads="1"/>
          </p:cNvSpPr>
          <p:nvPr/>
        </p:nvSpPr>
        <p:spPr bwMode="auto">
          <a:xfrm>
            <a:off x="1160463" y="2952750"/>
            <a:ext cx="368300" cy="184150"/>
          </a:xfrm>
          <a:prstGeom prst="rect">
            <a:avLst/>
          </a:prstGeom>
          <a:solidFill>
            <a:srgbClr val="FFFFFF"/>
          </a:solidFill>
          <a:ln w="36513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58769" name="Freeform 17"/>
          <p:cNvSpPr>
            <a:spLocks/>
          </p:cNvSpPr>
          <p:nvPr/>
        </p:nvSpPr>
        <p:spPr bwMode="auto">
          <a:xfrm>
            <a:off x="6721475" y="3411538"/>
            <a:ext cx="403225" cy="220662"/>
          </a:xfrm>
          <a:custGeom>
            <a:avLst/>
            <a:gdLst>
              <a:gd name="T0" fmla="*/ 0 w 254"/>
              <a:gd name="T1" fmla="*/ 0 h 139"/>
              <a:gd name="T2" fmla="*/ 254 w 254"/>
              <a:gd name="T3" fmla="*/ 0 h 139"/>
              <a:gd name="T4" fmla="*/ 254 w 254"/>
              <a:gd name="T5" fmla="*/ 139 h 139"/>
              <a:gd name="T6" fmla="*/ 0 w 254"/>
              <a:gd name="T7" fmla="*/ 139 h 139"/>
              <a:gd name="T8" fmla="*/ 0 w 254"/>
              <a:gd name="T9" fmla="*/ 0 h 139"/>
              <a:gd name="T10" fmla="*/ 0 w 254"/>
              <a:gd name="T11" fmla="*/ 0 h 139"/>
              <a:gd name="T12" fmla="*/ 0 w 254"/>
              <a:gd name="T13" fmla="*/ 0 h 1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4" h="139">
                <a:moveTo>
                  <a:pt x="0" y="0"/>
                </a:moveTo>
                <a:lnTo>
                  <a:pt x="254" y="0"/>
                </a:lnTo>
                <a:lnTo>
                  <a:pt x="254" y="139"/>
                </a:lnTo>
                <a:lnTo>
                  <a:pt x="0" y="139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8770" name="Rectangle 18"/>
          <p:cNvSpPr>
            <a:spLocks noChangeArrowheads="1"/>
          </p:cNvSpPr>
          <p:nvPr/>
        </p:nvSpPr>
        <p:spPr bwMode="auto">
          <a:xfrm>
            <a:off x="6738938" y="3429000"/>
            <a:ext cx="368300" cy="185738"/>
          </a:xfrm>
          <a:prstGeom prst="rect">
            <a:avLst/>
          </a:prstGeom>
          <a:solidFill>
            <a:srgbClr val="FFFFFF"/>
          </a:solidFill>
          <a:ln w="36513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58771" name="Freeform 19"/>
          <p:cNvSpPr>
            <a:spLocks/>
          </p:cNvSpPr>
          <p:nvPr/>
        </p:nvSpPr>
        <p:spPr bwMode="auto">
          <a:xfrm>
            <a:off x="6721475" y="2935288"/>
            <a:ext cx="403225" cy="219075"/>
          </a:xfrm>
          <a:custGeom>
            <a:avLst/>
            <a:gdLst>
              <a:gd name="T0" fmla="*/ 0 w 254"/>
              <a:gd name="T1" fmla="*/ 0 h 138"/>
              <a:gd name="T2" fmla="*/ 254 w 254"/>
              <a:gd name="T3" fmla="*/ 0 h 138"/>
              <a:gd name="T4" fmla="*/ 254 w 254"/>
              <a:gd name="T5" fmla="*/ 138 h 138"/>
              <a:gd name="T6" fmla="*/ 0 w 254"/>
              <a:gd name="T7" fmla="*/ 138 h 138"/>
              <a:gd name="T8" fmla="*/ 0 w 254"/>
              <a:gd name="T9" fmla="*/ 0 h 138"/>
              <a:gd name="T10" fmla="*/ 0 w 254"/>
              <a:gd name="T11" fmla="*/ 0 h 138"/>
              <a:gd name="T12" fmla="*/ 0 w 254"/>
              <a:gd name="T13" fmla="*/ 0 h 1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4" h="138">
                <a:moveTo>
                  <a:pt x="0" y="0"/>
                </a:moveTo>
                <a:lnTo>
                  <a:pt x="254" y="0"/>
                </a:lnTo>
                <a:lnTo>
                  <a:pt x="254" y="138"/>
                </a:lnTo>
                <a:lnTo>
                  <a:pt x="0" y="138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8772" name="Rectangle 20"/>
          <p:cNvSpPr>
            <a:spLocks noChangeArrowheads="1"/>
          </p:cNvSpPr>
          <p:nvPr/>
        </p:nvSpPr>
        <p:spPr bwMode="auto">
          <a:xfrm>
            <a:off x="6738938" y="2952750"/>
            <a:ext cx="368300" cy="184150"/>
          </a:xfrm>
          <a:prstGeom prst="rect">
            <a:avLst/>
          </a:prstGeom>
          <a:solidFill>
            <a:srgbClr val="FFFFFF"/>
          </a:solidFill>
          <a:ln w="36513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58773" name="Arc 21"/>
          <p:cNvSpPr>
            <a:spLocks/>
          </p:cNvSpPr>
          <p:nvPr/>
        </p:nvSpPr>
        <p:spPr bwMode="auto">
          <a:xfrm>
            <a:off x="6538913" y="3114675"/>
            <a:ext cx="439737" cy="301625"/>
          </a:xfrm>
          <a:custGeom>
            <a:avLst/>
            <a:gdLst>
              <a:gd name="G0" fmla="+- 21600 0 0"/>
              <a:gd name="G1" fmla="+- 7405 0 0"/>
              <a:gd name="G2" fmla="+- 21600 0 0"/>
              <a:gd name="T0" fmla="*/ 1309 w 21600"/>
              <a:gd name="T1" fmla="*/ 14810 h 14810"/>
              <a:gd name="T2" fmla="*/ 1309 w 21600"/>
              <a:gd name="T3" fmla="*/ 0 h 14810"/>
              <a:gd name="T4" fmla="*/ 21600 w 21600"/>
              <a:gd name="T5" fmla="*/ 7405 h 148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4810" fill="none" extrusionOk="0">
                <a:moveTo>
                  <a:pt x="1308" y="14810"/>
                </a:moveTo>
                <a:cubicBezTo>
                  <a:pt x="443" y="12437"/>
                  <a:pt x="0" y="9930"/>
                  <a:pt x="0" y="7405"/>
                </a:cubicBezTo>
                <a:cubicBezTo>
                  <a:pt x="0" y="4879"/>
                  <a:pt x="443" y="2372"/>
                  <a:pt x="1308" y="-1"/>
                </a:cubicBezTo>
              </a:path>
              <a:path w="21600" h="14810" stroke="0" extrusionOk="0">
                <a:moveTo>
                  <a:pt x="1308" y="14810"/>
                </a:moveTo>
                <a:cubicBezTo>
                  <a:pt x="443" y="12437"/>
                  <a:pt x="0" y="9930"/>
                  <a:pt x="0" y="7405"/>
                </a:cubicBezTo>
                <a:cubicBezTo>
                  <a:pt x="0" y="4879"/>
                  <a:pt x="443" y="2372"/>
                  <a:pt x="1308" y="-1"/>
                </a:cubicBezTo>
                <a:lnTo>
                  <a:pt x="21600" y="740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8774" name="Line 22"/>
          <p:cNvSpPr>
            <a:spLocks noChangeShapeType="1"/>
          </p:cNvSpPr>
          <p:nvPr/>
        </p:nvSpPr>
        <p:spPr bwMode="auto">
          <a:xfrm>
            <a:off x="3644900" y="3265488"/>
            <a:ext cx="2930525" cy="1587"/>
          </a:xfrm>
          <a:prstGeom prst="line">
            <a:avLst/>
          </a:prstGeom>
          <a:noFill/>
          <a:ln w="365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62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6879656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Deployment diagrams</a:t>
            </a:r>
          </a:p>
        </p:txBody>
      </p:sp>
      <p:sp>
        <p:nvSpPr>
          <p:cNvPr id="459784" name="Line 8"/>
          <p:cNvSpPr>
            <a:spLocks noChangeShapeType="1"/>
          </p:cNvSpPr>
          <p:nvPr/>
        </p:nvSpPr>
        <p:spPr bwMode="auto">
          <a:xfrm flipV="1">
            <a:off x="6816725" y="3181350"/>
            <a:ext cx="560388" cy="198438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785" name="Line 9"/>
          <p:cNvSpPr>
            <a:spLocks noChangeShapeType="1"/>
          </p:cNvSpPr>
          <p:nvPr/>
        </p:nvSpPr>
        <p:spPr bwMode="auto">
          <a:xfrm flipV="1">
            <a:off x="4305300" y="3181350"/>
            <a:ext cx="560388" cy="198438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786" name="Line 10"/>
          <p:cNvSpPr>
            <a:spLocks noChangeShapeType="1"/>
          </p:cNvSpPr>
          <p:nvPr/>
        </p:nvSpPr>
        <p:spPr bwMode="auto">
          <a:xfrm>
            <a:off x="7377113" y="3181350"/>
            <a:ext cx="830262" cy="1588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787" name="Line 11"/>
          <p:cNvSpPr>
            <a:spLocks noChangeShapeType="1"/>
          </p:cNvSpPr>
          <p:nvPr/>
        </p:nvSpPr>
        <p:spPr bwMode="auto">
          <a:xfrm>
            <a:off x="4865688" y="3181350"/>
            <a:ext cx="830262" cy="1588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788" name="Line 12"/>
          <p:cNvSpPr>
            <a:spLocks noChangeShapeType="1"/>
          </p:cNvSpPr>
          <p:nvPr/>
        </p:nvSpPr>
        <p:spPr bwMode="auto">
          <a:xfrm flipH="1">
            <a:off x="7804150" y="3181350"/>
            <a:ext cx="403225" cy="198438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789" name="Line 13"/>
          <p:cNvSpPr>
            <a:spLocks noChangeShapeType="1"/>
          </p:cNvSpPr>
          <p:nvPr/>
        </p:nvSpPr>
        <p:spPr bwMode="auto">
          <a:xfrm flipH="1">
            <a:off x="5314950" y="3181350"/>
            <a:ext cx="381000" cy="198438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790" name="Line 14"/>
          <p:cNvSpPr>
            <a:spLocks noChangeShapeType="1"/>
          </p:cNvSpPr>
          <p:nvPr/>
        </p:nvSpPr>
        <p:spPr bwMode="auto">
          <a:xfrm flipH="1">
            <a:off x="6816725" y="3379788"/>
            <a:ext cx="987425" cy="1587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791" name="Line 15"/>
          <p:cNvSpPr>
            <a:spLocks noChangeShapeType="1"/>
          </p:cNvSpPr>
          <p:nvPr/>
        </p:nvSpPr>
        <p:spPr bwMode="auto">
          <a:xfrm flipH="1">
            <a:off x="4305300" y="3379788"/>
            <a:ext cx="1009650" cy="1587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792" name="Line 16"/>
          <p:cNvSpPr>
            <a:spLocks noChangeShapeType="1"/>
          </p:cNvSpPr>
          <p:nvPr/>
        </p:nvSpPr>
        <p:spPr bwMode="auto">
          <a:xfrm flipH="1">
            <a:off x="6816725" y="4324350"/>
            <a:ext cx="987425" cy="1588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793" name="Line 17"/>
          <p:cNvSpPr>
            <a:spLocks noChangeShapeType="1"/>
          </p:cNvSpPr>
          <p:nvPr/>
        </p:nvSpPr>
        <p:spPr bwMode="auto">
          <a:xfrm flipH="1">
            <a:off x="4305300" y="4324350"/>
            <a:ext cx="1009650" cy="1588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794" name="Line 18"/>
          <p:cNvSpPr>
            <a:spLocks noChangeShapeType="1"/>
          </p:cNvSpPr>
          <p:nvPr/>
        </p:nvSpPr>
        <p:spPr bwMode="auto">
          <a:xfrm flipV="1">
            <a:off x="7804150" y="3181350"/>
            <a:ext cx="403225" cy="198438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795" name="Line 19"/>
          <p:cNvSpPr>
            <a:spLocks noChangeShapeType="1"/>
          </p:cNvSpPr>
          <p:nvPr/>
        </p:nvSpPr>
        <p:spPr bwMode="auto">
          <a:xfrm flipV="1">
            <a:off x="5314950" y="3181350"/>
            <a:ext cx="381000" cy="198438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796" name="Line 20"/>
          <p:cNvSpPr>
            <a:spLocks noChangeShapeType="1"/>
          </p:cNvSpPr>
          <p:nvPr/>
        </p:nvSpPr>
        <p:spPr bwMode="auto">
          <a:xfrm>
            <a:off x="8207375" y="3181350"/>
            <a:ext cx="1588" cy="857250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797" name="Line 21"/>
          <p:cNvSpPr>
            <a:spLocks noChangeShapeType="1"/>
          </p:cNvSpPr>
          <p:nvPr/>
        </p:nvSpPr>
        <p:spPr bwMode="auto">
          <a:xfrm>
            <a:off x="5695950" y="3181350"/>
            <a:ext cx="1588" cy="857250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798" name="Line 22"/>
          <p:cNvSpPr>
            <a:spLocks noChangeShapeType="1"/>
          </p:cNvSpPr>
          <p:nvPr/>
        </p:nvSpPr>
        <p:spPr bwMode="auto">
          <a:xfrm flipH="1">
            <a:off x="7804150" y="4038600"/>
            <a:ext cx="403225" cy="285750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799" name="Line 23"/>
          <p:cNvSpPr>
            <a:spLocks noChangeShapeType="1"/>
          </p:cNvSpPr>
          <p:nvPr/>
        </p:nvSpPr>
        <p:spPr bwMode="auto">
          <a:xfrm flipH="1">
            <a:off x="5314950" y="4038600"/>
            <a:ext cx="381000" cy="285750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00" name="Line 24"/>
          <p:cNvSpPr>
            <a:spLocks noChangeShapeType="1"/>
          </p:cNvSpPr>
          <p:nvPr/>
        </p:nvSpPr>
        <p:spPr bwMode="auto">
          <a:xfrm flipV="1">
            <a:off x="7804150" y="3379788"/>
            <a:ext cx="1588" cy="944562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01" name="Line 25"/>
          <p:cNvSpPr>
            <a:spLocks noChangeShapeType="1"/>
          </p:cNvSpPr>
          <p:nvPr/>
        </p:nvSpPr>
        <p:spPr bwMode="auto">
          <a:xfrm flipV="1">
            <a:off x="5314950" y="3379788"/>
            <a:ext cx="1588" cy="944562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02" name="Line 26"/>
          <p:cNvSpPr>
            <a:spLocks noChangeShapeType="1"/>
          </p:cNvSpPr>
          <p:nvPr/>
        </p:nvSpPr>
        <p:spPr bwMode="auto">
          <a:xfrm flipV="1">
            <a:off x="6816725" y="3379788"/>
            <a:ext cx="1588" cy="944562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03" name="Line 27"/>
          <p:cNvSpPr>
            <a:spLocks noChangeShapeType="1"/>
          </p:cNvSpPr>
          <p:nvPr/>
        </p:nvSpPr>
        <p:spPr bwMode="auto">
          <a:xfrm flipV="1">
            <a:off x="4305300" y="3379788"/>
            <a:ext cx="1588" cy="944562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04" name="Freeform 28"/>
          <p:cNvSpPr>
            <a:spLocks/>
          </p:cNvSpPr>
          <p:nvPr/>
        </p:nvSpPr>
        <p:spPr bwMode="auto">
          <a:xfrm>
            <a:off x="7086600" y="3400425"/>
            <a:ext cx="425450" cy="133350"/>
          </a:xfrm>
          <a:custGeom>
            <a:avLst/>
            <a:gdLst>
              <a:gd name="T0" fmla="*/ 0 w 268"/>
              <a:gd name="T1" fmla="*/ 84 h 84"/>
              <a:gd name="T2" fmla="*/ 268 w 268"/>
              <a:gd name="T3" fmla="*/ 84 h 84"/>
              <a:gd name="T4" fmla="*/ 268 w 268"/>
              <a:gd name="T5" fmla="*/ 0 h 84"/>
              <a:gd name="T6" fmla="*/ 0 w 268"/>
              <a:gd name="T7" fmla="*/ 0 h 84"/>
              <a:gd name="T8" fmla="*/ 0 w 268"/>
              <a:gd name="T9" fmla="*/ 84 h 84"/>
              <a:gd name="T10" fmla="*/ 0 w 268"/>
              <a:gd name="T11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68" h="84">
                <a:moveTo>
                  <a:pt x="0" y="84"/>
                </a:moveTo>
                <a:lnTo>
                  <a:pt x="268" y="84"/>
                </a:lnTo>
                <a:lnTo>
                  <a:pt x="268" y="0"/>
                </a:lnTo>
                <a:lnTo>
                  <a:pt x="0" y="0"/>
                </a:lnTo>
                <a:lnTo>
                  <a:pt x="0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05" name="Rectangle 29"/>
          <p:cNvSpPr>
            <a:spLocks noChangeArrowheads="1"/>
          </p:cNvSpPr>
          <p:nvPr/>
        </p:nvSpPr>
        <p:spPr bwMode="auto">
          <a:xfrm>
            <a:off x="7086600" y="3400425"/>
            <a:ext cx="425450" cy="1333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06" name="Freeform 30"/>
          <p:cNvSpPr>
            <a:spLocks/>
          </p:cNvSpPr>
          <p:nvPr/>
        </p:nvSpPr>
        <p:spPr bwMode="auto">
          <a:xfrm>
            <a:off x="4597400" y="3400425"/>
            <a:ext cx="403225" cy="133350"/>
          </a:xfrm>
          <a:custGeom>
            <a:avLst/>
            <a:gdLst>
              <a:gd name="T0" fmla="*/ 0 w 254"/>
              <a:gd name="T1" fmla="*/ 84 h 84"/>
              <a:gd name="T2" fmla="*/ 254 w 254"/>
              <a:gd name="T3" fmla="*/ 84 h 84"/>
              <a:gd name="T4" fmla="*/ 254 w 254"/>
              <a:gd name="T5" fmla="*/ 0 h 84"/>
              <a:gd name="T6" fmla="*/ 0 w 254"/>
              <a:gd name="T7" fmla="*/ 0 h 84"/>
              <a:gd name="T8" fmla="*/ 0 w 254"/>
              <a:gd name="T9" fmla="*/ 84 h 84"/>
              <a:gd name="T10" fmla="*/ 0 w 254"/>
              <a:gd name="T11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4" h="84">
                <a:moveTo>
                  <a:pt x="0" y="84"/>
                </a:moveTo>
                <a:lnTo>
                  <a:pt x="254" y="84"/>
                </a:lnTo>
                <a:lnTo>
                  <a:pt x="254" y="0"/>
                </a:lnTo>
                <a:lnTo>
                  <a:pt x="0" y="0"/>
                </a:lnTo>
                <a:lnTo>
                  <a:pt x="0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07" name="Rectangle 31"/>
          <p:cNvSpPr>
            <a:spLocks noChangeArrowheads="1"/>
          </p:cNvSpPr>
          <p:nvPr/>
        </p:nvSpPr>
        <p:spPr bwMode="auto">
          <a:xfrm>
            <a:off x="4597400" y="3400425"/>
            <a:ext cx="403225" cy="1333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08" name="Line 32"/>
          <p:cNvSpPr>
            <a:spLocks noChangeShapeType="1"/>
          </p:cNvSpPr>
          <p:nvPr/>
        </p:nvSpPr>
        <p:spPr bwMode="auto">
          <a:xfrm>
            <a:off x="5538788" y="3797300"/>
            <a:ext cx="1277937" cy="1588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09" name="Rectangle 33"/>
          <p:cNvSpPr>
            <a:spLocks noChangeArrowheads="1"/>
          </p:cNvSpPr>
          <p:nvPr/>
        </p:nvSpPr>
        <p:spPr bwMode="auto">
          <a:xfrm>
            <a:off x="4327525" y="3378200"/>
            <a:ext cx="1031875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 u="sng">
                <a:solidFill>
                  <a:srgbClr val="000000"/>
                </a:solidFill>
                <a:latin typeface="Arial" panose="020B0604020202020204" pitchFamily="34" charset="0"/>
              </a:rPr>
              <a:t>Machine1:</a:t>
            </a:r>
            <a:endParaRPr lang="en-US" altLang="en-US"/>
          </a:p>
        </p:txBody>
      </p:sp>
      <p:sp>
        <p:nvSpPr>
          <p:cNvPr id="459810" name="Rectangle 34"/>
          <p:cNvSpPr>
            <a:spLocks noChangeArrowheads="1"/>
          </p:cNvSpPr>
          <p:nvPr/>
        </p:nvSpPr>
        <p:spPr bwMode="auto">
          <a:xfrm>
            <a:off x="5919788" y="3509963"/>
            <a:ext cx="7620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TCP/IP</a:t>
            </a:r>
            <a:endParaRPr lang="en-US" altLang="en-US"/>
          </a:p>
        </p:txBody>
      </p:sp>
      <p:sp>
        <p:nvSpPr>
          <p:cNvPr id="459811" name="Rectangle 35"/>
          <p:cNvSpPr>
            <a:spLocks noChangeArrowheads="1"/>
          </p:cNvSpPr>
          <p:nvPr/>
        </p:nvSpPr>
        <p:spPr bwMode="auto">
          <a:xfrm>
            <a:off x="6838950" y="3378200"/>
            <a:ext cx="1031875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 u="sng">
                <a:solidFill>
                  <a:srgbClr val="000000"/>
                </a:solidFill>
                <a:latin typeface="Arial" panose="020B0604020202020204" pitchFamily="34" charset="0"/>
              </a:rPr>
              <a:t>Machine2:</a:t>
            </a:r>
            <a:endParaRPr lang="en-US" altLang="en-US"/>
          </a:p>
        </p:txBody>
      </p:sp>
      <p:sp>
        <p:nvSpPr>
          <p:cNvPr id="459812" name="Line 36"/>
          <p:cNvSpPr>
            <a:spLocks noChangeShapeType="1"/>
          </p:cNvSpPr>
          <p:nvPr/>
        </p:nvSpPr>
        <p:spPr bwMode="auto">
          <a:xfrm flipV="1">
            <a:off x="1166813" y="3181350"/>
            <a:ext cx="560387" cy="198438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13" name="Line 37"/>
          <p:cNvSpPr>
            <a:spLocks noChangeShapeType="1"/>
          </p:cNvSpPr>
          <p:nvPr/>
        </p:nvSpPr>
        <p:spPr bwMode="auto">
          <a:xfrm>
            <a:off x="1727200" y="3181350"/>
            <a:ext cx="830263" cy="1588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14" name="Line 38"/>
          <p:cNvSpPr>
            <a:spLocks noChangeShapeType="1"/>
          </p:cNvSpPr>
          <p:nvPr/>
        </p:nvSpPr>
        <p:spPr bwMode="auto">
          <a:xfrm flipH="1">
            <a:off x="2152650" y="3181350"/>
            <a:ext cx="404813" cy="198438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15" name="Line 39"/>
          <p:cNvSpPr>
            <a:spLocks noChangeShapeType="1"/>
          </p:cNvSpPr>
          <p:nvPr/>
        </p:nvSpPr>
        <p:spPr bwMode="auto">
          <a:xfrm flipH="1">
            <a:off x="1166813" y="3379788"/>
            <a:ext cx="985837" cy="1587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16" name="Line 40"/>
          <p:cNvSpPr>
            <a:spLocks noChangeShapeType="1"/>
          </p:cNvSpPr>
          <p:nvPr/>
        </p:nvSpPr>
        <p:spPr bwMode="auto">
          <a:xfrm flipH="1">
            <a:off x="1166813" y="4324350"/>
            <a:ext cx="985837" cy="1588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17" name="Line 41"/>
          <p:cNvSpPr>
            <a:spLocks noChangeShapeType="1"/>
          </p:cNvSpPr>
          <p:nvPr/>
        </p:nvSpPr>
        <p:spPr bwMode="auto">
          <a:xfrm flipV="1">
            <a:off x="2152650" y="3181350"/>
            <a:ext cx="404813" cy="198438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18" name="Line 42"/>
          <p:cNvSpPr>
            <a:spLocks noChangeShapeType="1"/>
          </p:cNvSpPr>
          <p:nvPr/>
        </p:nvSpPr>
        <p:spPr bwMode="auto">
          <a:xfrm>
            <a:off x="2557463" y="3181350"/>
            <a:ext cx="1587" cy="857250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19" name="Line 43"/>
          <p:cNvSpPr>
            <a:spLocks noChangeShapeType="1"/>
          </p:cNvSpPr>
          <p:nvPr/>
        </p:nvSpPr>
        <p:spPr bwMode="auto">
          <a:xfrm flipH="1">
            <a:off x="2152650" y="4038600"/>
            <a:ext cx="404813" cy="285750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20" name="Line 44"/>
          <p:cNvSpPr>
            <a:spLocks noChangeShapeType="1"/>
          </p:cNvSpPr>
          <p:nvPr/>
        </p:nvSpPr>
        <p:spPr bwMode="auto">
          <a:xfrm flipV="1">
            <a:off x="2152650" y="3379788"/>
            <a:ext cx="1588" cy="944562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21" name="Line 45"/>
          <p:cNvSpPr>
            <a:spLocks noChangeShapeType="1"/>
          </p:cNvSpPr>
          <p:nvPr/>
        </p:nvSpPr>
        <p:spPr bwMode="auto">
          <a:xfrm flipV="1">
            <a:off x="1166813" y="3379788"/>
            <a:ext cx="1587" cy="944562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22" name="Freeform 46"/>
          <p:cNvSpPr>
            <a:spLocks/>
          </p:cNvSpPr>
          <p:nvPr/>
        </p:nvSpPr>
        <p:spPr bwMode="auto">
          <a:xfrm>
            <a:off x="1435100" y="3400425"/>
            <a:ext cx="427038" cy="133350"/>
          </a:xfrm>
          <a:custGeom>
            <a:avLst/>
            <a:gdLst>
              <a:gd name="T0" fmla="*/ 0 w 269"/>
              <a:gd name="T1" fmla="*/ 84 h 84"/>
              <a:gd name="T2" fmla="*/ 269 w 269"/>
              <a:gd name="T3" fmla="*/ 84 h 84"/>
              <a:gd name="T4" fmla="*/ 269 w 269"/>
              <a:gd name="T5" fmla="*/ 0 h 84"/>
              <a:gd name="T6" fmla="*/ 0 w 269"/>
              <a:gd name="T7" fmla="*/ 0 h 84"/>
              <a:gd name="T8" fmla="*/ 0 w 269"/>
              <a:gd name="T9" fmla="*/ 84 h 84"/>
              <a:gd name="T10" fmla="*/ 0 w 269"/>
              <a:gd name="T11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69" h="84">
                <a:moveTo>
                  <a:pt x="0" y="84"/>
                </a:moveTo>
                <a:lnTo>
                  <a:pt x="269" y="84"/>
                </a:lnTo>
                <a:lnTo>
                  <a:pt x="269" y="0"/>
                </a:lnTo>
                <a:lnTo>
                  <a:pt x="0" y="0"/>
                </a:lnTo>
                <a:lnTo>
                  <a:pt x="0" y="84"/>
                </a:lnTo>
                <a:lnTo>
                  <a:pt x="0" y="8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23" name="Rectangle 47"/>
          <p:cNvSpPr>
            <a:spLocks noChangeArrowheads="1"/>
          </p:cNvSpPr>
          <p:nvPr/>
        </p:nvSpPr>
        <p:spPr bwMode="auto">
          <a:xfrm>
            <a:off x="1435100" y="3400425"/>
            <a:ext cx="427038" cy="1333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24" name="Rectangle 48"/>
          <p:cNvSpPr>
            <a:spLocks noChangeArrowheads="1"/>
          </p:cNvSpPr>
          <p:nvPr/>
        </p:nvSpPr>
        <p:spPr bwMode="auto">
          <a:xfrm>
            <a:off x="1233488" y="3400425"/>
            <a:ext cx="6731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GPS</a:t>
            </a:r>
            <a:endParaRPr lang="en-US" altLang="en-US"/>
          </a:p>
        </p:txBody>
      </p:sp>
      <p:sp>
        <p:nvSpPr>
          <p:cNvPr id="459825" name="Rectangle 49"/>
          <p:cNvSpPr>
            <a:spLocks noChangeArrowheads="1"/>
          </p:cNvSpPr>
          <p:nvPr/>
        </p:nvSpPr>
        <p:spPr bwMode="auto">
          <a:xfrm>
            <a:off x="1233488" y="3621088"/>
            <a:ext cx="830262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Satellite</a:t>
            </a:r>
            <a:endParaRPr lang="en-US" altLang="en-US"/>
          </a:p>
        </p:txBody>
      </p:sp>
      <p:sp>
        <p:nvSpPr>
          <p:cNvPr id="459826" name="Line 50"/>
          <p:cNvSpPr>
            <a:spLocks noChangeShapeType="1"/>
          </p:cNvSpPr>
          <p:nvPr/>
        </p:nvSpPr>
        <p:spPr bwMode="auto">
          <a:xfrm>
            <a:off x="2355850" y="3797300"/>
            <a:ext cx="1927225" cy="1588"/>
          </a:xfrm>
          <a:prstGeom prst="line">
            <a:avLst/>
          </a:prstGeom>
          <a:noFill/>
          <a:ln w="22225">
            <a:solidFill>
              <a:srgbClr val="12141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27" name="Rectangle 51"/>
          <p:cNvSpPr>
            <a:spLocks noChangeArrowheads="1"/>
          </p:cNvSpPr>
          <p:nvPr/>
        </p:nvSpPr>
        <p:spPr bwMode="auto">
          <a:xfrm>
            <a:off x="2736850" y="3290888"/>
            <a:ext cx="10541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Wireless</a:t>
            </a:r>
            <a:endParaRPr lang="en-US" altLang="en-US"/>
          </a:p>
        </p:txBody>
      </p:sp>
      <p:sp>
        <p:nvSpPr>
          <p:cNvPr id="459828" name="Rectangle 52"/>
          <p:cNvSpPr>
            <a:spLocks noChangeArrowheads="1"/>
          </p:cNvSpPr>
          <p:nvPr/>
        </p:nvSpPr>
        <p:spPr bwMode="auto">
          <a:xfrm>
            <a:off x="2736850" y="3509963"/>
            <a:ext cx="1501775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communication</a:t>
            </a:r>
            <a:endParaRPr lang="en-US" altLang="en-US"/>
          </a:p>
        </p:txBody>
      </p:sp>
      <p:sp>
        <p:nvSpPr>
          <p:cNvPr id="459829" name="Rectangle 53"/>
          <p:cNvSpPr>
            <a:spLocks noChangeArrowheads="1"/>
          </p:cNvSpPr>
          <p:nvPr/>
        </p:nvSpPr>
        <p:spPr bwMode="auto">
          <a:xfrm>
            <a:off x="4575175" y="3663950"/>
            <a:ext cx="80645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 u="sng">
                <a:solidFill>
                  <a:srgbClr val="000000"/>
                </a:solidFill>
                <a:latin typeface="Arial" panose="020B0604020202020204" pitchFamily="34" charset="0"/>
              </a:rPr>
              <a:t>Client1:</a:t>
            </a:r>
            <a:endParaRPr lang="en-US" altLang="en-US"/>
          </a:p>
        </p:txBody>
      </p:sp>
      <p:sp>
        <p:nvSpPr>
          <p:cNvPr id="459830" name="Rectangle 54"/>
          <p:cNvSpPr>
            <a:spLocks noChangeArrowheads="1"/>
          </p:cNvSpPr>
          <p:nvPr/>
        </p:nvSpPr>
        <p:spPr bwMode="auto">
          <a:xfrm>
            <a:off x="4429125" y="3676650"/>
            <a:ext cx="830263" cy="263525"/>
          </a:xfrm>
          <a:prstGeom prst="rect">
            <a:avLst/>
          </a:prstGeom>
          <a:noFill/>
          <a:ln w="22225">
            <a:solidFill>
              <a:srgbClr val="1F1A1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31" name="Freeform 55"/>
          <p:cNvSpPr>
            <a:spLocks/>
          </p:cNvSpPr>
          <p:nvPr/>
        </p:nvSpPr>
        <p:spPr bwMode="auto">
          <a:xfrm>
            <a:off x="4351338" y="3708400"/>
            <a:ext cx="155575" cy="66675"/>
          </a:xfrm>
          <a:custGeom>
            <a:avLst/>
            <a:gdLst>
              <a:gd name="T0" fmla="*/ 0 w 98"/>
              <a:gd name="T1" fmla="*/ 0 h 42"/>
              <a:gd name="T2" fmla="*/ 98 w 98"/>
              <a:gd name="T3" fmla="*/ 0 h 42"/>
              <a:gd name="T4" fmla="*/ 98 w 98"/>
              <a:gd name="T5" fmla="*/ 42 h 42"/>
              <a:gd name="T6" fmla="*/ 0 w 98"/>
              <a:gd name="T7" fmla="*/ 42 h 42"/>
              <a:gd name="T8" fmla="*/ 0 w 98"/>
              <a:gd name="T9" fmla="*/ 0 h 42"/>
              <a:gd name="T10" fmla="*/ 0 w 98"/>
              <a:gd name="T11" fmla="*/ 0 h 42"/>
              <a:gd name="T12" fmla="*/ 0 w 98"/>
              <a:gd name="T13" fmla="*/ 0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8" h="42">
                <a:moveTo>
                  <a:pt x="0" y="0"/>
                </a:moveTo>
                <a:lnTo>
                  <a:pt x="98" y="0"/>
                </a:lnTo>
                <a:lnTo>
                  <a:pt x="98" y="42"/>
                </a:lnTo>
                <a:lnTo>
                  <a:pt x="0" y="42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32" name="Rectangle 56"/>
          <p:cNvSpPr>
            <a:spLocks noChangeArrowheads="1"/>
          </p:cNvSpPr>
          <p:nvPr/>
        </p:nvSpPr>
        <p:spPr bwMode="auto">
          <a:xfrm>
            <a:off x="4362450" y="3719513"/>
            <a:ext cx="133350" cy="44450"/>
          </a:xfrm>
          <a:prstGeom prst="rect">
            <a:avLst/>
          </a:prstGeom>
          <a:solidFill>
            <a:srgbClr val="FFFFFF"/>
          </a:solidFill>
          <a:ln w="22225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59833" name="Freeform 57"/>
          <p:cNvSpPr>
            <a:spLocks/>
          </p:cNvSpPr>
          <p:nvPr/>
        </p:nvSpPr>
        <p:spPr bwMode="auto">
          <a:xfrm>
            <a:off x="4351338" y="3840163"/>
            <a:ext cx="155575" cy="66675"/>
          </a:xfrm>
          <a:custGeom>
            <a:avLst/>
            <a:gdLst>
              <a:gd name="T0" fmla="*/ 0 w 98"/>
              <a:gd name="T1" fmla="*/ 0 h 42"/>
              <a:gd name="T2" fmla="*/ 98 w 98"/>
              <a:gd name="T3" fmla="*/ 0 h 42"/>
              <a:gd name="T4" fmla="*/ 98 w 98"/>
              <a:gd name="T5" fmla="*/ 42 h 42"/>
              <a:gd name="T6" fmla="*/ 0 w 98"/>
              <a:gd name="T7" fmla="*/ 42 h 42"/>
              <a:gd name="T8" fmla="*/ 0 w 98"/>
              <a:gd name="T9" fmla="*/ 0 h 42"/>
              <a:gd name="T10" fmla="*/ 0 w 98"/>
              <a:gd name="T11" fmla="*/ 0 h 42"/>
              <a:gd name="T12" fmla="*/ 0 w 98"/>
              <a:gd name="T13" fmla="*/ 0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8" h="42">
                <a:moveTo>
                  <a:pt x="0" y="0"/>
                </a:moveTo>
                <a:lnTo>
                  <a:pt x="98" y="0"/>
                </a:lnTo>
                <a:lnTo>
                  <a:pt x="98" y="42"/>
                </a:lnTo>
                <a:lnTo>
                  <a:pt x="0" y="42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34" name="Rectangle 58"/>
          <p:cNvSpPr>
            <a:spLocks noChangeArrowheads="1"/>
          </p:cNvSpPr>
          <p:nvPr/>
        </p:nvSpPr>
        <p:spPr bwMode="auto">
          <a:xfrm>
            <a:off x="4362450" y="3851275"/>
            <a:ext cx="133350" cy="44450"/>
          </a:xfrm>
          <a:prstGeom prst="rect">
            <a:avLst/>
          </a:prstGeom>
          <a:solidFill>
            <a:srgbClr val="FFFFFF"/>
          </a:solidFill>
          <a:ln w="22225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59835" name="Rectangle 59"/>
          <p:cNvSpPr>
            <a:spLocks noChangeArrowheads="1"/>
          </p:cNvSpPr>
          <p:nvPr/>
        </p:nvSpPr>
        <p:spPr bwMode="auto">
          <a:xfrm>
            <a:off x="4575175" y="3994150"/>
            <a:ext cx="80645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 u="sng">
                <a:solidFill>
                  <a:srgbClr val="000000"/>
                </a:solidFill>
                <a:latin typeface="Arial" panose="020B0604020202020204" pitchFamily="34" charset="0"/>
              </a:rPr>
              <a:t>Client2:</a:t>
            </a:r>
            <a:endParaRPr lang="en-US" altLang="en-US"/>
          </a:p>
        </p:txBody>
      </p:sp>
      <p:sp>
        <p:nvSpPr>
          <p:cNvPr id="459836" name="Rectangle 60"/>
          <p:cNvSpPr>
            <a:spLocks noChangeArrowheads="1"/>
          </p:cNvSpPr>
          <p:nvPr/>
        </p:nvSpPr>
        <p:spPr bwMode="auto">
          <a:xfrm>
            <a:off x="4429125" y="4005263"/>
            <a:ext cx="830263" cy="263525"/>
          </a:xfrm>
          <a:prstGeom prst="rect">
            <a:avLst/>
          </a:prstGeom>
          <a:noFill/>
          <a:ln w="22225">
            <a:solidFill>
              <a:srgbClr val="1F1A1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37" name="Freeform 61"/>
          <p:cNvSpPr>
            <a:spLocks/>
          </p:cNvSpPr>
          <p:nvPr/>
        </p:nvSpPr>
        <p:spPr bwMode="auto">
          <a:xfrm>
            <a:off x="4351338" y="4038600"/>
            <a:ext cx="179387" cy="66675"/>
          </a:xfrm>
          <a:custGeom>
            <a:avLst/>
            <a:gdLst>
              <a:gd name="T0" fmla="*/ 0 w 113"/>
              <a:gd name="T1" fmla="*/ 0 h 42"/>
              <a:gd name="T2" fmla="*/ 113 w 113"/>
              <a:gd name="T3" fmla="*/ 0 h 42"/>
              <a:gd name="T4" fmla="*/ 113 w 113"/>
              <a:gd name="T5" fmla="*/ 42 h 42"/>
              <a:gd name="T6" fmla="*/ 0 w 113"/>
              <a:gd name="T7" fmla="*/ 42 h 42"/>
              <a:gd name="T8" fmla="*/ 0 w 113"/>
              <a:gd name="T9" fmla="*/ 0 h 42"/>
              <a:gd name="T10" fmla="*/ 0 w 113"/>
              <a:gd name="T11" fmla="*/ 0 h 42"/>
              <a:gd name="T12" fmla="*/ 0 w 113"/>
              <a:gd name="T13" fmla="*/ 0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3" h="42">
                <a:moveTo>
                  <a:pt x="0" y="0"/>
                </a:moveTo>
                <a:lnTo>
                  <a:pt x="113" y="0"/>
                </a:lnTo>
                <a:lnTo>
                  <a:pt x="113" y="42"/>
                </a:lnTo>
                <a:lnTo>
                  <a:pt x="0" y="42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38" name="Rectangle 62"/>
          <p:cNvSpPr>
            <a:spLocks noChangeArrowheads="1"/>
          </p:cNvSpPr>
          <p:nvPr/>
        </p:nvSpPr>
        <p:spPr bwMode="auto">
          <a:xfrm>
            <a:off x="4362450" y="4049713"/>
            <a:ext cx="157163" cy="44450"/>
          </a:xfrm>
          <a:prstGeom prst="rect">
            <a:avLst/>
          </a:prstGeom>
          <a:solidFill>
            <a:srgbClr val="FFFFFF"/>
          </a:solidFill>
          <a:ln w="22225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59839" name="Freeform 63"/>
          <p:cNvSpPr>
            <a:spLocks/>
          </p:cNvSpPr>
          <p:nvPr/>
        </p:nvSpPr>
        <p:spPr bwMode="auto">
          <a:xfrm>
            <a:off x="4351338" y="4170363"/>
            <a:ext cx="179387" cy="66675"/>
          </a:xfrm>
          <a:custGeom>
            <a:avLst/>
            <a:gdLst>
              <a:gd name="T0" fmla="*/ 0 w 113"/>
              <a:gd name="T1" fmla="*/ 0 h 42"/>
              <a:gd name="T2" fmla="*/ 113 w 113"/>
              <a:gd name="T3" fmla="*/ 0 h 42"/>
              <a:gd name="T4" fmla="*/ 113 w 113"/>
              <a:gd name="T5" fmla="*/ 42 h 42"/>
              <a:gd name="T6" fmla="*/ 0 w 113"/>
              <a:gd name="T7" fmla="*/ 42 h 42"/>
              <a:gd name="T8" fmla="*/ 0 w 113"/>
              <a:gd name="T9" fmla="*/ 0 h 42"/>
              <a:gd name="T10" fmla="*/ 0 w 113"/>
              <a:gd name="T11" fmla="*/ 0 h 42"/>
              <a:gd name="T12" fmla="*/ 0 w 113"/>
              <a:gd name="T13" fmla="*/ 0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3" h="42">
                <a:moveTo>
                  <a:pt x="0" y="0"/>
                </a:moveTo>
                <a:lnTo>
                  <a:pt x="113" y="0"/>
                </a:lnTo>
                <a:lnTo>
                  <a:pt x="113" y="42"/>
                </a:lnTo>
                <a:lnTo>
                  <a:pt x="0" y="42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40" name="Rectangle 64"/>
          <p:cNvSpPr>
            <a:spLocks noChangeArrowheads="1"/>
          </p:cNvSpPr>
          <p:nvPr/>
        </p:nvSpPr>
        <p:spPr bwMode="auto">
          <a:xfrm>
            <a:off x="4362450" y="4181475"/>
            <a:ext cx="157163" cy="44450"/>
          </a:xfrm>
          <a:prstGeom prst="rect">
            <a:avLst/>
          </a:prstGeom>
          <a:solidFill>
            <a:srgbClr val="FFFFFF"/>
          </a:solidFill>
          <a:ln w="22225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59841" name="Rectangle 65"/>
          <p:cNvSpPr>
            <a:spLocks noChangeArrowheads="1"/>
          </p:cNvSpPr>
          <p:nvPr/>
        </p:nvSpPr>
        <p:spPr bwMode="auto">
          <a:xfrm>
            <a:off x="7086600" y="3752850"/>
            <a:ext cx="784225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 u="sng">
                <a:solidFill>
                  <a:srgbClr val="000000"/>
                </a:solidFill>
                <a:latin typeface="Arial" panose="020B0604020202020204" pitchFamily="34" charset="0"/>
              </a:rPr>
              <a:t>Server:</a:t>
            </a:r>
            <a:endParaRPr lang="en-US" altLang="en-US"/>
          </a:p>
        </p:txBody>
      </p:sp>
      <p:sp>
        <p:nvSpPr>
          <p:cNvPr id="459842" name="Rectangle 66"/>
          <p:cNvSpPr>
            <a:spLocks noChangeArrowheads="1"/>
          </p:cNvSpPr>
          <p:nvPr/>
        </p:nvSpPr>
        <p:spPr bwMode="auto">
          <a:xfrm>
            <a:off x="6940550" y="3741738"/>
            <a:ext cx="830263" cy="285750"/>
          </a:xfrm>
          <a:prstGeom prst="rect">
            <a:avLst/>
          </a:prstGeom>
          <a:noFill/>
          <a:ln w="22225">
            <a:solidFill>
              <a:srgbClr val="1F1A1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43" name="Freeform 67"/>
          <p:cNvSpPr>
            <a:spLocks/>
          </p:cNvSpPr>
          <p:nvPr/>
        </p:nvSpPr>
        <p:spPr bwMode="auto">
          <a:xfrm>
            <a:off x="6861175" y="3797300"/>
            <a:ext cx="157163" cy="65088"/>
          </a:xfrm>
          <a:custGeom>
            <a:avLst/>
            <a:gdLst>
              <a:gd name="T0" fmla="*/ 0 w 99"/>
              <a:gd name="T1" fmla="*/ 0 h 41"/>
              <a:gd name="T2" fmla="*/ 99 w 99"/>
              <a:gd name="T3" fmla="*/ 0 h 41"/>
              <a:gd name="T4" fmla="*/ 99 w 99"/>
              <a:gd name="T5" fmla="*/ 41 h 41"/>
              <a:gd name="T6" fmla="*/ 0 w 99"/>
              <a:gd name="T7" fmla="*/ 41 h 41"/>
              <a:gd name="T8" fmla="*/ 0 w 99"/>
              <a:gd name="T9" fmla="*/ 0 h 41"/>
              <a:gd name="T10" fmla="*/ 0 w 99"/>
              <a:gd name="T11" fmla="*/ 0 h 41"/>
              <a:gd name="T12" fmla="*/ 0 w 99"/>
              <a:gd name="T13" fmla="*/ 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9" h="41">
                <a:moveTo>
                  <a:pt x="0" y="0"/>
                </a:moveTo>
                <a:lnTo>
                  <a:pt x="99" y="0"/>
                </a:lnTo>
                <a:lnTo>
                  <a:pt x="99" y="41"/>
                </a:lnTo>
                <a:lnTo>
                  <a:pt x="0" y="41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44" name="Rectangle 68"/>
          <p:cNvSpPr>
            <a:spLocks noChangeArrowheads="1"/>
          </p:cNvSpPr>
          <p:nvPr/>
        </p:nvSpPr>
        <p:spPr bwMode="auto">
          <a:xfrm>
            <a:off x="6872288" y="3808413"/>
            <a:ext cx="134937" cy="42862"/>
          </a:xfrm>
          <a:prstGeom prst="rect">
            <a:avLst/>
          </a:prstGeom>
          <a:solidFill>
            <a:srgbClr val="FFFFFF"/>
          </a:solidFill>
          <a:ln w="22225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59845" name="Freeform 69"/>
          <p:cNvSpPr>
            <a:spLocks/>
          </p:cNvSpPr>
          <p:nvPr/>
        </p:nvSpPr>
        <p:spPr bwMode="auto">
          <a:xfrm>
            <a:off x="6861175" y="3929063"/>
            <a:ext cx="157163" cy="65087"/>
          </a:xfrm>
          <a:custGeom>
            <a:avLst/>
            <a:gdLst>
              <a:gd name="T0" fmla="*/ 0 w 99"/>
              <a:gd name="T1" fmla="*/ 0 h 41"/>
              <a:gd name="T2" fmla="*/ 99 w 99"/>
              <a:gd name="T3" fmla="*/ 0 h 41"/>
              <a:gd name="T4" fmla="*/ 99 w 99"/>
              <a:gd name="T5" fmla="*/ 41 h 41"/>
              <a:gd name="T6" fmla="*/ 0 w 99"/>
              <a:gd name="T7" fmla="*/ 41 h 41"/>
              <a:gd name="T8" fmla="*/ 0 w 99"/>
              <a:gd name="T9" fmla="*/ 0 h 41"/>
              <a:gd name="T10" fmla="*/ 0 w 99"/>
              <a:gd name="T11" fmla="*/ 0 h 41"/>
              <a:gd name="T12" fmla="*/ 0 w 99"/>
              <a:gd name="T13" fmla="*/ 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9" h="41">
                <a:moveTo>
                  <a:pt x="0" y="0"/>
                </a:moveTo>
                <a:lnTo>
                  <a:pt x="99" y="0"/>
                </a:lnTo>
                <a:lnTo>
                  <a:pt x="99" y="41"/>
                </a:lnTo>
                <a:lnTo>
                  <a:pt x="0" y="41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59846" name="Rectangle 70"/>
          <p:cNvSpPr>
            <a:spLocks noChangeArrowheads="1"/>
          </p:cNvSpPr>
          <p:nvPr/>
        </p:nvSpPr>
        <p:spPr bwMode="auto">
          <a:xfrm>
            <a:off x="6872288" y="3940175"/>
            <a:ext cx="134937" cy="42863"/>
          </a:xfrm>
          <a:prstGeom prst="rect">
            <a:avLst/>
          </a:prstGeom>
          <a:solidFill>
            <a:srgbClr val="FFFFFF"/>
          </a:solidFill>
          <a:ln w="22225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63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85502720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9.5 Architectural Patterns</a:t>
            </a:r>
            <a:r>
              <a:rPr lang="en-US" altLang="en-US"/>
              <a:t> </a:t>
            </a:r>
          </a:p>
        </p:txBody>
      </p:sp>
      <p:sp>
        <p:nvSpPr>
          <p:cNvPr id="460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notion of patterns can be applied to software architecture.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These are called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 architectural patterns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or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architectural styles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.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Each allows you to design flexible systems using components 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components are as independent of each other as possible.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64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5927570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Multi-Layer architectural pattern</a:t>
            </a:r>
            <a:r>
              <a:rPr lang="en-US" altLang="en-US"/>
              <a:t> </a:t>
            </a:r>
          </a:p>
        </p:txBody>
      </p:sp>
      <p:sp>
        <p:nvSpPr>
          <p:cNvPr id="540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In a layered system, each layer communicates only with the layer immediately below it. </a:t>
            </a:r>
          </a:p>
          <a:p>
            <a:pPr lvl="1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Each layer has a well-defined interface used by the layer immediately above. </a:t>
            </a:r>
          </a:p>
          <a:p>
            <a:pPr lvl="2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The higher layer sees the lower layer as a set of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services</a:t>
            </a:r>
            <a:r>
              <a:rPr lang="en-US" altLang="en-US" sz="2000"/>
              <a:t>.</a:t>
            </a:r>
          </a:p>
          <a:p>
            <a:pPr lvl="1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A complex system can be built by superposing layers at increasing levels of abstraction.</a:t>
            </a:r>
          </a:p>
          <a:p>
            <a:pPr lvl="2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It is important to have a separate layer for the UI.</a:t>
            </a:r>
          </a:p>
          <a:p>
            <a:pPr lvl="2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Layers immediately below the UI layer provide the application functions determined by the use-cases. </a:t>
            </a:r>
          </a:p>
          <a:p>
            <a:pPr lvl="2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Bottom layers provide general services.</a:t>
            </a:r>
          </a:p>
          <a:p>
            <a:pPr lvl="3"/>
            <a:r>
              <a:rPr lang="en-US" altLang="en-US" sz="1800"/>
              <a:t>e.g. network communication, database access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65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5588992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Example of multi-layer systems</a:t>
            </a:r>
            <a:endParaRPr lang="en-US" altLang="en-US"/>
          </a:p>
        </p:txBody>
      </p:sp>
      <p:grpSp>
        <p:nvGrpSpPr>
          <p:cNvPr id="485386" name="Group 10"/>
          <p:cNvGrpSpPr>
            <a:grpSpLocks/>
          </p:cNvGrpSpPr>
          <p:nvPr/>
        </p:nvGrpSpPr>
        <p:grpSpPr bwMode="auto">
          <a:xfrm>
            <a:off x="5270500" y="2311400"/>
            <a:ext cx="1139825" cy="422275"/>
            <a:chOff x="3399" y="1456"/>
            <a:chExt cx="718" cy="266"/>
          </a:xfrm>
        </p:grpSpPr>
        <p:sp>
          <p:nvSpPr>
            <p:cNvPr id="485383" name="Rectangle 7"/>
            <p:cNvSpPr>
              <a:spLocks noChangeArrowheads="1"/>
            </p:cNvSpPr>
            <p:nvPr/>
          </p:nvSpPr>
          <p:spPr bwMode="auto">
            <a:xfrm>
              <a:off x="3399" y="1460"/>
              <a:ext cx="710" cy="26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85384" name="Rectangle 8"/>
            <p:cNvSpPr>
              <a:spLocks noChangeArrowheads="1"/>
            </p:cNvSpPr>
            <p:nvPr/>
          </p:nvSpPr>
          <p:spPr bwMode="auto">
            <a:xfrm>
              <a:off x="3405" y="1456"/>
              <a:ext cx="712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Screen display </a:t>
              </a:r>
              <a:endParaRPr lang="en-CA" altLang="fr-FR"/>
            </a:p>
          </p:txBody>
        </p:sp>
        <p:sp>
          <p:nvSpPr>
            <p:cNvPr id="485385" name="Rectangle 9"/>
            <p:cNvSpPr>
              <a:spLocks noChangeArrowheads="1"/>
            </p:cNvSpPr>
            <p:nvPr/>
          </p:nvSpPr>
          <p:spPr bwMode="auto">
            <a:xfrm>
              <a:off x="3405" y="1571"/>
              <a:ext cx="37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facilities</a:t>
              </a:r>
              <a:endParaRPr lang="en-CA" altLang="fr-FR"/>
            </a:p>
          </p:txBody>
        </p:sp>
      </p:grpSp>
      <p:grpSp>
        <p:nvGrpSpPr>
          <p:cNvPr id="485390" name="Group 14"/>
          <p:cNvGrpSpPr>
            <a:grpSpLocks/>
          </p:cNvGrpSpPr>
          <p:nvPr/>
        </p:nvGrpSpPr>
        <p:grpSpPr bwMode="auto">
          <a:xfrm>
            <a:off x="5535613" y="3006725"/>
            <a:ext cx="1093787" cy="422275"/>
            <a:chOff x="3566" y="1894"/>
            <a:chExt cx="689" cy="266"/>
          </a:xfrm>
        </p:grpSpPr>
        <p:sp>
          <p:nvSpPr>
            <p:cNvPr id="485387" name="Rectangle 11"/>
            <p:cNvSpPr>
              <a:spLocks noChangeArrowheads="1"/>
            </p:cNvSpPr>
            <p:nvPr/>
          </p:nvSpPr>
          <p:spPr bwMode="auto">
            <a:xfrm>
              <a:off x="3566" y="1899"/>
              <a:ext cx="689" cy="261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85388" name="Rectangle 12"/>
            <p:cNvSpPr>
              <a:spLocks noChangeArrowheads="1"/>
            </p:cNvSpPr>
            <p:nvPr/>
          </p:nvSpPr>
          <p:spPr bwMode="auto">
            <a:xfrm>
              <a:off x="3592" y="1894"/>
              <a:ext cx="643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User account </a:t>
              </a:r>
              <a:endParaRPr lang="en-CA" altLang="fr-FR"/>
            </a:p>
          </p:txBody>
        </p:sp>
        <p:sp>
          <p:nvSpPr>
            <p:cNvPr id="485389" name="Rectangle 13"/>
            <p:cNvSpPr>
              <a:spLocks noChangeArrowheads="1"/>
            </p:cNvSpPr>
            <p:nvPr/>
          </p:nvSpPr>
          <p:spPr bwMode="auto">
            <a:xfrm>
              <a:off x="3592" y="2009"/>
              <a:ext cx="609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management</a:t>
              </a:r>
              <a:endParaRPr lang="en-CA" altLang="fr-FR"/>
            </a:p>
          </p:txBody>
        </p:sp>
      </p:grpSp>
      <p:grpSp>
        <p:nvGrpSpPr>
          <p:cNvPr id="485394" name="Group 18"/>
          <p:cNvGrpSpPr>
            <a:grpSpLocks/>
          </p:cNvGrpSpPr>
          <p:nvPr/>
        </p:nvGrpSpPr>
        <p:grpSpPr bwMode="auto">
          <a:xfrm>
            <a:off x="5867400" y="3686175"/>
            <a:ext cx="1027113" cy="438150"/>
            <a:chOff x="3775" y="2322"/>
            <a:chExt cx="647" cy="276"/>
          </a:xfrm>
        </p:grpSpPr>
        <p:sp>
          <p:nvSpPr>
            <p:cNvPr id="485391" name="Rectangle 15"/>
            <p:cNvSpPr>
              <a:spLocks noChangeArrowheads="1"/>
            </p:cNvSpPr>
            <p:nvPr/>
          </p:nvSpPr>
          <p:spPr bwMode="auto">
            <a:xfrm>
              <a:off x="3775" y="2337"/>
              <a:ext cx="647" cy="261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85392" name="Rectangle 16"/>
            <p:cNvSpPr>
              <a:spLocks noChangeArrowheads="1"/>
            </p:cNvSpPr>
            <p:nvPr/>
          </p:nvSpPr>
          <p:spPr bwMode="auto">
            <a:xfrm>
              <a:off x="3811" y="2322"/>
              <a:ext cx="19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File </a:t>
              </a:r>
              <a:endParaRPr lang="en-CA" altLang="fr-FR"/>
            </a:p>
          </p:txBody>
        </p:sp>
        <p:sp>
          <p:nvSpPr>
            <p:cNvPr id="485393" name="Rectangle 17"/>
            <p:cNvSpPr>
              <a:spLocks noChangeArrowheads="1"/>
            </p:cNvSpPr>
            <p:nvPr/>
          </p:nvSpPr>
          <p:spPr bwMode="auto">
            <a:xfrm>
              <a:off x="3811" y="2437"/>
              <a:ext cx="33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system</a:t>
              </a:r>
              <a:endParaRPr lang="en-CA" altLang="fr-FR"/>
            </a:p>
          </p:txBody>
        </p:sp>
      </p:grpSp>
      <p:sp>
        <p:nvSpPr>
          <p:cNvPr id="485395" name="Rectangle 19"/>
          <p:cNvSpPr>
            <a:spLocks noChangeArrowheads="1"/>
          </p:cNvSpPr>
          <p:nvPr/>
        </p:nvSpPr>
        <p:spPr bwMode="auto">
          <a:xfrm>
            <a:off x="4856163" y="4389438"/>
            <a:ext cx="1624012" cy="612775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5396" name="Rectangle 20"/>
          <p:cNvSpPr>
            <a:spLocks noChangeArrowheads="1"/>
          </p:cNvSpPr>
          <p:nvPr/>
        </p:nvSpPr>
        <p:spPr bwMode="auto">
          <a:xfrm>
            <a:off x="4932363" y="4381500"/>
            <a:ext cx="52387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Kernel </a:t>
            </a:r>
            <a:endParaRPr lang="en-CA" altLang="fr-FR"/>
          </a:p>
        </p:txBody>
      </p:sp>
      <p:sp>
        <p:nvSpPr>
          <p:cNvPr id="485397" name="Rectangle 21"/>
          <p:cNvSpPr>
            <a:spLocks noChangeArrowheads="1"/>
          </p:cNvSpPr>
          <p:nvPr/>
        </p:nvSpPr>
        <p:spPr bwMode="auto">
          <a:xfrm>
            <a:off x="4932363" y="4564063"/>
            <a:ext cx="15271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(handling processes </a:t>
            </a:r>
            <a:endParaRPr lang="en-CA" altLang="fr-FR"/>
          </a:p>
        </p:txBody>
      </p:sp>
      <p:sp>
        <p:nvSpPr>
          <p:cNvPr id="485398" name="Rectangle 22"/>
          <p:cNvSpPr>
            <a:spLocks noChangeArrowheads="1"/>
          </p:cNvSpPr>
          <p:nvPr/>
        </p:nvSpPr>
        <p:spPr bwMode="auto">
          <a:xfrm>
            <a:off x="4932363" y="4746625"/>
            <a:ext cx="10763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and swapping)</a:t>
            </a:r>
            <a:endParaRPr lang="en-CA" altLang="fr-FR"/>
          </a:p>
        </p:txBody>
      </p:sp>
      <p:sp>
        <p:nvSpPr>
          <p:cNvPr id="485399" name="Rectangle 23"/>
          <p:cNvSpPr>
            <a:spLocks noChangeArrowheads="1"/>
          </p:cNvSpPr>
          <p:nvPr/>
        </p:nvSpPr>
        <p:spPr bwMode="auto">
          <a:xfrm>
            <a:off x="4708525" y="1804988"/>
            <a:ext cx="1655763" cy="249237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5400" name="Rectangle 24"/>
          <p:cNvSpPr>
            <a:spLocks noChangeArrowheads="1"/>
          </p:cNvSpPr>
          <p:nvPr/>
        </p:nvSpPr>
        <p:spPr bwMode="auto">
          <a:xfrm>
            <a:off x="4783138" y="1797050"/>
            <a:ext cx="155416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Application programs</a:t>
            </a:r>
            <a:endParaRPr lang="en-CA" altLang="fr-FR"/>
          </a:p>
        </p:txBody>
      </p:sp>
      <p:sp>
        <p:nvSpPr>
          <p:cNvPr id="485401" name="Arc 25"/>
          <p:cNvSpPr>
            <a:spLocks/>
          </p:cNvSpPr>
          <p:nvPr/>
        </p:nvSpPr>
        <p:spPr bwMode="auto">
          <a:xfrm>
            <a:off x="6288088" y="4183063"/>
            <a:ext cx="136525" cy="198437"/>
          </a:xfrm>
          <a:custGeom>
            <a:avLst/>
            <a:gdLst>
              <a:gd name="G0" fmla="+- 7391 0 0"/>
              <a:gd name="G1" fmla="+- 21600 0 0"/>
              <a:gd name="G2" fmla="+- 21600 0 0"/>
              <a:gd name="T0" fmla="*/ 0 w 14763"/>
              <a:gd name="T1" fmla="*/ 1304 h 21600"/>
              <a:gd name="T2" fmla="*/ 14763 w 14763"/>
              <a:gd name="T3" fmla="*/ 1297 h 21600"/>
              <a:gd name="T4" fmla="*/ 7391 w 1476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763" h="21600" fill="none" extrusionOk="0">
                <a:moveTo>
                  <a:pt x="-1" y="1303"/>
                </a:moveTo>
                <a:cubicBezTo>
                  <a:pt x="2368" y="441"/>
                  <a:pt x="4870" y="0"/>
                  <a:pt x="7391" y="0"/>
                </a:cubicBezTo>
                <a:cubicBezTo>
                  <a:pt x="9905" y="0"/>
                  <a:pt x="12399" y="438"/>
                  <a:pt x="14763" y="1296"/>
                </a:cubicBezTo>
              </a:path>
              <a:path w="14763" h="21600" stroke="0" extrusionOk="0">
                <a:moveTo>
                  <a:pt x="-1" y="1303"/>
                </a:moveTo>
                <a:cubicBezTo>
                  <a:pt x="2368" y="441"/>
                  <a:pt x="4870" y="0"/>
                  <a:pt x="7391" y="0"/>
                </a:cubicBezTo>
                <a:cubicBezTo>
                  <a:pt x="9905" y="0"/>
                  <a:pt x="12399" y="438"/>
                  <a:pt x="14763" y="1296"/>
                </a:cubicBezTo>
                <a:lnTo>
                  <a:pt x="7391" y="21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02" name="Line 26"/>
          <p:cNvSpPr>
            <a:spLocks noChangeShapeType="1"/>
          </p:cNvSpPr>
          <p:nvPr/>
        </p:nvSpPr>
        <p:spPr bwMode="auto">
          <a:xfrm flipV="1">
            <a:off x="6356350" y="4116388"/>
            <a:ext cx="1588" cy="8255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03" name="Arc 27"/>
          <p:cNvSpPr>
            <a:spLocks/>
          </p:cNvSpPr>
          <p:nvPr/>
        </p:nvSpPr>
        <p:spPr bwMode="auto">
          <a:xfrm>
            <a:off x="6221413" y="3486150"/>
            <a:ext cx="136525" cy="200025"/>
          </a:xfrm>
          <a:custGeom>
            <a:avLst/>
            <a:gdLst>
              <a:gd name="G0" fmla="+- 7443 0 0"/>
              <a:gd name="G1" fmla="+- 21600 0 0"/>
              <a:gd name="G2" fmla="+- 21600 0 0"/>
              <a:gd name="T0" fmla="*/ 0 w 14868"/>
              <a:gd name="T1" fmla="*/ 1323 h 21600"/>
              <a:gd name="T2" fmla="*/ 14868 w 14868"/>
              <a:gd name="T3" fmla="*/ 1316 h 21600"/>
              <a:gd name="T4" fmla="*/ 7443 w 1486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868" h="21600" fill="none" extrusionOk="0">
                <a:moveTo>
                  <a:pt x="-1" y="1322"/>
                </a:moveTo>
                <a:cubicBezTo>
                  <a:pt x="2383" y="447"/>
                  <a:pt x="4903" y="0"/>
                  <a:pt x="7443" y="0"/>
                </a:cubicBezTo>
                <a:cubicBezTo>
                  <a:pt x="9976" y="0"/>
                  <a:pt x="12489" y="445"/>
                  <a:pt x="14867" y="1316"/>
                </a:cubicBezTo>
              </a:path>
              <a:path w="14868" h="21600" stroke="0" extrusionOk="0">
                <a:moveTo>
                  <a:pt x="-1" y="1322"/>
                </a:moveTo>
                <a:cubicBezTo>
                  <a:pt x="2383" y="447"/>
                  <a:pt x="4903" y="0"/>
                  <a:pt x="7443" y="0"/>
                </a:cubicBezTo>
                <a:cubicBezTo>
                  <a:pt x="9976" y="0"/>
                  <a:pt x="12489" y="445"/>
                  <a:pt x="14867" y="1316"/>
                </a:cubicBezTo>
                <a:lnTo>
                  <a:pt x="7443" y="21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04" name="Line 28"/>
          <p:cNvSpPr>
            <a:spLocks noChangeShapeType="1"/>
          </p:cNvSpPr>
          <p:nvPr/>
        </p:nvSpPr>
        <p:spPr bwMode="auto">
          <a:xfrm flipV="1">
            <a:off x="6289675" y="3436938"/>
            <a:ext cx="1588" cy="666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05" name="Arc 29"/>
          <p:cNvSpPr>
            <a:spLocks/>
          </p:cNvSpPr>
          <p:nvPr/>
        </p:nvSpPr>
        <p:spPr bwMode="auto">
          <a:xfrm>
            <a:off x="5608638" y="4165600"/>
            <a:ext cx="136525" cy="198438"/>
          </a:xfrm>
          <a:custGeom>
            <a:avLst/>
            <a:gdLst>
              <a:gd name="G0" fmla="+- 7424 0 0"/>
              <a:gd name="G1" fmla="+- 21600 0 0"/>
              <a:gd name="G2" fmla="+- 21600 0 0"/>
              <a:gd name="T0" fmla="*/ 0 w 14848"/>
              <a:gd name="T1" fmla="*/ 1316 h 21600"/>
              <a:gd name="T2" fmla="*/ 14848 w 14848"/>
              <a:gd name="T3" fmla="*/ 1316 h 21600"/>
              <a:gd name="T4" fmla="*/ 7424 w 1484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848" h="21600" fill="none" extrusionOk="0">
                <a:moveTo>
                  <a:pt x="-1" y="1315"/>
                </a:moveTo>
                <a:cubicBezTo>
                  <a:pt x="2378" y="445"/>
                  <a:pt x="4891" y="0"/>
                  <a:pt x="7424" y="0"/>
                </a:cubicBezTo>
                <a:cubicBezTo>
                  <a:pt x="9956" y="0"/>
                  <a:pt x="12469" y="445"/>
                  <a:pt x="14848" y="1315"/>
                </a:cubicBezTo>
              </a:path>
              <a:path w="14848" h="21600" stroke="0" extrusionOk="0">
                <a:moveTo>
                  <a:pt x="-1" y="1315"/>
                </a:moveTo>
                <a:cubicBezTo>
                  <a:pt x="2378" y="445"/>
                  <a:pt x="4891" y="0"/>
                  <a:pt x="7424" y="0"/>
                </a:cubicBezTo>
                <a:cubicBezTo>
                  <a:pt x="9956" y="0"/>
                  <a:pt x="12469" y="445"/>
                  <a:pt x="14848" y="1315"/>
                </a:cubicBezTo>
                <a:lnTo>
                  <a:pt x="7424" y="21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06" name="Line 30"/>
          <p:cNvSpPr>
            <a:spLocks noChangeShapeType="1"/>
          </p:cNvSpPr>
          <p:nvPr/>
        </p:nvSpPr>
        <p:spPr bwMode="auto">
          <a:xfrm>
            <a:off x="5676900" y="3436938"/>
            <a:ext cx="1588" cy="74612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07" name="Arc 31"/>
          <p:cNvSpPr>
            <a:spLocks/>
          </p:cNvSpPr>
          <p:nvPr/>
        </p:nvSpPr>
        <p:spPr bwMode="auto">
          <a:xfrm>
            <a:off x="5889625" y="2800350"/>
            <a:ext cx="136525" cy="198438"/>
          </a:xfrm>
          <a:custGeom>
            <a:avLst/>
            <a:gdLst>
              <a:gd name="G0" fmla="+- 7405 0 0"/>
              <a:gd name="G1" fmla="+- 21600 0 0"/>
              <a:gd name="G2" fmla="+- 21600 0 0"/>
              <a:gd name="T0" fmla="*/ 0 w 14829"/>
              <a:gd name="T1" fmla="*/ 1309 h 21600"/>
              <a:gd name="T2" fmla="*/ 14829 w 14829"/>
              <a:gd name="T3" fmla="*/ 1316 h 21600"/>
              <a:gd name="T4" fmla="*/ 7405 w 14829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829" h="21600" fill="none" extrusionOk="0">
                <a:moveTo>
                  <a:pt x="-1" y="1308"/>
                </a:moveTo>
                <a:cubicBezTo>
                  <a:pt x="2372" y="443"/>
                  <a:pt x="4879" y="0"/>
                  <a:pt x="7405" y="0"/>
                </a:cubicBezTo>
                <a:cubicBezTo>
                  <a:pt x="9937" y="0"/>
                  <a:pt x="12450" y="445"/>
                  <a:pt x="14829" y="1315"/>
                </a:cubicBezTo>
              </a:path>
              <a:path w="14829" h="21600" stroke="0" extrusionOk="0">
                <a:moveTo>
                  <a:pt x="-1" y="1308"/>
                </a:moveTo>
                <a:cubicBezTo>
                  <a:pt x="2372" y="443"/>
                  <a:pt x="4879" y="0"/>
                  <a:pt x="7405" y="0"/>
                </a:cubicBezTo>
                <a:cubicBezTo>
                  <a:pt x="9937" y="0"/>
                  <a:pt x="12450" y="445"/>
                  <a:pt x="14829" y="1315"/>
                </a:cubicBezTo>
                <a:lnTo>
                  <a:pt x="7405" y="21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08" name="Line 32"/>
          <p:cNvSpPr>
            <a:spLocks noChangeShapeType="1"/>
          </p:cNvSpPr>
          <p:nvPr/>
        </p:nvSpPr>
        <p:spPr bwMode="auto">
          <a:xfrm flipV="1">
            <a:off x="5957888" y="2741613"/>
            <a:ext cx="1587" cy="666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09" name="Arc 33"/>
          <p:cNvSpPr>
            <a:spLocks/>
          </p:cNvSpPr>
          <p:nvPr/>
        </p:nvSpPr>
        <p:spPr bwMode="auto">
          <a:xfrm>
            <a:off x="5343525" y="4165600"/>
            <a:ext cx="136525" cy="198438"/>
          </a:xfrm>
          <a:custGeom>
            <a:avLst/>
            <a:gdLst>
              <a:gd name="G0" fmla="+- 7424 0 0"/>
              <a:gd name="G1" fmla="+- 21600 0 0"/>
              <a:gd name="G2" fmla="+- 21600 0 0"/>
              <a:gd name="T0" fmla="*/ 0 w 14848"/>
              <a:gd name="T1" fmla="*/ 1316 h 21600"/>
              <a:gd name="T2" fmla="*/ 14848 w 14848"/>
              <a:gd name="T3" fmla="*/ 1316 h 21600"/>
              <a:gd name="T4" fmla="*/ 7424 w 1484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848" h="21600" fill="none" extrusionOk="0">
                <a:moveTo>
                  <a:pt x="-1" y="1315"/>
                </a:moveTo>
                <a:cubicBezTo>
                  <a:pt x="2378" y="445"/>
                  <a:pt x="4891" y="0"/>
                  <a:pt x="7424" y="0"/>
                </a:cubicBezTo>
                <a:cubicBezTo>
                  <a:pt x="9956" y="0"/>
                  <a:pt x="12469" y="445"/>
                  <a:pt x="14848" y="1315"/>
                </a:cubicBezTo>
              </a:path>
              <a:path w="14848" h="21600" stroke="0" extrusionOk="0">
                <a:moveTo>
                  <a:pt x="-1" y="1315"/>
                </a:moveTo>
                <a:cubicBezTo>
                  <a:pt x="2378" y="445"/>
                  <a:pt x="4891" y="0"/>
                  <a:pt x="7424" y="0"/>
                </a:cubicBezTo>
                <a:cubicBezTo>
                  <a:pt x="9956" y="0"/>
                  <a:pt x="12469" y="445"/>
                  <a:pt x="14848" y="1315"/>
                </a:cubicBezTo>
                <a:lnTo>
                  <a:pt x="7424" y="21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10" name="Line 34"/>
          <p:cNvSpPr>
            <a:spLocks noChangeShapeType="1"/>
          </p:cNvSpPr>
          <p:nvPr/>
        </p:nvSpPr>
        <p:spPr bwMode="auto">
          <a:xfrm>
            <a:off x="5411788" y="2741613"/>
            <a:ext cx="1587" cy="144145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11" name="Arc 35"/>
          <p:cNvSpPr>
            <a:spLocks/>
          </p:cNvSpPr>
          <p:nvPr/>
        </p:nvSpPr>
        <p:spPr bwMode="auto">
          <a:xfrm>
            <a:off x="5724525" y="2095500"/>
            <a:ext cx="136525" cy="198438"/>
          </a:xfrm>
          <a:custGeom>
            <a:avLst/>
            <a:gdLst>
              <a:gd name="G0" fmla="+- 7424 0 0"/>
              <a:gd name="G1" fmla="+- 21600 0 0"/>
              <a:gd name="G2" fmla="+- 21600 0 0"/>
              <a:gd name="T0" fmla="*/ 0 w 14848"/>
              <a:gd name="T1" fmla="*/ 1316 h 21600"/>
              <a:gd name="T2" fmla="*/ 14848 w 14848"/>
              <a:gd name="T3" fmla="*/ 1316 h 21600"/>
              <a:gd name="T4" fmla="*/ 7424 w 1484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848" h="21600" fill="none" extrusionOk="0">
                <a:moveTo>
                  <a:pt x="-1" y="1315"/>
                </a:moveTo>
                <a:cubicBezTo>
                  <a:pt x="2378" y="445"/>
                  <a:pt x="4891" y="0"/>
                  <a:pt x="7424" y="0"/>
                </a:cubicBezTo>
                <a:cubicBezTo>
                  <a:pt x="9956" y="0"/>
                  <a:pt x="12469" y="445"/>
                  <a:pt x="14848" y="1315"/>
                </a:cubicBezTo>
              </a:path>
              <a:path w="14848" h="21600" stroke="0" extrusionOk="0">
                <a:moveTo>
                  <a:pt x="-1" y="1315"/>
                </a:moveTo>
                <a:cubicBezTo>
                  <a:pt x="2378" y="445"/>
                  <a:pt x="4891" y="0"/>
                  <a:pt x="7424" y="0"/>
                </a:cubicBezTo>
                <a:cubicBezTo>
                  <a:pt x="9956" y="0"/>
                  <a:pt x="12469" y="445"/>
                  <a:pt x="14848" y="1315"/>
                </a:cubicBezTo>
                <a:lnTo>
                  <a:pt x="7424" y="21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12" name="Line 36"/>
          <p:cNvSpPr>
            <a:spLocks noChangeShapeType="1"/>
          </p:cNvSpPr>
          <p:nvPr/>
        </p:nvSpPr>
        <p:spPr bwMode="auto">
          <a:xfrm flipV="1">
            <a:off x="5792788" y="2046288"/>
            <a:ext cx="1587" cy="650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13" name="Arc 37"/>
          <p:cNvSpPr>
            <a:spLocks/>
          </p:cNvSpPr>
          <p:nvPr/>
        </p:nvSpPr>
        <p:spPr bwMode="auto">
          <a:xfrm>
            <a:off x="5095875" y="4165600"/>
            <a:ext cx="136525" cy="198438"/>
          </a:xfrm>
          <a:custGeom>
            <a:avLst/>
            <a:gdLst>
              <a:gd name="G0" fmla="+- 7398 0 0"/>
              <a:gd name="G1" fmla="+- 21600 0 0"/>
              <a:gd name="G2" fmla="+- 21600 0 0"/>
              <a:gd name="T0" fmla="*/ 0 w 14777"/>
              <a:gd name="T1" fmla="*/ 1306 h 21600"/>
              <a:gd name="T2" fmla="*/ 14777 w 14777"/>
              <a:gd name="T3" fmla="*/ 1300 h 21600"/>
              <a:gd name="T4" fmla="*/ 7398 w 14777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777" h="21600" fill="none" extrusionOk="0">
                <a:moveTo>
                  <a:pt x="0" y="1306"/>
                </a:moveTo>
                <a:cubicBezTo>
                  <a:pt x="2370" y="442"/>
                  <a:pt x="4874" y="0"/>
                  <a:pt x="7398" y="0"/>
                </a:cubicBezTo>
                <a:cubicBezTo>
                  <a:pt x="9914" y="0"/>
                  <a:pt x="12411" y="439"/>
                  <a:pt x="14777" y="1299"/>
                </a:cubicBezTo>
              </a:path>
              <a:path w="14777" h="21600" stroke="0" extrusionOk="0">
                <a:moveTo>
                  <a:pt x="0" y="1306"/>
                </a:moveTo>
                <a:cubicBezTo>
                  <a:pt x="2370" y="442"/>
                  <a:pt x="4874" y="0"/>
                  <a:pt x="7398" y="0"/>
                </a:cubicBezTo>
                <a:cubicBezTo>
                  <a:pt x="9914" y="0"/>
                  <a:pt x="12411" y="439"/>
                  <a:pt x="14777" y="1299"/>
                </a:cubicBezTo>
                <a:lnTo>
                  <a:pt x="7398" y="21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14" name="Line 38"/>
          <p:cNvSpPr>
            <a:spLocks noChangeShapeType="1"/>
          </p:cNvSpPr>
          <p:nvPr/>
        </p:nvSpPr>
        <p:spPr bwMode="auto">
          <a:xfrm flipV="1">
            <a:off x="5164138" y="2046288"/>
            <a:ext cx="1587" cy="21367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15" name="Rectangle 39"/>
          <p:cNvSpPr>
            <a:spLocks noChangeArrowheads="1"/>
          </p:cNvSpPr>
          <p:nvPr/>
        </p:nvSpPr>
        <p:spPr bwMode="auto">
          <a:xfrm>
            <a:off x="2473325" y="3195638"/>
            <a:ext cx="728663" cy="415925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5416" name="Rectangle 40"/>
          <p:cNvSpPr>
            <a:spLocks noChangeArrowheads="1"/>
          </p:cNvSpPr>
          <p:nvPr/>
        </p:nvSpPr>
        <p:spPr bwMode="auto">
          <a:xfrm>
            <a:off x="2497138" y="3189288"/>
            <a:ext cx="395287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User </a:t>
            </a:r>
            <a:endParaRPr lang="en-CA" altLang="fr-FR"/>
          </a:p>
        </p:txBody>
      </p:sp>
      <p:sp>
        <p:nvSpPr>
          <p:cNvPr id="485417" name="Rectangle 41"/>
          <p:cNvSpPr>
            <a:spLocks noChangeArrowheads="1"/>
          </p:cNvSpPr>
          <p:nvPr/>
        </p:nvSpPr>
        <p:spPr bwMode="auto">
          <a:xfrm>
            <a:off x="2497138" y="3371850"/>
            <a:ext cx="6350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interface</a:t>
            </a:r>
            <a:endParaRPr lang="en-CA" altLang="fr-FR"/>
          </a:p>
        </p:txBody>
      </p:sp>
      <p:sp>
        <p:nvSpPr>
          <p:cNvPr id="485418" name="Rectangle 42"/>
          <p:cNvSpPr>
            <a:spLocks noChangeArrowheads="1"/>
          </p:cNvSpPr>
          <p:nvPr/>
        </p:nvSpPr>
        <p:spPr bwMode="auto">
          <a:xfrm>
            <a:off x="1925638" y="3892550"/>
            <a:ext cx="1822450" cy="41433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5419" name="Rectangle 43"/>
          <p:cNvSpPr>
            <a:spLocks noChangeArrowheads="1"/>
          </p:cNvSpPr>
          <p:nvPr/>
        </p:nvSpPr>
        <p:spPr bwMode="auto">
          <a:xfrm>
            <a:off x="2398713" y="3884613"/>
            <a:ext cx="8540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Application </a:t>
            </a:r>
            <a:endParaRPr lang="en-CA" altLang="fr-FR"/>
          </a:p>
        </p:txBody>
      </p:sp>
      <p:sp>
        <p:nvSpPr>
          <p:cNvPr id="485420" name="Rectangle 44"/>
          <p:cNvSpPr>
            <a:spLocks noChangeArrowheads="1"/>
          </p:cNvSpPr>
          <p:nvPr/>
        </p:nvSpPr>
        <p:spPr bwMode="auto">
          <a:xfrm>
            <a:off x="2398713" y="4067175"/>
            <a:ext cx="3397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logic</a:t>
            </a:r>
            <a:endParaRPr lang="en-CA" altLang="fr-FR"/>
          </a:p>
        </p:txBody>
      </p:sp>
      <p:sp>
        <p:nvSpPr>
          <p:cNvPr id="485421" name="Rectangle 45"/>
          <p:cNvSpPr>
            <a:spLocks noChangeArrowheads="1"/>
          </p:cNvSpPr>
          <p:nvPr/>
        </p:nvSpPr>
        <p:spPr bwMode="auto">
          <a:xfrm>
            <a:off x="2439988" y="4587875"/>
            <a:ext cx="795337" cy="41433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5422" name="Rectangle 46"/>
          <p:cNvSpPr>
            <a:spLocks noChangeArrowheads="1"/>
          </p:cNvSpPr>
          <p:nvPr/>
        </p:nvSpPr>
        <p:spPr bwMode="auto">
          <a:xfrm>
            <a:off x="2465388" y="4579938"/>
            <a:ext cx="754062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Database </a:t>
            </a:r>
            <a:endParaRPr lang="en-CA" altLang="fr-FR"/>
          </a:p>
        </p:txBody>
      </p:sp>
      <p:sp>
        <p:nvSpPr>
          <p:cNvPr id="485423" name="Rectangle 47"/>
          <p:cNvSpPr>
            <a:spLocks noChangeArrowheads="1"/>
          </p:cNvSpPr>
          <p:nvPr/>
        </p:nvSpPr>
        <p:spPr bwMode="auto">
          <a:xfrm>
            <a:off x="2465388" y="4762500"/>
            <a:ext cx="5143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access</a:t>
            </a:r>
            <a:endParaRPr lang="en-CA" altLang="fr-FR"/>
          </a:p>
        </p:txBody>
      </p:sp>
      <p:grpSp>
        <p:nvGrpSpPr>
          <p:cNvPr id="485427" name="Group 51"/>
          <p:cNvGrpSpPr>
            <a:grpSpLocks/>
          </p:cNvGrpSpPr>
          <p:nvPr/>
        </p:nvGrpSpPr>
        <p:grpSpPr bwMode="auto">
          <a:xfrm>
            <a:off x="3333750" y="4579938"/>
            <a:ext cx="1176338" cy="422275"/>
            <a:chOff x="2179" y="2885"/>
            <a:chExt cx="741" cy="266"/>
          </a:xfrm>
        </p:grpSpPr>
        <p:sp>
          <p:nvSpPr>
            <p:cNvPr id="485424" name="Rectangle 48"/>
            <p:cNvSpPr>
              <a:spLocks noChangeArrowheads="1"/>
            </p:cNvSpPr>
            <p:nvPr/>
          </p:nvSpPr>
          <p:spPr bwMode="auto">
            <a:xfrm>
              <a:off x="2179" y="2890"/>
              <a:ext cx="741" cy="261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85425" name="Rectangle 49"/>
            <p:cNvSpPr>
              <a:spLocks noChangeArrowheads="1"/>
            </p:cNvSpPr>
            <p:nvPr/>
          </p:nvSpPr>
          <p:spPr bwMode="auto">
            <a:xfrm>
              <a:off x="2195" y="2885"/>
              <a:ext cx="411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Network </a:t>
              </a:r>
              <a:endParaRPr lang="en-CA" altLang="fr-FR"/>
            </a:p>
          </p:txBody>
        </p:sp>
        <p:sp>
          <p:nvSpPr>
            <p:cNvPr id="485426" name="Rectangle 50"/>
            <p:cNvSpPr>
              <a:spLocks noChangeArrowheads="1"/>
            </p:cNvSpPr>
            <p:nvPr/>
          </p:nvSpPr>
          <p:spPr bwMode="auto">
            <a:xfrm>
              <a:off x="2195" y="3000"/>
              <a:ext cx="701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communication</a:t>
              </a:r>
              <a:endParaRPr lang="en-CA" altLang="fr-FR"/>
            </a:p>
          </p:txBody>
        </p:sp>
      </p:grpSp>
      <p:sp>
        <p:nvSpPr>
          <p:cNvPr id="485428" name="Arc 52"/>
          <p:cNvSpPr>
            <a:spLocks/>
          </p:cNvSpPr>
          <p:nvPr/>
        </p:nvSpPr>
        <p:spPr bwMode="auto">
          <a:xfrm>
            <a:off x="3589338" y="4364038"/>
            <a:ext cx="136525" cy="200025"/>
          </a:xfrm>
          <a:custGeom>
            <a:avLst/>
            <a:gdLst>
              <a:gd name="G0" fmla="+- 7417 0 0"/>
              <a:gd name="G1" fmla="+- 21600 0 0"/>
              <a:gd name="G2" fmla="+- 21600 0 0"/>
              <a:gd name="T0" fmla="*/ 0 w 14815"/>
              <a:gd name="T1" fmla="*/ 1313 h 21600"/>
              <a:gd name="T2" fmla="*/ 14815 w 14815"/>
              <a:gd name="T3" fmla="*/ 1307 h 21600"/>
              <a:gd name="T4" fmla="*/ 7417 w 1481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815" h="21600" fill="none" extrusionOk="0">
                <a:moveTo>
                  <a:pt x="0" y="1313"/>
                </a:moveTo>
                <a:cubicBezTo>
                  <a:pt x="2376" y="444"/>
                  <a:pt x="4886" y="0"/>
                  <a:pt x="7417" y="0"/>
                </a:cubicBezTo>
                <a:cubicBezTo>
                  <a:pt x="9940" y="0"/>
                  <a:pt x="12444" y="442"/>
                  <a:pt x="14815" y="1306"/>
                </a:cubicBezTo>
              </a:path>
              <a:path w="14815" h="21600" stroke="0" extrusionOk="0">
                <a:moveTo>
                  <a:pt x="0" y="1313"/>
                </a:moveTo>
                <a:cubicBezTo>
                  <a:pt x="2376" y="444"/>
                  <a:pt x="4886" y="0"/>
                  <a:pt x="7417" y="0"/>
                </a:cubicBezTo>
                <a:cubicBezTo>
                  <a:pt x="9940" y="0"/>
                  <a:pt x="12444" y="442"/>
                  <a:pt x="14815" y="1306"/>
                </a:cubicBezTo>
                <a:lnTo>
                  <a:pt x="7417" y="21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29" name="Line 53"/>
          <p:cNvSpPr>
            <a:spLocks noChangeShapeType="1"/>
          </p:cNvSpPr>
          <p:nvPr/>
        </p:nvSpPr>
        <p:spPr bwMode="auto">
          <a:xfrm flipV="1">
            <a:off x="3656013" y="4314825"/>
            <a:ext cx="1587" cy="666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30" name="Arc 54"/>
          <p:cNvSpPr>
            <a:spLocks/>
          </p:cNvSpPr>
          <p:nvPr/>
        </p:nvSpPr>
        <p:spPr bwMode="auto">
          <a:xfrm>
            <a:off x="2794000" y="4364038"/>
            <a:ext cx="136525" cy="200025"/>
          </a:xfrm>
          <a:custGeom>
            <a:avLst/>
            <a:gdLst>
              <a:gd name="G0" fmla="+- 7443 0 0"/>
              <a:gd name="G1" fmla="+- 21600 0 0"/>
              <a:gd name="G2" fmla="+- 21600 0 0"/>
              <a:gd name="T0" fmla="*/ 0 w 14868"/>
              <a:gd name="T1" fmla="*/ 1323 h 21600"/>
              <a:gd name="T2" fmla="*/ 14868 w 14868"/>
              <a:gd name="T3" fmla="*/ 1316 h 21600"/>
              <a:gd name="T4" fmla="*/ 7443 w 1486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868" h="21600" fill="none" extrusionOk="0">
                <a:moveTo>
                  <a:pt x="-1" y="1322"/>
                </a:moveTo>
                <a:cubicBezTo>
                  <a:pt x="2383" y="447"/>
                  <a:pt x="4903" y="0"/>
                  <a:pt x="7443" y="0"/>
                </a:cubicBezTo>
                <a:cubicBezTo>
                  <a:pt x="9976" y="0"/>
                  <a:pt x="12489" y="445"/>
                  <a:pt x="14867" y="1316"/>
                </a:cubicBezTo>
              </a:path>
              <a:path w="14868" h="21600" stroke="0" extrusionOk="0">
                <a:moveTo>
                  <a:pt x="-1" y="1322"/>
                </a:moveTo>
                <a:cubicBezTo>
                  <a:pt x="2383" y="447"/>
                  <a:pt x="4903" y="0"/>
                  <a:pt x="7443" y="0"/>
                </a:cubicBezTo>
                <a:cubicBezTo>
                  <a:pt x="9976" y="0"/>
                  <a:pt x="12489" y="445"/>
                  <a:pt x="14867" y="1316"/>
                </a:cubicBezTo>
                <a:lnTo>
                  <a:pt x="7443" y="21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31" name="Line 55"/>
          <p:cNvSpPr>
            <a:spLocks noChangeShapeType="1"/>
          </p:cNvSpPr>
          <p:nvPr/>
        </p:nvSpPr>
        <p:spPr bwMode="auto">
          <a:xfrm flipV="1">
            <a:off x="2862263" y="4314825"/>
            <a:ext cx="1587" cy="666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32" name="Arc 56"/>
          <p:cNvSpPr>
            <a:spLocks/>
          </p:cNvSpPr>
          <p:nvPr/>
        </p:nvSpPr>
        <p:spPr bwMode="auto">
          <a:xfrm>
            <a:off x="2744788" y="3668713"/>
            <a:ext cx="136525" cy="198437"/>
          </a:xfrm>
          <a:custGeom>
            <a:avLst/>
            <a:gdLst>
              <a:gd name="G0" fmla="+- 7398 0 0"/>
              <a:gd name="G1" fmla="+- 21600 0 0"/>
              <a:gd name="G2" fmla="+- 21600 0 0"/>
              <a:gd name="T0" fmla="*/ 0 w 14777"/>
              <a:gd name="T1" fmla="*/ 1306 h 21600"/>
              <a:gd name="T2" fmla="*/ 14777 w 14777"/>
              <a:gd name="T3" fmla="*/ 1300 h 21600"/>
              <a:gd name="T4" fmla="*/ 7398 w 14777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777" h="21600" fill="none" extrusionOk="0">
                <a:moveTo>
                  <a:pt x="0" y="1306"/>
                </a:moveTo>
                <a:cubicBezTo>
                  <a:pt x="2370" y="442"/>
                  <a:pt x="4874" y="0"/>
                  <a:pt x="7398" y="0"/>
                </a:cubicBezTo>
                <a:cubicBezTo>
                  <a:pt x="9914" y="0"/>
                  <a:pt x="12411" y="439"/>
                  <a:pt x="14777" y="1299"/>
                </a:cubicBezTo>
              </a:path>
              <a:path w="14777" h="21600" stroke="0" extrusionOk="0">
                <a:moveTo>
                  <a:pt x="0" y="1306"/>
                </a:moveTo>
                <a:cubicBezTo>
                  <a:pt x="2370" y="442"/>
                  <a:pt x="4874" y="0"/>
                  <a:pt x="7398" y="0"/>
                </a:cubicBezTo>
                <a:cubicBezTo>
                  <a:pt x="9914" y="0"/>
                  <a:pt x="12411" y="439"/>
                  <a:pt x="14777" y="1299"/>
                </a:cubicBezTo>
                <a:lnTo>
                  <a:pt x="7398" y="21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33" name="Line 57"/>
          <p:cNvSpPr>
            <a:spLocks noChangeShapeType="1"/>
          </p:cNvSpPr>
          <p:nvPr/>
        </p:nvSpPr>
        <p:spPr bwMode="auto">
          <a:xfrm flipV="1">
            <a:off x="2813050" y="3619500"/>
            <a:ext cx="1588" cy="666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485437" name="Group 61"/>
          <p:cNvGrpSpPr>
            <a:grpSpLocks/>
          </p:cNvGrpSpPr>
          <p:nvPr/>
        </p:nvGrpSpPr>
        <p:grpSpPr bwMode="auto">
          <a:xfrm>
            <a:off x="7423150" y="4579938"/>
            <a:ext cx="1060450" cy="422275"/>
            <a:chOff x="4755" y="2885"/>
            <a:chExt cx="668" cy="266"/>
          </a:xfrm>
        </p:grpSpPr>
        <p:sp>
          <p:nvSpPr>
            <p:cNvPr id="485434" name="Rectangle 58"/>
            <p:cNvSpPr>
              <a:spLocks noChangeArrowheads="1"/>
            </p:cNvSpPr>
            <p:nvPr/>
          </p:nvSpPr>
          <p:spPr bwMode="auto">
            <a:xfrm>
              <a:off x="4755" y="2890"/>
              <a:ext cx="668" cy="261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85435" name="Rectangle 59"/>
            <p:cNvSpPr>
              <a:spLocks noChangeArrowheads="1"/>
            </p:cNvSpPr>
            <p:nvPr/>
          </p:nvSpPr>
          <p:spPr bwMode="auto">
            <a:xfrm>
              <a:off x="4771" y="2885"/>
              <a:ext cx="603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Transmitting </a:t>
              </a:r>
              <a:endParaRPr lang="en-CA" altLang="fr-FR"/>
            </a:p>
          </p:txBody>
        </p:sp>
        <p:sp>
          <p:nvSpPr>
            <p:cNvPr id="485436" name="Rectangle 60"/>
            <p:cNvSpPr>
              <a:spLocks noChangeArrowheads="1"/>
            </p:cNvSpPr>
            <p:nvPr/>
          </p:nvSpPr>
          <p:spPr bwMode="auto">
            <a:xfrm>
              <a:off x="4771" y="3000"/>
              <a:ext cx="62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and receiving</a:t>
              </a:r>
              <a:endParaRPr lang="en-CA" altLang="fr-FR"/>
            </a:p>
          </p:txBody>
        </p:sp>
      </p:grpSp>
      <p:grpSp>
        <p:nvGrpSpPr>
          <p:cNvPr id="485441" name="Group 65"/>
          <p:cNvGrpSpPr>
            <a:grpSpLocks/>
          </p:cNvGrpSpPr>
          <p:nvPr/>
        </p:nvGrpSpPr>
        <p:grpSpPr bwMode="auto">
          <a:xfrm>
            <a:off x="7456488" y="3884613"/>
            <a:ext cx="993775" cy="422275"/>
            <a:chOff x="4776" y="2447"/>
            <a:chExt cx="626" cy="266"/>
          </a:xfrm>
        </p:grpSpPr>
        <p:sp>
          <p:nvSpPr>
            <p:cNvPr id="485438" name="Rectangle 62"/>
            <p:cNvSpPr>
              <a:spLocks noChangeArrowheads="1"/>
            </p:cNvSpPr>
            <p:nvPr/>
          </p:nvSpPr>
          <p:spPr bwMode="auto">
            <a:xfrm>
              <a:off x="4776" y="2452"/>
              <a:ext cx="626" cy="261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85439" name="Rectangle 63"/>
            <p:cNvSpPr>
              <a:spLocks noChangeArrowheads="1"/>
            </p:cNvSpPr>
            <p:nvPr/>
          </p:nvSpPr>
          <p:spPr bwMode="auto">
            <a:xfrm>
              <a:off x="4792" y="2447"/>
              <a:ext cx="59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Dealing with </a:t>
              </a:r>
              <a:endParaRPr lang="en-CA" altLang="fr-FR"/>
            </a:p>
          </p:txBody>
        </p:sp>
        <p:sp>
          <p:nvSpPr>
            <p:cNvPr id="485440" name="Rectangle 64"/>
            <p:cNvSpPr>
              <a:spLocks noChangeArrowheads="1"/>
            </p:cNvSpPr>
            <p:nvPr/>
          </p:nvSpPr>
          <p:spPr bwMode="auto">
            <a:xfrm>
              <a:off x="4792" y="2562"/>
              <a:ext cx="359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packets</a:t>
              </a:r>
              <a:endParaRPr lang="en-CA" altLang="fr-FR"/>
            </a:p>
          </p:txBody>
        </p:sp>
      </p:grpSp>
      <p:grpSp>
        <p:nvGrpSpPr>
          <p:cNvPr id="485445" name="Group 69"/>
          <p:cNvGrpSpPr>
            <a:grpSpLocks/>
          </p:cNvGrpSpPr>
          <p:nvPr/>
        </p:nvGrpSpPr>
        <p:grpSpPr bwMode="auto">
          <a:xfrm>
            <a:off x="7456488" y="3189288"/>
            <a:ext cx="993775" cy="422275"/>
            <a:chOff x="4776" y="2009"/>
            <a:chExt cx="626" cy="266"/>
          </a:xfrm>
        </p:grpSpPr>
        <p:sp>
          <p:nvSpPr>
            <p:cNvPr id="485442" name="Rectangle 66"/>
            <p:cNvSpPr>
              <a:spLocks noChangeArrowheads="1"/>
            </p:cNvSpPr>
            <p:nvPr/>
          </p:nvSpPr>
          <p:spPr bwMode="auto">
            <a:xfrm>
              <a:off x="4776" y="2013"/>
              <a:ext cx="626" cy="262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85443" name="Rectangle 67"/>
            <p:cNvSpPr>
              <a:spLocks noChangeArrowheads="1"/>
            </p:cNvSpPr>
            <p:nvPr/>
          </p:nvSpPr>
          <p:spPr bwMode="auto">
            <a:xfrm>
              <a:off x="4792" y="2009"/>
              <a:ext cx="59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Dealing with </a:t>
              </a:r>
              <a:endParaRPr lang="en-CA" altLang="fr-FR"/>
            </a:p>
          </p:txBody>
        </p:sp>
        <p:sp>
          <p:nvSpPr>
            <p:cNvPr id="485444" name="Rectangle 68"/>
            <p:cNvSpPr>
              <a:spLocks noChangeArrowheads="1"/>
            </p:cNvSpPr>
            <p:nvPr/>
          </p:nvSpPr>
          <p:spPr bwMode="auto">
            <a:xfrm>
              <a:off x="4792" y="2124"/>
              <a:ext cx="55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connections</a:t>
              </a:r>
              <a:endParaRPr lang="en-CA" altLang="fr-FR"/>
            </a:p>
          </p:txBody>
        </p:sp>
      </p:grpSp>
      <p:grpSp>
        <p:nvGrpSpPr>
          <p:cNvPr id="485449" name="Group 73"/>
          <p:cNvGrpSpPr>
            <a:grpSpLocks/>
          </p:cNvGrpSpPr>
          <p:nvPr/>
        </p:nvGrpSpPr>
        <p:grpSpPr bwMode="auto">
          <a:xfrm>
            <a:off x="7158038" y="2509838"/>
            <a:ext cx="1590675" cy="422275"/>
            <a:chOff x="4588" y="1581"/>
            <a:chExt cx="1002" cy="266"/>
          </a:xfrm>
        </p:grpSpPr>
        <p:sp>
          <p:nvSpPr>
            <p:cNvPr id="485446" name="Rectangle 70"/>
            <p:cNvSpPr>
              <a:spLocks noChangeArrowheads="1"/>
            </p:cNvSpPr>
            <p:nvPr/>
          </p:nvSpPr>
          <p:spPr bwMode="auto">
            <a:xfrm>
              <a:off x="4588" y="1586"/>
              <a:ext cx="1002" cy="261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  <p:sp>
          <p:nvSpPr>
            <p:cNvPr id="485447" name="Rectangle 71"/>
            <p:cNvSpPr>
              <a:spLocks noChangeArrowheads="1"/>
            </p:cNvSpPr>
            <p:nvPr/>
          </p:nvSpPr>
          <p:spPr bwMode="auto">
            <a:xfrm>
              <a:off x="4604" y="1581"/>
              <a:ext cx="596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Dealing with </a:t>
              </a:r>
              <a:endParaRPr lang="en-CA" altLang="fr-FR"/>
            </a:p>
          </p:txBody>
        </p:sp>
        <p:sp>
          <p:nvSpPr>
            <p:cNvPr id="485448" name="Rectangle 72"/>
            <p:cNvSpPr>
              <a:spLocks noChangeArrowheads="1"/>
            </p:cNvSpPr>
            <p:nvPr/>
          </p:nvSpPr>
          <p:spPr bwMode="auto">
            <a:xfrm>
              <a:off x="4604" y="1696"/>
              <a:ext cx="95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CA" altLang="fr-FR" sz="1300">
                  <a:solidFill>
                    <a:srgbClr val="000000"/>
                  </a:solidFill>
                  <a:latin typeface="Arial" panose="020B0604020202020204" pitchFamily="34" charset="0"/>
                </a:rPr>
                <a:t>application protocols</a:t>
              </a:r>
              <a:endParaRPr lang="en-CA" altLang="fr-FR"/>
            </a:p>
          </p:txBody>
        </p:sp>
      </p:grpSp>
      <p:sp>
        <p:nvSpPr>
          <p:cNvPr id="485450" name="Arc 74"/>
          <p:cNvSpPr>
            <a:spLocks/>
          </p:cNvSpPr>
          <p:nvPr/>
        </p:nvSpPr>
        <p:spPr bwMode="auto">
          <a:xfrm>
            <a:off x="7861300" y="4364038"/>
            <a:ext cx="136525" cy="200025"/>
          </a:xfrm>
          <a:custGeom>
            <a:avLst/>
            <a:gdLst>
              <a:gd name="G0" fmla="+- 7417 0 0"/>
              <a:gd name="G1" fmla="+- 21600 0 0"/>
              <a:gd name="G2" fmla="+- 21600 0 0"/>
              <a:gd name="T0" fmla="*/ 0 w 14815"/>
              <a:gd name="T1" fmla="*/ 1313 h 21600"/>
              <a:gd name="T2" fmla="*/ 14815 w 14815"/>
              <a:gd name="T3" fmla="*/ 1307 h 21600"/>
              <a:gd name="T4" fmla="*/ 7417 w 14815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815" h="21600" fill="none" extrusionOk="0">
                <a:moveTo>
                  <a:pt x="0" y="1313"/>
                </a:moveTo>
                <a:cubicBezTo>
                  <a:pt x="2376" y="444"/>
                  <a:pt x="4886" y="0"/>
                  <a:pt x="7417" y="0"/>
                </a:cubicBezTo>
                <a:cubicBezTo>
                  <a:pt x="9940" y="0"/>
                  <a:pt x="12444" y="442"/>
                  <a:pt x="14815" y="1306"/>
                </a:cubicBezTo>
              </a:path>
              <a:path w="14815" h="21600" stroke="0" extrusionOk="0">
                <a:moveTo>
                  <a:pt x="0" y="1313"/>
                </a:moveTo>
                <a:cubicBezTo>
                  <a:pt x="2376" y="444"/>
                  <a:pt x="4886" y="0"/>
                  <a:pt x="7417" y="0"/>
                </a:cubicBezTo>
                <a:cubicBezTo>
                  <a:pt x="9940" y="0"/>
                  <a:pt x="12444" y="442"/>
                  <a:pt x="14815" y="1306"/>
                </a:cubicBezTo>
                <a:lnTo>
                  <a:pt x="7417" y="21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51" name="Line 75"/>
          <p:cNvSpPr>
            <a:spLocks noChangeShapeType="1"/>
          </p:cNvSpPr>
          <p:nvPr/>
        </p:nvSpPr>
        <p:spPr bwMode="auto">
          <a:xfrm flipV="1">
            <a:off x="7927975" y="4314825"/>
            <a:ext cx="1588" cy="666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52" name="Arc 76"/>
          <p:cNvSpPr>
            <a:spLocks/>
          </p:cNvSpPr>
          <p:nvPr/>
        </p:nvSpPr>
        <p:spPr bwMode="auto">
          <a:xfrm>
            <a:off x="7861300" y="3668713"/>
            <a:ext cx="136525" cy="198437"/>
          </a:xfrm>
          <a:custGeom>
            <a:avLst/>
            <a:gdLst>
              <a:gd name="G0" fmla="+- 7398 0 0"/>
              <a:gd name="G1" fmla="+- 21600 0 0"/>
              <a:gd name="G2" fmla="+- 21600 0 0"/>
              <a:gd name="T0" fmla="*/ 0 w 14777"/>
              <a:gd name="T1" fmla="*/ 1306 h 21600"/>
              <a:gd name="T2" fmla="*/ 14777 w 14777"/>
              <a:gd name="T3" fmla="*/ 1300 h 21600"/>
              <a:gd name="T4" fmla="*/ 7398 w 14777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777" h="21600" fill="none" extrusionOk="0">
                <a:moveTo>
                  <a:pt x="0" y="1306"/>
                </a:moveTo>
                <a:cubicBezTo>
                  <a:pt x="2370" y="442"/>
                  <a:pt x="4874" y="0"/>
                  <a:pt x="7398" y="0"/>
                </a:cubicBezTo>
                <a:cubicBezTo>
                  <a:pt x="9914" y="0"/>
                  <a:pt x="12411" y="439"/>
                  <a:pt x="14777" y="1299"/>
                </a:cubicBezTo>
              </a:path>
              <a:path w="14777" h="21600" stroke="0" extrusionOk="0">
                <a:moveTo>
                  <a:pt x="0" y="1306"/>
                </a:moveTo>
                <a:cubicBezTo>
                  <a:pt x="2370" y="442"/>
                  <a:pt x="4874" y="0"/>
                  <a:pt x="7398" y="0"/>
                </a:cubicBezTo>
                <a:cubicBezTo>
                  <a:pt x="9914" y="0"/>
                  <a:pt x="12411" y="439"/>
                  <a:pt x="14777" y="1299"/>
                </a:cubicBezTo>
                <a:lnTo>
                  <a:pt x="7398" y="21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53" name="Line 77"/>
          <p:cNvSpPr>
            <a:spLocks noChangeShapeType="1"/>
          </p:cNvSpPr>
          <p:nvPr/>
        </p:nvSpPr>
        <p:spPr bwMode="auto">
          <a:xfrm flipV="1">
            <a:off x="7927975" y="3619500"/>
            <a:ext cx="1588" cy="666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54" name="Arc 78"/>
          <p:cNvSpPr>
            <a:spLocks/>
          </p:cNvSpPr>
          <p:nvPr/>
        </p:nvSpPr>
        <p:spPr bwMode="auto">
          <a:xfrm>
            <a:off x="7861300" y="2982913"/>
            <a:ext cx="136525" cy="198437"/>
          </a:xfrm>
          <a:custGeom>
            <a:avLst/>
            <a:gdLst>
              <a:gd name="G0" fmla="+- 7398 0 0"/>
              <a:gd name="G1" fmla="+- 21600 0 0"/>
              <a:gd name="G2" fmla="+- 21600 0 0"/>
              <a:gd name="T0" fmla="*/ 0 w 14777"/>
              <a:gd name="T1" fmla="*/ 1306 h 21600"/>
              <a:gd name="T2" fmla="*/ 14777 w 14777"/>
              <a:gd name="T3" fmla="*/ 1300 h 21600"/>
              <a:gd name="T4" fmla="*/ 7398 w 14777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777" h="21600" fill="none" extrusionOk="0">
                <a:moveTo>
                  <a:pt x="0" y="1306"/>
                </a:moveTo>
                <a:cubicBezTo>
                  <a:pt x="2370" y="442"/>
                  <a:pt x="4874" y="0"/>
                  <a:pt x="7398" y="0"/>
                </a:cubicBezTo>
                <a:cubicBezTo>
                  <a:pt x="9914" y="0"/>
                  <a:pt x="12411" y="439"/>
                  <a:pt x="14777" y="1299"/>
                </a:cubicBezTo>
              </a:path>
              <a:path w="14777" h="21600" stroke="0" extrusionOk="0">
                <a:moveTo>
                  <a:pt x="0" y="1306"/>
                </a:moveTo>
                <a:cubicBezTo>
                  <a:pt x="2370" y="442"/>
                  <a:pt x="4874" y="0"/>
                  <a:pt x="7398" y="0"/>
                </a:cubicBezTo>
                <a:cubicBezTo>
                  <a:pt x="9914" y="0"/>
                  <a:pt x="12411" y="439"/>
                  <a:pt x="14777" y="1299"/>
                </a:cubicBezTo>
                <a:lnTo>
                  <a:pt x="7398" y="21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55" name="Line 79"/>
          <p:cNvSpPr>
            <a:spLocks noChangeShapeType="1"/>
          </p:cNvSpPr>
          <p:nvPr/>
        </p:nvSpPr>
        <p:spPr bwMode="auto">
          <a:xfrm flipV="1">
            <a:off x="7927975" y="2924175"/>
            <a:ext cx="1588" cy="6508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56" name="Rectangle 80"/>
          <p:cNvSpPr>
            <a:spLocks noChangeArrowheads="1"/>
          </p:cNvSpPr>
          <p:nvPr/>
        </p:nvSpPr>
        <p:spPr bwMode="auto">
          <a:xfrm>
            <a:off x="2117725" y="5292725"/>
            <a:ext cx="1655763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a) Typical layers in an </a:t>
            </a:r>
            <a:endParaRPr lang="en-CA" altLang="fr-FR"/>
          </a:p>
        </p:txBody>
      </p:sp>
      <p:sp>
        <p:nvSpPr>
          <p:cNvPr id="485457" name="Rectangle 81"/>
          <p:cNvSpPr>
            <a:spLocks noChangeArrowheads="1"/>
          </p:cNvSpPr>
          <p:nvPr/>
        </p:nvSpPr>
        <p:spPr bwMode="auto">
          <a:xfrm>
            <a:off x="2117725" y="5475288"/>
            <a:ext cx="1454150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application program</a:t>
            </a:r>
            <a:endParaRPr lang="en-CA" altLang="fr-FR"/>
          </a:p>
        </p:txBody>
      </p:sp>
      <p:sp>
        <p:nvSpPr>
          <p:cNvPr id="485458" name="Rectangle 82"/>
          <p:cNvSpPr>
            <a:spLocks noChangeArrowheads="1"/>
          </p:cNvSpPr>
          <p:nvPr/>
        </p:nvSpPr>
        <p:spPr bwMode="auto">
          <a:xfrm>
            <a:off x="4914900" y="5292725"/>
            <a:ext cx="1655763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b) Typical layers in an </a:t>
            </a:r>
            <a:endParaRPr lang="en-CA" altLang="fr-FR"/>
          </a:p>
        </p:txBody>
      </p:sp>
      <p:sp>
        <p:nvSpPr>
          <p:cNvPr id="485459" name="Rectangle 83"/>
          <p:cNvSpPr>
            <a:spLocks noChangeArrowheads="1"/>
          </p:cNvSpPr>
          <p:nvPr/>
        </p:nvSpPr>
        <p:spPr bwMode="auto">
          <a:xfrm>
            <a:off x="4914900" y="5475288"/>
            <a:ext cx="126047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operating system</a:t>
            </a:r>
            <a:endParaRPr lang="en-CA" altLang="fr-FR"/>
          </a:p>
        </p:txBody>
      </p:sp>
      <p:sp>
        <p:nvSpPr>
          <p:cNvPr id="485460" name="Rectangle 84"/>
          <p:cNvSpPr>
            <a:spLocks noChangeArrowheads="1"/>
          </p:cNvSpPr>
          <p:nvPr/>
        </p:nvSpPr>
        <p:spPr bwMode="auto">
          <a:xfrm>
            <a:off x="7034213" y="5292725"/>
            <a:ext cx="199390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c) Simplified view of layers </a:t>
            </a:r>
            <a:endParaRPr lang="en-CA" altLang="fr-FR"/>
          </a:p>
        </p:txBody>
      </p:sp>
      <p:sp>
        <p:nvSpPr>
          <p:cNvPr id="485461" name="Rectangle 85"/>
          <p:cNvSpPr>
            <a:spLocks noChangeArrowheads="1"/>
          </p:cNvSpPr>
          <p:nvPr/>
        </p:nvSpPr>
        <p:spPr bwMode="auto">
          <a:xfrm>
            <a:off x="7034213" y="5475288"/>
            <a:ext cx="1995487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in a communication system</a:t>
            </a:r>
            <a:endParaRPr lang="en-CA" altLang="fr-FR"/>
          </a:p>
        </p:txBody>
      </p:sp>
      <p:sp>
        <p:nvSpPr>
          <p:cNvPr id="485462" name="Rectangle 86"/>
          <p:cNvSpPr>
            <a:spLocks noChangeArrowheads="1"/>
          </p:cNvSpPr>
          <p:nvPr/>
        </p:nvSpPr>
        <p:spPr bwMode="auto">
          <a:xfrm>
            <a:off x="965200" y="4587875"/>
            <a:ext cx="1376363" cy="41433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5463" name="Rectangle 87"/>
          <p:cNvSpPr>
            <a:spLocks noChangeArrowheads="1"/>
          </p:cNvSpPr>
          <p:nvPr/>
        </p:nvSpPr>
        <p:spPr bwMode="auto">
          <a:xfrm>
            <a:off x="990600" y="4579938"/>
            <a:ext cx="13430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Operating system </a:t>
            </a:r>
            <a:endParaRPr lang="en-CA" altLang="fr-FR"/>
          </a:p>
        </p:txBody>
      </p:sp>
      <p:sp>
        <p:nvSpPr>
          <p:cNvPr id="485464" name="Rectangle 88"/>
          <p:cNvSpPr>
            <a:spLocks noChangeArrowheads="1"/>
          </p:cNvSpPr>
          <p:nvPr/>
        </p:nvSpPr>
        <p:spPr bwMode="auto">
          <a:xfrm>
            <a:off x="990600" y="4762500"/>
            <a:ext cx="514350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300">
                <a:solidFill>
                  <a:srgbClr val="000000"/>
                </a:solidFill>
                <a:latin typeface="Arial" panose="020B0604020202020204" pitchFamily="34" charset="0"/>
              </a:rPr>
              <a:t>access</a:t>
            </a:r>
            <a:endParaRPr lang="en-CA" altLang="fr-FR"/>
          </a:p>
        </p:txBody>
      </p:sp>
      <p:sp>
        <p:nvSpPr>
          <p:cNvPr id="485465" name="Arc 89"/>
          <p:cNvSpPr>
            <a:spLocks/>
          </p:cNvSpPr>
          <p:nvPr/>
        </p:nvSpPr>
        <p:spPr bwMode="auto">
          <a:xfrm>
            <a:off x="2132013" y="4364038"/>
            <a:ext cx="136525" cy="200025"/>
          </a:xfrm>
          <a:custGeom>
            <a:avLst/>
            <a:gdLst>
              <a:gd name="G0" fmla="+- 7443 0 0"/>
              <a:gd name="G1" fmla="+- 21600 0 0"/>
              <a:gd name="G2" fmla="+- 21600 0 0"/>
              <a:gd name="T0" fmla="*/ 0 w 14868"/>
              <a:gd name="T1" fmla="*/ 1323 h 21600"/>
              <a:gd name="T2" fmla="*/ 14868 w 14868"/>
              <a:gd name="T3" fmla="*/ 1316 h 21600"/>
              <a:gd name="T4" fmla="*/ 7443 w 1486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868" h="21600" fill="none" extrusionOk="0">
                <a:moveTo>
                  <a:pt x="-1" y="1322"/>
                </a:moveTo>
                <a:cubicBezTo>
                  <a:pt x="2383" y="447"/>
                  <a:pt x="4903" y="0"/>
                  <a:pt x="7443" y="0"/>
                </a:cubicBezTo>
                <a:cubicBezTo>
                  <a:pt x="9976" y="0"/>
                  <a:pt x="12489" y="445"/>
                  <a:pt x="14867" y="1316"/>
                </a:cubicBezTo>
              </a:path>
              <a:path w="14868" h="21600" stroke="0" extrusionOk="0">
                <a:moveTo>
                  <a:pt x="-1" y="1322"/>
                </a:moveTo>
                <a:cubicBezTo>
                  <a:pt x="2383" y="447"/>
                  <a:pt x="4903" y="0"/>
                  <a:pt x="7443" y="0"/>
                </a:cubicBezTo>
                <a:cubicBezTo>
                  <a:pt x="9976" y="0"/>
                  <a:pt x="12489" y="445"/>
                  <a:pt x="14867" y="1316"/>
                </a:cubicBezTo>
                <a:lnTo>
                  <a:pt x="7443" y="21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66" name="Line 90"/>
          <p:cNvSpPr>
            <a:spLocks noChangeShapeType="1"/>
          </p:cNvSpPr>
          <p:nvPr/>
        </p:nvSpPr>
        <p:spPr bwMode="auto">
          <a:xfrm flipV="1">
            <a:off x="2200275" y="4314825"/>
            <a:ext cx="1588" cy="666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5467" name="Rectangle 91"/>
          <p:cNvSpPr>
            <a:spLocks noChangeArrowheads="1"/>
          </p:cNvSpPr>
          <p:nvPr/>
        </p:nvSpPr>
        <p:spPr bwMode="auto">
          <a:xfrm>
            <a:off x="965200" y="4471988"/>
            <a:ext cx="233363" cy="115887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5468" name="Rectangle 92"/>
          <p:cNvSpPr>
            <a:spLocks noChangeArrowheads="1"/>
          </p:cNvSpPr>
          <p:nvPr/>
        </p:nvSpPr>
        <p:spPr bwMode="auto">
          <a:xfrm>
            <a:off x="2439988" y="4471988"/>
            <a:ext cx="231775" cy="115887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5469" name="Rectangle 93"/>
          <p:cNvSpPr>
            <a:spLocks noChangeArrowheads="1"/>
          </p:cNvSpPr>
          <p:nvPr/>
        </p:nvSpPr>
        <p:spPr bwMode="auto">
          <a:xfrm>
            <a:off x="3333750" y="4471988"/>
            <a:ext cx="249238" cy="115887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5470" name="Rectangle 94"/>
          <p:cNvSpPr>
            <a:spLocks noChangeArrowheads="1"/>
          </p:cNvSpPr>
          <p:nvPr/>
        </p:nvSpPr>
        <p:spPr bwMode="auto">
          <a:xfrm>
            <a:off x="1925638" y="3776663"/>
            <a:ext cx="233362" cy="115887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5471" name="Rectangle 95"/>
          <p:cNvSpPr>
            <a:spLocks noChangeArrowheads="1"/>
          </p:cNvSpPr>
          <p:nvPr/>
        </p:nvSpPr>
        <p:spPr bwMode="auto">
          <a:xfrm>
            <a:off x="2473325" y="3079750"/>
            <a:ext cx="231775" cy="117475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5472" name="Rectangle 96"/>
          <p:cNvSpPr>
            <a:spLocks noChangeArrowheads="1"/>
          </p:cNvSpPr>
          <p:nvPr/>
        </p:nvSpPr>
        <p:spPr bwMode="auto">
          <a:xfrm>
            <a:off x="4856163" y="4273550"/>
            <a:ext cx="233362" cy="11588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5473" name="Rectangle 97"/>
          <p:cNvSpPr>
            <a:spLocks noChangeArrowheads="1"/>
          </p:cNvSpPr>
          <p:nvPr/>
        </p:nvSpPr>
        <p:spPr bwMode="auto">
          <a:xfrm>
            <a:off x="5867400" y="3594100"/>
            <a:ext cx="231775" cy="11588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5474" name="Rectangle 98"/>
          <p:cNvSpPr>
            <a:spLocks noChangeArrowheads="1"/>
          </p:cNvSpPr>
          <p:nvPr/>
        </p:nvSpPr>
        <p:spPr bwMode="auto">
          <a:xfrm>
            <a:off x="5535613" y="2898775"/>
            <a:ext cx="231775" cy="11588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5475" name="Rectangle 99"/>
          <p:cNvSpPr>
            <a:spLocks noChangeArrowheads="1"/>
          </p:cNvSpPr>
          <p:nvPr/>
        </p:nvSpPr>
        <p:spPr bwMode="auto">
          <a:xfrm>
            <a:off x="5270500" y="2201863"/>
            <a:ext cx="233363" cy="117475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5476" name="Rectangle 100"/>
          <p:cNvSpPr>
            <a:spLocks noChangeArrowheads="1"/>
          </p:cNvSpPr>
          <p:nvPr/>
        </p:nvSpPr>
        <p:spPr bwMode="auto">
          <a:xfrm>
            <a:off x="4708525" y="1689100"/>
            <a:ext cx="231775" cy="115888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5477" name="Rectangle 101"/>
          <p:cNvSpPr>
            <a:spLocks noChangeArrowheads="1"/>
          </p:cNvSpPr>
          <p:nvPr/>
        </p:nvSpPr>
        <p:spPr bwMode="auto">
          <a:xfrm>
            <a:off x="7158038" y="2401888"/>
            <a:ext cx="249237" cy="115887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5478" name="Rectangle 102"/>
          <p:cNvSpPr>
            <a:spLocks noChangeArrowheads="1"/>
          </p:cNvSpPr>
          <p:nvPr/>
        </p:nvSpPr>
        <p:spPr bwMode="auto">
          <a:xfrm>
            <a:off x="7456488" y="3079750"/>
            <a:ext cx="249237" cy="117475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5479" name="Rectangle 103"/>
          <p:cNvSpPr>
            <a:spLocks noChangeArrowheads="1"/>
          </p:cNvSpPr>
          <p:nvPr/>
        </p:nvSpPr>
        <p:spPr bwMode="auto">
          <a:xfrm>
            <a:off x="7472363" y="3776663"/>
            <a:ext cx="233362" cy="115887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5480" name="Rectangle 104"/>
          <p:cNvSpPr>
            <a:spLocks noChangeArrowheads="1"/>
          </p:cNvSpPr>
          <p:nvPr/>
        </p:nvSpPr>
        <p:spPr bwMode="auto">
          <a:xfrm>
            <a:off x="7423150" y="4471988"/>
            <a:ext cx="249238" cy="115887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66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41624129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multi-layer architecture and design principles</a:t>
            </a:r>
          </a:p>
        </p:txBody>
      </p:sp>
      <p:sp>
        <p:nvSpPr>
          <p:cNvPr id="54170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1.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Divide and conquer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The layers can be independently designed.</a:t>
            </a:r>
          </a:p>
          <a:p>
            <a:pPr lvl="1" algn="just"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2.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Increase cohesion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Well-designed layers have layer cohesion.</a:t>
            </a:r>
          </a:p>
          <a:p>
            <a:pPr lvl="1" algn="just"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3.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Reduce coupling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Well-designed lower layers do not know about the higher layers and the only connection between layers is through the API.</a:t>
            </a:r>
          </a:p>
          <a:p>
            <a:pPr lvl="1" algn="just"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4.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Increase abstraction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you do not need to know the details of how the lower layers are implemented. </a:t>
            </a:r>
          </a:p>
          <a:p>
            <a:pPr lvl="1" algn="just"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5.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Increase reusability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The lower layers can often be designed generically.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67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46472105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altLang="en-US"/>
              <a:t>The multi-layer architecture and design principles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43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>
              <a:lnSpc>
                <a:spcPct val="90000"/>
              </a:lnSpc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6.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Increase reuse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You can often reuse layers built by others that provide the services you need.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7. Increase flexibility: you can add new facilities built on lower-level services, or replace higher-level layers.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8.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Anticipate obsolescence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By isolating components in separate layers, the system becomes more resistant to obsolescence.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9.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Design for portability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All the dependent facilities can be isolated in one of the lower layers.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10.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Design for testability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Layers can be tested independently.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11.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Design defensively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The APIs of layers are natural places to build in rigorous assertion-checking.</a:t>
            </a:r>
            <a:endParaRPr lang="en-US" altLang="en-US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68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883212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Client-Server and other distributed architectural patterns</a:t>
            </a:r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There is at least one component that has the role of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server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, waiting for and then handling connections</a:t>
            </a:r>
            <a:r>
              <a:rPr lang="en-US" altLang="en-US"/>
              <a:t>.</a:t>
            </a:r>
          </a:p>
          <a:p>
            <a:pPr lvl="1"/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There is at least one component that has the role of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client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, initiating connections in order to obtain some service</a:t>
            </a:r>
            <a:r>
              <a:rPr lang="en-US" altLang="en-US"/>
              <a:t>.</a:t>
            </a:r>
          </a:p>
          <a:p>
            <a:pPr lvl="1"/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further extension is the Peer-to-Peer pattern.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system composed of various software components that are distributed over several hosts</a:t>
            </a:r>
            <a:r>
              <a:rPr lang="en-US" altLang="en-US"/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69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7308676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An example of a distributed system</a:t>
            </a:r>
          </a:p>
        </p:txBody>
      </p:sp>
      <p:sp>
        <p:nvSpPr>
          <p:cNvPr id="483336" name="Rectangle 8"/>
          <p:cNvSpPr>
            <a:spLocks noChangeArrowheads="1"/>
          </p:cNvSpPr>
          <p:nvPr/>
        </p:nvSpPr>
        <p:spPr bwMode="auto">
          <a:xfrm>
            <a:off x="2968625" y="3265488"/>
            <a:ext cx="820738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 u="sng">
                <a:solidFill>
                  <a:srgbClr val="000000"/>
                </a:solidFill>
                <a:latin typeface="Arial" panose="020B0604020202020204" pitchFamily="34" charset="0"/>
              </a:rPr>
              <a:t>Client2:</a:t>
            </a:r>
            <a:endParaRPr lang="en-US" altLang="en-US"/>
          </a:p>
        </p:txBody>
      </p:sp>
      <p:sp>
        <p:nvSpPr>
          <p:cNvPr id="483337" name="Rectangle 9"/>
          <p:cNvSpPr>
            <a:spLocks noChangeArrowheads="1"/>
          </p:cNvSpPr>
          <p:nvPr/>
        </p:nvSpPr>
        <p:spPr bwMode="auto">
          <a:xfrm>
            <a:off x="2797175" y="3275013"/>
            <a:ext cx="844550" cy="274637"/>
          </a:xfrm>
          <a:prstGeom prst="rect">
            <a:avLst/>
          </a:prstGeom>
          <a:noFill/>
          <a:ln w="22225">
            <a:solidFill>
              <a:srgbClr val="1F1A1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3338" name="Freeform 10"/>
          <p:cNvSpPr>
            <a:spLocks/>
          </p:cNvSpPr>
          <p:nvPr/>
        </p:nvSpPr>
        <p:spPr bwMode="auto">
          <a:xfrm>
            <a:off x="2717800" y="3309938"/>
            <a:ext cx="182563" cy="68262"/>
          </a:xfrm>
          <a:custGeom>
            <a:avLst/>
            <a:gdLst>
              <a:gd name="T0" fmla="*/ 0 w 115"/>
              <a:gd name="T1" fmla="*/ 0 h 43"/>
              <a:gd name="T2" fmla="*/ 115 w 115"/>
              <a:gd name="T3" fmla="*/ 0 h 43"/>
              <a:gd name="T4" fmla="*/ 115 w 115"/>
              <a:gd name="T5" fmla="*/ 43 h 43"/>
              <a:gd name="T6" fmla="*/ 0 w 115"/>
              <a:gd name="T7" fmla="*/ 43 h 43"/>
              <a:gd name="T8" fmla="*/ 0 w 115"/>
              <a:gd name="T9" fmla="*/ 0 h 43"/>
              <a:gd name="T10" fmla="*/ 0 w 115"/>
              <a:gd name="T11" fmla="*/ 0 h 43"/>
              <a:gd name="T12" fmla="*/ 0 w 115"/>
              <a:gd name="T13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5" h="43">
                <a:moveTo>
                  <a:pt x="0" y="0"/>
                </a:moveTo>
                <a:lnTo>
                  <a:pt x="115" y="0"/>
                </a:lnTo>
                <a:lnTo>
                  <a:pt x="115" y="43"/>
                </a:lnTo>
                <a:lnTo>
                  <a:pt x="0" y="43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3339" name="Rectangle 11"/>
          <p:cNvSpPr>
            <a:spLocks noChangeArrowheads="1"/>
          </p:cNvSpPr>
          <p:nvPr/>
        </p:nvSpPr>
        <p:spPr bwMode="auto">
          <a:xfrm>
            <a:off x="2728913" y="3321050"/>
            <a:ext cx="160337" cy="46038"/>
          </a:xfrm>
          <a:prstGeom prst="rect">
            <a:avLst/>
          </a:prstGeom>
          <a:solidFill>
            <a:srgbClr val="FFFFFF"/>
          </a:solidFill>
          <a:ln w="22225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3340" name="Freeform 12"/>
          <p:cNvSpPr>
            <a:spLocks/>
          </p:cNvSpPr>
          <p:nvPr/>
        </p:nvSpPr>
        <p:spPr bwMode="auto">
          <a:xfrm>
            <a:off x="2717800" y="3446463"/>
            <a:ext cx="182563" cy="69850"/>
          </a:xfrm>
          <a:custGeom>
            <a:avLst/>
            <a:gdLst>
              <a:gd name="T0" fmla="*/ 0 w 115"/>
              <a:gd name="T1" fmla="*/ 0 h 44"/>
              <a:gd name="T2" fmla="*/ 115 w 115"/>
              <a:gd name="T3" fmla="*/ 0 h 44"/>
              <a:gd name="T4" fmla="*/ 115 w 115"/>
              <a:gd name="T5" fmla="*/ 44 h 44"/>
              <a:gd name="T6" fmla="*/ 0 w 115"/>
              <a:gd name="T7" fmla="*/ 44 h 44"/>
              <a:gd name="T8" fmla="*/ 0 w 115"/>
              <a:gd name="T9" fmla="*/ 0 h 44"/>
              <a:gd name="T10" fmla="*/ 0 w 115"/>
              <a:gd name="T11" fmla="*/ 0 h 44"/>
              <a:gd name="T12" fmla="*/ 0 w 115"/>
              <a:gd name="T13" fmla="*/ 0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5" h="44">
                <a:moveTo>
                  <a:pt x="0" y="0"/>
                </a:moveTo>
                <a:lnTo>
                  <a:pt x="115" y="0"/>
                </a:lnTo>
                <a:lnTo>
                  <a:pt x="115" y="44"/>
                </a:lnTo>
                <a:lnTo>
                  <a:pt x="0" y="44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3341" name="Rectangle 13"/>
          <p:cNvSpPr>
            <a:spLocks noChangeArrowheads="1"/>
          </p:cNvSpPr>
          <p:nvPr/>
        </p:nvSpPr>
        <p:spPr bwMode="auto">
          <a:xfrm>
            <a:off x="2728913" y="3457575"/>
            <a:ext cx="160337" cy="47625"/>
          </a:xfrm>
          <a:prstGeom prst="rect">
            <a:avLst/>
          </a:prstGeom>
          <a:solidFill>
            <a:srgbClr val="FFFFFF"/>
          </a:solidFill>
          <a:ln w="22225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3342" name="Rectangle 14"/>
          <p:cNvSpPr>
            <a:spLocks noChangeArrowheads="1"/>
          </p:cNvSpPr>
          <p:nvPr/>
        </p:nvSpPr>
        <p:spPr bwMode="auto">
          <a:xfrm>
            <a:off x="7346950" y="2900363"/>
            <a:ext cx="798513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 u="sng">
                <a:solidFill>
                  <a:srgbClr val="000000"/>
                </a:solidFill>
                <a:latin typeface="Arial" panose="020B0604020202020204" pitchFamily="34" charset="0"/>
              </a:rPr>
              <a:t>Server:</a:t>
            </a:r>
            <a:endParaRPr lang="en-US" altLang="en-US"/>
          </a:p>
        </p:txBody>
      </p:sp>
      <p:sp>
        <p:nvSpPr>
          <p:cNvPr id="483343" name="Rectangle 15"/>
          <p:cNvSpPr>
            <a:spLocks noChangeArrowheads="1"/>
          </p:cNvSpPr>
          <p:nvPr/>
        </p:nvSpPr>
        <p:spPr bwMode="auto">
          <a:xfrm>
            <a:off x="7175500" y="2887663"/>
            <a:ext cx="844550" cy="296862"/>
          </a:xfrm>
          <a:prstGeom prst="rect">
            <a:avLst/>
          </a:prstGeom>
          <a:noFill/>
          <a:ln w="22225">
            <a:solidFill>
              <a:srgbClr val="1F1A1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3344" name="Freeform 16"/>
          <p:cNvSpPr>
            <a:spLocks/>
          </p:cNvSpPr>
          <p:nvPr/>
        </p:nvSpPr>
        <p:spPr bwMode="auto">
          <a:xfrm>
            <a:off x="7096125" y="2944813"/>
            <a:ext cx="182563" cy="68262"/>
          </a:xfrm>
          <a:custGeom>
            <a:avLst/>
            <a:gdLst>
              <a:gd name="T0" fmla="*/ 0 w 115"/>
              <a:gd name="T1" fmla="*/ 0 h 43"/>
              <a:gd name="T2" fmla="*/ 115 w 115"/>
              <a:gd name="T3" fmla="*/ 0 h 43"/>
              <a:gd name="T4" fmla="*/ 115 w 115"/>
              <a:gd name="T5" fmla="*/ 43 h 43"/>
              <a:gd name="T6" fmla="*/ 0 w 115"/>
              <a:gd name="T7" fmla="*/ 43 h 43"/>
              <a:gd name="T8" fmla="*/ 0 w 115"/>
              <a:gd name="T9" fmla="*/ 0 h 43"/>
              <a:gd name="T10" fmla="*/ 0 w 115"/>
              <a:gd name="T11" fmla="*/ 0 h 43"/>
              <a:gd name="T12" fmla="*/ 0 w 115"/>
              <a:gd name="T13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5" h="43">
                <a:moveTo>
                  <a:pt x="0" y="0"/>
                </a:moveTo>
                <a:lnTo>
                  <a:pt x="115" y="0"/>
                </a:lnTo>
                <a:lnTo>
                  <a:pt x="115" y="43"/>
                </a:lnTo>
                <a:lnTo>
                  <a:pt x="0" y="43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3345" name="Rectangle 17"/>
          <p:cNvSpPr>
            <a:spLocks noChangeArrowheads="1"/>
          </p:cNvSpPr>
          <p:nvPr/>
        </p:nvSpPr>
        <p:spPr bwMode="auto">
          <a:xfrm>
            <a:off x="7107238" y="2955925"/>
            <a:ext cx="160337" cy="46038"/>
          </a:xfrm>
          <a:prstGeom prst="rect">
            <a:avLst/>
          </a:prstGeom>
          <a:solidFill>
            <a:srgbClr val="FFFFFF"/>
          </a:solidFill>
          <a:ln w="22225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3346" name="Freeform 18"/>
          <p:cNvSpPr>
            <a:spLocks/>
          </p:cNvSpPr>
          <p:nvPr/>
        </p:nvSpPr>
        <p:spPr bwMode="auto">
          <a:xfrm>
            <a:off x="7096125" y="3082925"/>
            <a:ext cx="182563" cy="68263"/>
          </a:xfrm>
          <a:custGeom>
            <a:avLst/>
            <a:gdLst>
              <a:gd name="T0" fmla="*/ 0 w 115"/>
              <a:gd name="T1" fmla="*/ 0 h 43"/>
              <a:gd name="T2" fmla="*/ 115 w 115"/>
              <a:gd name="T3" fmla="*/ 0 h 43"/>
              <a:gd name="T4" fmla="*/ 115 w 115"/>
              <a:gd name="T5" fmla="*/ 43 h 43"/>
              <a:gd name="T6" fmla="*/ 0 w 115"/>
              <a:gd name="T7" fmla="*/ 43 h 43"/>
              <a:gd name="T8" fmla="*/ 0 w 115"/>
              <a:gd name="T9" fmla="*/ 0 h 43"/>
              <a:gd name="T10" fmla="*/ 0 w 115"/>
              <a:gd name="T11" fmla="*/ 0 h 43"/>
              <a:gd name="T12" fmla="*/ 0 w 115"/>
              <a:gd name="T13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5" h="43">
                <a:moveTo>
                  <a:pt x="0" y="0"/>
                </a:moveTo>
                <a:lnTo>
                  <a:pt x="115" y="0"/>
                </a:lnTo>
                <a:lnTo>
                  <a:pt x="115" y="43"/>
                </a:lnTo>
                <a:lnTo>
                  <a:pt x="0" y="43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3347" name="Rectangle 19"/>
          <p:cNvSpPr>
            <a:spLocks noChangeArrowheads="1"/>
          </p:cNvSpPr>
          <p:nvPr/>
        </p:nvSpPr>
        <p:spPr bwMode="auto">
          <a:xfrm>
            <a:off x="7107238" y="3094038"/>
            <a:ext cx="160337" cy="46037"/>
          </a:xfrm>
          <a:prstGeom prst="rect">
            <a:avLst/>
          </a:prstGeom>
          <a:solidFill>
            <a:srgbClr val="FFFFFF"/>
          </a:solidFill>
          <a:ln w="22225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3348" name="Rectangle 20"/>
          <p:cNvSpPr>
            <a:spLocks noChangeArrowheads="1"/>
          </p:cNvSpPr>
          <p:nvPr/>
        </p:nvSpPr>
        <p:spPr bwMode="auto">
          <a:xfrm>
            <a:off x="3879850" y="2124075"/>
            <a:ext cx="820738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 u="sng">
                <a:solidFill>
                  <a:srgbClr val="000000"/>
                </a:solidFill>
                <a:latin typeface="Arial" panose="020B0604020202020204" pitchFamily="34" charset="0"/>
              </a:rPr>
              <a:t>Client1:</a:t>
            </a:r>
            <a:endParaRPr lang="en-US" altLang="en-US"/>
          </a:p>
        </p:txBody>
      </p:sp>
      <p:sp>
        <p:nvSpPr>
          <p:cNvPr id="483349" name="Rectangle 21"/>
          <p:cNvSpPr>
            <a:spLocks noChangeArrowheads="1"/>
          </p:cNvSpPr>
          <p:nvPr/>
        </p:nvSpPr>
        <p:spPr bwMode="auto">
          <a:xfrm>
            <a:off x="3708400" y="2135188"/>
            <a:ext cx="844550" cy="274637"/>
          </a:xfrm>
          <a:prstGeom prst="rect">
            <a:avLst/>
          </a:prstGeom>
          <a:noFill/>
          <a:ln w="22225">
            <a:solidFill>
              <a:srgbClr val="1F1A1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3350" name="Freeform 22"/>
          <p:cNvSpPr>
            <a:spLocks/>
          </p:cNvSpPr>
          <p:nvPr/>
        </p:nvSpPr>
        <p:spPr bwMode="auto">
          <a:xfrm>
            <a:off x="3629025" y="2170113"/>
            <a:ext cx="182563" cy="68262"/>
          </a:xfrm>
          <a:custGeom>
            <a:avLst/>
            <a:gdLst>
              <a:gd name="T0" fmla="*/ 0 w 115"/>
              <a:gd name="T1" fmla="*/ 0 h 43"/>
              <a:gd name="T2" fmla="*/ 115 w 115"/>
              <a:gd name="T3" fmla="*/ 0 h 43"/>
              <a:gd name="T4" fmla="*/ 115 w 115"/>
              <a:gd name="T5" fmla="*/ 43 h 43"/>
              <a:gd name="T6" fmla="*/ 0 w 115"/>
              <a:gd name="T7" fmla="*/ 43 h 43"/>
              <a:gd name="T8" fmla="*/ 0 w 115"/>
              <a:gd name="T9" fmla="*/ 0 h 43"/>
              <a:gd name="T10" fmla="*/ 0 w 115"/>
              <a:gd name="T11" fmla="*/ 0 h 43"/>
              <a:gd name="T12" fmla="*/ 0 w 115"/>
              <a:gd name="T13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5" h="43">
                <a:moveTo>
                  <a:pt x="0" y="0"/>
                </a:moveTo>
                <a:lnTo>
                  <a:pt x="115" y="0"/>
                </a:lnTo>
                <a:lnTo>
                  <a:pt x="115" y="43"/>
                </a:lnTo>
                <a:lnTo>
                  <a:pt x="0" y="43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3351" name="Rectangle 23"/>
          <p:cNvSpPr>
            <a:spLocks noChangeArrowheads="1"/>
          </p:cNvSpPr>
          <p:nvPr/>
        </p:nvSpPr>
        <p:spPr bwMode="auto">
          <a:xfrm>
            <a:off x="3640138" y="2181225"/>
            <a:ext cx="160337" cy="46038"/>
          </a:xfrm>
          <a:prstGeom prst="rect">
            <a:avLst/>
          </a:prstGeom>
          <a:solidFill>
            <a:srgbClr val="FFFFFF"/>
          </a:solidFill>
          <a:ln w="22225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3352" name="Freeform 24"/>
          <p:cNvSpPr>
            <a:spLocks/>
          </p:cNvSpPr>
          <p:nvPr/>
        </p:nvSpPr>
        <p:spPr bwMode="auto">
          <a:xfrm>
            <a:off x="3629025" y="2306638"/>
            <a:ext cx="182563" cy="68262"/>
          </a:xfrm>
          <a:custGeom>
            <a:avLst/>
            <a:gdLst>
              <a:gd name="T0" fmla="*/ 0 w 115"/>
              <a:gd name="T1" fmla="*/ 0 h 43"/>
              <a:gd name="T2" fmla="*/ 115 w 115"/>
              <a:gd name="T3" fmla="*/ 0 h 43"/>
              <a:gd name="T4" fmla="*/ 115 w 115"/>
              <a:gd name="T5" fmla="*/ 43 h 43"/>
              <a:gd name="T6" fmla="*/ 0 w 115"/>
              <a:gd name="T7" fmla="*/ 43 h 43"/>
              <a:gd name="T8" fmla="*/ 0 w 115"/>
              <a:gd name="T9" fmla="*/ 0 h 43"/>
              <a:gd name="T10" fmla="*/ 0 w 115"/>
              <a:gd name="T11" fmla="*/ 0 h 43"/>
              <a:gd name="T12" fmla="*/ 0 w 115"/>
              <a:gd name="T13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5" h="43">
                <a:moveTo>
                  <a:pt x="0" y="0"/>
                </a:moveTo>
                <a:lnTo>
                  <a:pt x="115" y="0"/>
                </a:lnTo>
                <a:lnTo>
                  <a:pt x="115" y="43"/>
                </a:lnTo>
                <a:lnTo>
                  <a:pt x="0" y="43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3353" name="Rectangle 25"/>
          <p:cNvSpPr>
            <a:spLocks noChangeArrowheads="1"/>
          </p:cNvSpPr>
          <p:nvPr/>
        </p:nvSpPr>
        <p:spPr bwMode="auto">
          <a:xfrm>
            <a:off x="3640138" y="2317750"/>
            <a:ext cx="160337" cy="46038"/>
          </a:xfrm>
          <a:prstGeom prst="rect">
            <a:avLst/>
          </a:prstGeom>
          <a:solidFill>
            <a:srgbClr val="FFFFFF"/>
          </a:solidFill>
          <a:ln w="22225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3354" name="Rectangle 26"/>
          <p:cNvSpPr>
            <a:spLocks noChangeArrowheads="1"/>
          </p:cNvSpPr>
          <p:nvPr/>
        </p:nvSpPr>
        <p:spPr bwMode="auto">
          <a:xfrm>
            <a:off x="4564063" y="4405313"/>
            <a:ext cx="82073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 u="sng">
                <a:solidFill>
                  <a:srgbClr val="000000"/>
                </a:solidFill>
                <a:latin typeface="Arial" panose="020B0604020202020204" pitchFamily="34" charset="0"/>
              </a:rPr>
              <a:t>Client3:</a:t>
            </a:r>
            <a:endParaRPr lang="en-US" altLang="en-US"/>
          </a:p>
        </p:txBody>
      </p:sp>
      <p:sp>
        <p:nvSpPr>
          <p:cNvPr id="483355" name="Rectangle 27"/>
          <p:cNvSpPr>
            <a:spLocks noChangeArrowheads="1"/>
          </p:cNvSpPr>
          <p:nvPr/>
        </p:nvSpPr>
        <p:spPr bwMode="auto">
          <a:xfrm>
            <a:off x="4392613" y="4416425"/>
            <a:ext cx="844550" cy="274638"/>
          </a:xfrm>
          <a:prstGeom prst="rect">
            <a:avLst/>
          </a:prstGeom>
          <a:noFill/>
          <a:ln w="22225">
            <a:solidFill>
              <a:srgbClr val="1F1A1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3356" name="Freeform 28"/>
          <p:cNvSpPr>
            <a:spLocks/>
          </p:cNvSpPr>
          <p:nvPr/>
        </p:nvSpPr>
        <p:spPr bwMode="auto">
          <a:xfrm>
            <a:off x="4313238" y="4451350"/>
            <a:ext cx="182562" cy="68263"/>
          </a:xfrm>
          <a:custGeom>
            <a:avLst/>
            <a:gdLst>
              <a:gd name="T0" fmla="*/ 0 w 115"/>
              <a:gd name="T1" fmla="*/ 0 h 43"/>
              <a:gd name="T2" fmla="*/ 115 w 115"/>
              <a:gd name="T3" fmla="*/ 0 h 43"/>
              <a:gd name="T4" fmla="*/ 115 w 115"/>
              <a:gd name="T5" fmla="*/ 43 h 43"/>
              <a:gd name="T6" fmla="*/ 0 w 115"/>
              <a:gd name="T7" fmla="*/ 43 h 43"/>
              <a:gd name="T8" fmla="*/ 0 w 115"/>
              <a:gd name="T9" fmla="*/ 0 h 43"/>
              <a:gd name="T10" fmla="*/ 0 w 115"/>
              <a:gd name="T11" fmla="*/ 0 h 43"/>
              <a:gd name="T12" fmla="*/ 0 w 115"/>
              <a:gd name="T13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5" h="43">
                <a:moveTo>
                  <a:pt x="0" y="0"/>
                </a:moveTo>
                <a:lnTo>
                  <a:pt x="115" y="0"/>
                </a:lnTo>
                <a:lnTo>
                  <a:pt x="115" y="43"/>
                </a:lnTo>
                <a:lnTo>
                  <a:pt x="0" y="43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3357" name="Rectangle 29"/>
          <p:cNvSpPr>
            <a:spLocks noChangeArrowheads="1"/>
          </p:cNvSpPr>
          <p:nvPr/>
        </p:nvSpPr>
        <p:spPr bwMode="auto">
          <a:xfrm>
            <a:off x="4324350" y="4462463"/>
            <a:ext cx="160338" cy="46037"/>
          </a:xfrm>
          <a:prstGeom prst="rect">
            <a:avLst/>
          </a:prstGeom>
          <a:solidFill>
            <a:srgbClr val="FFFFFF"/>
          </a:solidFill>
          <a:ln w="22225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3358" name="Freeform 30"/>
          <p:cNvSpPr>
            <a:spLocks/>
          </p:cNvSpPr>
          <p:nvPr/>
        </p:nvSpPr>
        <p:spPr bwMode="auto">
          <a:xfrm>
            <a:off x="4313238" y="4587875"/>
            <a:ext cx="182562" cy="68263"/>
          </a:xfrm>
          <a:custGeom>
            <a:avLst/>
            <a:gdLst>
              <a:gd name="T0" fmla="*/ 0 w 115"/>
              <a:gd name="T1" fmla="*/ 0 h 43"/>
              <a:gd name="T2" fmla="*/ 115 w 115"/>
              <a:gd name="T3" fmla="*/ 0 h 43"/>
              <a:gd name="T4" fmla="*/ 115 w 115"/>
              <a:gd name="T5" fmla="*/ 43 h 43"/>
              <a:gd name="T6" fmla="*/ 0 w 115"/>
              <a:gd name="T7" fmla="*/ 43 h 43"/>
              <a:gd name="T8" fmla="*/ 0 w 115"/>
              <a:gd name="T9" fmla="*/ 0 h 43"/>
              <a:gd name="T10" fmla="*/ 0 w 115"/>
              <a:gd name="T11" fmla="*/ 0 h 43"/>
              <a:gd name="T12" fmla="*/ 0 w 115"/>
              <a:gd name="T13" fmla="*/ 0 h 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5" h="43">
                <a:moveTo>
                  <a:pt x="0" y="0"/>
                </a:moveTo>
                <a:lnTo>
                  <a:pt x="115" y="0"/>
                </a:lnTo>
                <a:lnTo>
                  <a:pt x="115" y="43"/>
                </a:lnTo>
                <a:lnTo>
                  <a:pt x="0" y="43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3359" name="Rectangle 31"/>
          <p:cNvSpPr>
            <a:spLocks noChangeArrowheads="1"/>
          </p:cNvSpPr>
          <p:nvPr/>
        </p:nvSpPr>
        <p:spPr bwMode="auto">
          <a:xfrm>
            <a:off x="4324350" y="4598988"/>
            <a:ext cx="160338" cy="46037"/>
          </a:xfrm>
          <a:prstGeom prst="rect">
            <a:avLst/>
          </a:prstGeom>
          <a:solidFill>
            <a:srgbClr val="FFFFFF"/>
          </a:solidFill>
          <a:ln w="22225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3360" name="Line 32"/>
          <p:cNvSpPr>
            <a:spLocks noChangeShapeType="1"/>
          </p:cNvSpPr>
          <p:nvPr/>
        </p:nvSpPr>
        <p:spPr bwMode="auto">
          <a:xfrm flipV="1">
            <a:off x="3355975" y="2443163"/>
            <a:ext cx="523875" cy="798512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3361" name="Line 33"/>
          <p:cNvSpPr>
            <a:spLocks noChangeShapeType="1"/>
          </p:cNvSpPr>
          <p:nvPr/>
        </p:nvSpPr>
        <p:spPr bwMode="auto">
          <a:xfrm>
            <a:off x="4337050" y="2443163"/>
            <a:ext cx="341313" cy="196215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3362" name="Line 34"/>
          <p:cNvSpPr>
            <a:spLocks noChangeShapeType="1"/>
          </p:cNvSpPr>
          <p:nvPr/>
        </p:nvSpPr>
        <p:spPr bwMode="auto">
          <a:xfrm>
            <a:off x="3446463" y="3560763"/>
            <a:ext cx="1003300" cy="82073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3363" name="Line 35"/>
          <p:cNvSpPr>
            <a:spLocks noChangeShapeType="1"/>
          </p:cNvSpPr>
          <p:nvPr/>
        </p:nvSpPr>
        <p:spPr bwMode="auto">
          <a:xfrm>
            <a:off x="4564063" y="2284413"/>
            <a:ext cx="2690812" cy="59213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3364" name="Line 36"/>
          <p:cNvSpPr>
            <a:spLocks noChangeShapeType="1"/>
          </p:cNvSpPr>
          <p:nvPr/>
        </p:nvSpPr>
        <p:spPr bwMode="auto">
          <a:xfrm flipV="1">
            <a:off x="5021263" y="3195638"/>
            <a:ext cx="2233612" cy="1185862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3365" name="Rectangle 37"/>
          <p:cNvSpPr>
            <a:spLocks noChangeArrowheads="1"/>
          </p:cNvSpPr>
          <p:nvPr/>
        </p:nvSpPr>
        <p:spPr bwMode="auto">
          <a:xfrm>
            <a:off x="6297613" y="3606800"/>
            <a:ext cx="18415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&lt;&lt;communication&gt;&gt;</a:t>
            </a:r>
            <a:endParaRPr lang="en-US" altLang="en-US"/>
          </a:p>
        </p:txBody>
      </p:sp>
      <p:sp>
        <p:nvSpPr>
          <p:cNvPr id="483366" name="Rectangle 38"/>
          <p:cNvSpPr>
            <a:spLocks noChangeArrowheads="1"/>
          </p:cNvSpPr>
          <p:nvPr/>
        </p:nvSpPr>
        <p:spPr bwMode="auto">
          <a:xfrm>
            <a:off x="6297613" y="3835400"/>
            <a:ext cx="182403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look up addresses</a:t>
            </a:r>
            <a:endParaRPr lang="en-US" altLang="en-US"/>
          </a:p>
        </p:txBody>
      </p:sp>
      <p:sp>
        <p:nvSpPr>
          <p:cNvPr id="483367" name="Rectangle 39"/>
          <p:cNvSpPr>
            <a:spLocks noChangeArrowheads="1"/>
          </p:cNvSpPr>
          <p:nvPr/>
        </p:nvSpPr>
        <p:spPr bwMode="auto">
          <a:xfrm>
            <a:off x="2133600" y="3925888"/>
            <a:ext cx="18415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&lt;&lt;communication&gt;&gt;</a:t>
            </a:r>
            <a:endParaRPr lang="en-US" altLang="en-US"/>
          </a:p>
        </p:txBody>
      </p:sp>
      <p:sp>
        <p:nvSpPr>
          <p:cNvPr id="483368" name="Rectangle 40"/>
          <p:cNvSpPr>
            <a:spLocks noChangeArrowheads="1"/>
          </p:cNvSpPr>
          <p:nvPr/>
        </p:nvSpPr>
        <p:spPr bwMode="auto">
          <a:xfrm>
            <a:off x="2306638" y="4154488"/>
            <a:ext cx="205263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exchange messages</a:t>
            </a:r>
            <a:endParaRPr lang="en-US" altLang="en-US"/>
          </a:p>
        </p:txBody>
      </p:sp>
      <p:sp>
        <p:nvSpPr>
          <p:cNvPr id="483369" name="Rectangle 41"/>
          <p:cNvSpPr>
            <a:spLocks noChangeArrowheads="1"/>
          </p:cNvSpPr>
          <p:nvPr/>
        </p:nvSpPr>
        <p:spPr bwMode="auto">
          <a:xfrm>
            <a:off x="1622425" y="2557463"/>
            <a:ext cx="18415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&lt;&lt;communication&gt;&gt;</a:t>
            </a:r>
            <a:endParaRPr lang="en-US" altLang="en-US"/>
          </a:p>
        </p:txBody>
      </p:sp>
      <p:sp>
        <p:nvSpPr>
          <p:cNvPr id="483370" name="Rectangle 42"/>
          <p:cNvSpPr>
            <a:spLocks noChangeArrowheads="1"/>
          </p:cNvSpPr>
          <p:nvPr/>
        </p:nvSpPr>
        <p:spPr bwMode="auto">
          <a:xfrm>
            <a:off x="1622425" y="2786063"/>
            <a:ext cx="2052638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exchange messages</a:t>
            </a:r>
            <a:endParaRPr lang="en-US" altLang="en-US"/>
          </a:p>
        </p:txBody>
      </p:sp>
      <p:sp>
        <p:nvSpPr>
          <p:cNvPr id="483371" name="Rectangle 43"/>
          <p:cNvSpPr>
            <a:spLocks noChangeArrowheads="1"/>
          </p:cNvSpPr>
          <p:nvPr/>
        </p:nvSpPr>
        <p:spPr bwMode="auto">
          <a:xfrm>
            <a:off x="4519613" y="2854325"/>
            <a:ext cx="18415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&lt;&lt;communication&gt;&gt;</a:t>
            </a:r>
            <a:endParaRPr lang="en-US" altLang="en-US"/>
          </a:p>
        </p:txBody>
      </p:sp>
      <p:sp>
        <p:nvSpPr>
          <p:cNvPr id="483372" name="Rectangle 44"/>
          <p:cNvSpPr>
            <a:spLocks noChangeArrowheads="1"/>
          </p:cNvSpPr>
          <p:nvPr/>
        </p:nvSpPr>
        <p:spPr bwMode="auto">
          <a:xfrm>
            <a:off x="4519613" y="3082925"/>
            <a:ext cx="205263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exchange messages</a:t>
            </a:r>
            <a:endParaRPr lang="en-US" altLang="en-US"/>
          </a:p>
        </p:txBody>
      </p:sp>
      <p:sp>
        <p:nvSpPr>
          <p:cNvPr id="483373" name="Rectangle 45"/>
          <p:cNvSpPr>
            <a:spLocks noChangeArrowheads="1"/>
          </p:cNvSpPr>
          <p:nvPr/>
        </p:nvSpPr>
        <p:spPr bwMode="auto">
          <a:xfrm>
            <a:off x="5613400" y="2033588"/>
            <a:ext cx="18415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&lt;&lt;communication&gt;&gt;</a:t>
            </a:r>
            <a:endParaRPr lang="en-US" altLang="en-US"/>
          </a:p>
        </p:txBody>
      </p:sp>
      <p:sp>
        <p:nvSpPr>
          <p:cNvPr id="483374" name="Rectangle 46"/>
          <p:cNvSpPr>
            <a:spLocks noChangeArrowheads="1"/>
          </p:cNvSpPr>
          <p:nvPr/>
        </p:nvSpPr>
        <p:spPr bwMode="auto">
          <a:xfrm>
            <a:off x="5613400" y="2262188"/>
            <a:ext cx="1824038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look up addresses</a:t>
            </a:r>
            <a:endParaRPr lang="en-US" altLang="en-US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70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50090831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distributed architecture and design principles</a:t>
            </a:r>
          </a:p>
        </p:txBody>
      </p:sp>
      <p:sp>
        <p:nvSpPr>
          <p:cNvPr id="544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>
              <a:buFontTx/>
              <a:buNone/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1.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Divide and conquer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Dividing the system into client and server processes is a strong way to divide the system. </a:t>
            </a:r>
          </a:p>
          <a:p>
            <a:pPr lvl="2" algn="just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Each can be separately developed.</a:t>
            </a:r>
          </a:p>
          <a:p>
            <a:pPr lvl="1" algn="just">
              <a:buFontTx/>
              <a:buNone/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2.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Increase cohesion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The server can provide a cohesive service to clients. </a:t>
            </a:r>
          </a:p>
          <a:p>
            <a:pPr lvl="1" algn="just">
              <a:buFontTx/>
              <a:buNone/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3.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Reduce coupling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There is usually only one communication channel exchanging simple messages.</a:t>
            </a:r>
          </a:p>
          <a:p>
            <a:pPr lvl="1" algn="just">
              <a:buFontTx/>
              <a:buNone/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4.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Increase abstraction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Separate distributed components are often good abstractions.</a:t>
            </a:r>
          </a:p>
          <a:p>
            <a:pPr lvl="1" algn="just">
              <a:buFontTx/>
              <a:buNone/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6.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Increase reuse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It is often possible to find suitable frameworks on which to build good distributed systems</a:t>
            </a:r>
          </a:p>
          <a:p>
            <a:pPr lvl="2" algn="just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However, client-server systems are often very application specific.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71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78248470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altLang="en-US"/>
              <a:t>The distributed architecture and design principles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46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7.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Design for flexibility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Distributed systems can often be easily reconfigured by adding extra servers or clients. </a:t>
            </a:r>
          </a:p>
          <a:p>
            <a:pPr lvl="1" algn="just"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9.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Design for portability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You can write clients for new platforms without having to port the server.</a:t>
            </a:r>
          </a:p>
          <a:p>
            <a:pPr lvl="1" algn="just"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10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Design for testability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You can test clients and servers independently.</a:t>
            </a:r>
          </a:p>
          <a:p>
            <a:pPr lvl="1" algn="just"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11.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Design defensively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You can put rigorous checks in the message handling code.</a:t>
            </a:r>
            <a:endParaRPr lang="en-US" altLang="en-US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72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809533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Broker architectural pattern</a:t>
            </a:r>
          </a:p>
        </p:txBody>
      </p:sp>
      <p:sp>
        <p:nvSpPr>
          <p:cNvPr id="463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Transparently distribute aspects of the software system to different nodes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An object can call methods of another object without knowing that this object is remotely  located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CORBA is a well-known open standard that allows you to build this kind of architecture.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73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17188889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a Broker system</a:t>
            </a:r>
          </a:p>
        </p:txBody>
      </p:sp>
      <p:pic>
        <p:nvPicPr>
          <p:cNvPr id="5478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805113"/>
            <a:ext cx="7391400" cy="79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74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29348664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broker architecture and design principles</a:t>
            </a:r>
          </a:p>
        </p:txBody>
      </p:sp>
      <p:sp>
        <p:nvSpPr>
          <p:cNvPr id="548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295400"/>
            <a:ext cx="7543800" cy="4800600"/>
          </a:xfrm>
        </p:spPr>
        <p:txBody>
          <a:bodyPr/>
          <a:lstStyle/>
          <a:p>
            <a:pPr lvl="1" algn="just">
              <a:buFontTx/>
              <a:buNone/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1.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Divide and conquer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The remote objects can be independently designed.</a:t>
            </a:r>
          </a:p>
          <a:p>
            <a:pPr lvl="1" algn="just">
              <a:buFontTx/>
              <a:buNone/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5.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Increase reusability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It is often possible to design the remote objects so that other systems can use them too.</a:t>
            </a:r>
          </a:p>
          <a:p>
            <a:pPr lvl="1" algn="just">
              <a:buFontTx/>
              <a:buNone/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6.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Increase reuse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You may be able to reuse remote objects that others have created.</a:t>
            </a:r>
          </a:p>
          <a:p>
            <a:pPr lvl="1" algn="just">
              <a:buFontTx/>
              <a:buNone/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7.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Design for flexibility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The brokers can be updated as required, or the proxy can communicate with a different remote object.</a:t>
            </a:r>
          </a:p>
          <a:p>
            <a:pPr lvl="1" algn="just">
              <a:buFontTx/>
              <a:buNone/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9.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Design for portability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You can write clients for new platforms while still accessing brokers and remote objects on other platforms.</a:t>
            </a:r>
          </a:p>
          <a:p>
            <a:pPr lvl="1" algn="just">
              <a:buFontTx/>
              <a:buNone/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11.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Design defensively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You can provide careful assertion checking in the remote objects.</a:t>
            </a:r>
          </a:p>
          <a:p>
            <a:pPr lvl="1"/>
            <a:endParaRPr lang="en-US" altLang="en-US" sz="200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75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47067286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Transaction-Processing architectural pattern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  <p:sp>
        <p:nvSpPr>
          <p:cNvPr id="464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process reads a series of inputs one by one.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Each input describes a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transaction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– a command that typically some change to the data stored by the system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There is a transaction handler component that decides what to do with each transaction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This dispatches a procedure call or message to a component that will handle the transaction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  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76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7107790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a transaction-processing system</a:t>
            </a:r>
          </a:p>
        </p:txBody>
      </p:sp>
      <p:sp>
        <p:nvSpPr>
          <p:cNvPr id="551942" name="Rectangle 6"/>
          <p:cNvSpPr>
            <a:spLocks noChangeArrowheads="1"/>
          </p:cNvSpPr>
          <p:nvPr/>
        </p:nvSpPr>
        <p:spPr bwMode="auto">
          <a:xfrm>
            <a:off x="1603375" y="3101975"/>
            <a:ext cx="10604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Transaction</a:t>
            </a:r>
            <a:endParaRPr lang="en-US" altLang="en-US"/>
          </a:p>
        </p:txBody>
      </p:sp>
      <p:sp>
        <p:nvSpPr>
          <p:cNvPr id="551943" name="Rectangle 7"/>
          <p:cNvSpPr>
            <a:spLocks noChangeArrowheads="1"/>
          </p:cNvSpPr>
          <p:nvPr/>
        </p:nvSpPr>
        <p:spPr bwMode="auto">
          <a:xfrm>
            <a:off x="1603375" y="3322638"/>
            <a:ext cx="4397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input</a:t>
            </a:r>
            <a:endParaRPr lang="en-US" altLang="en-US"/>
          </a:p>
        </p:txBody>
      </p:sp>
      <p:sp>
        <p:nvSpPr>
          <p:cNvPr id="551944" name="Rectangle 8"/>
          <p:cNvSpPr>
            <a:spLocks noChangeArrowheads="1"/>
          </p:cNvSpPr>
          <p:nvPr/>
        </p:nvSpPr>
        <p:spPr bwMode="auto">
          <a:xfrm>
            <a:off x="1460500" y="3003550"/>
            <a:ext cx="1323975" cy="727075"/>
          </a:xfrm>
          <a:prstGeom prst="rect">
            <a:avLst/>
          </a:prstGeom>
          <a:noFill/>
          <a:ln w="22225">
            <a:solidFill>
              <a:srgbClr val="1F1A1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51945" name="Freeform 9"/>
          <p:cNvSpPr>
            <a:spLocks/>
          </p:cNvSpPr>
          <p:nvPr/>
        </p:nvSpPr>
        <p:spPr bwMode="auto">
          <a:xfrm>
            <a:off x="1295400" y="3433763"/>
            <a:ext cx="242888" cy="131762"/>
          </a:xfrm>
          <a:custGeom>
            <a:avLst/>
            <a:gdLst>
              <a:gd name="T0" fmla="*/ 0 w 153"/>
              <a:gd name="T1" fmla="*/ 0 h 83"/>
              <a:gd name="T2" fmla="*/ 153 w 153"/>
              <a:gd name="T3" fmla="*/ 0 h 83"/>
              <a:gd name="T4" fmla="*/ 153 w 153"/>
              <a:gd name="T5" fmla="*/ 83 h 83"/>
              <a:gd name="T6" fmla="*/ 0 w 153"/>
              <a:gd name="T7" fmla="*/ 83 h 83"/>
              <a:gd name="T8" fmla="*/ 0 w 153"/>
              <a:gd name="T9" fmla="*/ 0 h 83"/>
              <a:gd name="T10" fmla="*/ 0 w 153"/>
              <a:gd name="T11" fmla="*/ 0 h 83"/>
              <a:gd name="T12" fmla="*/ 0 w 153"/>
              <a:gd name="T13" fmla="*/ 0 h 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3" h="83">
                <a:moveTo>
                  <a:pt x="0" y="0"/>
                </a:moveTo>
                <a:lnTo>
                  <a:pt x="153" y="0"/>
                </a:lnTo>
                <a:lnTo>
                  <a:pt x="153" y="83"/>
                </a:lnTo>
                <a:lnTo>
                  <a:pt x="0" y="83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51946" name="Rectangle 10"/>
          <p:cNvSpPr>
            <a:spLocks noChangeArrowheads="1"/>
          </p:cNvSpPr>
          <p:nvPr/>
        </p:nvSpPr>
        <p:spPr bwMode="auto">
          <a:xfrm>
            <a:off x="1306513" y="3444875"/>
            <a:ext cx="220662" cy="109538"/>
          </a:xfrm>
          <a:prstGeom prst="rect">
            <a:avLst/>
          </a:prstGeom>
          <a:solidFill>
            <a:srgbClr val="FFFFFF"/>
          </a:solidFill>
          <a:ln w="22225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51947" name="Rectangle 11"/>
          <p:cNvSpPr>
            <a:spLocks noChangeArrowheads="1"/>
          </p:cNvSpPr>
          <p:nvPr/>
        </p:nvSpPr>
        <p:spPr bwMode="auto">
          <a:xfrm>
            <a:off x="4646613" y="3079750"/>
            <a:ext cx="10604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Transaction</a:t>
            </a:r>
            <a:endParaRPr lang="en-US" altLang="en-US"/>
          </a:p>
        </p:txBody>
      </p:sp>
      <p:sp>
        <p:nvSpPr>
          <p:cNvPr id="551948" name="Rectangle 12"/>
          <p:cNvSpPr>
            <a:spLocks noChangeArrowheads="1"/>
          </p:cNvSpPr>
          <p:nvPr/>
        </p:nvSpPr>
        <p:spPr bwMode="auto">
          <a:xfrm>
            <a:off x="4646613" y="3300413"/>
            <a:ext cx="9366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dispatcher</a:t>
            </a:r>
            <a:endParaRPr lang="en-US" altLang="en-US"/>
          </a:p>
        </p:txBody>
      </p:sp>
      <p:sp>
        <p:nvSpPr>
          <p:cNvPr id="551949" name="Rectangle 13"/>
          <p:cNvSpPr>
            <a:spLocks noChangeArrowheads="1"/>
          </p:cNvSpPr>
          <p:nvPr/>
        </p:nvSpPr>
        <p:spPr bwMode="auto">
          <a:xfrm>
            <a:off x="4481513" y="3003550"/>
            <a:ext cx="1257300" cy="727075"/>
          </a:xfrm>
          <a:prstGeom prst="rect">
            <a:avLst/>
          </a:prstGeom>
          <a:noFill/>
          <a:ln w="22225">
            <a:solidFill>
              <a:srgbClr val="1F1A1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51950" name="Rectangle 14"/>
          <p:cNvSpPr>
            <a:spLocks noChangeArrowheads="1"/>
          </p:cNvSpPr>
          <p:nvPr/>
        </p:nvSpPr>
        <p:spPr bwMode="auto">
          <a:xfrm>
            <a:off x="2860675" y="3059113"/>
            <a:ext cx="10953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transactions</a:t>
            </a:r>
            <a:endParaRPr lang="en-US" altLang="en-US"/>
          </a:p>
        </p:txBody>
      </p:sp>
      <p:sp>
        <p:nvSpPr>
          <p:cNvPr id="551951" name="Freeform 15"/>
          <p:cNvSpPr>
            <a:spLocks/>
          </p:cNvSpPr>
          <p:nvPr/>
        </p:nvSpPr>
        <p:spPr bwMode="auto">
          <a:xfrm>
            <a:off x="1295400" y="3146425"/>
            <a:ext cx="242888" cy="131763"/>
          </a:xfrm>
          <a:custGeom>
            <a:avLst/>
            <a:gdLst>
              <a:gd name="T0" fmla="*/ 0 w 153"/>
              <a:gd name="T1" fmla="*/ 0 h 83"/>
              <a:gd name="T2" fmla="*/ 153 w 153"/>
              <a:gd name="T3" fmla="*/ 0 h 83"/>
              <a:gd name="T4" fmla="*/ 153 w 153"/>
              <a:gd name="T5" fmla="*/ 83 h 83"/>
              <a:gd name="T6" fmla="*/ 0 w 153"/>
              <a:gd name="T7" fmla="*/ 83 h 83"/>
              <a:gd name="T8" fmla="*/ 0 w 153"/>
              <a:gd name="T9" fmla="*/ 0 h 83"/>
              <a:gd name="T10" fmla="*/ 0 w 153"/>
              <a:gd name="T11" fmla="*/ 0 h 83"/>
              <a:gd name="T12" fmla="*/ 0 w 153"/>
              <a:gd name="T13" fmla="*/ 0 h 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3" h="83">
                <a:moveTo>
                  <a:pt x="0" y="0"/>
                </a:moveTo>
                <a:lnTo>
                  <a:pt x="153" y="0"/>
                </a:lnTo>
                <a:lnTo>
                  <a:pt x="153" y="83"/>
                </a:lnTo>
                <a:lnTo>
                  <a:pt x="0" y="83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51952" name="Rectangle 16"/>
          <p:cNvSpPr>
            <a:spLocks noChangeArrowheads="1"/>
          </p:cNvSpPr>
          <p:nvPr/>
        </p:nvSpPr>
        <p:spPr bwMode="auto">
          <a:xfrm>
            <a:off x="1306513" y="3157538"/>
            <a:ext cx="220662" cy="109537"/>
          </a:xfrm>
          <a:prstGeom prst="rect">
            <a:avLst/>
          </a:prstGeom>
          <a:solidFill>
            <a:srgbClr val="FFFFFF"/>
          </a:solidFill>
          <a:ln w="22225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51953" name="Freeform 17"/>
          <p:cNvSpPr>
            <a:spLocks/>
          </p:cNvSpPr>
          <p:nvPr/>
        </p:nvSpPr>
        <p:spPr bwMode="auto">
          <a:xfrm>
            <a:off x="4316413" y="3433763"/>
            <a:ext cx="242887" cy="131762"/>
          </a:xfrm>
          <a:custGeom>
            <a:avLst/>
            <a:gdLst>
              <a:gd name="T0" fmla="*/ 0 w 153"/>
              <a:gd name="T1" fmla="*/ 0 h 83"/>
              <a:gd name="T2" fmla="*/ 153 w 153"/>
              <a:gd name="T3" fmla="*/ 0 h 83"/>
              <a:gd name="T4" fmla="*/ 153 w 153"/>
              <a:gd name="T5" fmla="*/ 83 h 83"/>
              <a:gd name="T6" fmla="*/ 0 w 153"/>
              <a:gd name="T7" fmla="*/ 83 h 83"/>
              <a:gd name="T8" fmla="*/ 0 w 153"/>
              <a:gd name="T9" fmla="*/ 0 h 83"/>
              <a:gd name="T10" fmla="*/ 0 w 153"/>
              <a:gd name="T11" fmla="*/ 0 h 83"/>
              <a:gd name="T12" fmla="*/ 0 w 153"/>
              <a:gd name="T13" fmla="*/ 0 h 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3" h="83">
                <a:moveTo>
                  <a:pt x="0" y="0"/>
                </a:moveTo>
                <a:lnTo>
                  <a:pt x="153" y="0"/>
                </a:lnTo>
                <a:lnTo>
                  <a:pt x="153" y="83"/>
                </a:lnTo>
                <a:lnTo>
                  <a:pt x="0" y="83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51954" name="Rectangle 18"/>
          <p:cNvSpPr>
            <a:spLocks noChangeArrowheads="1"/>
          </p:cNvSpPr>
          <p:nvPr/>
        </p:nvSpPr>
        <p:spPr bwMode="auto">
          <a:xfrm>
            <a:off x="4327525" y="3444875"/>
            <a:ext cx="220663" cy="109538"/>
          </a:xfrm>
          <a:prstGeom prst="rect">
            <a:avLst/>
          </a:prstGeom>
          <a:solidFill>
            <a:srgbClr val="FFFFFF"/>
          </a:solidFill>
          <a:ln w="22225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51955" name="Freeform 19"/>
          <p:cNvSpPr>
            <a:spLocks/>
          </p:cNvSpPr>
          <p:nvPr/>
        </p:nvSpPr>
        <p:spPr bwMode="auto">
          <a:xfrm>
            <a:off x="4316413" y="3146425"/>
            <a:ext cx="242887" cy="131763"/>
          </a:xfrm>
          <a:custGeom>
            <a:avLst/>
            <a:gdLst>
              <a:gd name="T0" fmla="*/ 0 w 153"/>
              <a:gd name="T1" fmla="*/ 0 h 83"/>
              <a:gd name="T2" fmla="*/ 153 w 153"/>
              <a:gd name="T3" fmla="*/ 0 h 83"/>
              <a:gd name="T4" fmla="*/ 153 w 153"/>
              <a:gd name="T5" fmla="*/ 83 h 83"/>
              <a:gd name="T6" fmla="*/ 0 w 153"/>
              <a:gd name="T7" fmla="*/ 83 h 83"/>
              <a:gd name="T8" fmla="*/ 0 w 153"/>
              <a:gd name="T9" fmla="*/ 0 h 83"/>
              <a:gd name="T10" fmla="*/ 0 w 153"/>
              <a:gd name="T11" fmla="*/ 0 h 83"/>
              <a:gd name="T12" fmla="*/ 0 w 153"/>
              <a:gd name="T13" fmla="*/ 0 h 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3" h="83">
                <a:moveTo>
                  <a:pt x="0" y="0"/>
                </a:moveTo>
                <a:lnTo>
                  <a:pt x="153" y="0"/>
                </a:lnTo>
                <a:lnTo>
                  <a:pt x="153" y="83"/>
                </a:lnTo>
                <a:lnTo>
                  <a:pt x="0" y="83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51956" name="Rectangle 20"/>
          <p:cNvSpPr>
            <a:spLocks noChangeArrowheads="1"/>
          </p:cNvSpPr>
          <p:nvPr/>
        </p:nvSpPr>
        <p:spPr bwMode="auto">
          <a:xfrm>
            <a:off x="4327525" y="3157538"/>
            <a:ext cx="220663" cy="109537"/>
          </a:xfrm>
          <a:prstGeom prst="rect">
            <a:avLst/>
          </a:prstGeom>
          <a:solidFill>
            <a:srgbClr val="FFFFFF"/>
          </a:solidFill>
          <a:ln w="22225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51957" name="Arc 21"/>
          <p:cNvSpPr>
            <a:spLocks/>
          </p:cNvSpPr>
          <p:nvPr/>
        </p:nvSpPr>
        <p:spPr bwMode="auto">
          <a:xfrm>
            <a:off x="4206875" y="3254375"/>
            <a:ext cx="265113" cy="180975"/>
          </a:xfrm>
          <a:custGeom>
            <a:avLst/>
            <a:gdLst>
              <a:gd name="G0" fmla="+- 21600 0 0"/>
              <a:gd name="G1" fmla="+- 7387 0 0"/>
              <a:gd name="G2" fmla="+- 21600 0 0"/>
              <a:gd name="T0" fmla="*/ 1303 w 21600"/>
              <a:gd name="T1" fmla="*/ 14774 h 14774"/>
              <a:gd name="T2" fmla="*/ 1303 w 21600"/>
              <a:gd name="T3" fmla="*/ 0 h 14774"/>
              <a:gd name="T4" fmla="*/ 21600 w 21600"/>
              <a:gd name="T5" fmla="*/ 7387 h 147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4774" fill="none" extrusionOk="0">
                <a:moveTo>
                  <a:pt x="1302" y="14774"/>
                </a:moveTo>
                <a:cubicBezTo>
                  <a:pt x="440" y="12406"/>
                  <a:pt x="0" y="9906"/>
                  <a:pt x="0" y="7387"/>
                </a:cubicBezTo>
                <a:cubicBezTo>
                  <a:pt x="0" y="4867"/>
                  <a:pt x="440" y="2367"/>
                  <a:pt x="1302" y="-1"/>
                </a:cubicBezTo>
              </a:path>
              <a:path w="21600" h="14774" stroke="0" extrusionOk="0">
                <a:moveTo>
                  <a:pt x="1302" y="14774"/>
                </a:moveTo>
                <a:cubicBezTo>
                  <a:pt x="440" y="12406"/>
                  <a:pt x="0" y="9906"/>
                  <a:pt x="0" y="7387"/>
                </a:cubicBezTo>
                <a:cubicBezTo>
                  <a:pt x="0" y="4867"/>
                  <a:pt x="440" y="2367"/>
                  <a:pt x="1302" y="-1"/>
                </a:cubicBezTo>
                <a:lnTo>
                  <a:pt x="21600" y="738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51958" name="Line 22"/>
          <p:cNvSpPr>
            <a:spLocks noChangeShapeType="1"/>
          </p:cNvSpPr>
          <p:nvPr/>
        </p:nvSpPr>
        <p:spPr bwMode="auto">
          <a:xfrm flipH="1">
            <a:off x="2795588" y="3344863"/>
            <a:ext cx="1433512" cy="1587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51959" name="Rectangle 23"/>
          <p:cNvSpPr>
            <a:spLocks noChangeArrowheads="1"/>
          </p:cNvSpPr>
          <p:nvPr/>
        </p:nvSpPr>
        <p:spPr bwMode="auto">
          <a:xfrm>
            <a:off x="7062788" y="2562225"/>
            <a:ext cx="1895475" cy="727075"/>
          </a:xfrm>
          <a:prstGeom prst="rect">
            <a:avLst/>
          </a:prstGeom>
          <a:noFill/>
          <a:ln w="22225">
            <a:solidFill>
              <a:srgbClr val="1F1A1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51960" name="Freeform 24"/>
          <p:cNvSpPr>
            <a:spLocks/>
          </p:cNvSpPr>
          <p:nvPr/>
        </p:nvSpPr>
        <p:spPr bwMode="auto">
          <a:xfrm>
            <a:off x="6896100" y="2992438"/>
            <a:ext cx="242888" cy="131762"/>
          </a:xfrm>
          <a:custGeom>
            <a:avLst/>
            <a:gdLst>
              <a:gd name="T0" fmla="*/ 0 w 153"/>
              <a:gd name="T1" fmla="*/ 0 h 83"/>
              <a:gd name="T2" fmla="*/ 153 w 153"/>
              <a:gd name="T3" fmla="*/ 0 h 83"/>
              <a:gd name="T4" fmla="*/ 153 w 153"/>
              <a:gd name="T5" fmla="*/ 83 h 83"/>
              <a:gd name="T6" fmla="*/ 0 w 153"/>
              <a:gd name="T7" fmla="*/ 83 h 83"/>
              <a:gd name="T8" fmla="*/ 0 w 153"/>
              <a:gd name="T9" fmla="*/ 0 h 83"/>
              <a:gd name="T10" fmla="*/ 0 w 153"/>
              <a:gd name="T11" fmla="*/ 0 h 83"/>
              <a:gd name="T12" fmla="*/ 0 w 153"/>
              <a:gd name="T13" fmla="*/ 0 h 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3" h="83">
                <a:moveTo>
                  <a:pt x="0" y="0"/>
                </a:moveTo>
                <a:lnTo>
                  <a:pt x="153" y="0"/>
                </a:lnTo>
                <a:lnTo>
                  <a:pt x="153" y="83"/>
                </a:lnTo>
                <a:lnTo>
                  <a:pt x="0" y="83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51961" name="Rectangle 25"/>
          <p:cNvSpPr>
            <a:spLocks noChangeArrowheads="1"/>
          </p:cNvSpPr>
          <p:nvPr/>
        </p:nvSpPr>
        <p:spPr bwMode="auto">
          <a:xfrm>
            <a:off x="6907213" y="3003550"/>
            <a:ext cx="220662" cy="109538"/>
          </a:xfrm>
          <a:prstGeom prst="rect">
            <a:avLst/>
          </a:prstGeom>
          <a:solidFill>
            <a:srgbClr val="FFFFFF"/>
          </a:solidFill>
          <a:ln w="22225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51962" name="Freeform 26"/>
          <p:cNvSpPr>
            <a:spLocks/>
          </p:cNvSpPr>
          <p:nvPr/>
        </p:nvSpPr>
        <p:spPr bwMode="auto">
          <a:xfrm>
            <a:off x="6896100" y="2705100"/>
            <a:ext cx="242888" cy="133350"/>
          </a:xfrm>
          <a:custGeom>
            <a:avLst/>
            <a:gdLst>
              <a:gd name="T0" fmla="*/ 0 w 153"/>
              <a:gd name="T1" fmla="*/ 0 h 84"/>
              <a:gd name="T2" fmla="*/ 153 w 153"/>
              <a:gd name="T3" fmla="*/ 0 h 84"/>
              <a:gd name="T4" fmla="*/ 153 w 153"/>
              <a:gd name="T5" fmla="*/ 84 h 84"/>
              <a:gd name="T6" fmla="*/ 0 w 153"/>
              <a:gd name="T7" fmla="*/ 84 h 84"/>
              <a:gd name="T8" fmla="*/ 0 w 153"/>
              <a:gd name="T9" fmla="*/ 0 h 84"/>
              <a:gd name="T10" fmla="*/ 0 w 153"/>
              <a:gd name="T11" fmla="*/ 0 h 84"/>
              <a:gd name="T12" fmla="*/ 0 w 153"/>
              <a:gd name="T13" fmla="*/ 0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3" h="84">
                <a:moveTo>
                  <a:pt x="0" y="0"/>
                </a:moveTo>
                <a:lnTo>
                  <a:pt x="153" y="0"/>
                </a:lnTo>
                <a:lnTo>
                  <a:pt x="153" y="84"/>
                </a:lnTo>
                <a:lnTo>
                  <a:pt x="0" y="84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51963" name="Rectangle 27"/>
          <p:cNvSpPr>
            <a:spLocks noChangeArrowheads="1"/>
          </p:cNvSpPr>
          <p:nvPr/>
        </p:nvSpPr>
        <p:spPr bwMode="auto">
          <a:xfrm>
            <a:off x="6907213" y="2716213"/>
            <a:ext cx="220662" cy="111125"/>
          </a:xfrm>
          <a:prstGeom prst="rect">
            <a:avLst/>
          </a:prstGeom>
          <a:solidFill>
            <a:srgbClr val="FFFFFF"/>
          </a:solidFill>
          <a:ln w="22225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51964" name="Arc 28"/>
          <p:cNvSpPr>
            <a:spLocks/>
          </p:cNvSpPr>
          <p:nvPr/>
        </p:nvSpPr>
        <p:spPr bwMode="auto">
          <a:xfrm>
            <a:off x="6764338" y="2901950"/>
            <a:ext cx="265112" cy="168275"/>
          </a:xfrm>
          <a:custGeom>
            <a:avLst/>
            <a:gdLst>
              <a:gd name="G0" fmla="+- 21600 0 0"/>
              <a:gd name="G1" fmla="+- 235 0 0"/>
              <a:gd name="G2" fmla="+- 21600 0 0"/>
              <a:gd name="T0" fmla="*/ 4772 w 21600"/>
              <a:gd name="T1" fmla="*/ 13776 h 13776"/>
              <a:gd name="T2" fmla="*/ 1 w 21600"/>
              <a:gd name="T3" fmla="*/ 0 h 13776"/>
              <a:gd name="T4" fmla="*/ 21600 w 21600"/>
              <a:gd name="T5" fmla="*/ 235 h 13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3776" fill="none" extrusionOk="0">
                <a:moveTo>
                  <a:pt x="4771" y="13776"/>
                </a:moveTo>
                <a:cubicBezTo>
                  <a:pt x="1683" y="9938"/>
                  <a:pt x="0" y="5160"/>
                  <a:pt x="0" y="235"/>
                </a:cubicBezTo>
                <a:cubicBezTo>
                  <a:pt x="0" y="156"/>
                  <a:pt x="0" y="78"/>
                  <a:pt x="1" y="0"/>
                </a:cubicBezTo>
              </a:path>
              <a:path w="21600" h="13776" stroke="0" extrusionOk="0">
                <a:moveTo>
                  <a:pt x="4771" y="13776"/>
                </a:moveTo>
                <a:cubicBezTo>
                  <a:pt x="1683" y="9938"/>
                  <a:pt x="0" y="5160"/>
                  <a:pt x="0" y="235"/>
                </a:cubicBezTo>
                <a:cubicBezTo>
                  <a:pt x="0" y="156"/>
                  <a:pt x="0" y="78"/>
                  <a:pt x="1" y="0"/>
                </a:cubicBezTo>
                <a:lnTo>
                  <a:pt x="21600" y="23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51965" name="Line 29"/>
          <p:cNvSpPr>
            <a:spLocks noChangeShapeType="1"/>
          </p:cNvSpPr>
          <p:nvPr/>
        </p:nvSpPr>
        <p:spPr bwMode="auto">
          <a:xfrm flipV="1">
            <a:off x="5749925" y="2970213"/>
            <a:ext cx="1036638" cy="37465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51966" name="Rectangle 30"/>
          <p:cNvSpPr>
            <a:spLocks noChangeArrowheads="1"/>
          </p:cNvSpPr>
          <p:nvPr/>
        </p:nvSpPr>
        <p:spPr bwMode="auto">
          <a:xfrm>
            <a:off x="7292975" y="2573338"/>
            <a:ext cx="10048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Handler for</a:t>
            </a:r>
            <a:endParaRPr lang="en-US" altLang="en-US"/>
          </a:p>
        </p:txBody>
      </p:sp>
      <p:sp>
        <p:nvSpPr>
          <p:cNvPr id="551967" name="Rectangle 31"/>
          <p:cNvSpPr>
            <a:spLocks noChangeArrowheads="1"/>
          </p:cNvSpPr>
          <p:nvPr/>
        </p:nvSpPr>
        <p:spPr bwMode="auto">
          <a:xfrm>
            <a:off x="7292975" y="2794000"/>
            <a:ext cx="10826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Reservation</a:t>
            </a:r>
            <a:endParaRPr lang="en-US" altLang="en-US"/>
          </a:p>
        </p:txBody>
      </p:sp>
      <p:sp>
        <p:nvSpPr>
          <p:cNvPr id="551968" name="Rectangle 32"/>
          <p:cNvSpPr>
            <a:spLocks noChangeArrowheads="1"/>
          </p:cNvSpPr>
          <p:nvPr/>
        </p:nvSpPr>
        <p:spPr bwMode="auto">
          <a:xfrm>
            <a:off x="7292975" y="3014663"/>
            <a:ext cx="9937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transaction</a:t>
            </a:r>
            <a:endParaRPr lang="en-US" altLang="en-US"/>
          </a:p>
        </p:txBody>
      </p:sp>
      <p:sp>
        <p:nvSpPr>
          <p:cNvPr id="551969" name="Rectangle 33"/>
          <p:cNvSpPr>
            <a:spLocks noChangeArrowheads="1"/>
          </p:cNvSpPr>
          <p:nvPr/>
        </p:nvSpPr>
        <p:spPr bwMode="auto">
          <a:xfrm>
            <a:off x="7062788" y="3444875"/>
            <a:ext cx="1895475" cy="727075"/>
          </a:xfrm>
          <a:prstGeom prst="rect">
            <a:avLst/>
          </a:prstGeom>
          <a:noFill/>
          <a:ln w="22225">
            <a:solidFill>
              <a:srgbClr val="1F1A17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51970" name="Freeform 34"/>
          <p:cNvSpPr>
            <a:spLocks/>
          </p:cNvSpPr>
          <p:nvPr/>
        </p:nvSpPr>
        <p:spPr bwMode="auto">
          <a:xfrm>
            <a:off x="6896100" y="3875088"/>
            <a:ext cx="242888" cy="131762"/>
          </a:xfrm>
          <a:custGeom>
            <a:avLst/>
            <a:gdLst>
              <a:gd name="T0" fmla="*/ 0 w 153"/>
              <a:gd name="T1" fmla="*/ 0 h 83"/>
              <a:gd name="T2" fmla="*/ 153 w 153"/>
              <a:gd name="T3" fmla="*/ 0 h 83"/>
              <a:gd name="T4" fmla="*/ 153 w 153"/>
              <a:gd name="T5" fmla="*/ 83 h 83"/>
              <a:gd name="T6" fmla="*/ 0 w 153"/>
              <a:gd name="T7" fmla="*/ 83 h 83"/>
              <a:gd name="T8" fmla="*/ 0 w 153"/>
              <a:gd name="T9" fmla="*/ 0 h 83"/>
              <a:gd name="T10" fmla="*/ 0 w 153"/>
              <a:gd name="T11" fmla="*/ 0 h 83"/>
              <a:gd name="T12" fmla="*/ 0 w 153"/>
              <a:gd name="T13" fmla="*/ 0 h 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3" h="83">
                <a:moveTo>
                  <a:pt x="0" y="0"/>
                </a:moveTo>
                <a:lnTo>
                  <a:pt x="153" y="0"/>
                </a:lnTo>
                <a:lnTo>
                  <a:pt x="153" y="83"/>
                </a:lnTo>
                <a:lnTo>
                  <a:pt x="0" y="83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51971" name="Rectangle 35"/>
          <p:cNvSpPr>
            <a:spLocks noChangeArrowheads="1"/>
          </p:cNvSpPr>
          <p:nvPr/>
        </p:nvSpPr>
        <p:spPr bwMode="auto">
          <a:xfrm>
            <a:off x="6907213" y="3886200"/>
            <a:ext cx="220662" cy="109538"/>
          </a:xfrm>
          <a:prstGeom prst="rect">
            <a:avLst/>
          </a:prstGeom>
          <a:solidFill>
            <a:srgbClr val="FFFFFF"/>
          </a:solidFill>
          <a:ln w="22225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51972" name="Freeform 36"/>
          <p:cNvSpPr>
            <a:spLocks/>
          </p:cNvSpPr>
          <p:nvPr/>
        </p:nvSpPr>
        <p:spPr bwMode="auto">
          <a:xfrm>
            <a:off x="6896100" y="3587750"/>
            <a:ext cx="242888" cy="131763"/>
          </a:xfrm>
          <a:custGeom>
            <a:avLst/>
            <a:gdLst>
              <a:gd name="T0" fmla="*/ 0 w 153"/>
              <a:gd name="T1" fmla="*/ 0 h 83"/>
              <a:gd name="T2" fmla="*/ 153 w 153"/>
              <a:gd name="T3" fmla="*/ 0 h 83"/>
              <a:gd name="T4" fmla="*/ 153 w 153"/>
              <a:gd name="T5" fmla="*/ 83 h 83"/>
              <a:gd name="T6" fmla="*/ 0 w 153"/>
              <a:gd name="T7" fmla="*/ 83 h 83"/>
              <a:gd name="T8" fmla="*/ 0 w 153"/>
              <a:gd name="T9" fmla="*/ 0 h 83"/>
              <a:gd name="T10" fmla="*/ 0 w 153"/>
              <a:gd name="T11" fmla="*/ 0 h 83"/>
              <a:gd name="T12" fmla="*/ 0 w 153"/>
              <a:gd name="T13" fmla="*/ 0 h 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3" h="83">
                <a:moveTo>
                  <a:pt x="0" y="0"/>
                </a:moveTo>
                <a:lnTo>
                  <a:pt x="153" y="0"/>
                </a:lnTo>
                <a:lnTo>
                  <a:pt x="153" y="83"/>
                </a:lnTo>
                <a:lnTo>
                  <a:pt x="0" y="83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51973" name="Rectangle 37"/>
          <p:cNvSpPr>
            <a:spLocks noChangeArrowheads="1"/>
          </p:cNvSpPr>
          <p:nvPr/>
        </p:nvSpPr>
        <p:spPr bwMode="auto">
          <a:xfrm>
            <a:off x="6907213" y="3598863"/>
            <a:ext cx="220662" cy="109537"/>
          </a:xfrm>
          <a:prstGeom prst="rect">
            <a:avLst/>
          </a:prstGeom>
          <a:solidFill>
            <a:srgbClr val="FFFFFF"/>
          </a:solidFill>
          <a:ln w="22225">
            <a:solidFill>
              <a:srgbClr val="1F1A17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551974" name="Rectangle 38"/>
          <p:cNvSpPr>
            <a:spLocks noChangeArrowheads="1"/>
          </p:cNvSpPr>
          <p:nvPr/>
        </p:nvSpPr>
        <p:spPr bwMode="auto">
          <a:xfrm>
            <a:off x="7292975" y="3455988"/>
            <a:ext cx="10048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Handler for</a:t>
            </a:r>
            <a:endParaRPr lang="en-US" altLang="en-US"/>
          </a:p>
        </p:txBody>
      </p:sp>
      <p:sp>
        <p:nvSpPr>
          <p:cNvPr id="551975" name="Rectangle 39"/>
          <p:cNvSpPr>
            <a:spLocks noChangeArrowheads="1"/>
          </p:cNvSpPr>
          <p:nvPr/>
        </p:nvSpPr>
        <p:spPr bwMode="auto">
          <a:xfrm>
            <a:off x="7292975" y="3676650"/>
            <a:ext cx="16224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Flight cancellation</a:t>
            </a:r>
            <a:endParaRPr lang="en-US" altLang="en-US"/>
          </a:p>
        </p:txBody>
      </p:sp>
      <p:sp>
        <p:nvSpPr>
          <p:cNvPr id="551976" name="Rectangle 40"/>
          <p:cNvSpPr>
            <a:spLocks noChangeArrowheads="1"/>
          </p:cNvSpPr>
          <p:nvPr/>
        </p:nvSpPr>
        <p:spPr bwMode="auto">
          <a:xfrm>
            <a:off x="7292975" y="3895725"/>
            <a:ext cx="9937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transaction</a:t>
            </a:r>
            <a:endParaRPr lang="en-US" altLang="en-US"/>
          </a:p>
        </p:txBody>
      </p:sp>
      <p:sp>
        <p:nvSpPr>
          <p:cNvPr id="551977" name="Arc 41"/>
          <p:cNvSpPr>
            <a:spLocks/>
          </p:cNvSpPr>
          <p:nvPr/>
        </p:nvSpPr>
        <p:spPr bwMode="auto">
          <a:xfrm>
            <a:off x="6764338" y="3675063"/>
            <a:ext cx="265112" cy="171450"/>
          </a:xfrm>
          <a:custGeom>
            <a:avLst/>
            <a:gdLst>
              <a:gd name="G0" fmla="+- 21600 0 0"/>
              <a:gd name="G1" fmla="+- 12676 0 0"/>
              <a:gd name="G2" fmla="+- 21600 0 0"/>
              <a:gd name="T0" fmla="*/ 39 w 21600"/>
              <a:gd name="T1" fmla="*/ 13977 h 13977"/>
              <a:gd name="T2" fmla="*/ 4111 w 21600"/>
              <a:gd name="T3" fmla="*/ 0 h 13977"/>
              <a:gd name="T4" fmla="*/ 21600 w 21600"/>
              <a:gd name="T5" fmla="*/ 12676 h 139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3977" fill="none" extrusionOk="0">
                <a:moveTo>
                  <a:pt x="39" y="13976"/>
                </a:moveTo>
                <a:cubicBezTo>
                  <a:pt x="13" y="13543"/>
                  <a:pt x="0" y="13109"/>
                  <a:pt x="0" y="12676"/>
                </a:cubicBezTo>
                <a:cubicBezTo>
                  <a:pt x="0" y="8122"/>
                  <a:pt x="1438" y="3686"/>
                  <a:pt x="4110" y="-1"/>
                </a:cubicBezTo>
              </a:path>
              <a:path w="21600" h="13977" stroke="0" extrusionOk="0">
                <a:moveTo>
                  <a:pt x="39" y="13976"/>
                </a:moveTo>
                <a:cubicBezTo>
                  <a:pt x="13" y="13543"/>
                  <a:pt x="0" y="13109"/>
                  <a:pt x="0" y="12676"/>
                </a:cubicBezTo>
                <a:cubicBezTo>
                  <a:pt x="0" y="8122"/>
                  <a:pt x="1438" y="3686"/>
                  <a:pt x="4110" y="-1"/>
                </a:cubicBezTo>
                <a:lnTo>
                  <a:pt x="21600" y="1267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51978" name="Line 42"/>
          <p:cNvSpPr>
            <a:spLocks noChangeShapeType="1"/>
          </p:cNvSpPr>
          <p:nvPr/>
        </p:nvSpPr>
        <p:spPr bwMode="auto">
          <a:xfrm>
            <a:off x="5749925" y="3455988"/>
            <a:ext cx="1036638" cy="285750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551979" name="Rectangle 43"/>
          <p:cNvSpPr>
            <a:spLocks noChangeArrowheads="1"/>
          </p:cNvSpPr>
          <p:nvPr/>
        </p:nvSpPr>
        <p:spPr bwMode="auto">
          <a:xfrm>
            <a:off x="7778750" y="4383088"/>
            <a:ext cx="112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3200" b="1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altLang="en-US" sz="3200"/>
          </a:p>
        </p:txBody>
      </p:sp>
      <p:sp>
        <p:nvSpPr>
          <p:cNvPr id="551980" name="Rectangle 44"/>
          <p:cNvSpPr>
            <a:spLocks noChangeArrowheads="1"/>
          </p:cNvSpPr>
          <p:nvPr/>
        </p:nvSpPr>
        <p:spPr bwMode="auto">
          <a:xfrm>
            <a:off x="7778750" y="4514850"/>
            <a:ext cx="112713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3200" b="1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altLang="en-US" sz="3200"/>
          </a:p>
        </p:txBody>
      </p:sp>
      <p:sp>
        <p:nvSpPr>
          <p:cNvPr id="551981" name="Rectangle 45"/>
          <p:cNvSpPr>
            <a:spLocks noChangeArrowheads="1"/>
          </p:cNvSpPr>
          <p:nvPr/>
        </p:nvSpPr>
        <p:spPr bwMode="auto">
          <a:xfrm>
            <a:off x="7772400" y="4646613"/>
            <a:ext cx="112713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3200" b="1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altLang="en-US" sz="320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77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6461217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transaction-processing architecture and design principles</a:t>
            </a:r>
          </a:p>
        </p:txBody>
      </p:sp>
      <p:sp>
        <p:nvSpPr>
          <p:cNvPr id="552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1.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Divide and conquer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The transaction handlers are suitable system divisions that you can give to separate software engineers.</a:t>
            </a:r>
          </a:p>
          <a:p>
            <a:pPr lvl="1" algn="just"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2.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Increase cohesion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Transaction handlers are naturally cohesive units.</a:t>
            </a:r>
          </a:p>
          <a:p>
            <a:pPr lvl="1" algn="just"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3.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Reduce coupling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Separating the dispatcher from the handlers tends to reduce coupling.</a:t>
            </a:r>
          </a:p>
          <a:p>
            <a:pPr lvl="1" algn="just"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7.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Design for flexibility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You can readily add new transaction handlers.</a:t>
            </a:r>
          </a:p>
          <a:p>
            <a:pPr lvl="1" algn="just"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11.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Design defensively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You can add assertion checking in each transaction handler and/or in the dispatcher.</a:t>
            </a:r>
          </a:p>
          <a:p>
            <a:pPr lvl="1"/>
            <a:endParaRPr lang="en-US" altLang="en-US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78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99076507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Pipe-and-Filter architectural pattern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</p:txBody>
      </p:sp>
      <p:sp>
        <p:nvSpPr>
          <p:cNvPr id="465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 stream of data, in a relatively simple format, is passed through a series of processes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Each of which transforms it in some way.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Data is constantly fed into the pipeline.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processes work concurrently.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architecture is very flexible.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Almost all the components could be removed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Components could be replaced.</a:t>
            </a:r>
            <a:endParaRPr lang="en-US" altLang="en-US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New components could be inserted.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Certain components could be reordered.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 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79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54332497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a pipe-and-filter system</a:t>
            </a:r>
          </a:p>
        </p:txBody>
      </p:sp>
      <p:sp>
        <p:nvSpPr>
          <p:cNvPr id="487431" name="Rectangle 7"/>
          <p:cNvSpPr>
            <a:spLocks noChangeArrowheads="1"/>
          </p:cNvSpPr>
          <p:nvPr/>
        </p:nvSpPr>
        <p:spPr bwMode="auto">
          <a:xfrm>
            <a:off x="1181100" y="1562100"/>
            <a:ext cx="1311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encoders for</a:t>
            </a:r>
            <a:endParaRPr lang="en-CA" altLang="fr-FR"/>
          </a:p>
        </p:txBody>
      </p:sp>
      <p:sp>
        <p:nvSpPr>
          <p:cNvPr id="487432" name="Rectangle 8"/>
          <p:cNvSpPr>
            <a:spLocks noChangeArrowheads="1"/>
          </p:cNvSpPr>
          <p:nvPr/>
        </p:nvSpPr>
        <p:spPr bwMode="auto">
          <a:xfrm>
            <a:off x="1181100" y="1770063"/>
            <a:ext cx="11969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microphone </a:t>
            </a:r>
            <a:endParaRPr lang="en-CA" altLang="fr-FR"/>
          </a:p>
        </p:txBody>
      </p:sp>
      <p:sp>
        <p:nvSpPr>
          <p:cNvPr id="487433" name="Rectangle 9"/>
          <p:cNvSpPr>
            <a:spLocks noChangeArrowheads="1"/>
          </p:cNvSpPr>
          <p:nvPr/>
        </p:nvSpPr>
        <p:spPr bwMode="auto">
          <a:xfrm>
            <a:off x="1181100" y="1979613"/>
            <a:ext cx="5318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input</a:t>
            </a:r>
            <a:endParaRPr lang="en-CA" altLang="fr-FR"/>
          </a:p>
        </p:txBody>
      </p:sp>
      <p:sp>
        <p:nvSpPr>
          <p:cNvPr id="487434" name="Rectangle 10"/>
          <p:cNvSpPr>
            <a:spLocks noChangeArrowheads="1"/>
          </p:cNvSpPr>
          <p:nvPr/>
        </p:nvSpPr>
        <p:spPr bwMode="auto">
          <a:xfrm>
            <a:off x="2378075" y="3784600"/>
            <a:ext cx="12350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encoder for</a:t>
            </a:r>
            <a:endParaRPr lang="en-CA" altLang="fr-FR"/>
          </a:p>
        </p:txBody>
      </p:sp>
      <p:sp>
        <p:nvSpPr>
          <p:cNvPr id="487435" name="Rectangle 11"/>
          <p:cNvSpPr>
            <a:spLocks noChangeArrowheads="1"/>
          </p:cNvSpPr>
          <p:nvPr/>
        </p:nvSpPr>
        <p:spPr bwMode="auto">
          <a:xfrm>
            <a:off x="2378075" y="3994150"/>
            <a:ext cx="9699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ambient</a:t>
            </a:r>
            <a:endParaRPr lang="en-CA" altLang="fr-FR"/>
          </a:p>
        </p:txBody>
      </p:sp>
      <p:sp>
        <p:nvSpPr>
          <p:cNvPr id="487436" name="Rectangle 12"/>
          <p:cNvSpPr>
            <a:spLocks noChangeArrowheads="1"/>
          </p:cNvSpPr>
          <p:nvPr/>
        </p:nvSpPr>
        <p:spPr bwMode="auto">
          <a:xfrm>
            <a:off x="2378075" y="4203700"/>
            <a:ext cx="550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noise</a:t>
            </a:r>
            <a:endParaRPr lang="en-CA" altLang="fr-FR"/>
          </a:p>
        </p:txBody>
      </p:sp>
      <p:sp>
        <p:nvSpPr>
          <p:cNvPr id="487437" name="Rectangle 13"/>
          <p:cNvSpPr>
            <a:spLocks noChangeArrowheads="1"/>
          </p:cNvSpPr>
          <p:nvPr/>
        </p:nvSpPr>
        <p:spPr bwMode="auto">
          <a:xfrm>
            <a:off x="2625725" y="2778125"/>
            <a:ext cx="8175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cancel</a:t>
            </a:r>
            <a:endParaRPr lang="en-CA" altLang="fr-FR"/>
          </a:p>
        </p:txBody>
      </p:sp>
      <p:sp>
        <p:nvSpPr>
          <p:cNvPr id="487438" name="Rectangle 14"/>
          <p:cNvSpPr>
            <a:spLocks noChangeArrowheads="1"/>
          </p:cNvSpPr>
          <p:nvPr/>
        </p:nvSpPr>
        <p:spPr bwMode="auto">
          <a:xfrm>
            <a:off x="2625725" y="2986088"/>
            <a:ext cx="550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noise</a:t>
            </a:r>
            <a:endParaRPr lang="en-CA" altLang="fr-FR"/>
          </a:p>
        </p:txBody>
      </p:sp>
      <p:sp>
        <p:nvSpPr>
          <p:cNvPr id="487439" name="Rectangle 15"/>
          <p:cNvSpPr>
            <a:spLocks noChangeArrowheads="1"/>
          </p:cNvSpPr>
          <p:nvPr/>
        </p:nvSpPr>
        <p:spPr bwMode="auto">
          <a:xfrm>
            <a:off x="5399088" y="2682875"/>
            <a:ext cx="1006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equalize</a:t>
            </a:r>
            <a:endParaRPr lang="en-CA" altLang="fr-FR"/>
          </a:p>
        </p:txBody>
      </p:sp>
      <p:sp>
        <p:nvSpPr>
          <p:cNvPr id="487440" name="Rectangle 16"/>
          <p:cNvSpPr>
            <a:spLocks noChangeArrowheads="1"/>
          </p:cNvSpPr>
          <p:nvPr/>
        </p:nvSpPr>
        <p:spPr bwMode="auto">
          <a:xfrm>
            <a:off x="5399088" y="2892425"/>
            <a:ext cx="9890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dynamic</a:t>
            </a:r>
            <a:endParaRPr lang="en-CA" altLang="fr-FR"/>
          </a:p>
        </p:txBody>
      </p:sp>
      <p:sp>
        <p:nvSpPr>
          <p:cNvPr id="487441" name="Rectangle 17"/>
          <p:cNvSpPr>
            <a:spLocks noChangeArrowheads="1"/>
          </p:cNvSpPr>
          <p:nvPr/>
        </p:nvSpPr>
        <p:spPr bwMode="auto">
          <a:xfrm>
            <a:off x="5399088" y="3100388"/>
            <a:ext cx="588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range</a:t>
            </a:r>
            <a:endParaRPr lang="en-CA" altLang="fr-FR"/>
          </a:p>
        </p:txBody>
      </p:sp>
      <p:sp>
        <p:nvSpPr>
          <p:cNvPr id="487442" name="Rectangle 18"/>
          <p:cNvSpPr>
            <a:spLocks noChangeArrowheads="1"/>
          </p:cNvSpPr>
          <p:nvPr/>
        </p:nvSpPr>
        <p:spPr bwMode="auto">
          <a:xfrm>
            <a:off x="3841750" y="2682875"/>
            <a:ext cx="8937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remove</a:t>
            </a:r>
            <a:endParaRPr lang="en-CA" altLang="fr-FR"/>
          </a:p>
        </p:txBody>
      </p:sp>
      <p:sp>
        <p:nvSpPr>
          <p:cNvPr id="487443" name="Rectangle 19"/>
          <p:cNvSpPr>
            <a:spLocks noChangeArrowheads="1"/>
          </p:cNvSpPr>
          <p:nvPr/>
        </p:nvSpPr>
        <p:spPr bwMode="auto">
          <a:xfrm>
            <a:off x="3841750" y="2892425"/>
            <a:ext cx="11017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non-voice</a:t>
            </a:r>
            <a:endParaRPr lang="en-CA" altLang="fr-FR"/>
          </a:p>
        </p:txBody>
      </p:sp>
      <p:sp>
        <p:nvSpPr>
          <p:cNvPr id="487444" name="Rectangle 20"/>
          <p:cNvSpPr>
            <a:spLocks noChangeArrowheads="1"/>
          </p:cNvSpPr>
          <p:nvPr/>
        </p:nvSpPr>
        <p:spPr bwMode="auto">
          <a:xfrm>
            <a:off x="3841750" y="3100388"/>
            <a:ext cx="11017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frequencies</a:t>
            </a:r>
            <a:endParaRPr lang="en-CA" altLang="fr-FR"/>
          </a:p>
        </p:txBody>
      </p:sp>
      <p:sp>
        <p:nvSpPr>
          <p:cNvPr id="487445" name="Rectangle 21"/>
          <p:cNvSpPr>
            <a:spLocks noChangeArrowheads="1"/>
          </p:cNvSpPr>
          <p:nvPr/>
        </p:nvSpPr>
        <p:spPr bwMode="auto">
          <a:xfrm>
            <a:off x="6748463" y="2892425"/>
            <a:ext cx="8937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compress</a:t>
            </a:r>
            <a:endParaRPr lang="en-CA" altLang="fr-FR"/>
          </a:p>
        </p:txBody>
      </p:sp>
      <p:sp>
        <p:nvSpPr>
          <p:cNvPr id="487446" name="Rectangle 22"/>
          <p:cNvSpPr>
            <a:spLocks noChangeArrowheads="1"/>
          </p:cNvSpPr>
          <p:nvPr/>
        </p:nvSpPr>
        <p:spPr bwMode="auto">
          <a:xfrm>
            <a:off x="8193088" y="2892425"/>
            <a:ext cx="7794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transmit</a:t>
            </a:r>
            <a:endParaRPr lang="en-CA" altLang="fr-FR"/>
          </a:p>
        </p:txBody>
      </p:sp>
      <p:sp>
        <p:nvSpPr>
          <p:cNvPr id="487447" name="Rectangle 23"/>
          <p:cNvSpPr>
            <a:spLocks noChangeArrowheads="1"/>
          </p:cNvSpPr>
          <p:nvPr/>
        </p:nvSpPr>
        <p:spPr bwMode="auto">
          <a:xfrm>
            <a:off x="8231188" y="4222750"/>
            <a:ext cx="7223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receive</a:t>
            </a:r>
            <a:endParaRPr lang="en-CA" altLang="fr-FR"/>
          </a:p>
        </p:txBody>
      </p:sp>
      <p:sp>
        <p:nvSpPr>
          <p:cNvPr id="487448" name="Rectangle 24"/>
          <p:cNvSpPr>
            <a:spLocks noChangeArrowheads="1"/>
          </p:cNvSpPr>
          <p:nvPr/>
        </p:nvSpPr>
        <p:spPr bwMode="auto">
          <a:xfrm>
            <a:off x="6521450" y="4222750"/>
            <a:ext cx="11207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decompress</a:t>
            </a:r>
            <a:endParaRPr lang="en-CA" altLang="fr-FR"/>
          </a:p>
        </p:txBody>
      </p:sp>
      <p:sp>
        <p:nvSpPr>
          <p:cNvPr id="487449" name="Rectangle 25"/>
          <p:cNvSpPr>
            <a:spLocks noChangeArrowheads="1"/>
          </p:cNvSpPr>
          <p:nvPr/>
        </p:nvSpPr>
        <p:spPr bwMode="auto">
          <a:xfrm>
            <a:off x="5286375" y="4013200"/>
            <a:ext cx="8937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encode</a:t>
            </a:r>
            <a:endParaRPr lang="en-CA" altLang="fr-FR"/>
          </a:p>
        </p:txBody>
      </p:sp>
      <p:sp>
        <p:nvSpPr>
          <p:cNvPr id="487450" name="Rectangle 26"/>
          <p:cNvSpPr>
            <a:spLocks noChangeArrowheads="1"/>
          </p:cNvSpPr>
          <p:nvPr/>
        </p:nvSpPr>
        <p:spPr bwMode="auto">
          <a:xfrm>
            <a:off x="5286375" y="4222750"/>
            <a:ext cx="8937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speaker</a:t>
            </a:r>
            <a:endParaRPr lang="en-CA" altLang="fr-FR"/>
          </a:p>
        </p:txBody>
      </p:sp>
      <p:sp>
        <p:nvSpPr>
          <p:cNvPr id="487451" name="Rectangle 27"/>
          <p:cNvSpPr>
            <a:spLocks noChangeArrowheads="1"/>
          </p:cNvSpPr>
          <p:nvPr/>
        </p:nvSpPr>
        <p:spPr bwMode="auto">
          <a:xfrm>
            <a:off x="5286375" y="4430713"/>
            <a:ext cx="6461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output</a:t>
            </a:r>
            <a:endParaRPr lang="en-CA" altLang="fr-FR"/>
          </a:p>
        </p:txBody>
      </p:sp>
      <p:sp>
        <p:nvSpPr>
          <p:cNvPr id="487452" name="Rectangle 28"/>
          <p:cNvSpPr>
            <a:spLocks noChangeArrowheads="1"/>
          </p:cNvSpPr>
          <p:nvPr/>
        </p:nvSpPr>
        <p:spPr bwMode="auto">
          <a:xfrm>
            <a:off x="3290888" y="1524000"/>
            <a:ext cx="13684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microphones</a:t>
            </a:r>
            <a:endParaRPr lang="en-CA" altLang="fr-FR"/>
          </a:p>
        </p:txBody>
      </p:sp>
      <p:sp>
        <p:nvSpPr>
          <p:cNvPr id="487453" name="Rectangle 29"/>
          <p:cNvSpPr>
            <a:spLocks noChangeArrowheads="1"/>
          </p:cNvSpPr>
          <p:nvPr/>
        </p:nvSpPr>
        <p:spPr bwMode="auto">
          <a:xfrm>
            <a:off x="3290888" y="1731963"/>
            <a:ext cx="6270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near</a:t>
            </a:r>
            <a:endParaRPr lang="en-CA" altLang="fr-FR"/>
          </a:p>
        </p:txBody>
      </p:sp>
      <p:sp>
        <p:nvSpPr>
          <p:cNvPr id="487454" name="Rectangle 30"/>
          <p:cNvSpPr>
            <a:spLocks noChangeArrowheads="1"/>
          </p:cNvSpPr>
          <p:nvPr/>
        </p:nvSpPr>
        <p:spPr bwMode="auto">
          <a:xfrm>
            <a:off x="3290888" y="1941513"/>
            <a:ext cx="7604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sound</a:t>
            </a:r>
            <a:endParaRPr lang="en-CA" altLang="fr-FR"/>
          </a:p>
        </p:txBody>
      </p:sp>
      <p:sp>
        <p:nvSpPr>
          <p:cNvPr id="487455" name="Rectangle 31"/>
          <p:cNvSpPr>
            <a:spLocks noChangeArrowheads="1"/>
          </p:cNvSpPr>
          <p:nvPr/>
        </p:nvSpPr>
        <p:spPr bwMode="auto">
          <a:xfrm>
            <a:off x="3290888" y="2151063"/>
            <a:ext cx="6461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source</a:t>
            </a:r>
            <a:endParaRPr lang="en-CA" altLang="fr-FR"/>
          </a:p>
        </p:txBody>
      </p:sp>
      <p:sp>
        <p:nvSpPr>
          <p:cNvPr id="487456" name="Rectangle 32"/>
          <p:cNvSpPr>
            <a:spLocks noChangeArrowheads="1"/>
          </p:cNvSpPr>
          <p:nvPr/>
        </p:nvSpPr>
        <p:spPr bwMode="auto">
          <a:xfrm>
            <a:off x="1238250" y="4051300"/>
            <a:ext cx="8175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distant</a:t>
            </a:r>
            <a:endParaRPr lang="en-CA" altLang="fr-FR"/>
          </a:p>
        </p:txBody>
      </p:sp>
      <p:sp>
        <p:nvSpPr>
          <p:cNvPr id="487457" name="Rectangle 33"/>
          <p:cNvSpPr>
            <a:spLocks noChangeArrowheads="1"/>
          </p:cNvSpPr>
          <p:nvPr/>
        </p:nvSpPr>
        <p:spPr bwMode="auto">
          <a:xfrm>
            <a:off x="1238250" y="4259263"/>
            <a:ext cx="1139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microphone</a:t>
            </a:r>
            <a:endParaRPr lang="en-CA" altLang="fr-FR"/>
          </a:p>
        </p:txBody>
      </p:sp>
      <p:sp>
        <p:nvSpPr>
          <p:cNvPr id="487458" name="Rectangle 34"/>
          <p:cNvSpPr>
            <a:spLocks noChangeArrowheads="1"/>
          </p:cNvSpPr>
          <p:nvPr/>
        </p:nvSpPr>
        <p:spPr bwMode="auto">
          <a:xfrm>
            <a:off x="1446213" y="2778125"/>
            <a:ext cx="8175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cancel</a:t>
            </a:r>
            <a:endParaRPr lang="en-CA" altLang="fr-FR"/>
          </a:p>
        </p:txBody>
      </p:sp>
      <p:sp>
        <p:nvSpPr>
          <p:cNvPr id="487459" name="Rectangle 35"/>
          <p:cNvSpPr>
            <a:spLocks noChangeArrowheads="1"/>
          </p:cNvSpPr>
          <p:nvPr/>
        </p:nvSpPr>
        <p:spPr bwMode="auto">
          <a:xfrm>
            <a:off x="1446213" y="2986088"/>
            <a:ext cx="5127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echo</a:t>
            </a:r>
            <a:endParaRPr lang="en-CA" altLang="fr-FR"/>
          </a:p>
        </p:txBody>
      </p:sp>
      <p:grpSp>
        <p:nvGrpSpPr>
          <p:cNvPr id="487481" name="Group 57"/>
          <p:cNvGrpSpPr>
            <a:grpSpLocks/>
          </p:cNvGrpSpPr>
          <p:nvPr/>
        </p:nvGrpSpPr>
        <p:grpSpPr bwMode="auto">
          <a:xfrm>
            <a:off x="1436688" y="3870325"/>
            <a:ext cx="296862" cy="201613"/>
            <a:chOff x="905" y="2438"/>
            <a:chExt cx="187" cy="127"/>
          </a:xfrm>
        </p:grpSpPr>
        <p:sp>
          <p:nvSpPr>
            <p:cNvPr id="487460" name="Freeform 36"/>
            <p:cNvSpPr>
              <a:spLocks/>
            </p:cNvSpPr>
            <p:nvPr/>
          </p:nvSpPr>
          <p:spPr bwMode="auto">
            <a:xfrm>
              <a:off x="923" y="2468"/>
              <a:ext cx="168" cy="96"/>
            </a:xfrm>
            <a:custGeom>
              <a:avLst/>
              <a:gdLst>
                <a:gd name="T0" fmla="*/ 0 w 168"/>
                <a:gd name="T1" fmla="*/ 0 h 96"/>
                <a:gd name="T2" fmla="*/ 12 w 168"/>
                <a:gd name="T3" fmla="*/ 12 h 96"/>
                <a:gd name="T4" fmla="*/ 24 w 168"/>
                <a:gd name="T5" fmla="*/ 36 h 96"/>
                <a:gd name="T6" fmla="*/ 48 w 168"/>
                <a:gd name="T7" fmla="*/ 48 h 96"/>
                <a:gd name="T8" fmla="*/ 72 w 168"/>
                <a:gd name="T9" fmla="*/ 60 h 96"/>
                <a:gd name="T10" fmla="*/ 96 w 168"/>
                <a:gd name="T11" fmla="*/ 72 h 96"/>
                <a:gd name="T12" fmla="*/ 120 w 168"/>
                <a:gd name="T13" fmla="*/ 84 h 96"/>
                <a:gd name="T14" fmla="*/ 144 w 168"/>
                <a:gd name="T15" fmla="*/ 96 h 96"/>
                <a:gd name="T16" fmla="*/ 156 w 168"/>
                <a:gd name="T17" fmla="*/ 96 h 96"/>
                <a:gd name="T18" fmla="*/ 168 w 168"/>
                <a:gd name="T19" fmla="*/ 96 h 96"/>
                <a:gd name="T20" fmla="*/ 168 w 168"/>
                <a:gd name="T21" fmla="*/ 84 h 96"/>
                <a:gd name="T22" fmla="*/ 156 w 168"/>
                <a:gd name="T23" fmla="*/ 72 h 96"/>
                <a:gd name="T24" fmla="*/ 132 w 168"/>
                <a:gd name="T25" fmla="*/ 60 h 96"/>
                <a:gd name="T26" fmla="*/ 108 w 168"/>
                <a:gd name="T27" fmla="*/ 48 h 96"/>
                <a:gd name="T28" fmla="*/ 96 w 168"/>
                <a:gd name="T29" fmla="*/ 24 h 96"/>
                <a:gd name="T30" fmla="*/ 72 w 168"/>
                <a:gd name="T31" fmla="*/ 12 h 96"/>
                <a:gd name="T32" fmla="*/ 48 w 168"/>
                <a:gd name="T33" fmla="*/ 0 h 96"/>
                <a:gd name="T34" fmla="*/ 24 w 168"/>
                <a:gd name="T35" fmla="*/ 0 h 96"/>
                <a:gd name="T36" fmla="*/ 12 w 168"/>
                <a:gd name="T37" fmla="*/ 0 h 96"/>
                <a:gd name="T38" fmla="*/ 0 w 168"/>
                <a:gd name="T39" fmla="*/ 0 h 96"/>
                <a:gd name="T40" fmla="*/ 0 w 168"/>
                <a:gd name="T41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8" h="96">
                  <a:moveTo>
                    <a:pt x="0" y="0"/>
                  </a:moveTo>
                  <a:lnTo>
                    <a:pt x="12" y="12"/>
                  </a:lnTo>
                  <a:lnTo>
                    <a:pt x="24" y="36"/>
                  </a:lnTo>
                  <a:lnTo>
                    <a:pt x="48" y="48"/>
                  </a:lnTo>
                  <a:lnTo>
                    <a:pt x="72" y="60"/>
                  </a:lnTo>
                  <a:lnTo>
                    <a:pt x="96" y="72"/>
                  </a:lnTo>
                  <a:lnTo>
                    <a:pt x="120" y="84"/>
                  </a:lnTo>
                  <a:lnTo>
                    <a:pt x="144" y="96"/>
                  </a:lnTo>
                  <a:lnTo>
                    <a:pt x="156" y="96"/>
                  </a:lnTo>
                  <a:lnTo>
                    <a:pt x="168" y="96"/>
                  </a:lnTo>
                  <a:lnTo>
                    <a:pt x="168" y="84"/>
                  </a:lnTo>
                  <a:lnTo>
                    <a:pt x="156" y="72"/>
                  </a:lnTo>
                  <a:lnTo>
                    <a:pt x="132" y="60"/>
                  </a:lnTo>
                  <a:lnTo>
                    <a:pt x="108" y="48"/>
                  </a:lnTo>
                  <a:lnTo>
                    <a:pt x="96" y="24"/>
                  </a:lnTo>
                  <a:lnTo>
                    <a:pt x="72" y="12"/>
                  </a:lnTo>
                  <a:lnTo>
                    <a:pt x="48" y="0"/>
                  </a:lnTo>
                  <a:lnTo>
                    <a:pt x="24" y="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461" name="Line 37"/>
            <p:cNvSpPr>
              <a:spLocks noChangeShapeType="1"/>
            </p:cNvSpPr>
            <p:nvPr/>
          </p:nvSpPr>
          <p:spPr bwMode="auto">
            <a:xfrm>
              <a:off x="923" y="2468"/>
              <a:ext cx="12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462" name="Line 38"/>
            <p:cNvSpPr>
              <a:spLocks noChangeShapeType="1"/>
            </p:cNvSpPr>
            <p:nvPr/>
          </p:nvSpPr>
          <p:spPr bwMode="auto">
            <a:xfrm>
              <a:off x="935" y="2480"/>
              <a:ext cx="12" cy="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463" name="Line 39"/>
            <p:cNvSpPr>
              <a:spLocks noChangeShapeType="1"/>
            </p:cNvSpPr>
            <p:nvPr/>
          </p:nvSpPr>
          <p:spPr bwMode="auto">
            <a:xfrm>
              <a:off x="947" y="2504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464" name="Line 40"/>
            <p:cNvSpPr>
              <a:spLocks noChangeShapeType="1"/>
            </p:cNvSpPr>
            <p:nvPr/>
          </p:nvSpPr>
          <p:spPr bwMode="auto">
            <a:xfrm>
              <a:off x="971" y="2516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465" name="Line 41"/>
            <p:cNvSpPr>
              <a:spLocks noChangeShapeType="1"/>
            </p:cNvSpPr>
            <p:nvPr/>
          </p:nvSpPr>
          <p:spPr bwMode="auto">
            <a:xfrm>
              <a:off x="995" y="2528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466" name="Line 42"/>
            <p:cNvSpPr>
              <a:spLocks noChangeShapeType="1"/>
            </p:cNvSpPr>
            <p:nvPr/>
          </p:nvSpPr>
          <p:spPr bwMode="auto">
            <a:xfrm>
              <a:off x="1019" y="2540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467" name="Line 43"/>
            <p:cNvSpPr>
              <a:spLocks noChangeShapeType="1"/>
            </p:cNvSpPr>
            <p:nvPr/>
          </p:nvSpPr>
          <p:spPr bwMode="auto">
            <a:xfrm>
              <a:off x="1043" y="2552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468" name="Line 44"/>
            <p:cNvSpPr>
              <a:spLocks noChangeShapeType="1"/>
            </p:cNvSpPr>
            <p:nvPr/>
          </p:nvSpPr>
          <p:spPr bwMode="auto">
            <a:xfrm>
              <a:off x="1067" y="2564"/>
              <a:ext cx="1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469" name="Line 45"/>
            <p:cNvSpPr>
              <a:spLocks noChangeShapeType="1"/>
            </p:cNvSpPr>
            <p:nvPr/>
          </p:nvSpPr>
          <p:spPr bwMode="auto">
            <a:xfrm>
              <a:off x="1079" y="2564"/>
              <a:ext cx="1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470" name="Line 46"/>
            <p:cNvSpPr>
              <a:spLocks noChangeShapeType="1"/>
            </p:cNvSpPr>
            <p:nvPr/>
          </p:nvSpPr>
          <p:spPr bwMode="auto">
            <a:xfrm flipV="1">
              <a:off x="1091" y="2552"/>
              <a:ext cx="1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471" name="Line 47"/>
            <p:cNvSpPr>
              <a:spLocks noChangeShapeType="1"/>
            </p:cNvSpPr>
            <p:nvPr/>
          </p:nvSpPr>
          <p:spPr bwMode="auto">
            <a:xfrm flipH="1" flipV="1">
              <a:off x="1079" y="2540"/>
              <a:ext cx="12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472" name="Line 48"/>
            <p:cNvSpPr>
              <a:spLocks noChangeShapeType="1"/>
            </p:cNvSpPr>
            <p:nvPr/>
          </p:nvSpPr>
          <p:spPr bwMode="auto">
            <a:xfrm flipH="1" flipV="1">
              <a:off x="1055" y="2528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473" name="Line 49"/>
            <p:cNvSpPr>
              <a:spLocks noChangeShapeType="1"/>
            </p:cNvSpPr>
            <p:nvPr/>
          </p:nvSpPr>
          <p:spPr bwMode="auto">
            <a:xfrm flipH="1" flipV="1">
              <a:off x="1031" y="2516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474" name="Line 50"/>
            <p:cNvSpPr>
              <a:spLocks noChangeShapeType="1"/>
            </p:cNvSpPr>
            <p:nvPr/>
          </p:nvSpPr>
          <p:spPr bwMode="auto">
            <a:xfrm flipH="1" flipV="1">
              <a:off x="1019" y="2492"/>
              <a:ext cx="12" cy="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475" name="Line 51"/>
            <p:cNvSpPr>
              <a:spLocks noChangeShapeType="1"/>
            </p:cNvSpPr>
            <p:nvPr/>
          </p:nvSpPr>
          <p:spPr bwMode="auto">
            <a:xfrm flipH="1" flipV="1">
              <a:off x="995" y="2480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476" name="Line 52"/>
            <p:cNvSpPr>
              <a:spLocks noChangeShapeType="1"/>
            </p:cNvSpPr>
            <p:nvPr/>
          </p:nvSpPr>
          <p:spPr bwMode="auto">
            <a:xfrm flipH="1" flipV="1">
              <a:off x="971" y="2468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477" name="Line 53"/>
            <p:cNvSpPr>
              <a:spLocks noChangeShapeType="1"/>
            </p:cNvSpPr>
            <p:nvPr/>
          </p:nvSpPr>
          <p:spPr bwMode="auto">
            <a:xfrm flipH="1">
              <a:off x="947" y="2468"/>
              <a:ext cx="2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478" name="Line 54"/>
            <p:cNvSpPr>
              <a:spLocks noChangeShapeType="1"/>
            </p:cNvSpPr>
            <p:nvPr/>
          </p:nvSpPr>
          <p:spPr bwMode="auto">
            <a:xfrm flipH="1">
              <a:off x="935" y="2468"/>
              <a:ext cx="1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479" name="Line 55"/>
            <p:cNvSpPr>
              <a:spLocks noChangeShapeType="1"/>
            </p:cNvSpPr>
            <p:nvPr/>
          </p:nvSpPr>
          <p:spPr bwMode="auto">
            <a:xfrm flipH="1">
              <a:off x="923" y="2468"/>
              <a:ext cx="1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480" name="Oval 56"/>
            <p:cNvSpPr>
              <a:spLocks noChangeArrowheads="1"/>
            </p:cNvSpPr>
            <p:nvPr/>
          </p:nvSpPr>
          <p:spPr bwMode="auto">
            <a:xfrm>
              <a:off x="905" y="2438"/>
              <a:ext cx="84" cy="96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487495" name="Group 71"/>
          <p:cNvGrpSpPr>
            <a:grpSpLocks/>
          </p:cNvGrpSpPr>
          <p:nvPr/>
        </p:nvGrpSpPr>
        <p:grpSpPr bwMode="auto">
          <a:xfrm>
            <a:off x="4516438" y="3860800"/>
            <a:ext cx="236537" cy="428625"/>
            <a:chOff x="2845" y="2432"/>
            <a:chExt cx="149" cy="270"/>
          </a:xfrm>
        </p:grpSpPr>
        <p:grpSp>
          <p:nvGrpSpPr>
            <p:cNvPr id="487489" name="Group 65"/>
            <p:cNvGrpSpPr>
              <a:grpSpLocks/>
            </p:cNvGrpSpPr>
            <p:nvPr/>
          </p:nvGrpSpPr>
          <p:grpSpPr bwMode="auto">
            <a:xfrm>
              <a:off x="2859" y="2432"/>
              <a:ext cx="135" cy="124"/>
              <a:chOff x="2859" y="2432"/>
              <a:chExt cx="135" cy="124"/>
            </a:xfrm>
          </p:grpSpPr>
          <p:sp>
            <p:nvSpPr>
              <p:cNvPr id="487482" name="Arc 58"/>
              <p:cNvSpPr>
                <a:spLocks/>
              </p:cNvSpPr>
              <p:nvPr/>
            </p:nvSpPr>
            <p:spPr bwMode="auto">
              <a:xfrm>
                <a:off x="2859" y="2432"/>
                <a:ext cx="135" cy="124"/>
              </a:xfrm>
              <a:custGeom>
                <a:avLst/>
                <a:gdLst>
                  <a:gd name="G0" fmla="+- 13362 0 0"/>
                  <a:gd name="G1" fmla="+- 21600 0 0"/>
                  <a:gd name="G2" fmla="+- 21600 0 0"/>
                  <a:gd name="T0" fmla="*/ 0 w 34962"/>
                  <a:gd name="T1" fmla="*/ 4629 h 31996"/>
                  <a:gd name="T2" fmla="*/ 32296 w 34962"/>
                  <a:gd name="T3" fmla="*/ 31996 h 31996"/>
                  <a:gd name="T4" fmla="*/ 13362 w 34962"/>
                  <a:gd name="T5" fmla="*/ 21600 h 319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962" h="31996" fill="none" extrusionOk="0">
                    <a:moveTo>
                      <a:pt x="-1" y="4628"/>
                    </a:moveTo>
                    <a:cubicBezTo>
                      <a:pt x="3808" y="1630"/>
                      <a:pt x="8514" y="0"/>
                      <a:pt x="13362" y="0"/>
                    </a:cubicBezTo>
                    <a:cubicBezTo>
                      <a:pt x="25291" y="0"/>
                      <a:pt x="34962" y="9670"/>
                      <a:pt x="34962" y="21600"/>
                    </a:cubicBezTo>
                    <a:cubicBezTo>
                      <a:pt x="34962" y="25234"/>
                      <a:pt x="34044" y="28810"/>
                      <a:pt x="32295" y="31995"/>
                    </a:cubicBezTo>
                  </a:path>
                  <a:path w="34962" h="31996" stroke="0" extrusionOk="0">
                    <a:moveTo>
                      <a:pt x="-1" y="4628"/>
                    </a:moveTo>
                    <a:cubicBezTo>
                      <a:pt x="3808" y="1630"/>
                      <a:pt x="8514" y="0"/>
                      <a:pt x="13362" y="0"/>
                    </a:cubicBezTo>
                    <a:cubicBezTo>
                      <a:pt x="25291" y="0"/>
                      <a:pt x="34962" y="9670"/>
                      <a:pt x="34962" y="21600"/>
                    </a:cubicBezTo>
                    <a:cubicBezTo>
                      <a:pt x="34962" y="25234"/>
                      <a:pt x="34044" y="28810"/>
                      <a:pt x="32295" y="31995"/>
                    </a:cubicBezTo>
                    <a:lnTo>
                      <a:pt x="13362" y="216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87483" name="Arc 59"/>
              <p:cNvSpPr>
                <a:spLocks/>
              </p:cNvSpPr>
              <p:nvPr/>
            </p:nvSpPr>
            <p:spPr bwMode="auto">
              <a:xfrm>
                <a:off x="2863" y="2438"/>
                <a:ext cx="125" cy="116"/>
              </a:xfrm>
              <a:custGeom>
                <a:avLst/>
                <a:gdLst>
                  <a:gd name="G0" fmla="+- 13366 0 0"/>
                  <a:gd name="G1" fmla="+- 21600 0 0"/>
                  <a:gd name="G2" fmla="+- 21600 0 0"/>
                  <a:gd name="T0" fmla="*/ 0 w 34966"/>
                  <a:gd name="T1" fmla="*/ 4632 h 31992"/>
                  <a:gd name="T2" fmla="*/ 32302 w 34966"/>
                  <a:gd name="T3" fmla="*/ 31992 h 31992"/>
                  <a:gd name="T4" fmla="*/ 13366 w 34966"/>
                  <a:gd name="T5" fmla="*/ 21600 h 319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966" h="31992" fill="none" extrusionOk="0">
                    <a:moveTo>
                      <a:pt x="0" y="4632"/>
                    </a:moveTo>
                    <a:cubicBezTo>
                      <a:pt x="3809" y="1631"/>
                      <a:pt x="8517" y="0"/>
                      <a:pt x="13366" y="0"/>
                    </a:cubicBezTo>
                    <a:cubicBezTo>
                      <a:pt x="25295" y="0"/>
                      <a:pt x="34966" y="9670"/>
                      <a:pt x="34966" y="21600"/>
                    </a:cubicBezTo>
                    <a:cubicBezTo>
                      <a:pt x="34966" y="25232"/>
                      <a:pt x="34049" y="28807"/>
                      <a:pt x="32301" y="31991"/>
                    </a:cubicBezTo>
                  </a:path>
                  <a:path w="34966" h="31992" stroke="0" extrusionOk="0">
                    <a:moveTo>
                      <a:pt x="0" y="4632"/>
                    </a:moveTo>
                    <a:cubicBezTo>
                      <a:pt x="3809" y="1631"/>
                      <a:pt x="8517" y="0"/>
                      <a:pt x="13366" y="0"/>
                    </a:cubicBezTo>
                    <a:cubicBezTo>
                      <a:pt x="25295" y="0"/>
                      <a:pt x="34966" y="9670"/>
                      <a:pt x="34966" y="21600"/>
                    </a:cubicBezTo>
                    <a:cubicBezTo>
                      <a:pt x="34966" y="25232"/>
                      <a:pt x="34049" y="28807"/>
                      <a:pt x="32301" y="31991"/>
                    </a:cubicBezTo>
                    <a:lnTo>
                      <a:pt x="13366" y="2160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grpSp>
            <p:nvGrpSpPr>
              <p:cNvPr id="487488" name="Group 64"/>
              <p:cNvGrpSpPr>
                <a:grpSpLocks/>
              </p:cNvGrpSpPr>
              <p:nvPr/>
            </p:nvGrpSpPr>
            <p:grpSpPr bwMode="auto">
              <a:xfrm>
                <a:off x="2884" y="2456"/>
                <a:ext cx="86" cy="98"/>
                <a:chOff x="2884" y="2456"/>
                <a:chExt cx="86" cy="98"/>
              </a:xfrm>
            </p:grpSpPr>
            <p:sp>
              <p:nvSpPr>
                <p:cNvPr id="487484" name="Arc 60"/>
                <p:cNvSpPr>
                  <a:spLocks/>
                </p:cNvSpPr>
                <p:nvPr/>
              </p:nvSpPr>
              <p:spPr bwMode="auto">
                <a:xfrm>
                  <a:off x="2884" y="2456"/>
                  <a:ext cx="86" cy="98"/>
                </a:xfrm>
                <a:custGeom>
                  <a:avLst/>
                  <a:gdLst>
                    <a:gd name="G0" fmla="+- 13266 0 0"/>
                    <a:gd name="G1" fmla="+- 21600 0 0"/>
                    <a:gd name="G2" fmla="+- 21600 0 0"/>
                    <a:gd name="T0" fmla="*/ 0 w 34866"/>
                    <a:gd name="T1" fmla="*/ 4554 h 31958"/>
                    <a:gd name="T2" fmla="*/ 32220 w 34866"/>
                    <a:gd name="T3" fmla="*/ 31958 h 31958"/>
                    <a:gd name="T4" fmla="*/ 13266 w 34866"/>
                    <a:gd name="T5" fmla="*/ 21600 h 319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4866" h="31958" fill="none" extrusionOk="0">
                      <a:moveTo>
                        <a:pt x="-1" y="4553"/>
                      </a:moveTo>
                      <a:cubicBezTo>
                        <a:pt x="3792" y="1602"/>
                        <a:pt x="8460" y="0"/>
                        <a:pt x="13266" y="0"/>
                      </a:cubicBezTo>
                      <a:cubicBezTo>
                        <a:pt x="25195" y="0"/>
                        <a:pt x="34866" y="9670"/>
                        <a:pt x="34866" y="21600"/>
                      </a:cubicBezTo>
                      <a:cubicBezTo>
                        <a:pt x="34866" y="25219"/>
                        <a:pt x="33956" y="28781"/>
                        <a:pt x="32220" y="31958"/>
                      </a:cubicBezTo>
                    </a:path>
                    <a:path w="34866" h="31958" stroke="0" extrusionOk="0">
                      <a:moveTo>
                        <a:pt x="-1" y="4553"/>
                      </a:moveTo>
                      <a:cubicBezTo>
                        <a:pt x="3792" y="1602"/>
                        <a:pt x="8460" y="0"/>
                        <a:pt x="13266" y="0"/>
                      </a:cubicBezTo>
                      <a:cubicBezTo>
                        <a:pt x="25195" y="0"/>
                        <a:pt x="34866" y="9670"/>
                        <a:pt x="34866" y="21600"/>
                      </a:cubicBezTo>
                      <a:cubicBezTo>
                        <a:pt x="34866" y="25219"/>
                        <a:pt x="33956" y="28781"/>
                        <a:pt x="32220" y="31958"/>
                      </a:cubicBezTo>
                      <a:lnTo>
                        <a:pt x="13266" y="216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487485" name="Arc 61"/>
                <p:cNvSpPr>
                  <a:spLocks/>
                </p:cNvSpPr>
                <p:nvPr/>
              </p:nvSpPr>
              <p:spPr bwMode="auto">
                <a:xfrm>
                  <a:off x="2887" y="2462"/>
                  <a:ext cx="77" cy="88"/>
                </a:xfrm>
                <a:custGeom>
                  <a:avLst/>
                  <a:gdLst>
                    <a:gd name="G0" fmla="+- 13461 0 0"/>
                    <a:gd name="G1" fmla="+- 21600 0 0"/>
                    <a:gd name="G2" fmla="+- 21600 0 0"/>
                    <a:gd name="T0" fmla="*/ 0 w 35061"/>
                    <a:gd name="T1" fmla="*/ 4707 h 31770"/>
                    <a:gd name="T2" fmla="*/ 32517 w 35061"/>
                    <a:gd name="T3" fmla="*/ 31770 h 31770"/>
                    <a:gd name="T4" fmla="*/ 13461 w 35061"/>
                    <a:gd name="T5" fmla="*/ 21600 h 317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5061" h="31770" fill="none" extrusionOk="0">
                      <a:moveTo>
                        <a:pt x="0" y="4707"/>
                      </a:moveTo>
                      <a:cubicBezTo>
                        <a:pt x="3824" y="1659"/>
                        <a:pt x="8570" y="0"/>
                        <a:pt x="13461" y="0"/>
                      </a:cubicBezTo>
                      <a:cubicBezTo>
                        <a:pt x="25390" y="0"/>
                        <a:pt x="35061" y="9670"/>
                        <a:pt x="35061" y="21600"/>
                      </a:cubicBezTo>
                      <a:cubicBezTo>
                        <a:pt x="35061" y="25147"/>
                        <a:pt x="34187" y="28640"/>
                        <a:pt x="32516" y="31769"/>
                      </a:cubicBezTo>
                    </a:path>
                    <a:path w="35061" h="31770" stroke="0" extrusionOk="0">
                      <a:moveTo>
                        <a:pt x="0" y="4707"/>
                      </a:moveTo>
                      <a:cubicBezTo>
                        <a:pt x="3824" y="1659"/>
                        <a:pt x="8570" y="0"/>
                        <a:pt x="13461" y="0"/>
                      </a:cubicBezTo>
                      <a:cubicBezTo>
                        <a:pt x="25390" y="0"/>
                        <a:pt x="35061" y="9670"/>
                        <a:pt x="35061" y="21600"/>
                      </a:cubicBezTo>
                      <a:cubicBezTo>
                        <a:pt x="35061" y="25147"/>
                        <a:pt x="34187" y="28640"/>
                        <a:pt x="32516" y="31769"/>
                      </a:cubicBezTo>
                      <a:lnTo>
                        <a:pt x="13461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487486" name="Arc 62"/>
                <p:cNvSpPr>
                  <a:spLocks/>
                </p:cNvSpPr>
                <p:nvPr/>
              </p:nvSpPr>
              <p:spPr bwMode="auto">
                <a:xfrm>
                  <a:off x="2899" y="2492"/>
                  <a:ext cx="48" cy="44"/>
                </a:xfrm>
                <a:custGeom>
                  <a:avLst/>
                  <a:gdLst>
                    <a:gd name="G0" fmla="+- 13466 0 0"/>
                    <a:gd name="G1" fmla="+- 21600 0 0"/>
                    <a:gd name="G2" fmla="+- 21600 0 0"/>
                    <a:gd name="T0" fmla="*/ 0 w 35066"/>
                    <a:gd name="T1" fmla="*/ 4711 h 31872"/>
                    <a:gd name="T2" fmla="*/ 32467 w 35066"/>
                    <a:gd name="T3" fmla="*/ 31872 h 31872"/>
                    <a:gd name="T4" fmla="*/ 13466 w 35066"/>
                    <a:gd name="T5" fmla="*/ 21600 h 318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5066" h="31872" fill="none" extrusionOk="0">
                      <a:moveTo>
                        <a:pt x="0" y="4711"/>
                      </a:moveTo>
                      <a:cubicBezTo>
                        <a:pt x="3825" y="1661"/>
                        <a:pt x="8573" y="0"/>
                        <a:pt x="13466" y="0"/>
                      </a:cubicBezTo>
                      <a:cubicBezTo>
                        <a:pt x="25395" y="0"/>
                        <a:pt x="35066" y="9670"/>
                        <a:pt x="35066" y="21600"/>
                      </a:cubicBezTo>
                      <a:cubicBezTo>
                        <a:pt x="35066" y="25186"/>
                        <a:pt x="34172" y="28716"/>
                        <a:pt x="32467" y="31872"/>
                      </a:cubicBezTo>
                    </a:path>
                    <a:path w="35066" h="31872" stroke="0" extrusionOk="0">
                      <a:moveTo>
                        <a:pt x="0" y="4711"/>
                      </a:moveTo>
                      <a:cubicBezTo>
                        <a:pt x="3825" y="1661"/>
                        <a:pt x="8573" y="0"/>
                        <a:pt x="13466" y="0"/>
                      </a:cubicBezTo>
                      <a:cubicBezTo>
                        <a:pt x="25395" y="0"/>
                        <a:pt x="35066" y="9670"/>
                        <a:pt x="35066" y="21600"/>
                      </a:cubicBezTo>
                      <a:cubicBezTo>
                        <a:pt x="35066" y="25186"/>
                        <a:pt x="34172" y="28716"/>
                        <a:pt x="32467" y="31872"/>
                      </a:cubicBezTo>
                      <a:lnTo>
                        <a:pt x="13466" y="216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487487" name="Arc 63"/>
                <p:cNvSpPr>
                  <a:spLocks/>
                </p:cNvSpPr>
                <p:nvPr/>
              </p:nvSpPr>
              <p:spPr bwMode="auto">
                <a:xfrm>
                  <a:off x="2902" y="2498"/>
                  <a:ext cx="38" cy="35"/>
                </a:xfrm>
                <a:custGeom>
                  <a:avLst/>
                  <a:gdLst>
                    <a:gd name="G0" fmla="+- 13501 0 0"/>
                    <a:gd name="G1" fmla="+- 21600 0 0"/>
                    <a:gd name="G2" fmla="+- 21600 0 0"/>
                    <a:gd name="T0" fmla="*/ 0 w 35101"/>
                    <a:gd name="T1" fmla="*/ 4739 h 31838"/>
                    <a:gd name="T2" fmla="*/ 32520 w 35101"/>
                    <a:gd name="T3" fmla="*/ 31838 h 31838"/>
                    <a:gd name="T4" fmla="*/ 13501 w 35101"/>
                    <a:gd name="T5" fmla="*/ 21600 h 318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5101" h="31838" fill="none" extrusionOk="0">
                      <a:moveTo>
                        <a:pt x="0" y="4739"/>
                      </a:moveTo>
                      <a:cubicBezTo>
                        <a:pt x="3831" y="1671"/>
                        <a:pt x="8592" y="0"/>
                        <a:pt x="13501" y="0"/>
                      </a:cubicBezTo>
                      <a:cubicBezTo>
                        <a:pt x="25430" y="0"/>
                        <a:pt x="35101" y="9670"/>
                        <a:pt x="35101" y="21600"/>
                      </a:cubicBezTo>
                      <a:cubicBezTo>
                        <a:pt x="35101" y="25173"/>
                        <a:pt x="34214" y="28691"/>
                        <a:pt x="32520" y="31838"/>
                      </a:cubicBezTo>
                    </a:path>
                    <a:path w="35101" h="31838" stroke="0" extrusionOk="0">
                      <a:moveTo>
                        <a:pt x="0" y="4739"/>
                      </a:moveTo>
                      <a:cubicBezTo>
                        <a:pt x="3831" y="1671"/>
                        <a:pt x="8592" y="0"/>
                        <a:pt x="13501" y="0"/>
                      </a:cubicBezTo>
                      <a:cubicBezTo>
                        <a:pt x="25430" y="0"/>
                        <a:pt x="35101" y="9670"/>
                        <a:pt x="35101" y="21600"/>
                      </a:cubicBezTo>
                      <a:cubicBezTo>
                        <a:pt x="35101" y="25173"/>
                        <a:pt x="34214" y="28691"/>
                        <a:pt x="32520" y="31838"/>
                      </a:cubicBezTo>
                      <a:lnTo>
                        <a:pt x="13501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CA"/>
                </a:p>
              </p:txBody>
            </p:sp>
          </p:grpSp>
        </p:grpSp>
        <p:grpSp>
          <p:nvGrpSpPr>
            <p:cNvPr id="487494" name="Group 70"/>
            <p:cNvGrpSpPr>
              <a:grpSpLocks/>
            </p:cNvGrpSpPr>
            <p:nvPr/>
          </p:nvGrpSpPr>
          <p:grpSpPr bwMode="auto">
            <a:xfrm>
              <a:off x="2845" y="2522"/>
              <a:ext cx="60" cy="180"/>
              <a:chOff x="2845" y="2522"/>
              <a:chExt cx="60" cy="180"/>
            </a:xfrm>
          </p:grpSpPr>
          <p:sp>
            <p:nvSpPr>
              <p:cNvPr id="487490" name="Rectangle 66"/>
              <p:cNvSpPr>
                <a:spLocks noChangeArrowheads="1"/>
              </p:cNvSpPr>
              <p:nvPr/>
            </p:nvSpPr>
            <p:spPr bwMode="auto">
              <a:xfrm>
                <a:off x="2845" y="2522"/>
                <a:ext cx="60" cy="18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87491" name="AutoShape 67"/>
              <p:cNvSpPr>
                <a:spLocks noChangeArrowheads="1"/>
              </p:cNvSpPr>
              <p:nvPr/>
            </p:nvSpPr>
            <p:spPr bwMode="auto">
              <a:xfrm>
                <a:off x="2845" y="2546"/>
                <a:ext cx="60" cy="7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87492" name="AutoShape 68"/>
              <p:cNvSpPr>
                <a:spLocks noChangeArrowheads="1"/>
              </p:cNvSpPr>
              <p:nvPr/>
            </p:nvSpPr>
            <p:spPr bwMode="auto">
              <a:xfrm>
                <a:off x="2845" y="2654"/>
                <a:ext cx="24" cy="24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87493" name="AutoShape 69"/>
              <p:cNvSpPr>
                <a:spLocks noChangeArrowheads="1"/>
              </p:cNvSpPr>
              <p:nvPr/>
            </p:nvSpPr>
            <p:spPr bwMode="auto">
              <a:xfrm>
                <a:off x="2881" y="2654"/>
                <a:ext cx="24" cy="24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CA"/>
              </a:p>
            </p:txBody>
          </p:sp>
        </p:grpSp>
      </p:grpSp>
      <p:sp>
        <p:nvSpPr>
          <p:cNvPr id="487496" name="AutoShape 72"/>
          <p:cNvSpPr>
            <a:spLocks noChangeArrowheads="1"/>
          </p:cNvSpPr>
          <p:nvPr/>
        </p:nvSpPr>
        <p:spPr bwMode="auto">
          <a:xfrm>
            <a:off x="1360488" y="2787650"/>
            <a:ext cx="703262" cy="49371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497" name="AutoShape 73"/>
          <p:cNvSpPr>
            <a:spLocks noChangeArrowheads="1"/>
          </p:cNvSpPr>
          <p:nvPr/>
        </p:nvSpPr>
        <p:spPr bwMode="auto">
          <a:xfrm>
            <a:off x="2559050" y="2787650"/>
            <a:ext cx="703263" cy="47466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498" name="AutoShape 74"/>
          <p:cNvSpPr>
            <a:spLocks noChangeArrowheads="1"/>
          </p:cNvSpPr>
          <p:nvPr/>
        </p:nvSpPr>
        <p:spPr bwMode="auto">
          <a:xfrm>
            <a:off x="3756025" y="2692400"/>
            <a:ext cx="1082675" cy="68421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499" name="AutoShape 75"/>
          <p:cNvSpPr>
            <a:spLocks noChangeArrowheads="1"/>
          </p:cNvSpPr>
          <p:nvPr/>
        </p:nvSpPr>
        <p:spPr bwMode="auto">
          <a:xfrm>
            <a:off x="5334000" y="2692400"/>
            <a:ext cx="854075" cy="68421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00" name="AutoShape 76"/>
          <p:cNvSpPr>
            <a:spLocks noChangeArrowheads="1"/>
          </p:cNvSpPr>
          <p:nvPr/>
        </p:nvSpPr>
        <p:spPr bwMode="auto">
          <a:xfrm>
            <a:off x="5219700" y="4022725"/>
            <a:ext cx="777875" cy="68421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01" name="AutoShape 77"/>
          <p:cNvSpPr>
            <a:spLocks noChangeArrowheads="1"/>
          </p:cNvSpPr>
          <p:nvPr/>
        </p:nvSpPr>
        <p:spPr bwMode="auto">
          <a:xfrm>
            <a:off x="1114425" y="1571625"/>
            <a:ext cx="1139825" cy="68421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02" name="AutoShape 78"/>
          <p:cNvSpPr>
            <a:spLocks noChangeArrowheads="1"/>
          </p:cNvSpPr>
          <p:nvPr/>
        </p:nvSpPr>
        <p:spPr bwMode="auto">
          <a:xfrm>
            <a:off x="2311400" y="3795713"/>
            <a:ext cx="1120775" cy="682625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487524" name="Group 100"/>
          <p:cNvGrpSpPr>
            <a:grpSpLocks/>
          </p:cNvGrpSpPr>
          <p:nvPr/>
        </p:nvGrpSpPr>
        <p:grpSpPr bwMode="auto">
          <a:xfrm>
            <a:off x="2824163" y="1647825"/>
            <a:ext cx="295275" cy="201613"/>
            <a:chOff x="1779" y="1038"/>
            <a:chExt cx="186" cy="127"/>
          </a:xfrm>
        </p:grpSpPr>
        <p:sp>
          <p:nvSpPr>
            <p:cNvPr id="487503" name="Freeform 79"/>
            <p:cNvSpPr>
              <a:spLocks/>
            </p:cNvSpPr>
            <p:nvPr/>
          </p:nvSpPr>
          <p:spPr bwMode="auto">
            <a:xfrm>
              <a:off x="1797" y="1068"/>
              <a:ext cx="168" cy="96"/>
            </a:xfrm>
            <a:custGeom>
              <a:avLst/>
              <a:gdLst>
                <a:gd name="T0" fmla="*/ 0 w 168"/>
                <a:gd name="T1" fmla="*/ 0 h 96"/>
                <a:gd name="T2" fmla="*/ 0 w 168"/>
                <a:gd name="T3" fmla="*/ 12 h 96"/>
                <a:gd name="T4" fmla="*/ 12 w 168"/>
                <a:gd name="T5" fmla="*/ 24 h 96"/>
                <a:gd name="T6" fmla="*/ 36 w 168"/>
                <a:gd name="T7" fmla="*/ 36 h 96"/>
                <a:gd name="T8" fmla="*/ 60 w 168"/>
                <a:gd name="T9" fmla="*/ 48 h 96"/>
                <a:gd name="T10" fmla="*/ 84 w 168"/>
                <a:gd name="T11" fmla="*/ 72 h 96"/>
                <a:gd name="T12" fmla="*/ 96 w 168"/>
                <a:gd name="T13" fmla="*/ 84 h 96"/>
                <a:gd name="T14" fmla="*/ 120 w 168"/>
                <a:gd name="T15" fmla="*/ 96 h 96"/>
                <a:gd name="T16" fmla="*/ 144 w 168"/>
                <a:gd name="T17" fmla="*/ 96 h 96"/>
                <a:gd name="T18" fmla="*/ 156 w 168"/>
                <a:gd name="T19" fmla="*/ 96 h 96"/>
                <a:gd name="T20" fmla="*/ 168 w 168"/>
                <a:gd name="T21" fmla="*/ 96 h 96"/>
                <a:gd name="T22" fmla="*/ 156 w 168"/>
                <a:gd name="T23" fmla="*/ 84 h 96"/>
                <a:gd name="T24" fmla="*/ 144 w 168"/>
                <a:gd name="T25" fmla="*/ 60 h 96"/>
                <a:gd name="T26" fmla="*/ 120 w 168"/>
                <a:gd name="T27" fmla="*/ 48 h 96"/>
                <a:gd name="T28" fmla="*/ 96 w 168"/>
                <a:gd name="T29" fmla="*/ 36 h 96"/>
                <a:gd name="T30" fmla="*/ 72 w 168"/>
                <a:gd name="T31" fmla="*/ 24 h 96"/>
                <a:gd name="T32" fmla="*/ 48 w 168"/>
                <a:gd name="T33" fmla="*/ 12 h 96"/>
                <a:gd name="T34" fmla="*/ 24 w 168"/>
                <a:gd name="T35" fmla="*/ 0 h 96"/>
                <a:gd name="T36" fmla="*/ 12 w 168"/>
                <a:gd name="T37" fmla="*/ 0 h 96"/>
                <a:gd name="T38" fmla="*/ 0 w 168"/>
                <a:gd name="T39" fmla="*/ 0 h 96"/>
                <a:gd name="T40" fmla="*/ 0 w 168"/>
                <a:gd name="T41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8" h="96">
                  <a:moveTo>
                    <a:pt x="0" y="0"/>
                  </a:moveTo>
                  <a:lnTo>
                    <a:pt x="0" y="12"/>
                  </a:lnTo>
                  <a:lnTo>
                    <a:pt x="12" y="24"/>
                  </a:lnTo>
                  <a:lnTo>
                    <a:pt x="36" y="36"/>
                  </a:lnTo>
                  <a:lnTo>
                    <a:pt x="60" y="48"/>
                  </a:lnTo>
                  <a:lnTo>
                    <a:pt x="84" y="72"/>
                  </a:lnTo>
                  <a:lnTo>
                    <a:pt x="96" y="84"/>
                  </a:lnTo>
                  <a:lnTo>
                    <a:pt x="120" y="96"/>
                  </a:lnTo>
                  <a:lnTo>
                    <a:pt x="144" y="96"/>
                  </a:lnTo>
                  <a:lnTo>
                    <a:pt x="156" y="96"/>
                  </a:lnTo>
                  <a:lnTo>
                    <a:pt x="168" y="96"/>
                  </a:lnTo>
                  <a:lnTo>
                    <a:pt x="156" y="84"/>
                  </a:lnTo>
                  <a:lnTo>
                    <a:pt x="144" y="60"/>
                  </a:lnTo>
                  <a:lnTo>
                    <a:pt x="120" y="48"/>
                  </a:lnTo>
                  <a:lnTo>
                    <a:pt x="96" y="36"/>
                  </a:lnTo>
                  <a:lnTo>
                    <a:pt x="72" y="24"/>
                  </a:lnTo>
                  <a:lnTo>
                    <a:pt x="48" y="12"/>
                  </a:lnTo>
                  <a:lnTo>
                    <a:pt x="24" y="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04" name="Line 80"/>
            <p:cNvSpPr>
              <a:spLocks noChangeShapeType="1"/>
            </p:cNvSpPr>
            <p:nvPr/>
          </p:nvSpPr>
          <p:spPr bwMode="auto">
            <a:xfrm>
              <a:off x="1797" y="1068"/>
              <a:ext cx="1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05" name="Line 81"/>
            <p:cNvSpPr>
              <a:spLocks noChangeShapeType="1"/>
            </p:cNvSpPr>
            <p:nvPr/>
          </p:nvSpPr>
          <p:spPr bwMode="auto">
            <a:xfrm>
              <a:off x="1797" y="1080"/>
              <a:ext cx="12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06" name="Line 82"/>
            <p:cNvSpPr>
              <a:spLocks noChangeShapeType="1"/>
            </p:cNvSpPr>
            <p:nvPr/>
          </p:nvSpPr>
          <p:spPr bwMode="auto">
            <a:xfrm>
              <a:off x="1809" y="1092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07" name="Line 83"/>
            <p:cNvSpPr>
              <a:spLocks noChangeShapeType="1"/>
            </p:cNvSpPr>
            <p:nvPr/>
          </p:nvSpPr>
          <p:spPr bwMode="auto">
            <a:xfrm>
              <a:off x="1833" y="1104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08" name="Line 84"/>
            <p:cNvSpPr>
              <a:spLocks noChangeShapeType="1"/>
            </p:cNvSpPr>
            <p:nvPr/>
          </p:nvSpPr>
          <p:spPr bwMode="auto">
            <a:xfrm>
              <a:off x="1857" y="1116"/>
              <a:ext cx="24" cy="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09" name="Line 85"/>
            <p:cNvSpPr>
              <a:spLocks noChangeShapeType="1"/>
            </p:cNvSpPr>
            <p:nvPr/>
          </p:nvSpPr>
          <p:spPr bwMode="auto">
            <a:xfrm>
              <a:off x="1881" y="1140"/>
              <a:ext cx="12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10" name="Line 86"/>
            <p:cNvSpPr>
              <a:spLocks noChangeShapeType="1"/>
            </p:cNvSpPr>
            <p:nvPr/>
          </p:nvSpPr>
          <p:spPr bwMode="auto">
            <a:xfrm>
              <a:off x="1893" y="1152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11" name="Line 87"/>
            <p:cNvSpPr>
              <a:spLocks noChangeShapeType="1"/>
            </p:cNvSpPr>
            <p:nvPr/>
          </p:nvSpPr>
          <p:spPr bwMode="auto">
            <a:xfrm>
              <a:off x="1917" y="1164"/>
              <a:ext cx="2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12" name="Line 88"/>
            <p:cNvSpPr>
              <a:spLocks noChangeShapeType="1"/>
            </p:cNvSpPr>
            <p:nvPr/>
          </p:nvSpPr>
          <p:spPr bwMode="auto">
            <a:xfrm>
              <a:off x="1941" y="1164"/>
              <a:ext cx="1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13" name="Line 89"/>
            <p:cNvSpPr>
              <a:spLocks noChangeShapeType="1"/>
            </p:cNvSpPr>
            <p:nvPr/>
          </p:nvSpPr>
          <p:spPr bwMode="auto">
            <a:xfrm>
              <a:off x="1953" y="1164"/>
              <a:ext cx="1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14" name="Line 90"/>
            <p:cNvSpPr>
              <a:spLocks noChangeShapeType="1"/>
            </p:cNvSpPr>
            <p:nvPr/>
          </p:nvSpPr>
          <p:spPr bwMode="auto">
            <a:xfrm flipH="1" flipV="1">
              <a:off x="1953" y="1152"/>
              <a:ext cx="12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15" name="Line 91"/>
            <p:cNvSpPr>
              <a:spLocks noChangeShapeType="1"/>
            </p:cNvSpPr>
            <p:nvPr/>
          </p:nvSpPr>
          <p:spPr bwMode="auto">
            <a:xfrm flipH="1" flipV="1">
              <a:off x="1941" y="1128"/>
              <a:ext cx="12" cy="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16" name="Line 92"/>
            <p:cNvSpPr>
              <a:spLocks noChangeShapeType="1"/>
            </p:cNvSpPr>
            <p:nvPr/>
          </p:nvSpPr>
          <p:spPr bwMode="auto">
            <a:xfrm flipH="1" flipV="1">
              <a:off x="1917" y="1116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17" name="Line 93"/>
            <p:cNvSpPr>
              <a:spLocks noChangeShapeType="1"/>
            </p:cNvSpPr>
            <p:nvPr/>
          </p:nvSpPr>
          <p:spPr bwMode="auto">
            <a:xfrm flipH="1" flipV="1">
              <a:off x="1893" y="1104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18" name="Line 94"/>
            <p:cNvSpPr>
              <a:spLocks noChangeShapeType="1"/>
            </p:cNvSpPr>
            <p:nvPr/>
          </p:nvSpPr>
          <p:spPr bwMode="auto">
            <a:xfrm flipH="1" flipV="1">
              <a:off x="1869" y="1092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19" name="Line 95"/>
            <p:cNvSpPr>
              <a:spLocks noChangeShapeType="1"/>
            </p:cNvSpPr>
            <p:nvPr/>
          </p:nvSpPr>
          <p:spPr bwMode="auto">
            <a:xfrm flipH="1" flipV="1">
              <a:off x="1845" y="1080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20" name="Line 96"/>
            <p:cNvSpPr>
              <a:spLocks noChangeShapeType="1"/>
            </p:cNvSpPr>
            <p:nvPr/>
          </p:nvSpPr>
          <p:spPr bwMode="auto">
            <a:xfrm flipH="1" flipV="1">
              <a:off x="1821" y="1068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21" name="Line 97"/>
            <p:cNvSpPr>
              <a:spLocks noChangeShapeType="1"/>
            </p:cNvSpPr>
            <p:nvPr/>
          </p:nvSpPr>
          <p:spPr bwMode="auto">
            <a:xfrm flipH="1">
              <a:off x="1809" y="1068"/>
              <a:ext cx="1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22" name="Line 98"/>
            <p:cNvSpPr>
              <a:spLocks noChangeShapeType="1"/>
            </p:cNvSpPr>
            <p:nvPr/>
          </p:nvSpPr>
          <p:spPr bwMode="auto">
            <a:xfrm flipH="1">
              <a:off x="1797" y="1068"/>
              <a:ext cx="1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23" name="Oval 99"/>
            <p:cNvSpPr>
              <a:spLocks noChangeArrowheads="1"/>
            </p:cNvSpPr>
            <p:nvPr/>
          </p:nvSpPr>
          <p:spPr bwMode="auto">
            <a:xfrm>
              <a:off x="1779" y="1038"/>
              <a:ext cx="84" cy="96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</p:grpSp>
      <p:grpSp>
        <p:nvGrpSpPr>
          <p:cNvPr id="487546" name="Group 122"/>
          <p:cNvGrpSpPr>
            <a:grpSpLocks/>
          </p:cNvGrpSpPr>
          <p:nvPr/>
        </p:nvGrpSpPr>
        <p:grpSpPr bwMode="auto">
          <a:xfrm>
            <a:off x="2862263" y="1951038"/>
            <a:ext cx="295275" cy="201612"/>
            <a:chOff x="1803" y="1229"/>
            <a:chExt cx="186" cy="127"/>
          </a:xfrm>
        </p:grpSpPr>
        <p:sp>
          <p:nvSpPr>
            <p:cNvPr id="487525" name="Freeform 101"/>
            <p:cNvSpPr>
              <a:spLocks/>
            </p:cNvSpPr>
            <p:nvPr/>
          </p:nvSpPr>
          <p:spPr bwMode="auto">
            <a:xfrm>
              <a:off x="1821" y="1259"/>
              <a:ext cx="168" cy="96"/>
            </a:xfrm>
            <a:custGeom>
              <a:avLst/>
              <a:gdLst>
                <a:gd name="T0" fmla="*/ 0 w 168"/>
                <a:gd name="T1" fmla="*/ 0 h 96"/>
                <a:gd name="T2" fmla="*/ 0 w 168"/>
                <a:gd name="T3" fmla="*/ 12 h 96"/>
                <a:gd name="T4" fmla="*/ 12 w 168"/>
                <a:gd name="T5" fmla="*/ 24 h 96"/>
                <a:gd name="T6" fmla="*/ 36 w 168"/>
                <a:gd name="T7" fmla="*/ 36 h 96"/>
                <a:gd name="T8" fmla="*/ 60 w 168"/>
                <a:gd name="T9" fmla="*/ 48 h 96"/>
                <a:gd name="T10" fmla="*/ 84 w 168"/>
                <a:gd name="T11" fmla="*/ 72 h 96"/>
                <a:gd name="T12" fmla="*/ 96 w 168"/>
                <a:gd name="T13" fmla="*/ 84 h 96"/>
                <a:gd name="T14" fmla="*/ 120 w 168"/>
                <a:gd name="T15" fmla="*/ 96 h 96"/>
                <a:gd name="T16" fmla="*/ 144 w 168"/>
                <a:gd name="T17" fmla="*/ 96 h 96"/>
                <a:gd name="T18" fmla="*/ 156 w 168"/>
                <a:gd name="T19" fmla="*/ 96 h 96"/>
                <a:gd name="T20" fmla="*/ 168 w 168"/>
                <a:gd name="T21" fmla="*/ 96 h 96"/>
                <a:gd name="T22" fmla="*/ 156 w 168"/>
                <a:gd name="T23" fmla="*/ 84 h 96"/>
                <a:gd name="T24" fmla="*/ 144 w 168"/>
                <a:gd name="T25" fmla="*/ 60 h 96"/>
                <a:gd name="T26" fmla="*/ 120 w 168"/>
                <a:gd name="T27" fmla="*/ 48 h 96"/>
                <a:gd name="T28" fmla="*/ 96 w 168"/>
                <a:gd name="T29" fmla="*/ 36 h 96"/>
                <a:gd name="T30" fmla="*/ 72 w 168"/>
                <a:gd name="T31" fmla="*/ 24 h 96"/>
                <a:gd name="T32" fmla="*/ 48 w 168"/>
                <a:gd name="T33" fmla="*/ 12 h 96"/>
                <a:gd name="T34" fmla="*/ 24 w 168"/>
                <a:gd name="T35" fmla="*/ 0 h 96"/>
                <a:gd name="T36" fmla="*/ 12 w 168"/>
                <a:gd name="T37" fmla="*/ 0 h 96"/>
                <a:gd name="T38" fmla="*/ 0 w 168"/>
                <a:gd name="T39" fmla="*/ 0 h 96"/>
                <a:gd name="T40" fmla="*/ 0 w 168"/>
                <a:gd name="T41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8" h="96">
                  <a:moveTo>
                    <a:pt x="0" y="0"/>
                  </a:moveTo>
                  <a:lnTo>
                    <a:pt x="0" y="12"/>
                  </a:lnTo>
                  <a:lnTo>
                    <a:pt x="12" y="24"/>
                  </a:lnTo>
                  <a:lnTo>
                    <a:pt x="36" y="36"/>
                  </a:lnTo>
                  <a:lnTo>
                    <a:pt x="60" y="48"/>
                  </a:lnTo>
                  <a:lnTo>
                    <a:pt x="84" y="72"/>
                  </a:lnTo>
                  <a:lnTo>
                    <a:pt x="96" y="84"/>
                  </a:lnTo>
                  <a:lnTo>
                    <a:pt x="120" y="96"/>
                  </a:lnTo>
                  <a:lnTo>
                    <a:pt x="144" y="96"/>
                  </a:lnTo>
                  <a:lnTo>
                    <a:pt x="156" y="96"/>
                  </a:lnTo>
                  <a:lnTo>
                    <a:pt x="168" y="96"/>
                  </a:lnTo>
                  <a:lnTo>
                    <a:pt x="156" y="84"/>
                  </a:lnTo>
                  <a:lnTo>
                    <a:pt x="144" y="60"/>
                  </a:lnTo>
                  <a:lnTo>
                    <a:pt x="120" y="48"/>
                  </a:lnTo>
                  <a:lnTo>
                    <a:pt x="96" y="36"/>
                  </a:lnTo>
                  <a:lnTo>
                    <a:pt x="72" y="24"/>
                  </a:lnTo>
                  <a:lnTo>
                    <a:pt x="48" y="12"/>
                  </a:lnTo>
                  <a:lnTo>
                    <a:pt x="24" y="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26" name="Line 102"/>
            <p:cNvSpPr>
              <a:spLocks noChangeShapeType="1"/>
            </p:cNvSpPr>
            <p:nvPr/>
          </p:nvSpPr>
          <p:spPr bwMode="auto">
            <a:xfrm>
              <a:off x="1821" y="1259"/>
              <a:ext cx="1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27" name="Line 103"/>
            <p:cNvSpPr>
              <a:spLocks noChangeShapeType="1"/>
            </p:cNvSpPr>
            <p:nvPr/>
          </p:nvSpPr>
          <p:spPr bwMode="auto">
            <a:xfrm>
              <a:off x="1821" y="1271"/>
              <a:ext cx="12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28" name="Line 104"/>
            <p:cNvSpPr>
              <a:spLocks noChangeShapeType="1"/>
            </p:cNvSpPr>
            <p:nvPr/>
          </p:nvSpPr>
          <p:spPr bwMode="auto">
            <a:xfrm>
              <a:off x="1833" y="1283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29" name="Line 105"/>
            <p:cNvSpPr>
              <a:spLocks noChangeShapeType="1"/>
            </p:cNvSpPr>
            <p:nvPr/>
          </p:nvSpPr>
          <p:spPr bwMode="auto">
            <a:xfrm>
              <a:off x="1857" y="1295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30" name="Line 106"/>
            <p:cNvSpPr>
              <a:spLocks noChangeShapeType="1"/>
            </p:cNvSpPr>
            <p:nvPr/>
          </p:nvSpPr>
          <p:spPr bwMode="auto">
            <a:xfrm>
              <a:off x="1881" y="1307"/>
              <a:ext cx="24" cy="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31" name="Line 107"/>
            <p:cNvSpPr>
              <a:spLocks noChangeShapeType="1"/>
            </p:cNvSpPr>
            <p:nvPr/>
          </p:nvSpPr>
          <p:spPr bwMode="auto">
            <a:xfrm>
              <a:off x="1905" y="1331"/>
              <a:ext cx="12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32" name="Line 108"/>
            <p:cNvSpPr>
              <a:spLocks noChangeShapeType="1"/>
            </p:cNvSpPr>
            <p:nvPr/>
          </p:nvSpPr>
          <p:spPr bwMode="auto">
            <a:xfrm>
              <a:off x="1917" y="1343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33" name="Line 109"/>
            <p:cNvSpPr>
              <a:spLocks noChangeShapeType="1"/>
            </p:cNvSpPr>
            <p:nvPr/>
          </p:nvSpPr>
          <p:spPr bwMode="auto">
            <a:xfrm>
              <a:off x="1941" y="1355"/>
              <a:ext cx="2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34" name="Line 110"/>
            <p:cNvSpPr>
              <a:spLocks noChangeShapeType="1"/>
            </p:cNvSpPr>
            <p:nvPr/>
          </p:nvSpPr>
          <p:spPr bwMode="auto">
            <a:xfrm>
              <a:off x="1965" y="1355"/>
              <a:ext cx="1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35" name="Line 111"/>
            <p:cNvSpPr>
              <a:spLocks noChangeShapeType="1"/>
            </p:cNvSpPr>
            <p:nvPr/>
          </p:nvSpPr>
          <p:spPr bwMode="auto">
            <a:xfrm>
              <a:off x="1977" y="1355"/>
              <a:ext cx="1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36" name="Line 112"/>
            <p:cNvSpPr>
              <a:spLocks noChangeShapeType="1"/>
            </p:cNvSpPr>
            <p:nvPr/>
          </p:nvSpPr>
          <p:spPr bwMode="auto">
            <a:xfrm flipH="1" flipV="1">
              <a:off x="1977" y="1343"/>
              <a:ext cx="12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37" name="Line 113"/>
            <p:cNvSpPr>
              <a:spLocks noChangeShapeType="1"/>
            </p:cNvSpPr>
            <p:nvPr/>
          </p:nvSpPr>
          <p:spPr bwMode="auto">
            <a:xfrm flipH="1" flipV="1">
              <a:off x="1965" y="1319"/>
              <a:ext cx="12" cy="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38" name="Line 114"/>
            <p:cNvSpPr>
              <a:spLocks noChangeShapeType="1"/>
            </p:cNvSpPr>
            <p:nvPr/>
          </p:nvSpPr>
          <p:spPr bwMode="auto">
            <a:xfrm flipH="1" flipV="1">
              <a:off x="1941" y="1307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39" name="Line 115"/>
            <p:cNvSpPr>
              <a:spLocks noChangeShapeType="1"/>
            </p:cNvSpPr>
            <p:nvPr/>
          </p:nvSpPr>
          <p:spPr bwMode="auto">
            <a:xfrm flipH="1" flipV="1">
              <a:off x="1917" y="1295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40" name="Line 116"/>
            <p:cNvSpPr>
              <a:spLocks noChangeShapeType="1"/>
            </p:cNvSpPr>
            <p:nvPr/>
          </p:nvSpPr>
          <p:spPr bwMode="auto">
            <a:xfrm flipH="1" flipV="1">
              <a:off x="1893" y="1283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41" name="Line 117"/>
            <p:cNvSpPr>
              <a:spLocks noChangeShapeType="1"/>
            </p:cNvSpPr>
            <p:nvPr/>
          </p:nvSpPr>
          <p:spPr bwMode="auto">
            <a:xfrm flipH="1" flipV="1">
              <a:off x="1869" y="1271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42" name="Line 118"/>
            <p:cNvSpPr>
              <a:spLocks noChangeShapeType="1"/>
            </p:cNvSpPr>
            <p:nvPr/>
          </p:nvSpPr>
          <p:spPr bwMode="auto">
            <a:xfrm flipH="1" flipV="1">
              <a:off x="1845" y="1259"/>
              <a:ext cx="24" cy="1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43" name="Line 119"/>
            <p:cNvSpPr>
              <a:spLocks noChangeShapeType="1"/>
            </p:cNvSpPr>
            <p:nvPr/>
          </p:nvSpPr>
          <p:spPr bwMode="auto">
            <a:xfrm flipH="1">
              <a:off x="1833" y="1259"/>
              <a:ext cx="1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44" name="Line 120"/>
            <p:cNvSpPr>
              <a:spLocks noChangeShapeType="1"/>
            </p:cNvSpPr>
            <p:nvPr/>
          </p:nvSpPr>
          <p:spPr bwMode="auto">
            <a:xfrm flipH="1">
              <a:off x="1821" y="1259"/>
              <a:ext cx="1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CA"/>
            </a:p>
          </p:txBody>
        </p:sp>
        <p:sp>
          <p:nvSpPr>
            <p:cNvPr id="487545" name="Oval 121"/>
            <p:cNvSpPr>
              <a:spLocks noChangeArrowheads="1"/>
            </p:cNvSpPr>
            <p:nvPr/>
          </p:nvSpPr>
          <p:spPr bwMode="auto">
            <a:xfrm>
              <a:off x="1803" y="1229"/>
              <a:ext cx="84" cy="96"/>
            </a:xfrm>
            <a:prstGeom prst="ellipse">
              <a:avLst/>
            </a:prstGeom>
            <a:blipFill dpi="0" rotWithShape="0">
              <a:blip r:embed="rId2"/>
              <a:srcRect/>
              <a:tile tx="0" ty="0" sx="100000" sy="100000" flip="none" algn="tl"/>
            </a:blip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fr-CA"/>
            </a:p>
          </p:txBody>
        </p:sp>
      </p:grpSp>
      <p:sp>
        <p:nvSpPr>
          <p:cNvPr id="487547" name="Arc 123"/>
          <p:cNvSpPr>
            <a:spLocks/>
          </p:cNvSpPr>
          <p:nvPr/>
        </p:nvSpPr>
        <p:spPr bwMode="auto">
          <a:xfrm>
            <a:off x="2263775" y="1806575"/>
            <a:ext cx="228600" cy="157163"/>
          </a:xfrm>
          <a:custGeom>
            <a:avLst/>
            <a:gdLst>
              <a:gd name="G0" fmla="+- 0 0 0"/>
              <a:gd name="G1" fmla="+- 7457 0 0"/>
              <a:gd name="G2" fmla="+- 21600 0 0"/>
              <a:gd name="T0" fmla="*/ 20272 w 21600"/>
              <a:gd name="T1" fmla="*/ 0 h 14882"/>
              <a:gd name="T2" fmla="*/ 20284 w 21600"/>
              <a:gd name="T3" fmla="*/ 14882 h 14882"/>
              <a:gd name="T4" fmla="*/ 0 w 21600"/>
              <a:gd name="T5" fmla="*/ 7457 h 148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4882" fill="none" extrusionOk="0">
                <a:moveTo>
                  <a:pt x="20271" y="0"/>
                </a:moveTo>
                <a:cubicBezTo>
                  <a:pt x="21150" y="2388"/>
                  <a:pt x="21600" y="4912"/>
                  <a:pt x="21600" y="7457"/>
                </a:cubicBezTo>
                <a:cubicBezTo>
                  <a:pt x="21600" y="9990"/>
                  <a:pt x="21154" y="12503"/>
                  <a:pt x="20283" y="14881"/>
                </a:cubicBezTo>
              </a:path>
              <a:path w="21600" h="14882" stroke="0" extrusionOk="0">
                <a:moveTo>
                  <a:pt x="20271" y="0"/>
                </a:moveTo>
                <a:cubicBezTo>
                  <a:pt x="21150" y="2388"/>
                  <a:pt x="21600" y="4912"/>
                  <a:pt x="21600" y="7457"/>
                </a:cubicBezTo>
                <a:cubicBezTo>
                  <a:pt x="21600" y="9990"/>
                  <a:pt x="21154" y="12503"/>
                  <a:pt x="20283" y="14881"/>
                </a:cubicBezTo>
                <a:lnTo>
                  <a:pt x="0" y="745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48" name="Line 124"/>
          <p:cNvSpPr>
            <a:spLocks noChangeShapeType="1"/>
          </p:cNvSpPr>
          <p:nvPr/>
        </p:nvSpPr>
        <p:spPr bwMode="auto">
          <a:xfrm flipH="1">
            <a:off x="2473325" y="1884363"/>
            <a:ext cx="379413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49" name="Arc 125"/>
          <p:cNvSpPr>
            <a:spLocks/>
          </p:cNvSpPr>
          <p:nvPr/>
        </p:nvSpPr>
        <p:spPr bwMode="auto">
          <a:xfrm>
            <a:off x="2073275" y="4030663"/>
            <a:ext cx="228600" cy="157162"/>
          </a:xfrm>
          <a:custGeom>
            <a:avLst/>
            <a:gdLst>
              <a:gd name="G0" fmla="+- 21600 0 0"/>
              <a:gd name="G1" fmla="+- 7418 0 0"/>
              <a:gd name="G2" fmla="+- 21600 0 0"/>
              <a:gd name="T0" fmla="*/ 1314 w 21600"/>
              <a:gd name="T1" fmla="*/ 14836 h 14836"/>
              <a:gd name="T2" fmla="*/ 1314 w 21600"/>
              <a:gd name="T3" fmla="*/ 0 h 14836"/>
              <a:gd name="T4" fmla="*/ 21600 w 21600"/>
              <a:gd name="T5" fmla="*/ 7418 h 148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4836" fill="none" extrusionOk="0">
                <a:moveTo>
                  <a:pt x="1313" y="14836"/>
                </a:moveTo>
                <a:cubicBezTo>
                  <a:pt x="444" y="12459"/>
                  <a:pt x="0" y="9948"/>
                  <a:pt x="0" y="7418"/>
                </a:cubicBezTo>
                <a:cubicBezTo>
                  <a:pt x="0" y="4887"/>
                  <a:pt x="444" y="2376"/>
                  <a:pt x="1313" y="-1"/>
                </a:cubicBezTo>
              </a:path>
              <a:path w="21600" h="14836" stroke="0" extrusionOk="0">
                <a:moveTo>
                  <a:pt x="1313" y="14836"/>
                </a:moveTo>
                <a:cubicBezTo>
                  <a:pt x="444" y="12459"/>
                  <a:pt x="0" y="9948"/>
                  <a:pt x="0" y="7418"/>
                </a:cubicBezTo>
                <a:cubicBezTo>
                  <a:pt x="0" y="4887"/>
                  <a:pt x="444" y="2376"/>
                  <a:pt x="1313" y="-1"/>
                </a:cubicBezTo>
                <a:lnTo>
                  <a:pt x="21600" y="74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50" name="Line 126"/>
          <p:cNvSpPr>
            <a:spLocks noChangeShapeType="1"/>
          </p:cNvSpPr>
          <p:nvPr/>
        </p:nvSpPr>
        <p:spPr bwMode="auto">
          <a:xfrm>
            <a:off x="1808163" y="4108450"/>
            <a:ext cx="284162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51" name="Arc 127"/>
          <p:cNvSpPr>
            <a:spLocks/>
          </p:cNvSpPr>
          <p:nvPr/>
        </p:nvSpPr>
        <p:spPr bwMode="auto">
          <a:xfrm>
            <a:off x="2320925" y="2947988"/>
            <a:ext cx="228600" cy="155575"/>
          </a:xfrm>
          <a:custGeom>
            <a:avLst/>
            <a:gdLst>
              <a:gd name="G0" fmla="+- 21600 0 0"/>
              <a:gd name="G1" fmla="+- 7412 0 0"/>
              <a:gd name="G2" fmla="+- 21600 0 0"/>
              <a:gd name="T0" fmla="*/ 1312 w 21600"/>
              <a:gd name="T1" fmla="*/ 14824 h 14824"/>
              <a:gd name="T2" fmla="*/ 1312 w 21600"/>
              <a:gd name="T3" fmla="*/ 0 h 14824"/>
              <a:gd name="T4" fmla="*/ 21600 w 21600"/>
              <a:gd name="T5" fmla="*/ 7412 h 148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4824" fill="none" extrusionOk="0">
                <a:moveTo>
                  <a:pt x="1311" y="14824"/>
                </a:moveTo>
                <a:cubicBezTo>
                  <a:pt x="443" y="12449"/>
                  <a:pt x="0" y="9940"/>
                  <a:pt x="0" y="7412"/>
                </a:cubicBezTo>
                <a:cubicBezTo>
                  <a:pt x="0" y="4883"/>
                  <a:pt x="443" y="2374"/>
                  <a:pt x="1311" y="-1"/>
                </a:cubicBezTo>
              </a:path>
              <a:path w="21600" h="14824" stroke="0" extrusionOk="0">
                <a:moveTo>
                  <a:pt x="1311" y="14824"/>
                </a:moveTo>
                <a:cubicBezTo>
                  <a:pt x="443" y="12449"/>
                  <a:pt x="0" y="9940"/>
                  <a:pt x="0" y="7412"/>
                </a:cubicBezTo>
                <a:cubicBezTo>
                  <a:pt x="0" y="4883"/>
                  <a:pt x="443" y="2374"/>
                  <a:pt x="1311" y="-1"/>
                </a:cubicBezTo>
                <a:lnTo>
                  <a:pt x="21600" y="74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52" name="Line 128"/>
          <p:cNvSpPr>
            <a:spLocks noChangeShapeType="1"/>
          </p:cNvSpPr>
          <p:nvPr/>
        </p:nvSpPr>
        <p:spPr bwMode="auto">
          <a:xfrm>
            <a:off x="2054225" y="3025775"/>
            <a:ext cx="28575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53" name="Arc 129"/>
          <p:cNvSpPr>
            <a:spLocks/>
          </p:cNvSpPr>
          <p:nvPr/>
        </p:nvSpPr>
        <p:spPr bwMode="auto">
          <a:xfrm>
            <a:off x="3517900" y="2947988"/>
            <a:ext cx="228600" cy="157162"/>
          </a:xfrm>
          <a:custGeom>
            <a:avLst/>
            <a:gdLst>
              <a:gd name="G0" fmla="+- 21600 0 0"/>
              <a:gd name="G1" fmla="+- 7441 0 0"/>
              <a:gd name="G2" fmla="+- 21600 0 0"/>
              <a:gd name="T0" fmla="*/ 1322 w 21600"/>
              <a:gd name="T1" fmla="*/ 14882 h 14882"/>
              <a:gd name="T2" fmla="*/ 1322 w 21600"/>
              <a:gd name="T3" fmla="*/ 0 h 14882"/>
              <a:gd name="T4" fmla="*/ 21600 w 21600"/>
              <a:gd name="T5" fmla="*/ 7441 h 148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4882" fill="none" extrusionOk="0">
                <a:moveTo>
                  <a:pt x="1322" y="14881"/>
                </a:moveTo>
                <a:cubicBezTo>
                  <a:pt x="447" y="12498"/>
                  <a:pt x="0" y="9979"/>
                  <a:pt x="0" y="7441"/>
                </a:cubicBezTo>
                <a:cubicBezTo>
                  <a:pt x="0" y="4902"/>
                  <a:pt x="447" y="2383"/>
                  <a:pt x="1322" y="0"/>
                </a:cubicBezTo>
              </a:path>
              <a:path w="21600" h="14882" stroke="0" extrusionOk="0">
                <a:moveTo>
                  <a:pt x="1322" y="14881"/>
                </a:moveTo>
                <a:cubicBezTo>
                  <a:pt x="447" y="12498"/>
                  <a:pt x="0" y="9979"/>
                  <a:pt x="0" y="7441"/>
                </a:cubicBezTo>
                <a:cubicBezTo>
                  <a:pt x="0" y="4902"/>
                  <a:pt x="447" y="2383"/>
                  <a:pt x="1322" y="0"/>
                </a:cubicBezTo>
                <a:lnTo>
                  <a:pt x="21600" y="74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54" name="Line 130"/>
          <p:cNvSpPr>
            <a:spLocks noChangeShapeType="1"/>
          </p:cNvSpPr>
          <p:nvPr/>
        </p:nvSpPr>
        <p:spPr bwMode="auto">
          <a:xfrm>
            <a:off x="3252788" y="3025775"/>
            <a:ext cx="284162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55" name="Arc 131"/>
          <p:cNvSpPr>
            <a:spLocks/>
          </p:cNvSpPr>
          <p:nvPr/>
        </p:nvSpPr>
        <p:spPr bwMode="auto">
          <a:xfrm>
            <a:off x="5095875" y="2947988"/>
            <a:ext cx="228600" cy="155575"/>
          </a:xfrm>
          <a:custGeom>
            <a:avLst/>
            <a:gdLst>
              <a:gd name="G0" fmla="+- 21600 0 0"/>
              <a:gd name="G1" fmla="+- 7412 0 0"/>
              <a:gd name="G2" fmla="+- 21600 0 0"/>
              <a:gd name="T0" fmla="*/ 1312 w 21600"/>
              <a:gd name="T1" fmla="*/ 14824 h 14824"/>
              <a:gd name="T2" fmla="*/ 1312 w 21600"/>
              <a:gd name="T3" fmla="*/ 0 h 14824"/>
              <a:gd name="T4" fmla="*/ 21600 w 21600"/>
              <a:gd name="T5" fmla="*/ 7412 h 148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4824" fill="none" extrusionOk="0">
                <a:moveTo>
                  <a:pt x="1311" y="14824"/>
                </a:moveTo>
                <a:cubicBezTo>
                  <a:pt x="443" y="12449"/>
                  <a:pt x="0" y="9940"/>
                  <a:pt x="0" y="7412"/>
                </a:cubicBezTo>
                <a:cubicBezTo>
                  <a:pt x="0" y="4883"/>
                  <a:pt x="443" y="2374"/>
                  <a:pt x="1311" y="-1"/>
                </a:cubicBezTo>
              </a:path>
              <a:path w="21600" h="14824" stroke="0" extrusionOk="0">
                <a:moveTo>
                  <a:pt x="1311" y="14824"/>
                </a:moveTo>
                <a:cubicBezTo>
                  <a:pt x="443" y="12449"/>
                  <a:pt x="0" y="9940"/>
                  <a:pt x="0" y="7412"/>
                </a:cubicBezTo>
                <a:cubicBezTo>
                  <a:pt x="0" y="4883"/>
                  <a:pt x="443" y="2374"/>
                  <a:pt x="1311" y="-1"/>
                </a:cubicBezTo>
                <a:lnTo>
                  <a:pt x="21600" y="74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56" name="Line 132"/>
          <p:cNvSpPr>
            <a:spLocks noChangeShapeType="1"/>
          </p:cNvSpPr>
          <p:nvPr/>
        </p:nvSpPr>
        <p:spPr bwMode="auto">
          <a:xfrm>
            <a:off x="4829175" y="3025775"/>
            <a:ext cx="28575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57" name="Arc 133"/>
          <p:cNvSpPr>
            <a:spLocks/>
          </p:cNvSpPr>
          <p:nvPr/>
        </p:nvSpPr>
        <p:spPr bwMode="auto">
          <a:xfrm>
            <a:off x="6464300" y="2947988"/>
            <a:ext cx="228600" cy="155575"/>
          </a:xfrm>
          <a:custGeom>
            <a:avLst/>
            <a:gdLst>
              <a:gd name="G0" fmla="+- 21600 0 0"/>
              <a:gd name="G1" fmla="+- 7412 0 0"/>
              <a:gd name="G2" fmla="+- 21600 0 0"/>
              <a:gd name="T0" fmla="*/ 1312 w 21600"/>
              <a:gd name="T1" fmla="*/ 14824 h 14824"/>
              <a:gd name="T2" fmla="*/ 1312 w 21600"/>
              <a:gd name="T3" fmla="*/ 0 h 14824"/>
              <a:gd name="T4" fmla="*/ 21600 w 21600"/>
              <a:gd name="T5" fmla="*/ 7412 h 148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4824" fill="none" extrusionOk="0">
                <a:moveTo>
                  <a:pt x="1311" y="14824"/>
                </a:moveTo>
                <a:cubicBezTo>
                  <a:pt x="443" y="12449"/>
                  <a:pt x="0" y="9940"/>
                  <a:pt x="0" y="7412"/>
                </a:cubicBezTo>
                <a:cubicBezTo>
                  <a:pt x="0" y="4883"/>
                  <a:pt x="443" y="2374"/>
                  <a:pt x="1311" y="-1"/>
                </a:cubicBezTo>
              </a:path>
              <a:path w="21600" h="14824" stroke="0" extrusionOk="0">
                <a:moveTo>
                  <a:pt x="1311" y="14824"/>
                </a:moveTo>
                <a:cubicBezTo>
                  <a:pt x="443" y="12449"/>
                  <a:pt x="0" y="9940"/>
                  <a:pt x="0" y="7412"/>
                </a:cubicBezTo>
                <a:cubicBezTo>
                  <a:pt x="0" y="4883"/>
                  <a:pt x="443" y="2374"/>
                  <a:pt x="1311" y="-1"/>
                </a:cubicBezTo>
                <a:lnTo>
                  <a:pt x="21600" y="74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58" name="Line 134"/>
          <p:cNvSpPr>
            <a:spLocks noChangeShapeType="1"/>
          </p:cNvSpPr>
          <p:nvPr/>
        </p:nvSpPr>
        <p:spPr bwMode="auto">
          <a:xfrm>
            <a:off x="6197600" y="3025775"/>
            <a:ext cx="28575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59" name="AutoShape 135"/>
          <p:cNvSpPr>
            <a:spLocks noChangeArrowheads="1"/>
          </p:cNvSpPr>
          <p:nvPr/>
        </p:nvSpPr>
        <p:spPr bwMode="auto">
          <a:xfrm>
            <a:off x="6681788" y="2806700"/>
            <a:ext cx="950912" cy="47466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60" name="Arc 136"/>
          <p:cNvSpPr>
            <a:spLocks/>
          </p:cNvSpPr>
          <p:nvPr/>
        </p:nvSpPr>
        <p:spPr bwMode="auto">
          <a:xfrm>
            <a:off x="7908925" y="2947988"/>
            <a:ext cx="228600" cy="155575"/>
          </a:xfrm>
          <a:custGeom>
            <a:avLst/>
            <a:gdLst>
              <a:gd name="G0" fmla="+- 21600 0 0"/>
              <a:gd name="G1" fmla="+- 7412 0 0"/>
              <a:gd name="G2" fmla="+- 21600 0 0"/>
              <a:gd name="T0" fmla="*/ 1312 w 21600"/>
              <a:gd name="T1" fmla="*/ 14824 h 14824"/>
              <a:gd name="T2" fmla="*/ 1312 w 21600"/>
              <a:gd name="T3" fmla="*/ 0 h 14824"/>
              <a:gd name="T4" fmla="*/ 21600 w 21600"/>
              <a:gd name="T5" fmla="*/ 7412 h 148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4824" fill="none" extrusionOk="0">
                <a:moveTo>
                  <a:pt x="1311" y="14824"/>
                </a:moveTo>
                <a:cubicBezTo>
                  <a:pt x="443" y="12449"/>
                  <a:pt x="0" y="9940"/>
                  <a:pt x="0" y="7412"/>
                </a:cubicBezTo>
                <a:cubicBezTo>
                  <a:pt x="0" y="4883"/>
                  <a:pt x="443" y="2374"/>
                  <a:pt x="1311" y="-1"/>
                </a:cubicBezTo>
              </a:path>
              <a:path w="21600" h="14824" stroke="0" extrusionOk="0">
                <a:moveTo>
                  <a:pt x="1311" y="14824"/>
                </a:moveTo>
                <a:cubicBezTo>
                  <a:pt x="443" y="12449"/>
                  <a:pt x="0" y="9940"/>
                  <a:pt x="0" y="7412"/>
                </a:cubicBezTo>
                <a:cubicBezTo>
                  <a:pt x="0" y="4883"/>
                  <a:pt x="443" y="2374"/>
                  <a:pt x="1311" y="-1"/>
                </a:cubicBezTo>
                <a:lnTo>
                  <a:pt x="21600" y="74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61" name="Line 137"/>
          <p:cNvSpPr>
            <a:spLocks noChangeShapeType="1"/>
          </p:cNvSpPr>
          <p:nvPr/>
        </p:nvSpPr>
        <p:spPr bwMode="auto">
          <a:xfrm>
            <a:off x="7642225" y="3025775"/>
            <a:ext cx="28575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62" name="AutoShape 138"/>
          <p:cNvSpPr>
            <a:spLocks noChangeArrowheads="1"/>
          </p:cNvSpPr>
          <p:nvPr/>
        </p:nvSpPr>
        <p:spPr bwMode="auto">
          <a:xfrm>
            <a:off x="8145463" y="2806700"/>
            <a:ext cx="817562" cy="47466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63" name="AutoShape 139"/>
          <p:cNvSpPr>
            <a:spLocks noChangeArrowheads="1"/>
          </p:cNvSpPr>
          <p:nvPr/>
        </p:nvSpPr>
        <p:spPr bwMode="auto">
          <a:xfrm>
            <a:off x="8145463" y="4137025"/>
            <a:ext cx="817562" cy="49371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64" name="Arc 140"/>
          <p:cNvSpPr>
            <a:spLocks/>
          </p:cNvSpPr>
          <p:nvPr/>
        </p:nvSpPr>
        <p:spPr bwMode="auto">
          <a:xfrm>
            <a:off x="7623175" y="4278313"/>
            <a:ext cx="228600" cy="157162"/>
          </a:xfrm>
          <a:custGeom>
            <a:avLst/>
            <a:gdLst>
              <a:gd name="G0" fmla="+- 0 0 0"/>
              <a:gd name="G1" fmla="+- 7441 0 0"/>
              <a:gd name="G2" fmla="+- 21600 0 0"/>
              <a:gd name="T0" fmla="*/ 20278 w 21600"/>
              <a:gd name="T1" fmla="*/ 0 h 14882"/>
              <a:gd name="T2" fmla="*/ 20278 w 21600"/>
              <a:gd name="T3" fmla="*/ 14882 h 14882"/>
              <a:gd name="T4" fmla="*/ 0 w 21600"/>
              <a:gd name="T5" fmla="*/ 7441 h 148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4882" fill="none" extrusionOk="0">
                <a:moveTo>
                  <a:pt x="20277" y="0"/>
                </a:moveTo>
                <a:cubicBezTo>
                  <a:pt x="21152" y="2383"/>
                  <a:pt x="21600" y="4902"/>
                  <a:pt x="21600" y="7441"/>
                </a:cubicBezTo>
                <a:cubicBezTo>
                  <a:pt x="21600" y="9979"/>
                  <a:pt x="21152" y="12498"/>
                  <a:pt x="20277" y="14881"/>
                </a:cubicBezTo>
              </a:path>
              <a:path w="21600" h="14882" stroke="0" extrusionOk="0">
                <a:moveTo>
                  <a:pt x="20277" y="0"/>
                </a:moveTo>
                <a:cubicBezTo>
                  <a:pt x="21152" y="2383"/>
                  <a:pt x="21600" y="4902"/>
                  <a:pt x="21600" y="7441"/>
                </a:cubicBezTo>
                <a:cubicBezTo>
                  <a:pt x="21600" y="9979"/>
                  <a:pt x="21152" y="12498"/>
                  <a:pt x="20277" y="14881"/>
                </a:cubicBezTo>
                <a:lnTo>
                  <a:pt x="0" y="744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65" name="Line 141"/>
          <p:cNvSpPr>
            <a:spLocks noChangeShapeType="1"/>
          </p:cNvSpPr>
          <p:nvPr/>
        </p:nvSpPr>
        <p:spPr bwMode="auto">
          <a:xfrm flipH="1">
            <a:off x="7832725" y="4356100"/>
            <a:ext cx="284163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66" name="AutoShape 142"/>
          <p:cNvSpPr>
            <a:spLocks noChangeArrowheads="1"/>
          </p:cNvSpPr>
          <p:nvPr/>
        </p:nvSpPr>
        <p:spPr bwMode="auto">
          <a:xfrm>
            <a:off x="6492875" y="4137025"/>
            <a:ext cx="1158875" cy="49371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67" name="Arc 143"/>
          <p:cNvSpPr>
            <a:spLocks/>
          </p:cNvSpPr>
          <p:nvPr/>
        </p:nvSpPr>
        <p:spPr bwMode="auto">
          <a:xfrm>
            <a:off x="5989638" y="4278313"/>
            <a:ext cx="228600" cy="157162"/>
          </a:xfrm>
          <a:custGeom>
            <a:avLst/>
            <a:gdLst>
              <a:gd name="G0" fmla="+- 0 0 0"/>
              <a:gd name="G1" fmla="+- 7418 0 0"/>
              <a:gd name="G2" fmla="+- 21600 0 0"/>
              <a:gd name="T0" fmla="*/ 20286 w 21600"/>
              <a:gd name="T1" fmla="*/ 0 h 14836"/>
              <a:gd name="T2" fmla="*/ 20286 w 21600"/>
              <a:gd name="T3" fmla="*/ 14836 h 14836"/>
              <a:gd name="T4" fmla="*/ 0 w 21600"/>
              <a:gd name="T5" fmla="*/ 7418 h 148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4836" fill="none" extrusionOk="0">
                <a:moveTo>
                  <a:pt x="20286" y="-1"/>
                </a:moveTo>
                <a:cubicBezTo>
                  <a:pt x="21155" y="2376"/>
                  <a:pt x="21600" y="4887"/>
                  <a:pt x="21600" y="7418"/>
                </a:cubicBezTo>
                <a:cubicBezTo>
                  <a:pt x="21600" y="9948"/>
                  <a:pt x="21155" y="12459"/>
                  <a:pt x="20286" y="14836"/>
                </a:cubicBezTo>
              </a:path>
              <a:path w="21600" h="14836" stroke="0" extrusionOk="0">
                <a:moveTo>
                  <a:pt x="20286" y="-1"/>
                </a:moveTo>
                <a:cubicBezTo>
                  <a:pt x="21155" y="2376"/>
                  <a:pt x="21600" y="4887"/>
                  <a:pt x="21600" y="7418"/>
                </a:cubicBezTo>
                <a:cubicBezTo>
                  <a:pt x="21600" y="9948"/>
                  <a:pt x="21155" y="12459"/>
                  <a:pt x="20286" y="14836"/>
                </a:cubicBezTo>
                <a:lnTo>
                  <a:pt x="0" y="74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68" name="Line 144"/>
          <p:cNvSpPr>
            <a:spLocks noChangeShapeType="1"/>
          </p:cNvSpPr>
          <p:nvPr/>
        </p:nvSpPr>
        <p:spPr bwMode="auto">
          <a:xfrm flipH="1">
            <a:off x="6197600" y="4356100"/>
            <a:ext cx="28575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grpSp>
        <p:nvGrpSpPr>
          <p:cNvPr id="487582" name="Group 158"/>
          <p:cNvGrpSpPr>
            <a:grpSpLocks/>
          </p:cNvGrpSpPr>
          <p:nvPr/>
        </p:nvGrpSpPr>
        <p:grpSpPr bwMode="auto">
          <a:xfrm>
            <a:off x="4516438" y="4318000"/>
            <a:ext cx="238125" cy="427038"/>
            <a:chOff x="2845" y="2720"/>
            <a:chExt cx="150" cy="269"/>
          </a:xfrm>
        </p:grpSpPr>
        <p:grpSp>
          <p:nvGrpSpPr>
            <p:cNvPr id="487576" name="Group 152"/>
            <p:cNvGrpSpPr>
              <a:grpSpLocks/>
            </p:cNvGrpSpPr>
            <p:nvPr/>
          </p:nvGrpSpPr>
          <p:grpSpPr bwMode="auto">
            <a:xfrm>
              <a:off x="2860" y="2720"/>
              <a:ext cx="135" cy="124"/>
              <a:chOff x="2860" y="2720"/>
              <a:chExt cx="135" cy="124"/>
            </a:xfrm>
          </p:grpSpPr>
          <p:sp>
            <p:nvSpPr>
              <p:cNvPr id="487569" name="Arc 145"/>
              <p:cNvSpPr>
                <a:spLocks/>
              </p:cNvSpPr>
              <p:nvPr/>
            </p:nvSpPr>
            <p:spPr bwMode="auto">
              <a:xfrm>
                <a:off x="2860" y="2720"/>
                <a:ext cx="135" cy="124"/>
              </a:xfrm>
              <a:custGeom>
                <a:avLst/>
                <a:gdLst>
                  <a:gd name="G0" fmla="+- 13313 0 0"/>
                  <a:gd name="G1" fmla="+- 21600 0 0"/>
                  <a:gd name="G2" fmla="+- 21600 0 0"/>
                  <a:gd name="T0" fmla="*/ 0 w 34913"/>
                  <a:gd name="T1" fmla="*/ 4590 h 32030"/>
                  <a:gd name="T2" fmla="*/ 32228 w 34913"/>
                  <a:gd name="T3" fmla="*/ 32030 h 32030"/>
                  <a:gd name="T4" fmla="*/ 13313 w 34913"/>
                  <a:gd name="T5" fmla="*/ 21600 h 320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913" h="32030" fill="none" extrusionOk="0">
                    <a:moveTo>
                      <a:pt x="0" y="4590"/>
                    </a:moveTo>
                    <a:cubicBezTo>
                      <a:pt x="3800" y="1616"/>
                      <a:pt x="8487" y="0"/>
                      <a:pt x="13313" y="0"/>
                    </a:cubicBezTo>
                    <a:cubicBezTo>
                      <a:pt x="25242" y="0"/>
                      <a:pt x="34913" y="9670"/>
                      <a:pt x="34913" y="21600"/>
                    </a:cubicBezTo>
                    <a:cubicBezTo>
                      <a:pt x="34913" y="25247"/>
                      <a:pt x="33989" y="28835"/>
                      <a:pt x="32227" y="32029"/>
                    </a:cubicBezTo>
                  </a:path>
                  <a:path w="34913" h="32030" stroke="0" extrusionOk="0">
                    <a:moveTo>
                      <a:pt x="0" y="4590"/>
                    </a:moveTo>
                    <a:cubicBezTo>
                      <a:pt x="3800" y="1616"/>
                      <a:pt x="8487" y="0"/>
                      <a:pt x="13313" y="0"/>
                    </a:cubicBezTo>
                    <a:cubicBezTo>
                      <a:pt x="25242" y="0"/>
                      <a:pt x="34913" y="9670"/>
                      <a:pt x="34913" y="21600"/>
                    </a:cubicBezTo>
                    <a:cubicBezTo>
                      <a:pt x="34913" y="25247"/>
                      <a:pt x="33989" y="28835"/>
                      <a:pt x="32227" y="32029"/>
                    </a:cubicBezTo>
                    <a:lnTo>
                      <a:pt x="13313" y="216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87570" name="Arc 146"/>
              <p:cNvSpPr>
                <a:spLocks/>
              </p:cNvSpPr>
              <p:nvPr/>
            </p:nvSpPr>
            <p:spPr bwMode="auto">
              <a:xfrm>
                <a:off x="2863" y="2726"/>
                <a:ext cx="125" cy="115"/>
              </a:xfrm>
              <a:custGeom>
                <a:avLst/>
                <a:gdLst>
                  <a:gd name="G0" fmla="+- 13313 0 0"/>
                  <a:gd name="G1" fmla="+- 21600 0 0"/>
                  <a:gd name="G2" fmla="+- 21600 0 0"/>
                  <a:gd name="T0" fmla="*/ 0 w 34913"/>
                  <a:gd name="T1" fmla="*/ 4590 h 32030"/>
                  <a:gd name="T2" fmla="*/ 32228 w 34913"/>
                  <a:gd name="T3" fmla="*/ 32030 h 32030"/>
                  <a:gd name="T4" fmla="*/ 13313 w 34913"/>
                  <a:gd name="T5" fmla="*/ 21600 h 320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4913" h="32030" fill="none" extrusionOk="0">
                    <a:moveTo>
                      <a:pt x="0" y="4590"/>
                    </a:moveTo>
                    <a:cubicBezTo>
                      <a:pt x="3800" y="1616"/>
                      <a:pt x="8487" y="0"/>
                      <a:pt x="13313" y="0"/>
                    </a:cubicBezTo>
                    <a:cubicBezTo>
                      <a:pt x="25242" y="0"/>
                      <a:pt x="34913" y="9670"/>
                      <a:pt x="34913" y="21600"/>
                    </a:cubicBezTo>
                    <a:cubicBezTo>
                      <a:pt x="34913" y="25247"/>
                      <a:pt x="33989" y="28835"/>
                      <a:pt x="32227" y="32029"/>
                    </a:cubicBezTo>
                  </a:path>
                  <a:path w="34913" h="32030" stroke="0" extrusionOk="0">
                    <a:moveTo>
                      <a:pt x="0" y="4590"/>
                    </a:moveTo>
                    <a:cubicBezTo>
                      <a:pt x="3800" y="1616"/>
                      <a:pt x="8487" y="0"/>
                      <a:pt x="13313" y="0"/>
                    </a:cubicBezTo>
                    <a:cubicBezTo>
                      <a:pt x="25242" y="0"/>
                      <a:pt x="34913" y="9670"/>
                      <a:pt x="34913" y="21600"/>
                    </a:cubicBezTo>
                    <a:cubicBezTo>
                      <a:pt x="34913" y="25247"/>
                      <a:pt x="33989" y="28835"/>
                      <a:pt x="32227" y="32029"/>
                    </a:cubicBezTo>
                    <a:lnTo>
                      <a:pt x="13313" y="2160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CA"/>
              </a:p>
            </p:txBody>
          </p:sp>
          <p:grpSp>
            <p:nvGrpSpPr>
              <p:cNvPr id="487575" name="Group 151"/>
              <p:cNvGrpSpPr>
                <a:grpSpLocks/>
              </p:cNvGrpSpPr>
              <p:nvPr/>
            </p:nvGrpSpPr>
            <p:grpSpPr bwMode="auto">
              <a:xfrm>
                <a:off x="2884" y="2744"/>
                <a:ext cx="86" cy="97"/>
                <a:chOff x="2884" y="2744"/>
                <a:chExt cx="86" cy="97"/>
              </a:xfrm>
            </p:grpSpPr>
            <p:sp>
              <p:nvSpPr>
                <p:cNvPr id="487571" name="Arc 147"/>
                <p:cNvSpPr>
                  <a:spLocks/>
                </p:cNvSpPr>
                <p:nvPr/>
              </p:nvSpPr>
              <p:spPr bwMode="auto">
                <a:xfrm>
                  <a:off x="2884" y="2744"/>
                  <a:ext cx="86" cy="97"/>
                </a:xfrm>
                <a:custGeom>
                  <a:avLst/>
                  <a:gdLst>
                    <a:gd name="G0" fmla="+- 13203 0 0"/>
                    <a:gd name="G1" fmla="+- 21600 0 0"/>
                    <a:gd name="G2" fmla="+- 21600 0 0"/>
                    <a:gd name="T0" fmla="*/ 0 w 34803"/>
                    <a:gd name="T1" fmla="*/ 4505 h 32005"/>
                    <a:gd name="T2" fmla="*/ 32132 w 34803"/>
                    <a:gd name="T3" fmla="*/ 32005 h 32005"/>
                    <a:gd name="T4" fmla="*/ 13203 w 34803"/>
                    <a:gd name="T5" fmla="*/ 21600 h 320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4803" h="32005" fill="none" extrusionOk="0">
                      <a:moveTo>
                        <a:pt x="-1" y="4504"/>
                      </a:moveTo>
                      <a:cubicBezTo>
                        <a:pt x="3781" y="1584"/>
                        <a:pt x="8424" y="0"/>
                        <a:pt x="13203" y="0"/>
                      </a:cubicBezTo>
                      <a:cubicBezTo>
                        <a:pt x="25132" y="0"/>
                        <a:pt x="34803" y="9670"/>
                        <a:pt x="34803" y="21600"/>
                      </a:cubicBezTo>
                      <a:cubicBezTo>
                        <a:pt x="34803" y="25237"/>
                        <a:pt x="33884" y="28816"/>
                        <a:pt x="32131" y="32004"/>
                      </a:cubicBezTo>
                    </a:path>
                    <a:path w="34803" h="32005" stroke="0" extrusionOk="0">
                      <a:moveTo>
                        <a:pt x="-1" y="4504"/>
                      </a:moveTo>
                      <a:cubicBezTo>
                        <a:pt x="3781" y="1584"/>
                        <a:pt x="8424" y="0"/>
                        <a:pt x="13203" y="0"/>
                      </a:cubicBezTo>
                      <a:cubicBezTo>
                        <a:pt x="25132" y="0"/>
                        <a:pt x="34803" y="9670"/>
                        <a:pt x="34803" y="21600"/>
                      </a:cubicBezTo>
                      <a:cubicBezTo>
                        <a:pt x="34803" y="25237"/>
                        <a:pt x="33884" y="28816"/>
                        <a:pt x="32131" y="32004"/>
                      </a:cubicBezTo>
                      <a:lnTo>
                        <a:pt x="13203" y="216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487572" name="Arc 148"/>
                <p:cNvSpPr>
                  <a:spLocks/>
                </p:cNvSpPr>
                <p:nvPr/>
              </p:nvSpPr>
              <p:spPr bwMode="auto">
                <a:xfrm>
                  <a:off x="2888" y="2750"/>
                  <a:ext cx="77" cy="88"/>
                </a:xfrm>
                <a:custGeom>
                  <a:avLst/>
                  <a:gdLst>
                    <a:gd name="G0" fmla="+- 13392 0 0"/>
                    <a:gd name="G1" fmla="+- 21600 0 0"/>
                    <a:gd name="G2" fmla="+- 21600 0 0"/>
                    <a:gd name="T0" fmla="*/ 0 w 34992"/>
                    <a:gd name="T1" fmla="*/ 4653 h 31823"/>
                    <a:gd name="T2" fmla="*/ 32420 w 34992"/>
                    <a:gd name="T3" fmla="*/ 31823 h 31823"/>
                    <a:gd name="T4" fmla="*/ 13392 w 34992"/>
                    <a:gd name="T5" fmla="*/ 21600 h 318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4992" h="31823" fill="none" extrusionOk="0">
                      <a:moveTo>
                        <a:pt x="-1" y="4652"/>
                      </a:moveTo>
                      <a:cubicBezTo>
                        <a:pt x="3813" y="1639"/>
                        <a:pt x="8531" y="0"/>
                        <a:pt x="13392" y="0"/>
                      </a:cubicBezTo>
                      <a:cubicBezTo>
                        <a:pt x="25321" y="0"/>
                        <a:pt x="34992" y="9670"/>
                        <a:pt x="34992" y="21600"/>
                      </a:cubicBezTo>
                      <a:cubicBezTo>
                        <a:pt x="34992" y="25167"/>
                        <a:pt x="34108" y="28679"/>
                        <a:pt x="32419" y="31822"/>
                      </a:cubicBezTo>
                    </a:path>
                    <a:path w="34992" h="31823" stroke="0" extrusionOk="0">
                      <a:moveTo>
                        <a:pt x="-1" y="4652"/>
                      </a:moveTo>
                      <a:cubicBezTo>
                        <a:pt x="3813" y="1639"/>
                        <a:pt x="8531" y="0"/>
                        <a:pt x="13392" y="0"/>
                      </a:cubicBezTo>
                      <a:cubicBezTo>
                        <a:pt x="25321" y="0"/>
                        <a:pt x="34992" y="9670"/>
                        <a:pt x="34992" y="21600"/>
                      </a:cubicBezTo>
                      <a:cubicBezTo>
                        <a:pt x="34992" y="25167"/>
                        <a:pt x="34108" y="28679"/>
                        <a:pt x="32419" y="31822"/>
                      </a:cubicBezTo>
                      <a:lnTo>
                        <a:pt x="13392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487573" name="Arc 149"/>
                <p:cNvSpPr>
                  <a:spLocks/>
                </p:cNvSpPr>
                <p:nvPr/>
              </p:nvSpPr>
              <p:spPr bwMode="auto">
                <a:xfrm>
                  <a:off x="2899" y="2780"/>
                  <a:ext cx="48" cy="44"/>
                </a:xfrm>
                <a:custGeom>
                  <a:avLst/>
                  <a:gdLst>
                    <a:gd name="G0" fmla="+- 13327 0 0"/>
                    <a:gd name="G1" fmla="+- 21600 0 0"/>
                    <a:gd name="G2" fmla="+- 21600 0 0"/>
                    <a:gd name="T0" fmla="*/ 0 w 34927"/>
                    <a:gd name="T1" fmla="*/ 4602 h 31992"/>
                    <a:gd name="T2" fmla="*/ 32263 w 34927"/>
                    <a:gd name="T3" fmla="*/ 31992 h 31992"/>
                    <a:gd name="T4" fmla="*/ 13327 w 34927"/>
                    <a:gd name="T5" fmla="*/ 21600 h 319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4927" h="31992" fill="none" extrusionOk="0">
                      <a:moveTo>
                        <a:pt x="-1" y="4601"/>
                      </a:moveTo>
                      <a:cubicBezTo>
                        <a:pt x="3802" y="1620"/>
                        <a:pt x="8494" y="0"/>
                        <a:pt x="13327" y="0"/>
                      </a:cubicBezTo>
                      <a:cubicBezTo>
                        <a:pt x="25256" y="0"/>
                        <a:pt x="34927" y="9670"/>
                        <a:pt x="34927" y="21600"/>
                      </a:cubicBezTo>
                      <a:cubicBezTo>
                        <a:pt x="34927" y="25232"/>
                        <a:pt x="34010" y="28807"/>
                        <a:pt x="32262" y="31991"/>
                      </a:cubicBezTo>
                    </a:path>
                    <a:path w="34927" h="31992" stroke="0" extrusionOk="0">
                      <a:moveTo>
                        <a:pt x="-1" y="4601"/>
                      </a:moveTo>
                      <a:cubicBezTo>
                        <a:pt x="3802" y="1620"/>
                        <a:pt x="8494" y="0"/>
                        <a:pt x="13327" y="0"/>
                      </a:cubicBezTo>
                      <a:cubicBezTo>
                        <a:pt x="25256" y="0"/>
                        <a:pt x="34927" y="9670"/>
                        <a:pt x="34927" y="21600"/>
                      </a:cubicBezTo>
                      <a:cubicBezTo>
                        <a:pt x="34927" y="25232"/>
                        <a:pt x="34010" y="28807"/>
                        <a:pt x="32262" y="31991"/>
                      </a:cubicBezTo>
                      <a:lnTo>
                        <a:pt x="13327" y="216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fr-CA"/>
                </a:p>
              </p:txBody>
            </p:sp>
            <p:sp>
              <p:nvSpPr>
                <p:cNvPr id="487574" name="Arc 150"/>
                <p:cNvSpPr>
                  <a:spLocks/>
                </p:cNvSpPr>
                <p:nvPr/>
              </p:nvSpPr>
              <p:spPr bwMode="auto">
                <a:xfrm>
                  <a:off x="2903" y="2786"/>
                  <a:ext cx="38" cy="35"/>
                </a:xfrm>
                <a:custGeom>
                  <a:avLst/>
                  <a:gdLst>
                    <a:gd name="G0" fmla="+- 13327 0 0"/>
                    <a:gd name="G1" fmla="+- 21600 0 0"/>
                    <a:gd name="G2" fmla="+- 21600 0 0"/>
                    <a:gd name="T0" fmla="*/ 0 w 34927"/>
                    <a:gd name="T1" fmla="*/ 4602 h 31992"/>
                    <a:gd name="T2" fmla="*/ 32263 w 34927"/>
                    <a:gd name="T3" fmla="*/ 31992 h 31992"/>
                    <a:gd name="T4" fmla="*/ 13327 w 34927"/>
                    <a:gd name="T5" fmla="*/ 21600 h 319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4927" h="31992" fill="none" extrusionOk="0">
                      <a:moveTo>
                        <a:pt x="-1" y="4601"/>
                      </a:moveTo>
                      <a:cubicBezTo>
                        <a:pt x="3802" y="1620"/>
                        <a:pt x="8494" y="0"/>
                        <a:pt x="13327" y="0"/>
                      </a:cubicBezTo>
                      <a:cubicBezTo>
                        <a:pt x="25256" y="0"/>
                        <a:pt x="34927" y="9670"/>
                        <a:pt x="34927" y="21600"/>
                      </a:cubicBezTo>
                      <a:cubicBezTo>
                        <a:pt x="34927" y="25232"/>
                        <a:pt x="34010" y="28807"/>
                        <a:pt x="32262" y="31991"/>
                      </a:cubicBezTo>
                    </a:path>
                    <a:path w="34927" h="31992" stroke="0" extrusionOk="0">
                      <a:moveTo>
                        <a:pt x="-1" y="4601"/>
                      </a:moveTo>
                      <a:cubicBezTo>
                        <a:pt x="3802" y="1620"/>
                        <a:pt x="8494" y="0"/>
                        <a:pt x="13327" y="0"/>
                      </a:cubicBezTo>
                      <a:cubicBezTo>
                        <a:pt x="25256" y="0"/>
                        <a:pt x="34927" y="9670"/>
                        <a:pt x="34927" y="21600"/>
                      </a:cubicBezTo>
                      <a:cubicBezTo>
                        <a:pt x="34927" y="25232"/>
                        <a:pt x="34010" y="28807"/>
                        <a:pt x="32262" y="31991"/>
                      </a:cubicBezTo>
                      <a:lnTo>
                        <a:pt x="13327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CA"/>
                </a:p>
              </p:txBody>
            </p:sp>
          </p:grpSp>
        </p:grpSp>
        <p:grpSp>
          <p:nvGrpSpPr>
            <p:cNvPr id="487581" name="Group 157"/>
            <p:cNvGrpSpPr>
              <a:grpSpLocks/>
            </p:cNvGrpSpPr>
            <p:nvPr/>
          </p:nvGrpSpPr>
          <p:grpSpPr bwMode="auto">
            <a:xfrm>
              <a:off x="2845" y="2809"/>
              <a:ext cx="60" cy="180"/>
              <a:chOff x="2845" y="2809"/>
              <a:chExt cx="60" cy="180"/>
            </a:xfrm>
          </p:grpSpPr>
          <p:sp>
            <p:nvSpPr>
              <p:cNvPr id="487577" name="Rectangle 153"/>
              <p:cNvSpPr>
                <a:spLocks noChangeArrowheads="1"/>
              </p:cNvSpPr>
              <p:nvPr/>
            </p:nvSpPr>
            <p:spPr bwMode="auto">
              <a:xfrm>
                <a:off x="2845" y="2809"/>
                <a:ext cx="60" cy="18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87578" name="AutoShape 154"/>
              <p:cNvSpPr>
                <a:spLocks noChangeArrowheads="1"/>
              </p:cNvSpPr>
              <p:nvPr/>
            </p:nvSpPr>
            <p:spPr bwMode="auto">
              <a:xfrm>
                <a:off x="2845" y="2833"/>
                <a:ext cx="60" cy="7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87579" name="AutoShape 155"/>
              <p:cNvSpPr>
                <a:spLocks noChangeArrowheads="1"/>
              </p:cNvSpPr>
              <p:nvPr/>
            </p:nvSpPr>
            <p:spPr bwMode="auto">
              <a:xfrm>
                <a:off x="2845" y="2941"/>
                <a:ext cx="24" cy="24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CA"/>
              </a:p>
            </p:txBody>
          </p:sp>
          <p:sp>
            <p:nvSpPr>
              <p:cNvPr id="487580" name="AutoShape 156"/>
              <p:cNvSpPr>
                <a:spLocks noChangeArrowheads="1"/>
              </p:cNvSpPr>
              <p:nvPr/>
            </p:nvSpPr>
            <p:spPr bwMode="auto">
              <a:xfrm>
                <a:off x="2881" y="2941"/>
                <a:ext cx="24" cy="24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CA"/>
              </a:p>
            </p:txBody>
          </p:sp>
        </p:grpSp>
      </p:grpSp>
      <p:sp>
        <p:nvSpPr>
          <p:cNvPr id="487583" name="Arc 159"/>
          <p:cNvSpPr>
            <a:spLocks/>
          </p:cNvSpPr>
          <p:nvPr/>
        </p:nvSpPr>
        <p:spPr bwMode="auto">
          <a:xfrm>
            <a:off x="4697413" y="4278313"/>
            <a:ext cx="228600" cy="157162"/>
          </a:xfrm>
          <a:custGeom>
            <a:avLst/>
            <a:gdLst>
              <a:gd name="G0" fmla="+- 0 0 0"/>
              <a:gd name="G1" fmla="+- 7418 0 0"/>
              <a:gd name="G2" fmla="+- 21600 0 0"/>
              <a:gd name="T0" fmla="*/ 20286 w 21600"/>
              <a:gd name="T1" fmla="*/ 0 h 14836"/>
              <a:gd name="T2" fmla="*/ 20286 w 21600"/>
              <a:gd name="T3" fmla="*/ 14836 h 14836"/>
              <a:gd name="T4" fmla="*/ 0 w 21600"/>
              <a:gd name="T5" fmla="*/ 7418 h 148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4836" fill="none" extrusionOk="0">
                <a:moveTo>
                  <a:pt x="20286" y="-1"/>
                </a:moveTo>
                <a:cubicBezTo>
                  <a:pt x="21155" y="2376"/>
                  <a:pt x="21600" y="4887"/>
                  <a:pt x="21600" y="7418"/>
                </a:cubicBezTo>
                <a:cubicBezTo>
                  <a:pt x="21600" y="9948"/>
                  <a:pt x="21155" y="12459"/>
                  <a:pt x="20286" y="14836"/>
                </a:cubicBezTo>
              </a:path>
              <a:path w="21600" h="14836" stroke="0" extrusionOk="0">
                <a:moveTo>
                  <a:pt x="20286" y="-1"/>
                </a:moveTo>
                <a:cubicBezTo>
                  <a:pt x="21155" y="2376"/>
                  <a:pt x="21600" y="4887"/>
                  <a:pt x="21600" y="7418"/>
                </a:cubicBezTo>
                <a:cubicBezTo>
                  <a:pt x="21600" y="9948"/>
                  <a:pt x="21155" y="12459"/>
                  <a:pt x="20286" y="14836"/>
                </a:cubicBezTo>
                <a:lnTo>
                  <a:pt x="0" y="741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84" name="Line 160"/>
          <p:cNvSpPr>
            <a:spLocks noChangeShapeType="1"/>
          </p:cNvSpPr>
          <p:nvPr/>
        </p:nvSpPr>
        <p:spPr bwMode="auto">
          <a:xfrm flipH="1">
            <a:off x="4905375" y="4356100"/>
            <a:ext cx="28575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85" name="Arc 161"/>
          <p:cNvSpPr>
            <a:spLocks/>
          </p:cNvSpPr>
          <p:nvPr/>
        </p:nvSpPr>
        <p:spPr bwMode="auto">
          <a:xfrm>
            <a:off x="8742363" y="3841750"/>
            <a:ext cx="196850" cy="285750"/>
          </a:xfrm>
          <a:custGeom>
            <a:avLst/>
            <a:gdLst>
              <a:gd name="G0" fmla="+- 7453 0 0"/>
              <a:gd name="G1" fmla="+- 21600 0 0"/>
              <a:gd name="G2" fmla="+- 21600 0 0"/>
              <a:gd name="T0" fmla="*/ 0 w 14873"/>
              <a:gd name="T1" fmla="*/ 1326 h 21600"/>
              <a:gd name="T2" fmla="*/ 14873 w 14873"/>
              <a:gd name="T3" fmla="*/ 1315 h 21600"/>
              <a:gd name="T4" fmla="*/ 7453 w 1487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873" h="21600" fill="none" extrusionOk="0">
                <a:moveTo>
                  <a:pt x="0" y="1326"/>
                </a:moveTo>
                <a:cubicBezTo>
                  <a:pt x="2386" y="449"/>
                  <a:pt x="4910" y="0"/>
                  <a:pt x="7453" y="0"/>
                </a:cubicBezTo>
                <a:cubicBezTo>
                  <a:pt x="9984" y="0"/>
                  <a:pt x="12495" y="444"/>
                  <a:pt x="14873" y="1314"/>
                </a:cubicBezTo>
              </a:path>
              <a:path w="14873" h="21600" stroke="0" extrusionOk="0">
                <a:moveTo>
                  <a:pt x="0" y="1326"/>
                </a:moveTo>
                <a:cubicBezTo>
                  <a:pt x="2386" y="449"/>
                  <a:pt x="4910" y="0"/>
                  <a:pt x="7453" y="0"/>
                </a:cubicBezTo>
                <a:cubicBezTo>
                  <a:pt x="9984" y="0"/>
                  <a:pt x="12495" y="444"/>
                  <a:pt x="14873" y="1314"/>
                </a:cubicBezTo>
                <a:lnTo>
                  <a:pt x="7453" y="21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86" name="Line 162"/>
          <p:cNvSpPr>
            <a:spLocks noChangeShapeType="1"/>
          </p:cNvSpPr>
          <p:nvPr/>
        </p:nvSpPr>
        <p:spPr bwMode="auto">
          <a:xfrm flipV="1">
            <a:off x="8839200" y="3290888"/>
            <a:ext cx="1588" cy="5699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87" name="Rectangle 163"/>
          <p:cNvSpPr>
            <a:spLocks noChangeArrowheads="1"/>
          </p:cNvSpPr>
          <p:nvPr/>
        </p:nvSpPr>
        <p:spPr bwMode="auto">
          <a:xfrm>
            <a:off x="6958013" y="3519488"/>
            <a:ext cx="19383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CA" altLang="fr-FR" sz="1500">
                <a:solidFill>
                  <a:srgbClr val="000000"/>
                </a:solidFill>
                <a:latin typeface="Arial" panose="020B0604020202020204" pitchFamily="34" charset="0"/>
              </a:rPr>
              <a:t>TCP/IP Transmission</a:t>
            </a:r>
            <a:endParaRPr lang="en-CA" altLang="fr-FR"/>
          </a:p>
        </p:txBody>
      </p:sp>
      <p:sp>
        <p:nvSpPr>
          <p:cNvPr id="487588" name="Arc 164"/>
          <p:cNvSpPr>
            <a:spLocks/>
          </p:cNvSpPr>
          <p:nvPr/>
        </p:nvSpPr>
        <p:spPr bwMode="auto">
          <a:xfrm>
            <a:off x="1597025" y="2530475"/>
            <a:ext cx="157163" cy="228600"/>
          </a:xfrm>
          <a:custGeom>
            <a:avLst/>
            <a:gdLst>
              <a:gd name="G0" fmla="+- 7418 0 0"/>
              <a:gd name="G1" fmla="+- 21600 0 0"/>
              <a:gd name="G2" fmla="+- 21600 0 0"/>
              <a:gd name="T0" fmla="*/ 0 w 14836"/>
              <a:gd name="T1" fmla="*/ 1314 h 21600"/>
              <a:gd name="T2" fmla="*/ 14836 w 14836"/>
              <a:gd name="T3" fmla="*/ 1314 h 21600"/>
              <a:gd name="T4" fmla="*/ 7418 w 14836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836" h="21600" fill="none" extrusionOk="0">
                <a:moveTo>
                  <a:pt x="-1" y="1313"/>
                </a:moveTo>
                <a:cubicBezTo>
                  <a:pt x="2376" y="444"/>
                  <a:pt x="4887" y="0"/>
                  <a:pt x="7418" y="0"/>
                </a:cubicBezTo>
                <a:cubicBezTo>
                  <a:pt x="9948" y="0"/>
                  <a:pt x="12459" y="444"/>
                  <a:pt x="14836" y="1313"/>
                </a:cubicBezTo>
              </a:path>
              <a:path w="14836" h="21600" stroke="0" extrusionOk="0">
                <a:moveTo>
                  <a:pt x="-1" y="1313"/>
                </a:moveTo>
                <a:cubicBezTo>
                  <a:pt x="2376" y="444"/>
                  <a:pt x="4887" y="0"/>
                  <a:pt x="7418" y="0"/>
                </a:cubicBezTo>
                <a:cubicBezTo>
                  <a:pt x="9948" y="0"/>
                  <a:pt x="12459" y="444"/>
                  <a:pt x="14836" y="1313"/>
                </a:cubicBezTo>
                <a:lnTo>
                  <a:pt x="7418" y="216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89" name="Line 165"/>
          <p:cNvSpPr>
            <a:spLocks noChangeShapeType="1"/>
          </p:cNvSpPr>
          <p:nvPr/>
        </p:nvSpPr>
        <p:spPr bwMode="auto">
          <a:xfrm>
            <a:off x="1674813" y="2265363"/>
            <a:ext cx="1587" cy="2841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90" name="Arc 166"/>
          <p:cNvSpPr>
            <a:spLocks/>
          </p:cNvSpPr>
          <p:nvPr/>
        </p:nvSpPr>
        <p:spPr bwMode="auto">
          <a:xfrm>
            <a:off x="2776538" y="3273425"/>
            <a:ext cx="157162" cy="228600"/>
          </a:xfrm>
          <a:custGeom>
            <a:avLst/>
            <a:gdLst>
              <a:gd name="G0" fmla="+- 7434 0 0"/>
              <a:gd name="G1" fmla="+- 0 0 0"/>
              <a:gd name="G2" fmla="+- 21600 0 0"/>
              <a:gd name="T0" fmla="*/ 14836 w 14836"/>
              <a:gd name="T1" fmla="*/ 20292 h 21600"/>
              <a:gd name="T2" fmla="*/ 0 w 14836"/>
              <a:gd name="T3" fmla="*/ 20280 h 21600"/>
              <a:gd name="T4" fmla="*/ 7434 w 14836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836" h="21600" fill="none" extrusionOk="0">
                <a:moveTo>
                  <a:pt x="14836" y="20292"/>
                </a:moveTo>
                <a:cubicBezTo>
                  <a:pt x="12464" y="21157"/>
                  <a:pt x="9958" y="21600"/>
                  <a:pt x="7434" y="21600"/>
                </a:cubicBezTo>
                <a:cubicBezTo>
                  <a:pt x="4897" y="21600"/>
                  <a:pt x="2381" y="21153"/>
                  <a:pt x="-1" y="20280"/>
                </a:cubicBezTo>
              </a:path>
              <a:path w="14836" h="21600" stroke="0" extrusionOk="0">
                <a:moveTo>
                  <a:pt x="14836" y="20292"/>
                </a:moveTo>
                <a:cubicBezTo>
                  <a:pt x="12464" y="21157"/>
                  <a:pt x="9958" y="21600"/>
                  <a:pt x="7434" y="21600"/>
                </a:cubicBezTo>
                <a:cubicBezTo>
                  <a:pt x="4897" y="21600"/>
                  <a:pt x="2381" y="21153"/>
                  <a:pt x="-1" y="20280"/>
                </a:cubicBezTo>
                <a:lnTo>
                  <a:pt x="743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91" name="Line 167"/>
          <p:cNvSpPr>
            <a:spLocks noChangeShapeType="1"/>
          </p:cNvSpPr>
          <p:nvPr/>
        </p:nvSpPr>
        <p:spPr bwMode="auto">
          <a:xfrm flipV="1">
            <a:off x="2852738" y="3481388"/>
            <a:ext cx="1587" cy="2857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A"/>
          </a:p>
        </p:txBody>
      </p:sp>
      <p:sp>
        <p:nvSpPr>
          <p:cNvPr id="487592" name="Rectangle 168"/>
          <p:cNvSpPr>
            <a:spLocks noChangeArrowheads="1"/>
          </p:cNvSpPr>
          <p:nvPr/>
        </p:nvSpPr>
        <p:spPr bwMode="auto">
          <a:xfrm>
            <a:off x="1019175" y="1970088"/>
            <a:ext cx="152400" cy="1143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7593" name="Rectangle 169"/>
          <p:cNvSpPr>
            <a:spLocks noChangeArrowheads="1"/>
          </p:cNvSpPr>
          <p:nvPr/>
        </p:nvSpPr>
        <p:spPr bwMode="auto">
          <a:xfrm>
            <a:off x="1019175" y="1704975"/>
            <a:ext cx="152400" cy="1143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7594" name="Rectangle 170"/>
          <p:cNvSpPr>
            <a:spLocks noChangeArrowheads="1"/>
          </p:cNvSpPr>
          <p:nvPr/>
        </p:nvSpPr>
        <p:spPr bwMode="auto">
          <a:xfrm>
            <a:off x="1266825" y="3111500"/>
            <a:ext cx="131763" cy="1127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7595" name="Rectangle 171"/>
          <p:cNvSpPr>
            <a:spLocks noChangeArrowheads="1"/>
          </p:cNvSpPr>
          <p:nvPr/>
        </p:nvSpPr>
        <p:spPr bwMode="auto">
          <a:xfrm>
            <a:off x="1266825" y="2844800"/>
            <a:ext cx="131763" cy="1143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7596" name="Rectangle 172"/>
          <p:cNvSpPr>
            <a:spLocks noChangeArrowheads="1"/>
          </p:cNvSpPr>
          <p:nvPr/>
        </p:nvSpPr>
        <p:spPr bwMode="auto">
          <a:xfrm>
            <a:off x="2444750" y="3111500"/>
            <a:ext cx="152400" cy="1127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7597" name="Rectangle 173"/>
          <p:cNvSpPr>
            <a:spLocks noChangeArrowheads="1"/>
          </p:cNvSpPr>
          <p:nvPr/>
        </p:nvSpPr>
        <p:spPr bwMode="auto">
          <a:xfrm>
            <a:off x="2444750" y="2844800"/>
            <a:ext cx="152400" cy="1143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7598" name="Rectangle 174"/>
          <p:cNvSpPr>
            <a:spLocks noChangeArrowheads="1"/>
          </p:cNvSpPr>
          <p:nvPr/>
        </p:nvSpPr>
        <p:spPr bwMode="auto">
          <a:xfrm>
            <a:off x="3660775" y="3111500"/>
            <a:ext cx="152400" cy="1127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7599" name="Rectangle 175"/>
          <p:cNvSpPr>
            <a:spLocks noChangeArrowheads="1"/>
          </p:cNvSpPr>
          <p:nvPr/>
        </p:nvSpPr>
        <p:spPr bwMode="auto">
          <a:xfrm>
            <a:off x="3660775" y="2844800"/>
            <a:ext cx="152400" cy="1143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7600" name="Rectangle 176"/>
          <p:cNvSpPr>
            <a:spLocks noChangeArrowheads="1"/>
          </p:cNvSpPr>
          <p:nvPr/>
        </p:nvSpPr>
        <p:spPr bwMode="auto">
          <a:xfrm>
            <a:off x="5257800" y="3111500"/>
            <a:ext cx="131763" cy="1127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7601" name="Rectangle 177"/>
          <p:cNvSpPr>
            <a:spLocks noChangeArrowheads="1"/>
          </p:cNvSpPr>
          <p:nvPr/>
        </p:nvSpPr>
        <p:spPr bwMode="auto">
          <a:xfrm>
            <a:off x="5257800" y="2844800"/>
            <a:ext cx="131763" cy="1143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7602" name="Rectangle 178"/>
          <p:cNvSpPr>
            <a:spLocks noChangeArrowheads="1"/>
          </p:cNvSpPr>
          <p:nvPr/>
        </p:nvSpPr>
        <p:spPr bwMode="auto">
          <a:xfrm>
            <a:off x="2216150" y="4213225"/>
            <a:ext cx="133350" cy="1143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7603" name="Rectangle 179"/>
          <p:cNvSpPr>
            <a:spLocks noChangeArrowheads="1"/>
          </p:cNvSpPr>
          <p:nvPr/>
        </p:nvSpPr>
        <p:spPr bwMode="auto">
          <a:xfrm>
            <a:off x="2216150" y="3946525"/>
            <a:ext cx="133350" cy="1143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7604" name="Rectangle 180"/>
          <p:cNvSpPr>
            <a:spLocks noChangeArrowheads="1"/>
          </p:cNvSpPr>
          <p:nvPr/>
        </p:nvSpPr>
        <p:spPr bwMode="auto">
          <a:xfrm>
            <a:off x="5105400" y="4441825"/>
            <a:ext cx="152400" cy="1127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7605" name="Rectangle 181"/>
          <p:cNvSpPr>
            <a:spLocks noChangeArrowheads="1"/>
          </p:cNvSpPr>
          <p:nvPr/>
        </p:nvSpPr>
        <p:spPr bwMode="auto">
          <a:xfrm>
            <a:off x="5105400" y="4175125"/>
            <a:ext cx="152400" cy="1143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7606" name="Rectangle 182"/>
          <p:cNvSpPr>
            <a:spLocks noChangeArrowheads="1"/>
          </p:cNvSpPr>
          <p:nvPr/>
        </p:nvSpPr>
        <p:spPr bwMode="auto">
          <a:xfrm>
            <a:off x="6607175" y="3111500"/>
            <a:ext cx="131763" cy="1127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7607" name="Rectangle 183"/>
          <p:cNvSpPr>
            <a:spLocks noChangeArrowheads="1"/>
          </p:cNvSpPr>
          <p:nvPr/>
        </p:nvSpPr>
        <p:spPr bwMode="auto">
          <a:xfrm>
            <a:off x="6607175" y="2844800"/>
            <a:ext cx="131763" cy="1143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7608" name="Rectangle 184"/>
          <p:cNvSpPr>
            <a:spLocks noChangeArrowheads="1"/>
          </p:cNvSpPr>
          <p:nvPr/>
        </p:nvSpPr>
        <p:spPr bwMode="auto">
          <a:xfrm>
            <a:off x="8031163" y="3111500"/>
            <a:ext cx="133350" cy="1127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7609" name="Rectangle 185"/>
          <p:cNvSpPr>
            <a:spLocks noChangeArrowheads="1"/>
          </p:cNvSpPr>
          <p:nvPr/>
        </p:nvSpPr>
        <p:spPr bwMode="auto">
          <a:xfrm>
            <a:off x="8031163" y="2844800"/>
            <a:ext cx="133350" cy="1143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7610" name="Rectangle 186"/>
          <p:cNvSpPr>
            <a:spLocks noChangeArrowheads="1"/>
          </p:cNvSpPr>
          <p:nvPr/>
        </p:nvSpPr>
        <p:spPr bwMode="auto">
          <a:xfrm>
            <a:off x="8031163" y="4441825"/>
            <a:ext cx="152400" cy="1127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7611" name="Rectangle 187"/>
          <p:cNvSpPr>
            <a:spLocks noChangeArrowheads="1"/>
          </p:cNvSpPr>
          <p:nvPr/>
        </p:nvSpPr>
        <p:spPr bwMode="auto">
          <a:xfrm>
            <a:off x="8031163" y="4175125"/>
            <a:ext cx="152400" cy="1143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7612" name="Rectangle 188"/>
          <p:cNvSpPr>
            <a:spLocks noChangeArrowheads="1"/>
          </p:cNvSpPr>
          <p:nvPr/>
        </p:nvSpPr>
        <p:spPr bwMode="auto">
          <a:xfrm>
            <a:off x="6397625" y="4441825"/>
            <a:ext cx="133350" cy="112713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487613" name="Rectangle 189"/>
          <p:cNvSpPr>
            <a:spLocks noChangeArrowheads="1"/>
          </p:cNvSpPr>
          <p:nvPr/>
        </p:nvSpPr>
        <p:spPr bwMode="auto">
          <a:xfrm>
            <a:off x="6397625" y="4175125"/>
            <a:ext cx="133350" cy="1143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6E62C-9CD2-477B-B472-E1C0D19F9100}" type="slidenum">
              <a:rPr lang="nl-NL" altLang="fr-FR" smtClean="0"/>
              <a:pPr>
                <a:defRPr/>
              </a:pPr>
              <a:t>80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426873006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pipe-and-filter architecture and design principles</a:t>
            </a:r>
          </a:p>
        </p:txBody>
      </p:sp>
      <p:sp>
        <p:nvSpPr>
          <p:cNvPr id="555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>
              <a:lnSpc>
                <a:spcPct val="90000"/>
              </a:lnSpc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1.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Divide and conquer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The separate processes can be independently designed.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2.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Increase cohesion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The processes have functional cohesion.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3. 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Reduce coupling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The processes have only one input and one output.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4.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Increase abstraction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The pipeline components are often good abstractions, hiding their internal details.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5.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Increase reusability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The processes can often be used in many different contexts.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6.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Increase reuse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It is often possible to find reusable components to insert into a pipeline.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81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32421844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altLang="en-US"/>
              <a:t>The pipe-and-filter architecture and design principles</a:t>
            </a:r>
            <a:endParaRPr lang="en-GB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57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7.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Design for flexibility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There are several ways in which the system is flexible.</a:t>
            </a:r>
          </a:p>
          <a:p>
            <a:pPr lvl="1" algn="just"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10.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Design for testability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It is normally easy to test the individual processes.</a:t>
            </a:r>
          </a:p>
          <a:p>
            <a:pPr lvl="1" algn="just">
              <a:buFontTx/>
              <a:buNone/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11.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Design defensively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: You rigorously check the inputs of each component, or else you can use design by contract.</a:t>
            </a:r>
            <a:endParaRPr lang="en-US" altLang="en-US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82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15220512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Model-View-Controller (MVC) architectural pattern</a:t>
            </a:r>
            <a:r>
              <a:rPr lang="en-US" altLang="en-US"/>
              <a:t> </a:t>
            </a:r>
          </a:p>
        </p:txBody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A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n architectural pattern used to help separate the user interface layer from other parts of the system</a:t>
            </a:r>
            <a:r>
              <a:rPr lang="en-US" altLang="en-US"/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model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contains the underlying classes whose instances are to be viewed and manipulated</a:t>
            </a:r>
            <a:r>
              <a:rPr lang="en-US" altLang="en-US"/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view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contains objects used to render the appearance of the data from the model in the user interface</a:t>
            </a:r>
            <a:r>
              <a:rPr lang="en-US" altLang="en-US"/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controller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contains the objects that control and handle the user’s interaction with the view and the model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 Observable design pattern is normally used to separate the model from the view</a:t>
            </a:r>
            <a:r>
              <a:rPr lang="en-US" altLang="en-US"/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83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77245940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the MVC architecture for the UI</a:t>
            </a:r>
          </a:p>
        </p:txBody>
      </p:sp>
      <p:pic>
        <p:nvPicPr>
          <p:cNvPr id="55808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981200"/>
            <a:ext cx="7620000" cy="326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84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61254828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MVC architecture and design principles</a:t>
            </a:r>
          </a:p>
        </p:txBody>
      </p:sp>
      <p:sp>
        <p:nvSpPr>
          <p:cNvPr id="559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219200"/>
            <a:ext cx="7543800" cy="4800600"/>
          </a:xfrm>
        </p:spPr>
        <p:txBody>
          <a:bodyPr/>
          <a:lstStyle/>
          <a:p>
            <a:pPr lvl="1" algn="just">
              <a:buFontTx/>
              <a:buNone/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1.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Divide and conquer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The three components can be somewhat independently designed.</a:t>
            </a:r>
          </a:p>
          <a:p>
            <a:pPr lvl="1" algn="just">
              <a:buFontTx/>
              <a:buNone/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2.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Increase cohesion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The components have stronger layer cohesion than if the view and controller were together in a single UI layer.</a:t>
            </a:r>
          </a:p>
          <a:p>
            <a:pPr lvl="1" algn="just">
              <a:buFontTx/>
              <a:buNone/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3.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Reduce coupling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The communication channels between the three components are minimal.</a:t>
            </a:r>
          </a:p>
          <a:p>
            <a:pPr lvl="1" algn="just">
              <a:buFontTx/>
              <a:buNone/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6.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Increase reuse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The view and controller normally make extensive use of reusable components for various kinds of UI controls. </a:t>
            </a:r>
          </a:p>
          <a:p>
            <a:pPr lvl="1" algn="just">
              <a:buFontTx/>
              <a:buNone/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7.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Design for flexibility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It is usually quite easy to change the UI by changing the view, the controller, or both.</a:t>
            </a:r>
          </a:p>
          <a:p>
            <a:pPr lvl="1" algn="just">
              <a:buFontTx/>
              <a:buNone/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10. 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Design for testability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You can test the application separately from the UI.</a:t>
            </a:r>
          </a:p>
          <a:p>
            <a:pPr lvl="1"/>
            <a:endParaRPr lang="en-US" altLang="en-US" sz="200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85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08793457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9.6 Writing a Good Design Document</a:t>
            </a:r>
            <a:r>
              <a:rPr lang="en-US" altLang="en-US"/>
              <a:t> </a:t>
            </a:r>
          </a:p>
        </p:txBody>
      </p:sp>
      <p:sp>
        <p:nvSpPr>
          <p:cNvPr id="473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Design documents as an aid to making better designs</a:t>
            </a:r>
            <a:r>
              <a:rPr lang="en-US" altLang="en-US"/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They force you to be explicit and consider the important issues before starting implementation.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They allow a group of people to review the design and therefore to improve it</a:t>
            </a:r>
            <a:r>
              <a:rPr lang="en-US" altLang="en-US"/>
              <a:t>.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Design documents as a means of communication.</a:t>
            </a:r>
            <a:r>
              <a:rPr lang="en-US" altLang="en-US"/>
              <a:t> 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To those who will be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implementing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the design.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To those who will need, in the future, to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modify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the design.</a:t>
            </a:r>
          </a:p>
          <a:p>
            <a:pPr lvl="2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To those who need to create systems or subsystems that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interface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with the system being designed</a:t>
            </a:r>
            <a:r>
              <a:rPr lang="en-US" altLang="en-US">
                <a:ea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en-US" altLang="en-US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86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19559231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Structure of a design document</a:t>
            </a:r>
            <a:r>
              <a:rPr lang="en-US" altLang="en-US"/>
              <a:t> </a:t>
            </a:r>
          </a:p>
        </p:txBody>
      </p:sp>
      <p:sp>
        <p:nvSpPr>
          <p:cNvPr id="475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066800"/>
            <a:ext cx="8229600" cy="4800600"/>
          </a:xfrm>
        </p:spPr>
        <p:txBody>
          <a:bodyPr/>
          <a:lstStyle/>
          <a:p>
            <a:pPr lvl="1" algn="just">
              <a:lnSpc>
                <a:spcPct val="90000"/>
              </a:lnSpc>
              <a:buFontTx/>
              <a:buNone/>
            </a:pPr>
            <a:r>
              <a:rPr lang="en-GB" altLang="en-US" sz="2000" b="1">
                <a:ea typeface="Times" panose="02020603050405020304" pitchFamily="18" charset="0"/>
                <a:cs typeface="Times" panose="02020603050405020304" pitchFamily="18" charset="0"/>
              </a:rPr>
              <a:t>A. Purpose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</a:t>
            </a:r>
          </a:p>
          <a:p>
            <a:pPr lvl="2" algn="just">
              <a:lnSpc>
                <a:spcPct val="90000"/>
              </a:lnSpc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What system or part of the system this design document describes. </a:t>
            </a:r>
          </a:p>
          <a:p>
            <a:pPr lvl="2" algn="just">
              <a:lnSpc>
                <a:spcPct val="90000"/>
              </a:lnSpc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Make reference to the requirements that are being implemented by this design (</a:t>
            </a:r>
            <a:r>
              <a:rPr lang="en-GB" altLang="en-US" sz="2000" i="1">
                <a:ea typeface="Times" panose="02020603050405020304" pitchFamily="18" charset="0"/>
                <a:cs typeface="Times" panose="02020603050405020304" pitchFamily="18" charset="0"/>
              </a:rPr>
              <a:t>traceability)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.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GB" altLang="en-US" sz="2000" b="1">
                <a:ea typeface="Times" panose="02020603050405020304" pitchFamily="18" charset="0"/>
                <a:cs typeface="Times" panose="02020603050405020304" pitchFamily="18" charset="0"/>
              </a:rPr>
              <a:t>B. General priorities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</a:t>
            </a:r>
          </a:p>
          <a:p>
            <a:pPr lvl="2" algn="just">
              <a:lnSpc>
                <a:spcPct val="90000"/>
              </a:lnSpc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Describe the priorities used to guide the design process.  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GB" altLang="en-US" sz="2000" b="1">
                <a:ea typeface="Times" panose="02020603050405020304" pitchFamily="18" charset="0"/>
                <a:cs typeface="Times" panose="02020603050405020304" pitchFamily="18" charset="0"/>
              </a:rPr>
              <a:t>C. Outline of the design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</a:t>
            </a:r>
          </a:p>
          <a:p>
            <a:pPr lvl="2" algn="just">
              <a:lnSpc>
                <a:spcPct val="90000"/>
              </a:lnSpc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Give a high-level description of the design that allows the reader to quickly get a general feeling for it.  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GB" altLang="en-US" sz="2000" b="1">
                <a:ea typeface="Times" panose="02020603050405020304" pitchFamily="18" charset="0"/>
                <a:cs typeface="Times" panose="02020603050405020304" pitchFamily="18" charset="0"/>
              </a:rPr>
              <a:t>D. Major design issues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</a:t>
            </a:r>
          </a:p>
          <a:p>
            <a:pPr lvl="2" algn="just">
              <a:lnSpc>
                <a:spcPct val="90000"/>
              </a:lnSpc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Discuss the important issues that had to be resolved.</a:t>
            </a:r>
          </a:p>
          <a:p>
            <a:pPr lvl="2" algn="just">
              <a:lnSpc>
                <a:spcPct val="90000"/>
              </a:lnSpc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Give the possible alternatives that were considered, the final decision and the rationale for the decision.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GB" altLang="en-US" sz="2000" b="1">
                <a:ea typeface="Times" panose="02020603050405020304" pitchFamily="18" charset="0"/>
                <a:cs typeface="Times" panose="02020603050405020304" pitchFamily="18" charset="0"/>
              </a:rPr>
              <a:t>E. Other details of the design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</a:t>
            </a:r>
          </a:p>
          <a:p>
            <a:pPr lvl="2">
              <a:lnSpc>
                <a:spcPct val="90000"/>
              </a:lnSpc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Give any other details the reader may want to know that have not yet been mentioned. </a:t>
            </a:r>
            <a:endParaRPr lang="en-US" altLang="en-US" sz="200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87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19985841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When writing the document</a:t>
            </a:r>
          </a:p>
        </p:txBody>
      </p:sp>
      <p:sp>
        <p:nvSpPr>
          <p:cNvPr id="561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Avoid documenting information that would be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readily obvious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to a skilled programmer or designer.</a:t>
            </a:r>
            <a:r>
              <a:rPr lang="en-US" altLang="en-US"/>
              <a:t> 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Avoid writing details in a design document that would be better placed as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comments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in the code</a:t>
            </a:r>
            <a:r>
              <a:rPr lang="en-US" altLang="en-US"/>
              <a:t>.</a:t>
            </a:r>
          </a:p>
          <a:p>
            <a:pPr lvl="1"/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Avoid writing details that can be </a:t>
            </a: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extracted automatically</a:t>
            </a: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 from the code, such as the list of public methods</a:t>
            </a:r>
            <a:r>
              <a:rPr lang="en-US" altLang="en-US"/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88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97082008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9.7 Design of a Feature of the SimpleChat System</a:t>
            </a:r>
            <a:endParaRPr lang="en-US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67300" name="Rectangle 4"/>
          <p:cNvSpPr>
            <a:spLocks noChangeArrowheads="1"/>
          </p:cNvSpPr>
          <p:nvPr/>
        </p:nvSpPr>
        <p:spPr bwMode="auto">
          <a:xfrm>
            <a:off x="1143000" y="1295400"/>
            <a:ext cx="77724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52352" rIns="0" bIns="152352">
            <a:spAutoFit/>
          </a:bodyPr>
          <a:lstStyle/>
          <a:p>
            <a:r>
              <a:rPr lang="en-GB" altLang="en-US" sz="2000" b="1">
                <a:cs typeface="Times New Roman" panose="02020603050405020304" pitchFamily="18" charset="0"/>
              </a:rPr>
              <a:t>A. Purpose</a:t>
            </a:r>
          </a:p>
          <a:p>
            <a:pPr lvl="1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This document describes important aspects of the implementation of the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#block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#unblock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#whoiblock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and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#whoblocksme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commands of the SimpleChat system.</a:t>
            </a:r>
          </a:p>
          <a:p>
            <a:pPr lvl="1"/>
            <a:endParaRPr lang="en-GB" altLang="en-US" sz="2000">
              <a:ea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GB" altLang="en-US" sz="2000" b="1">
                <a:cs typeface="Times New Roman" panose="02020603050405020304" pitchFamily="18" charset="0"/>
              </a:rPr>
              <a:t>B. General Priorities</a:t>
            </a:r>
          </a:p>
          <a:p>
            <a:pPr lvl="1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Decisions in this document are made based on the following priorities </a:t>
            </a:r>
          </a:p>
          <a:p>
            <a:pPr lvl="1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(most important first): Maintainability, Usability, Portability, Efficiency</a:t>
            </a:r>
          </a:p>
          <a:p>
            <a:endParaRPr lang="en-GB" altLang="en-US" sz="2000" b="1">
              <a:cs typeface="Times New Roman" panose="02020603050405020304" pitchFamily="18" charset="0"/>
            </a:endParaRPr>
          </a:p>
          <a:p>
            <a:r>
              <a:rPr lang="en-GB" altLang="en-US" sz="2000" b="1">
                <a:cs typeface="Times New Roman" panose="02020603050405020304" pitchFamily="18" charset="0"/>
              </a:rPr>
              <a:t>C. Outline of the design</a:t>
            </a:r>
          </a:p>
          <a:p>
            <a:pPr lvl="1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Blocking information will be maintained in the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ConnectionToClient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objects. The various commands will update and query the data using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setValue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and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getValue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6E62C-9CD2-477B-B472-E1C0D19F9100}" type="slidenum">
              <a:rPr lang="nl-NL" altLang="fr-FR" smtClean="0"/>
              <a:pPr>
                <a:defRPr/>
              </a:pPr>
              <a:t>89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31226678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Design Example</a:t>
            </a:r>
            <a:endParaRPr lang="en-US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68324" name="Rectangle 4"/>
          <p:cNvSpPr>
            <a:spLocks noChangeArrowheads="1"/>
          </p:cNvSpPr>
          <p:nvPr/>
        </p:nvSpPr>
        <p:spPr bwMode="auto">
          <a:xfrm>
            <a:off x="1143000" y="1066800"/>
            <a:ext cx="7696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52352" rIns="0" bIns="152352">
            <a:spAutoFit/>
          </a:bodyPr>
          <a:lstStyle/>
          <a:p>
            <a:r>
              <a:rPr lang="en-GB" altLang="en-US" sz="2000" b="1">
                <a:cs typeface="Times New Roman" panose="02020603050405020304" pitchFamily="18" charset="0"/>
              </a:rPr>
              <a:t>D. Major design issue</a:t>
            </a:r>
          </a:p>
          <a:p>
            <a:endParaRPr lang="en-GB" altLang="en-US" sz="2000" b="1">
              <a:cs typeface="Times New Roman" panose="02020603050405020304" pitchFamily="18" charset="0"/>
            </a:endParaRPr>
          </a:p>
          <a:p>
            <a:r>
              <a:rPr lang="en-GB" altLang="en-US" sz="2000" b="1">
                <a:ea typeface="Times" panose="02020603050405020304" pitchFamily="18" charset="0"/>
                <a:cs typeface="Times" panose="02020603050405020304" pitchFamily="18" charset="0"/>
              </a:rPr>
              <a:t>Issue 1: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Where should we store information regarding the establishment of blocking?</a:t>
            </a:r>
          </a:p>
          <a:p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 </a:t>
            </a:r>
          </a:p>
          <a:p>
            <a:r>
              <a:rPr lang="en-GB" altLang="en-US" sz="2000" b="1">
                <a:ea typeface="Times" panose="02020603050405020304" pitchFamily="18" charset="0"/>
                <a:cs typeface="Times" panose="02020603050405020304" pitchFamily="18" charset="0"/>
              </a:rPr>
              <a:t>Option 1.1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Store the information in the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ConnectionToClient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object associated with the client requesting the block.</a:t>
            </a:r>
          </a:p>
          <a:p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 </a:t>
            </a:r>
          </a:p>
          <a:p>
            <a:r>
              <a:rPr lang="en-GB" altLang="en-US" sz="2000" b="1">
                <a:ea typeface="Times" panose="02020603050405020304" pitchFamily="18" charset="0"/>
                <a:cs typeface="Times" panose="02020603050405020304" pitchFamily="18" charset="0"/>
              </a:rPr>
              <a:t>Option 1.2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Store the information in the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ConnectionToClient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object associated with the client that is being blocked.</a:t>
            </a:r>
          </a:p>
          <a:p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 </a:t>
            </a:r>
          </a:p>
          <a:p>
            <a:r>
              <a:rPr lang="en-GB" altLang="en-US" sz="2000" b="1">
                <a:ea typeface="Times" panose="02020603050405020304" pitchFamily="18" charset="0"/>
                <a:cs typeface="Times" panose="02020603050405020304" pitchFamily="18" charset="0"/>
              </a:rPr>
              <a:t>Decision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: Point 2.2 of the specification requires that we be able to block a client even if that client is not logged on. This means that we must choose option 1.1 since no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ConnectionToClient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will exist for clients that are logged off.</a:t>
            </a:r>
          </a:p>
          <a:p>
            <a:endParaRPr lang="en-GB" altLang="en-US" sz="200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6E62C-9CD2-477B-B472-E1C0D19F9100}" type="slidenum">
              <a:rPr lang="nl-NL" altLang="fr-FR" smtClean="0"/>
              <a:pPr>
                <a:defRPr/>
              </a:pPr>
              <a:t>90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426289570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Design Example</a:t>
            </a:r>
            <a:endParaRPr lang="en-US" altLang="en-US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569347" name="Rectangle 3"/>
          <p:cNvSpPr>
            <a:spLocks noChangeArrowheads="1"/>
          </p:cNvSpPr>
          <p:nvPr/>
        </p:nvSpPr>
        <p:spPr bwMode="auto">
          <a:xfrm>
            <a:off x="1066800" y="1447800"/>
            <a:ext cx="7848600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152352" rIns="0" bIns="152352">
            <a:spAutoFit/>
          </a:bodyPr>
          <a:lstStyle>
            <a:lvl1pPr marL="295275" indent="-180975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485775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n-GB" altLang="en-US" sz="2000" b="1">
              <a:cs typeface="Times New Roman" panose="02020603050405020304" pitchFamily="18" charset="0"/>
            </a:endParaRPr>
          </a:p>
          <a:p>
            <a:r>
              <a:rPr lang="en-GB" altLang="en-US" sz="2000" b="1">
                <a:cs typeface="Times New Roman" panose="02020603050405020304" pitchFamily="18" charset="0"/>
              </a:rPr>
              <a:t>E. Details of the design:</a:t>
            </a:r>
          </a:p>
          <a:p>
            <a:endParaRPr lang="en-GB" altLang="en-US" sz="2000" b="1">
              <a:cs typeface="Times New Roman" panose="02020603050405020304" pitchFamily="18" charset="0"/>
            </a:endParaRPr>
          </a:p>
          <a:p>
            <a:pPr algn="just"/>
            <a:r>
              <a:rPr lang="en-GB" altLang="en-US" sz="2000" b="1">
                <a:ea typeface="Times" panose="02020603050405020304" pitchFamily="18" charset="0"/>
                <a:cs typeface="Times" panose="02020603050405020304" pitchFamily="18" charset="0"/>
              </a:rPr>
              <a:t>Client side:</a:t>
            </a:r>
            <a:endParaRPr lang="en-GB" altLang="en-US" sz="2000">
              <a:ea typeface="Times" panose="02020603050405020304" pitchFamily="18" charset="0"/>
              <a:cs typeface="Times" panose="02020603050405020304" pitchFamily="18" charset="0"/>
            </a:endParaRPr>
          </a:p>
          <a:p>
            <a:pPr algn="just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 </a:t>
            </a:r>
          </a:p>
          <a:p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•	The four new commands will be accepted by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handleMessageFromClientUI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and passed unchanged to the server.</a:t>
            </a:r>
          </a:p>
          <a:p>
            <a:pPr algn="just"/>
            <a:endParaRPr lang="en-GB" altLang="en-US" sz="2000">
              <a:ea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•	Responses from the server will be displayed on the UI. There will be no need for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handleMessageFromServer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to understand that the responses are replies to the commands.</a:t>
            </a:r>
          </a:p>
          <a:p>
            <a:pPr algn="just"/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 </a:t>
            </a:r>
            <a:endParaRPr lang="en-GB" altLang="en-US" sz="200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6E62C-9CD2-477B-B472-E1C0D19F9100}" type="slidenum">
              <a:rPr lang="nl-NL" altLang="fr-FR" smtClean="0"/>
              <a:pPr>
                <a:defRPr/>
              </a:pPr>
              <a:t>91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54513635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Design Example</a:t>
            </a:r>
          </a:p>
        </p:txBody>
      </p:sp>
      <p:sp>
        <p:nvSpPr>
          <p:cNvPr id="570371" name="Rectangle 3"/>
          <p:cNvSpPr>
            <a:spLocks noChangeArrowheads="1"/>
          </p:cNvSpPr>
          <p:nvPr/>
        </p:nvSpPr>
        <p:spPr bwMode="auto">
          <a:xfrm>
            <a:off x="1143000" y="685800"/>
            <a:ext cx="7467600" cy="542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90500" indent="-1905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GB" altLang="en-US" sz="2000">
              <a:ea typeface="Times" panose="02020603050405020304" pitchFamily="18" charset="0"/>
              <a:cs typeface="Times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GB" altLang="en-US" sz="2000" b="1">
                <a:ea typeface="Times" panose="02020603050405020304" pitchFamily="18" charset="0"/>
                <a:cs typeface="Times" panose="02020603050405020304" pitchFamily="18" charset="0"/>
              </a:rPr>
              <a:t>Server side:</a:t>
            </a:r>
            <a:endParaRPr lang="en-GB" altLang="en-US" sz="2000">
              <a:ea typeface="Times" panose="02020603050405020304" pitchFamily="18" charset="0"/>
              <a:cs typeface="Times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• Method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handleMessageFromClient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will interpret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#block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commands by adding a record of the block in the data associated with the originating client.</a:t>
            </a:r>
          </a:p>
          <a:p>
            <a:pPr lvl="1">
              <a:spcBef>
                <a:spcPct val="50000"/>
              </a:spcBef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This method will modify the data in response to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#unblock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>
              <a:spcBef>
                <a:spcPct val="50000"/>
              </a:spcBef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• The information will be stored by calling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setValue("blockedUsers", arg)</a:t>
            </a:r>
            <a:endParaRPr lang="en-GB" altLang="en-US" sz="2000" b="1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>
              <a:spcBef>
                <a:spcPct val="50000"/>
              </a:spcBef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where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arg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is a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Vector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containing the names of the blocked users.</a:t>
            </a:r>
          </a:p>
          <a:p>
            <a:pPr>
              <a:spcBef>
                <a:spcPct val="50000"/>
              </a:spcBef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• Method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handleMessageFromServerUI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will also have to have an implementation of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#block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and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#unblock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 lvl="1">
              <a:spcBef>
                <a:spcPct val="50000"/>
              </a:spcBef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These will have to save the blocked users as elements of a new instance variable declared thus: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Vector blockedUsers</a:t>
            </a:r>
            <a:r>
              <a:rPr lang="en-GB" altLang="en-US" sz="2000" b="1">
                <a:ea typeface="Times" panose="02020603050405020304" pitchFamily="18" charset="0"/>
                <a:cs typeface="Times" panose="02020603050405020304" pitchFamily="18" charset="0"/>
              </a:rPr>
              <a:t>;</a:t>
            </a:r>
            <a:endParaRPr lang="en-GB" altLang="en-US" sz="2000">
              <a:ea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6E62C-9CD2-477B-B472-E1C0D19F9100}" type="slidenum">
              <a:rPr lang="nl-NL" altLang="fr-FR" smtClean="0"/>
              <a:pPr>
                <a:defRPr/>
              </a:pPr>
              <a:t>92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418852843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Design Example</a:t>
            </a:r>
          </a:p>
        </p:txBody>
      </p:sp>
      <p:sp>
        <p:nvSpPr>
          <p:cNvPr id="571395" name="Rectangle 1027"/>
          <p:cNvSpPr>
            <a:spLocks noChangeArrowheads="1"/>
          </p:cNvSpPr>
          <p:nvPr/>
        </p:nvSpPr>
        <p:spPr bwMode="auto">
          <a:xfrm>
            <a:off x="1295400" y="1355725"/>
            <a:ext cx="7620000" cy="466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190500" indent="-1905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• The implementations of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#whoiblock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in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handleMessageFromClient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and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handleMessageFromServerUI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will straightforwardly process the contents of the vectors.</a:t>
            </a:r>
          </a:p>
          <a:p>
            <a:pPr>
              <a:spcBef>
                <a:spcPct val="50000"/>
              </a:spcBef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• For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#whoblocksme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, a new method will be created in the server class that will be called by both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handleMessageFromClient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and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handleMessageFromServerUI</a:t>
            </a:r>
            <a:r>
              <a:rPr lang="en-GB" altLang="en-US" sz="2000" b="1">
                <a:ea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en-GB" altLang="en-US" sz="2000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1">
              <a:spcBef>
                <a:spcPct val="50000"/>
              </a:spcBef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This will take a single argument (the name of the initiating client, or else 'SERVER').</a:t>
            </a:r>
          </a:p>
          <a:p>
            <a:pPr lvl="1">
              <a:spcBef>
                <a:spcPct val="50000"/>
              </a:spcBef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It will check all the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blockedUsers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vectors of the connected clients and also the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blockedUsers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instance variable for matching clients.</a:t>
            </a:r>
          </a:p>
          <a:p>
            <a:pPr>
              <a:spcBef>
                <a:spcPct val="50000"/>
              </a:spcBef>
            </a:pPr>
            <a:endParaRPr lang="en-GB" altLang="en-US" sz="200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86E62C-9CD2-477B-B472-E1C0D19F9100}" type="slidenum">
              <a:rPr lang="nl-NL" altLang="fr-FR" smtClean="0"/>
              <a:pPr>
                <a:defRPr/>
              </a:pPr>
              <a:t>93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258841865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Design example</a:t>
            </a:r>
          </a:p>
        </p:txBody>
      </p:sp>
      <p:sp>
        <p:nvSpPr>
          <p:cNvPr id="572420" name="Rectangle 4"/>
          <p:cNvSpPr>
            <a:spLocks noChangeArrowheads="1"/>
          </p:cNvSpPr>
          <p:nvPr/>
        </p:nvSpPr>
        <p:spPr bwMode="auto">
          <a:xfrm>
            <a:off x="1143000" y="1447800"/>
            <a:ext cx="6934200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• The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#forward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,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#msg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and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#private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commands will be modified as needed to reflect the specifications.</a:t>
            </a:r>
          </a:p>
          <a:p>
            <a:pPr lvl="1">
              <a:spcBef>
                <a:spcPct val="50000"/>
              </a:spcBef>
            </a:pP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Each of these will each examine the relevant </a:t>
            </a:r>
            <a:r>
              <a:rPr lang="en-GB" altLang="en-US" sz="2000" b="1">
                <a:latin typeface="Courier" pitchFamily="49" charset="0"/>
                <a:ea typeface="Times" panose="02020603050405020304" pitchFamily="18" charset="0"/>
                <a:cs typeface="Times" panose="02020603050405020304" pitchFamily="18" charset="0"/>
              </a:rPr>
              <a:t>blockedUsers</a:t>
            </a:r>
            <a:r>
              <a:rPr lang="en-GB" altLang="en-US" sz="2000">
                <a:ea typeface="Times" panose="02020603050405020304" pitchFamily="18" charset="0"/>
                <a:cs typeface="Times" panose="02020603050405020304" pitchFamily="18" charset="0"/>
              </a:rPr>
              <a:t> vectors and take appropriate action.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94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32569263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dirty="0">
                <a:ea typeface="Times" panose="02020603050405020304" pitchFamily="18" charset="0"/>
                <a:cs typeface="Times" panose="02020603050405020304" pitchFamily="18" charset="0"/>
              </a:rPr>
              <a:t>Difficulties and Risks in Design</a:t>
            </a:r>
            <a:r>
              <a:rPr lang="en-US" altLang="en-US" dirty="0"/>
              <a:t> </a:t>
            </a:r>
          </a:p>
        </p:txBody>
      </p:sp>
      <p:sp>
        <p:nvSpPr>
          <p:cNvPr id="476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219200"/>
            <a:ext cx="7924800" cy="48006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Like modelling, design is a skill that requires considerable experience</a:t>
            </a:r>
            <a:endParaRPr lang="en-GB" altLang="en-US" i="1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2">
              <a:lnSpc>
                <a:spcPct val="90000"/>
              </a:lnSpc>
            </a:pP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Individual software engineers should not attempt the design of large systems </a:t>
            </a:r>
          </a:p>
          <a:p>
            <a:pPr lvl="2">
              <a:lnSpc>
                <a:spcPct val="90000"/>
              </a:lnSpc>
            </a:pP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Aspiring software architects should actively study designs of other systems</a:t>
            </a:r>
          </a:p>
          <a:p>
            <a:pPr>
              <a:lnSpc>
                <a:spcPct val="90000"/>
              </a:lnSpc>
            </a:pPr>
            <a:endParaRPr lang="en-GB" altLang="en-US" b="0">
              <a:ea typeface="Times" panose="02020603050405020304" pitchFamily="18" charset="0"/>
              <a:cs typeface="Times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Poor designs can lead to expensive maintenance</a:t>
            </a:r>
          </a:p>
          <a:p>
            <a:pPr lvl="2" algn="just">
              <a:lnSpc>
                <a:spcPct val="90000"/>
              </a:lnSpc>
            </a:pP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Ensure you follow the principles discussed in this chapter</a:t>
            </a:r>
            <a:r>
              <a:rPr lang="en-US" altLang="en-US"/>
              <a:t> 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95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94182943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/>
              <a:t>Difficulties and Risks in Design</a:t>
            </a:r>
          </a:p>
        </p:txBody>
      </p:sp>
      <p:sp>
        <p:nvSpPr>
          <p:cNvPr id="573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GB" altLang="en-US">
                <a:ea typeface="Times" panose="02020603050405020304" pitchFamily="18" charset="0"/>
                <a:cs typeface="Times" panose="02020603050405020304" pitchFamily="18" charset="0"/>
              </a:rPr>
              <a:t>It requires constant effort to ensure a software system’s design remains good throughout its life</a:t>
            </a:r>
            <a:endParaRPr lang="en-GB" altLang="en-US" i="1">
              <a:ea typeface="Times" panose="02020603050405020304" pitchFamily="18" charset="0"/>
              <a:cs typeface="Times" panose="02020603050405020304" pitchFamily="18" charset="0"/>
            </a:endParaRPr>
          </a:p>
          <a:p>
            <a:pPr lvl="2" algn="just">
              <a:lnSpc>
                <a:spcPct val="90000"/>
              </a:lnSpc>
            </a:pP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Make the original design as flexible as possible so as to anticipate changes and extensions. </a:t>
            </a:r>
          </a:p>
          <a:p>
            <a:pPr lvl="2" algn="just">
              <a:lnSpc>
                <a:spcPct val="90000"/>
              </a:lnSpc>
            </a:pP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Ensure that the design documentation is usable and at the correct level of detail</a:t>
            </a:r>
          </a:p>
          <a:p>
            <a:pPr lvl="2" algn="just">
              <a:lnSpc>
                <a:spcPct val="90000"/>
              </a:lnSpc>
            </a:pPr>
            <a:r>
              <a:rPr lang="en-GB" altLang="en-US" i="1">
                <a:ea typeface="Times" panose="02020603050405020304" pitchFamily="18" charset="0"/>
                <a:cs typeface="Times" panose="02020603050405020304" pitchFamily="18" charset="0"/>
              </a:rPr>
              <a:t>Ensure that change is carefully managed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91078-A665-44A8-AEC5-AB21379DB9B9}" type="slidenum">
              <a:rPr lang="nl-NL" altLang="fr-FR" smtClean="0"/>
              <a:pPr>
                <a:defRPr/>
              </a:pPr>
              <a:t>96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2795273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u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pitaux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12103</TotalTime>
  <Words>5820</Words>
  <Application>Microsoft Office PowerPoint</Application>
  <PresentationFormat>Affichage à l'écran (4:3)</PresentationFormat>
  <Paragraphs>868</Paragraphs>
  <Slides>96</Slides>
  <Notes>3</Notes>
  <HiddenSlides>1</HiddenSlides>
  <MMClips>0</MMClips>
  <ScaleCrop>false</ScaleCrop>
  <HeadingPairs>
    <vt:vector size="8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96</vt:i4>
      </vt:variant>
    </vt:vector>
  </HeadingPairs>
  <TitlesOfParts>
    <vt:vector size="107" baseType="lpstr">
      <vt:lpstr>Arial</vt:lpstr>
      <vt:lpstr>Courier</vt:lpstr>
      <vt:lpstr>Franklin Gothic Book</vt:lpstr>
      <vt:lpstr>NewsGothicBQ</vt:lpstr>
      <vt:lpstr>Perpetua</vt:lpstr>
      <vt:lpstr>Times</vt:lpstr>
      <vt:lpstr>Times New Roman</vt:lpstr>
      <vt:lpstr>Wingdings</vt:lpstr>
      <vt:lpstr>Wingdings 2</vt:lpstr>
      <vt:lpstr>Capitaux</vt:lpstr>
      <vt:lpstr>Document</vt:lpstr>
      <vt:lpstr>Présentation PowerPoint</vt:lpstr>
      <vt:lpstr>The Process of Design </vt:lpstr>
      <vt:lpstr>Design as a series of decisions </vt:lpstr>
      <vt:lpstr>Making decisions</vt:lpstr>
      <vt:lpstr>Design space</vt:lpstr>
      <vt:lpstr>Component</vt:lpstr>
      <vt:lpstr>Module</vt:lpstr>
      <vt:lpstr>System</vt:lpstr>
      <vt:lpstr>UML diagram of system parts</vt:lpstr>
      <vt:lpstr>Top-down and bottom-up design</vt:lpstr>
      <vt:lpstr>Top-down and bottom-up design</vt:lpstr>
      <vt:lpstr>Different aspects of design </vt:lpstr>
      <vt:lpstr>Principles Leading to Good Design </vt:lpstr>
      <vt:lpstr>Design Principle 1: Divide and conquer </vt:lpstr>
      <vt:lpstr>Ways of dividing a software system</vt:lpstr>
      <vt:lpstr>Design Principle 2: Increase cohesion where possible </vt:lpstr>
      <vt:lpstr>Functional cohesion </vt:lpstr>
      <vt:lpstr>Layer cohesion</vt:lpstr>
      <vt:lpstr>Example of the use of layers</vt:lpstr>
      <vt:lpstr>Communicational cohesion</vt:lpstr>
      <vt:lpstr>Sequential cohesion</vt:lpstr>
      <vt:lpstr>Procedural cohesion</vt:lpstr>
      <vt:lpstr>Temporal Cohesion</vt:lpstr>
      <vt:lpstr>Utility cohesion</vt:lpstr>
      <vt:lpstr>Design Principle 3: Reduce coupling where possible </vt:lpstr>
      <vt:lpstr>Content coupling: </vt:lpstr>
      <vt:lpstr>Example of content coupling</vt:lpstr>
      <vt:lpstr>Common coupling</vt:lpstr>
      <vt:lpstr>Control coupling </vt:lpstr>
      <vt:lpstr>Example of control coupling</vt:lpstr>
      <vt:lpstr>Stamp coupling: </vt:lpstr>
      <vt:lpstr>Example of stamp coupling</vt:lpstr>
      <vt:lpstr>Example of stamp coupling</vt:lpstr>
      <vt:lpstr>Data coupling</vt:lpstr>
      <vt:lpstr>Routine call coupling</vt:lpstr>
      <vt:lpstr>Type use coupling </vt:lpstr>
      <vt:lpstr>Inclusion or import coupling </vt:lpstr>
      <vt:lpstr>External coupling </vt:lpstr>
      <vt:lpstr>Design Principle 4: Keep the level of abstraction as high as possible </vt:lpstr>
      <vt:lpstr>Abstraction and classes</vt:lpstr>
      <vt:lpstr>Design Principle 5: Increase reusability where possible</vt:lpstr>
      <vt:lpstr>Design Principle 6: Reuse existing designs and code where possible</vt:lpstr>
      <vt:lpstr>Design Principle 7: Design for flexibility </vt:lpstr>
      <vt:lpstr>Design Principle 8: Anticipate obsolescence </vt:lpstr>
      <vt:lpstr>Design Principle 9: Design for Portability </vt:lpstr>
      <vt:lpstr>Design Principle 10: Design for Testability </vt:lpstr>
      <vt:lpstr>Design Principle 11: Design defensively</vt:lpstr>
      <vt:lpstr>Design by contract</vt:lpstr>
      <vt:lpstr>9.3 Techniques for making good design decisions </vt:lpstr>
      <vt:lpstr>Example priorities and objectives</vt:lpstr>
      <vt:lpstr>Example evaluation of alternatives</vt:lpstr>
      <vt:lpstr>Using cost-benefit analysis to choose among alternatives</vt:lpstr>
      <vt:lpstr>Software Architecture</vt:lpstr>
      <vt:lpstr>The importance of software architecture </vt:lpstr>
      <vt:lpstr>Contents of a good architectural model </vt:lpstr>
      <vt:lpstr>Design stable architecture</vt:lpstr>
      <vt:lpstr>Developing an architectural model </vt:lpstr>
      <vt:lpstr>Developing an architectural model</vt:lpstr>
      <vt:lpstr>Describing an architecture using UML </vt:lpstr>
      <vt:lpstr>Package diagrams</vt:lpstr>
      <vt:lpstr>Subsystem diagrams</vt:lpstr>
      <vt:lpstr>Component diagrams</vt:lpstr>
      <vt:lpstr>Deployment diagrams</vt:lpstr>
      <vt:lpstr>9.5 Architectural Patterns </vt:lpstr>
      <vt:lpstr>The Multi-Layer architectural pattern </vt:lpstr>
      <vt:lpstr>Example of multi-layer systems</vt:lpstr>
      <vt:lpstr>The multi-layer architecture and design principles</vt:lpstr>
      <vt:lpstr>The multi-layer architecture and design principles</vt:lpstr>
      <vt:lpstr>The Client-Server and other distributed architectural patterns</vt:lpstr>
      <vt:lpstr>An example of a distributed system</vt:lpstr>
      <vt:lpstr>The distributed architecture and design principles</vt:lpstr>
      <vt:lpstr>The distributed architecture and design principles</vt:lpstr>
      <vt:lpstr>The Broker architectural pattern</vt:lpstr>
      <vt:lpstr>Example of a Broker system</vt:lpstr>
      <vt:lpstr>The broker architecture and design principles</vt:lpstr>
      <vt:lpstr>The Transaction-Processing architectural pattern </vt:lpstr>
      <vt:lpstr>Example of a transaction-processing system</vt:lpstr>
      <vt:lpstr>The transaction-processing architecture and design principles</vt:lpstr>
      <vt:lpstr>The Pipe-and-Filter architectural pattern </vt:lpstr>
      <vt:lpstr>Example of a pipe-and-filter system</vt:lpstr>
      <vt:lpstr>The pipe-and-filter architecture and design principles</vt:lpstr>
      <vt:lpstr>The pipe-and-filter architecture and design principles</vt:lpstr>
      <vt:lpstr>The Model-View-Controller (MVC) architectural pattern </vt:lpstr>
      <vt:lpstr>Example of the MVC architecture for the UI</vt:lpstr>
      <vt:lpstr>The MVC architecture and design principles</vt:lpstr>
      <vt:lpstr>9.6 Writing a Good Design Document </vt:lpstr>
      <vt:lpstr>Structure of a design document </vt:lpstr>
      <vt:lpstr>When writing the document</vt:lpstr>
      <vt:lpstr>9.7 Design of a Feature of the SimpleChat System</vt:lpstr>
      <vt:lpstr>Design Example</vt:lpstr>
      <vt:lpstr>Design Example</vt:lpstr>
      <vt:lpstr>Design Example</vt:lpstr>
      <vt:lpstr>Design Example</vt:lpstr>
      <vt:lpstr>Design example</vt:lpstr>
      <vt:lpstr>Difficulties and Risks in Design </vt:lpstr>
      <vt:lpstr>Difficulties and Risks in Design</vt:lpstr>
    </vt:vector>
  </TitlesOfParts>
  <Company>Vrije Universiteit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Hans van Vliet</dc:creator>
  <cp:lastModifiedBy>User</cp:lastModifiedBy>
  <cp:revision>149</cp:revision>
  <dcterms:created xsi:type="dcterms:W3CDTF">2005-08-23T09:20:25Z</dcterms:created>
  <dcterms:modified xsi:type="dcterms:W3CDTF">2020-03-11T13:56:29Z</dcterms:modified>
</cp:coreProperties>
</file>