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6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259" autoAdjust="0"/>
  </p:normalViewPr>
  <p:slideViewPr>
    <p:cSldViewPr>
      <p:cViewPr varScale="1">
        <p:scale>
          <a:sx n="91" d="100"/>
          <a:sy n="91" d="100"/>
        </p:scale>
        <p:origin x="216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9597C-3DA2-449B-B75F-58976E9CCD92}" type="datetimeFigureOut">
              <a:rPr lang="fr-CA" smtClean="0"/>
              <a:t>2020-02-14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CEB45-63CE-4F08-9A4A-7E07EFDC175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257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ci.csusb.edu/dick/samples/ocl.html#Collections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0243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CEB45-63CE-4F08-9A4A-7E07EFDC1759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0410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2389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7711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1AAA5D-4DBF-4269-AA0B-86FE5E0FFB9C}" type="slidenum">
              <a:rPr lang="he-IL" altLang="fr-FR"/>
              <a:pPr/>
              <a:t>11</a:t>
            </a:fld>
            <a:endParaRPr lang="en-US" altLang="fr-FR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60434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E0C34D-1391-4859-9477-9AFB2C351EA8}" type="slidenum">
              <a:rPr lang="he-IL" altLang="fr-FR"/>
              <a:pPr/>
              <a:t>12</a:t>
            </a:fld>
            <a:endParaRPr lang="en-US" altLang="fr-FR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9437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D46D9C-D988-44A4-9F2E-6832E68E8AFE}" type="slidenum">
              <a:rPr lang="he-IL" altLang="fr-FR"/>
              <a:pPr/>
              <a:t>13</a:t>
            </a:fld>
            <a:endParaRPr lang="en-US" altLang="fr-FR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2349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6580C-0AF6-4B4C-903E-8F895F42AD96}" type="slidenum">
              <a:rPr lang="he-IL" altLang="fr-FR"/>
              <a:pPr/>
              <a:t>14</a:t>
            </a:fld>
            <a:endParaRPr lang="en-US" altLang="fr-FR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04452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BE5D8A-BFD0-4B44-9F46-44AD36E69F5B}" type="slidenum">
              <a:rPr lang="he-IL" altLang="fr-FR"/>
              <a:pPr/>
              <a:t>15</a:t>
            </a:fld>
            <a:endParaRPr lang="en-US" altLang="fr-FR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56534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BF31CE-7D39-4598-A5FD-221A2F14A937}" type="slidenum">
              <a:rPr lang="he-IL" altLang="fr-FR"/>
              <a:pPr/>
              <a:t>16</a:t>
            </a:fld>
            <a:endParaRPr lang="en-US" altLang="fr-FR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50111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DF7C24-C28D-4AA5-8C1B-6464933EAE0E}" type="slidenum">
              <a:rPr lang="he-IL" altLang="fr-FR"/>
              <a:pPr/>
              <a:t>17</a:t>
            </a:fld>
            <a:endParaRPr lang="en-US" altLang="fr-FR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59050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329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7238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7287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3435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As we can see, the OCL contract is now written as a set of JavaDoc comments. 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The specific OCL Javdoc tags @ invariant, @pre and @post could be read to a verification system or a runtime debugging system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That inserts specific code as a result of these tags to ensure the validity of the predicates (slows down the computation quite a bit, verification would be better, but currently not state of the art for large complex systems. </a:t>
            </a:r>
          </a:p>
        </p:txBody>
      </p:sp>
    </p:spTree>
    <p:extLst>
      <p:ext uri="{BB962C8B-B14F-4D97-AF65-F5344CB8AC3E}">
        <p14:creationId xmlns:p14="http://schemas.microsoft.com/office/powerpoint/2010/main" val="4089656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The value of this expression is the set of objects on the other side of the role name association.</a:t>
            </a:r>
          </a:p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 If the multiplicity of the association-end has a maximum of one ("0..1" or "1"), then the value of this expression is an object.</a:t>
            </a:r>
          </a:p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 If the multiplicity is "0..1" then the result is an empty set if there is no object, otherwise it is the unique object. </a:t>
            </a:r>
          </a:p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Navigation expression generate </a:t>
            </a:r>
            <a:r>
              <a:rPr lang="en-US" altLang="fr-FR" i="1">
                <a:solidFill>
                  <a:srgbClr val="0000FF"/>
                </a:solidFill>
                <a:latin typeface="Arial" panose="020B0604020202020204" pitchFamily="34" charset="0"/>
                <a:ea typeface="ＭＳ Ｐゴシック" panose="020B0600070205080204" pitchFamily="34" charset="-128"/>
                <a:hlinkClick r:id="rId3"/>
              </a:rPr>
              <a:t>Collections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 of objects. By default, navigation will result in a Set. </a:t>
            </a:r>
          </a:p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When the association on the Class Diagram is adorned with {ordered}, the navigation results in a Sequence. Collections, like Sets, Bags and Sequences, are predefined types in OCL. They have a large number of predefined operations on them.</a:t>
            </a: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   </a:t>
            </a:r>
          </a:p>
          <a:p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            collection-&gt;operation(arguments)</a:t>
            </a:r>
          </a:p>
        </p:txBody>
      </p:sp>
    </p:spTree>
    <p:extLst>
      <p:ext uri="{BB962C8B-B14F-4D97-AF65-F5344CB8AC3E}">
        <p14:creationId xmlns:p14="http://schemas.microsoft.com/office/powerpoint/2010/main" val="504801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fr-FR" sz="2000" i="1">
                <a:solidFill>
                  <a:srgbClr val="0005C5"/>
                </a:solidFill>
                <a:latin typeface="Times" panose="02020603050405020304" pitchFamily="18" charset="0"/>
                <a:ea typeface="ＭＳ Ｐゴシック" panose="020B0600070205080204" pitchFamily="34" charset="-128"/>
              </a:rPr>
              <a:t>To better understand these constraints, we instantiate the class diagram for a specific group of instances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fr-FR" sz="2000" i="1">
                <a:solidFill>
                  <a:srgbClr val="0005C5"/>
                </a:solidFill>
                <a:latin typeface="Times" panose="02020603050405020304" pitchFamily="18" charset="0"/>
                <a:ea typeface="ＭＳ Ｐゴシック" panose="020B0600070205080204" pitchFamily="34" charset="-128"/>
              </a:rPr>
              <a:t>2 Leagues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fr-FR" sz="2000" i="1">
                <a:solidFill>
                  <a:srgbClr val="0005C5"/>
                </a:solidFill>
                <a:latin typeface="Times" panose="02020603050405020304" pitchFamily="18" charset="0"/>
                <a:ea typeface="ＭＳ Ｐゴシック" panose="020B0600070205080204" pitchFamily="34" charset="-128"/>
              </a:rPr>
              <a:t>5 Players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fr-FR" sz="2000" i="1">
                <a:solidFill>
                  <a:srgbClr val="0005C5"/>
                </a:solidFill>
                <a:latin typeface="Times" panose="02020603050405020304" pitchFamily="18" charset="0"/>
                <a:ea typeface="ＭＳ Ｐゴシック" panose="020B0600070205080204" pitchFamily="34" charset="-128"/>
              </a:rPr>
              <a:t>2 Tournaments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972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8230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90500" indent="-190500">
              <a:buFontTx/>
              <a:buAutoNum type="arabicPeriod"/>
            </a:pPr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Within the context of one class, e.g. tournamen, I can construct a predicate out of the attributes of this class.</a:t>
            </a:r>
          </a:p>
          <a:p>
            <a:pPr marL="190500" indent="-190500">
              <a:buFontTx/>
              <a:buAutoNum type="arabicPeriod"/>
            </a:pPr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 Given a certain context, say League, I can specify a constraint, that involves methods and attributes of a directly associated class, say Player. </a:t>
            </a:r>
          </a:p>
          <a:p>
            <a:pPr marL="190500" indent="-190500">
              <a:buFontTx/>
              <a:buAutoNum type="arabicPeriod"/>
            </a:pPr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 Given a certain context, say League, I can specify constraints on classes that are not directly reachable via a neighbor association, but via a couple of associations. </a:t>
            </a:r>
          </a:p>
        </p:txBody>
      </p:sp>
    </p:spTree>
    <p:extLst>
      <p:ext uri="{BB962C8B-B14F-4D97-AF65-F5344CB8AC3E}">
        <p14:creationId xmlns:p14="http://schemas.microsoft.com/office/powerpoint/2010/main" val="38693560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dirty="0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538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4113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101F7D-B544-4B2F-87CE-7CBC462E3C41}" type="slidenum">
              <a:rPr lang="he-IL" altLang="fr-FR"/>
              <a:pPr/>
              <a:t>29</a:t>
            </a:fld>
            <a:endParaRPr lang="en-US" altLang="fr-FR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62342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090D65-B522-4C63-8104-782EDF665CF3}" type="slidenum">
              <a:rPr lang="he-IL" altLang="fr-FR"/>
              <a:pPr/>
              <a:t>30</a:t>
            </a:fld>
            <a:endParaRPr lang="en-US" altLang="fr-FR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6913"/>
            <a:ext cx="4630737" cy="347345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0363"/>
          </a:xfrm>
        </p:spPr>
        <p:txBody>
          <a:bodyPr/>
          <a:lstStyle/>
          <a:p>
            <a:pPr defTabSz="949325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75653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The element type T is the type of a primitive value (</a:t>
            </a:r>
            <a:r>
              <a:rPr lang="de-DE" altLang="fr-FR" b="1">
                <a:latin typeface="Palatino" charset="0"/>
                <a:ea typeface="ＭＳ Ｐゴシック" panose="020B0600070205080204" pitchFamily="34" charset="-128"/>
              </a:rPr>
              <a:t>Integer</a:t>
            </a:r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, </a:t>
            </a:r>
            <a:r>
              <a:rPr lang="de-DE" altLang="fr-FR" b="1">
                <a:latin typeface="Palatino" charset="0"/>
                <a:ea typeface="ＭＳ Ｐゴシック" panose="020B0600070205080204" pitchFamily="34" charset="-128"/>
              </a:rPr>
              <a:t>String</a:t>
            </a:r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, </a:t>
            </a:r>
            <a:r>
              <a:rPr lang="de-DE" altLang="fr-FR" b="1">
                <a:latin typeface="Palatino" charset="0"/>
                <a:ea typeface="ＭＳ Ｐゴシック" panose="020B0600070205080204" pitchFamily="34" charset="-128"/>
              </a:rPr>
              <a:t>Boolean</a:t>
            </a:r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) </a:t>
            </a:r>
          </a:p>
          <a:p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or the type of an object (e.g. </a:t>
            </a:r>
            <a:r>
              <a:rPr lang="de-DE" altLang="fr-FR" b="1">
                <a:latin typeface="Palatino" charset="0"/>
                <a:ea typeface="ＭＳ Ｐゴシック" panose="020B0600070205080204" pitchFamily="34" charset="-128"/>
              </a:rPr>
              <a:t>Person</a:t>
            </a:r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, </a:t>
            </a:r>
            <a:r>
              <a:rPr lang="de-DE" altLang="fr-FR" b="1">
                <a:latin typeface="Palatino" charset="0"/>
                <a:ea typeface="ＭＳ Ｐゴシック" panose="020B0600070205080204" pitchFamily="34" charset="-128"/>
              </a:rPr>
              <a:t>Tournament</a:t>
            </a:r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).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6377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OCL-Operations to determine the properties of a collection:</a:t>
            </a:r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914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 altLang="fr-FR">
                <a:latin typeface="Palatino" charset="0"/>
                <a:ea typeface="ＭＳ Ｐゴシック" panose="020B0600070205080204" pitchFamily="34" charset="-128"/>
              </a:rPr>
              <a:t>Operations to generate new collections (Result is again a collection):</a:t>
            </a:r>
            <a:r>
              <a:rPr lang="de-DE" altLang="fr-FR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4093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Of course, also by calling an OCL collection operation on an OCL collection</a:t>
            </a:r>
          </a:p>
        </p:txBody>
      </p:sp>
    </p:spTree>
    <p:extLst>
      <p:ext uri="{BB962C8B-B14F-4D97-AF65-F5344CB8AC3E}">
        <p14:creationId xmlns:p14="http://schemas.microsoft.com/office/powerpoint/2010/main" val="28545916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13943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XXXX? Is this english description correct?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The number of customers registered by a programPartner must be equal to the number of customers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 that belong to a bonusprogram offered by the programPartner</a:t>
            </a:r>
          </a:p>
        </p:txBody>
      </p:sp>
    </p:spTree>
    <p:extLst>
      <p:ext uri="{BB962C8B-B14F-4D97-AF65-F5344CB8AC3E}">
        <p14:creationId xmlns:p14="http://schemas.microsoft.com/office/powerpoint/2010/main" val="36175824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A bonus program should offer two levels. The number of levels in a bonus program should be two.</a:t>
            </a:r>
          </a:p>
        </p:txBody>
      </p:sp>
    </p:spTree>
    <p:extLst>
      <p:ext uri="{BB962C8B-B14F-4D97-AF65-F5344CB8AC3E}">
        <p14:creationId xmlns:p14="http://schemas.microsoft.com/office/powerpoint/2010/main" val="39110928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76798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82159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40984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54352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The value of an OCL expression is an object or a collection of objects. 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We obtain these objects by navigating through the associations of the class diagram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If the multiplicity of the association-end is 1, the value of the OCL expression is a </a:t>
            </a:r>
            <a:r>
              <a:rPr lang="en-US" altLang="fr-FR">
                <a:solidFill>
                  <a:srgbClr val="0005C5"/>
                </a:solidFill>
                <a:latin typeface="Palatino" charset="0"/>
                <a:ea typeface="ＭＳ Ｐゴシック" panose="020B0600070205080204" pitchFamily="34" charset="-128"/>
              </a:rPr>
              <a:t>single object.</a:t>
            </a:r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If the multiplicity is 0..1, the result is an empty set if there is no object, otherwise a </a:t>
            </a:r>
            <a:r>
              <a:rPr lang="en-US" altLang="fr-FR">
                <a:solidFill>
                  <a:srgbClr val="0005C5"/>
                </a:solidFill>
                <a:latin typeface="Palatino" charset="0"/>
                <a:ea typeface="ＭＳ Ｐゴシック" panose="020B0600070205080204" pitchFamily="34" charset="-128"/>
              </a:rPr>
              <a:t>single object</a:t>
            </a:r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. </a:t>
            </a:r>
          </a:p>
          <a:p>
            <a:pPr>
              <a:lnSpc>
                <a:spcPct val="10000"/>
              </a:lnSpc>
            </a:pPr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33369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http://archive.eiffel.com/doc/manuals/technology/contract/ariane/page.html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Berard discusses the similarities and differences between Abstraction, Information hiding and encapsulation.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Meyers article on Lessons of Ariane is an interesting reading on the Ariane 5 Failure in the context of design by contract. </a:t>
            </a:r>
          </a:p>
          <a:p>
            <a:r>
              <a:rPr lang="en-US" altLang="fr-FR">
                <a:latin typeface="Palatino" charset="0"/>
                <a:ea typeface="ＭＳ Ｐゴシック" panose="020B0600070205080204" pitchFamily="34" charset="-128"/>
              </a:rPr>
              <a:t>The basis for OCL was laid in the late 1960s by Tony Hoard. A good online starting point for Hoare is actually the Wikipedia</a:t>
            </a:r>
            <a:r>
              <a:rPr lang="en-US" altLang="fr-FR" sz="900">
                <a:latin typeface="Palatino" charset="0"/>
                <a:ea typeface="ＭＳ Ｐゴシック" panose="020B0600070205080204" pitchFamily="34" charset="-128"/>
              </a:rPr>
              <a:t>: http://en.wikipedia.org/wiki/Hoare_logic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22476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The OCL is an interesting concept but it hasn</a:t>
            </a:r>
            <a:r>
              <a:rPr lang="en-US" altLang="fr-FR">
                <a:latin typeface="Arial" panose="020B0604020202020204" pitchFamily="34" charset="0"/>
                <a:ea typeface="ヒラギノ角ゴ Pro W3" charset="-128"/>
              </a:rPr>
              <a:t>’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t been adopted by the industry.</a:t>
            </a:r>
            <a:endParaRPr lang="en-US" altLang="fr-FR">
              <a:latin typeface="Arial" panose="020B0604020202020204" pitchFamily="34" charset="0"/>
              <a:ea typeface="ヒラギノ角ゴ Pro W3" charset="-128"/>
            </a:endParaRPr>
          </a:p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It  still shows no signs of being adopted any time soon, but in my opinion it  worth the effort to learn.</a:t>
            </a:r>
          </a:p>
          <a:p>
            <a:endParaRPr lang="en-US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94252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0121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52769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03312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837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6644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6723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Palatino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0213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9710-89E4-43CE-9F4C-006A13DED0A4}" type="datetime1">
              <a:rPr lang="fr-CA" smtClean="0"/>
              <a:t>2020-02-14</a:t>
            </a:fld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48B8-3F8B-45D3-8028-B441E2376FC9}" type="datetime1">
              <a:rPr lang="fr-CA" smtClean="0"/>
              <a:t>2020-02-14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F40CD-7875-4E09-B29B-62FA7C23FB89}" type="datetime1">
              <a:rPr lang="fr-CA" smtClean="0"/>
              <a:t>2020-02-14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CA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52C96-CDB8-4422-8743-1F96CB5C4927}" type="datetime1">
              <a:rPr lang="fr-CA" smtClean="0"/>
              <a:t>2020-02-14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566FB-9BEB-442D-8934-BD023ECAF30E}" type="datetime1">
              <a:rPr lang="fr-CA" smtClean="0"/>
              <a:t>2020-02-14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C52F-D8D7-489D-A0F8-AACB3A598555}" type="datetime1">
              <a:rPr lang="fr-CA" smtClean="0"/>
              <a:t>2020-02-14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81965-A295-4EA5-AEC9-E367DC2B884E}" type="datetime1">
              <a:rPr lang="fr-CA" smtClean="0"/>
              <a:t>2020-02-14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C9CF-16A9-498F-9B77-86CDEB72BF04}" type="datetime1">
              <a:rPr lang="fr-CA" smtClean="0"/>
              <a:t>2020-02-14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BA33-2927-411D-B60C-6E203AB8E240}" type="datetime1">
              <a:rPr lang="fr-CA" smtClean="0"/>
              <a:t>2020-02-14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6B39-6C41-4F07-81AB-82A9854CDF56}" type="datetime1">
              <a:rPr lang="fr-CA" smtClean="0"/>
              <a:t>2020-02-14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0EA4-67C4-41B6-BC8F-FFDB60737D6A}" type="datetime1">
              <a:rPr lang="fr-CA" smtClean="0"/>
              <a:t>2020-02-14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el, ClipAr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ClipArt-Platzhalter 2"/>
          <p:cNvSpPr>
            <a:spLocks noGrp="1"/>
          </p:cNvSpPr>
          <p:nvPr>
            <p:ph type="clipArt" sz="half" idx="1"/>
          </p:nvPr>
        </p:nvSpPr>
        <p:spPr>
          <a:xfrm>
            <a:off x="533400" y="1295400"/>
            <a:ext cx="3924300" cy="4800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610100" y="1295400"/>
            <a:ext cx="3924300" cy="48006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86693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33400" y="1295400"/>
            <a:ext cx="8001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33400" y="3771900"/>
            <a:ext cx="8001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7457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F91AA3C-6EDC-4AC6-83F1-714BC078F4FF}" type="datetime1">
              <a:rPr lang="fr-CA" smtClean="0"/>
              <a:t>2020-02-14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CA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5F8B6A1-9034-4521-A2C5-EF04A59F3523}" type="slidenum">
              <a:rPr lang="fr-CA" smtClean="0"/>
              <a:t>‹N°›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archive.eiffel.com/doc/manuals/technology/contract/ariane/page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OCL – The Object Constraint Language in UML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2160240" cy="90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Dr. Mohammed Ayoub Alaoui Mhamdi</a:t>
            </a:r>
          </a:p>
          <a:p>
            <a:pPr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fr-FR" dirty="0">
                <a:solidFill>
                  <a:schemeClr val="tx1"/>
                </a:solidFill>
              </a:rPr>
              <a:t>Bishop's University</a:t>
            </a:r>
          </a:p>
          <a:p>
            <a:pPr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err="1">
                <a:solidFill>
                  <a:schemeClr val="tx1"/>
                </a:solidFill>
              </a:rPr>
              <a:t>Sherbrooke</a:t>
            </a:r>
            <a:r>
              <a:rPr lang="en-US" altLang="fr-FR" dirty="0">
                <a:solidFill>
                  <a:schemeClr val="tx1"/>
                </a:solidFill>
              </a:rPr>
              <a:t>, Qc, Canada</a:t>
            </a:r>
          </a:p>
          <a:p>
            <a:pPr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malaoui@ubishops.ca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3581" y="522896"/>
            <a:ext cx="5347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168">
              <a:spcBef>
                <a:spcPts val="226"/>
              </a:spcBef>
            </a:pPr>
            <a:r>
              <a:rPr lang="fr-CA" sz="2800" dirty="0"/>
              <a:t>CS 410/CS 560 -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76216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Outline of the Lecture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Simple predicates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Preconditions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Postconditions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Contracts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Sets, Bags, and Sequences</a:t>
            </a:r>
          </a:p>
          <a:p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736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47519-B5D8-4339-84D0-E9AA5059326F}" type="slidenum">
              <a:rPr lang="he-IL" altLang="en-US"/>
              <a:pPr/>
              <a:t>3</a:t>
            </a:fld>
            <a:endParaRPr lang="en-US" altLang="en-US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chemeClr val="tx1"/>
                </a:solidFill>
              </a:rPr>
              <a:t>History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/>
              <a:t>First developed in 1995 as IBEL by IBM’s Insurance division for business modelling</a:t>
            </a:r>
          </a:p>
          <a:p>
            <a:r>
              <a:rPr lang="en-US" altLang="fr-FR"/>
              <a:t>IBM proposed it to the OMG’s call for an object-oriented analysis and design standard. OCL was then merged into UML 1.1.</a:t>
            </a:r>
          </a:p>
          <a:p>
            <a:r>
              <a:rPr lang="en-US" altLang="fr-FR"/>
              <a:t>OCL was used to define UML 1.2 itself.</a:t>
            </a:r>
          </a:p>
          <a:p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283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884E-A4C8-489D-BF7D-F6B45FD725C9}" type="slidenum">
              <a:rPr lang="he-IL" altLang="en-US"/>
              <a:pPr/>
              <a:t>4</a:t>
            </a:fld>
            <a:endParaRPr lang="en-US" altLang="en-US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chemeClr val="tx1"/>
                </a:solidFill>
              </a:rPr>
              <a:t>UML Diagrams are NOT Enough!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r>
              <a:rPr lang="en-US" altLang="fr-FR"/>
              <a:t>We need a language to help with the spec.</a:t>
            </a:r>
          </a:p>
          <a:p>
            <a:r>
              <a:rPr lang="en-US" altLang="fr-FR"/>
              <a:t>We look for some “add-on” instead of a brand new  language with full specification capability.</a:t>
            </a:r>
          </a:p>
          <a:p>
            <a:r>
              <a:rPr lang="en-US" altLang="fr-FR"/>
              <a:t>Why not first order logic? – Not OO.</a:t>
            </a:r>
          </a:p>
          <a:p>
            <a:r>
              <a:rPr lang="en-US" altLang="fr-FR"/>
              <a:t>OCL is used to specify constraints on OO systems.</a:t>
            </a:r>
          </a:p>
          <a:p>
            <a:r>
              <a:rPr lang="en-US" altLang="fr-FR"/>
              <a:t>OCL is not the only one.</a:t>
            </a:r>
          </a:p>
          <a:p>
            <a:r>
              <a:rPr lang="en-US" altLang="fr-FR"/>
              <a:t>But OCL is the only one that is standardized.</a:t>
            </a:r>
          </a:p>
        </p:txBody>
      </p:sp>
    </p:spTree>
    <p:extLst>
      <p:ext uri="{BB962C8B-B14F-4D97-AF65-F5344CB8AC3E}">
        <p14:creationId xmlns:p14="http://schemas.microsoft.com/office/powerpoint/2010/main" val="232790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BF902-F5BF-47AD-9459-92D93345C87B}" type="slidenum">
              <a:rPr lang="he-IL" altLang="en-US"/>
              <a:pPr/>
              <a:t>5</a:t>
            </a:fld>
            <a:endParaRPr lang="en-US" altLang="en-US"/>
          </a:p>
        </p:txBody>
      </p:sp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609600" y="3048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1pPr>
            <a:lvl2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2pPr>
            <a:lvl3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3pPr>
            <a:lvl4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4pPr>
            <a:lvl5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9pPr>
          </a:lstStyle>
          <a:p>
            <a:r>
              <a:rPr lang="en-US" altLang="fr-FR" b="1">
                <a:solidFill>
                  <a:schemeClr val="tx1"/>
                </a:solidFill>
              </a:rPr>
              <a:t>OCL – fills the missing gap:</a:t>
            </a: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609600" y="1371600"/>
            <a:ext cx="8229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fr-FR" sz="2400"/>
              <a:t>Formal </a:t>
            </a:r>
            <a:r>
              <a:rPr lang="en-US" altLang="fr-FR" sz="2400">
                <a:solidFill>
                  <a:srgbClr val="FF0000"/>
                </a:solidFill>
              </a:rPr>
              <a:t>specification language</a:t>
            </a:r>
            <a:r>
              <a:rPr lang="en-US" altLang="fr-FR" sz="2400"/>
              <a:t> </a:t>
            </a:r>
            <a:r>
              <a:rPr lang="en-US" altLang="fr-FR" sz="2400">
                <a:sym typeface="Wingdings" panose="05000000000000000000" pitchFamily="2" charset="2"/>
              </a:rPr>
              <a:t> implementable.</a:t>
            </a:r>
            <a:endParaRPr lang="en-US" altLang="fr-FR" sz="2400"/>
          </a:p>
          <a:p>
            <a:pPr lvl="1">
              <a:buFont typeface="Wingdings" panose="05000000000000000000" pitchFamily="2" charset="2"/>
              <a:buNone/>
            </a:pPr>
            <a:endParaRPr lang="en-US" altLang="fr-FR" sz="2400"/>
          </a:p>
          <a:p>
            <a:r>
              <a:rPr lang="en-US" altLang="fr-FR" sz="2400"/>
              <a:t>Supports object concepts.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fr-FR" sz="2400"/>
          </a:p>
          <a:p>
            <a:r>
              <a:rPr lang="en-US" altLang="fr-FR" sz="2400"/>
              <a:t>“Intuitive” syntax – reminds OO programming languages.</a:t>
            </a:r>
          </a:p>
          <a:p>
            <a:endParaRPr lang="en-US" altLang="fr-FR" sz="2400"/>
          </a:p>
          <a:p>
            <a:r>
              <a:rPr lang="en-US" altLang="fr-FR" sz="2400"/>
              <a:t>But – OCL is not a programming language:</a:t>
            </a:r>
          </a:p>
          <a:p>
            <a:pPr lvl="1"/>
            <a:r>
              <a:rPr lang="en-US" altLang="fr-FR" sz="2000"/>
              <a:t>No control flow.</a:t>
            </a:r>
          </a:p>
          <a:p>
            <a:pPr lvl="1"/>
            <a:r>
              <a:rPr lang="en-US" altLang="fr-FR" sz="2000"/>
              <a:t>No side-effects.</a:t>
            </a:r>
          </a:p>
        </p:txBody>
      </p:sp>
    </p:spTree>
    <p:extLst>
      <p:ext uri="{BB962C8B-B14F-4D97-AF65-F5344CB8AC3E}">
        <p14:creationId xmlns:p14="http://schemas.microsoft.com/office/powerpoint/2010/main" val="325533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D20F9-8CFA-424B-9B6F-10A944D6B2D4}" type="slidenum">
              <a:rPr lang="he-IL" altLang="en-US"/>
              <a:pPr/>
              <a:t>6</a:t>
            </a:fld>
            <a:endParaRPr lang="en-US" altLang="en-US"/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609600" y="3048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1pPr>
            <a:lvl2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2pPr>
            <a:lvl3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3pPr>
            <a:lvl4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4pPr>
            <a:lvl5pPr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anose="02020404030301010803" pitchFamily="18" charset="0"/>
              </a:defRPr>
            </a:lvl9pPr>
          </a:lstStyle>
          <a:p>
            <a:r>
              <a:rPr lang="en-US" altLang="fr-FR" b="1">
                <a:solidFill>
                  <a:schemeClr val="tx1"/>
                </a:solidFill>
              </a:rPr>
              <a:t>Advantages of Formal Constraints</a:t>
            </a: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533400" y="1371600"/>
            <a:ext cx="8610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fr-FR" sz="2400"/>
              <a:t>Better documentation</a:t>
            </a:r>
          </a:p>
          <a:p>
            <a:pPr lvl="1"/>
            <a:r>
              <a:rPr lang="en-US" altLang="fr-FR" sz="2000"/>
              <a:t>Constraints add information about the model elements and their relationships to the visual models used in UML</a:t>
            </a:r>
          </a:p>
          <a:p>
            <a:pPr lvl="1"/>
            <a:r>
              <a:rPr lang="en-US" altLang="fr-FR" sz="2000"/>
              <a:t>It is way of documenting the model</a:t>
            </a:r>
          </a:p>
          <a:p>
            <a:pPr lvl="1"/>
            <a:endParaRPr lang="en-US" altLang="fr-FR" sz="2400"/>
          </a:p>
          <a:p>
            <a:r>
              <a:rPr lang="en-US" altLang="fr-FR" sz="2400"/>
              <a:t>More precision</a:t>
            </a:r>
          </a:p>
          <a:p>
            <a:pPr lvl="1"/>
            <a:r>
              <a:rPr lang="en-US" altLang="fr-FR" sz="2000"/>
              <a:t>OCL constraints have formal semantics, hence, can be used to reduce the ambiguity in the UML models</a:t>
            </a:r>
          </a:p>
          <a:p>
            <a:pPr lvl="1"/>
            <a:endParaRPr lang="en-US" altLang="fr-FR" sz="2400"/>
          </a:p>
          <a:p>
            <a:r>
              <a:rPr lang="en-US" altLang="fr-FR" sz="2400"/>
              <a:t>Communication without misunderstanding</a:t>
            </a:r>
          </a:p>
          <a:p>
            <a:pPr lvl="1"/>
            <a:r>
              <a:rPr lang="en-US" altLang="fr-FR" sz="2000"/>
              <a:t>UML models are used to communicate between developers, Using OCL constraints modelers can communicate unambiguously</a:t>
            </a:r>
          </a:p>
        </p:txBody>
      </p:sp>
    </p:spTree>
    <p:extLst>
      <p:ext uri="{BB962C8B-B14F-4D97-AF65-F5344CB8AC3E}">
        <p14:creationId xmlns:p14="http://schemas.microsoft.com/office/powerpoint/2010/main" val="2693212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9613-8F42-4222-A2CE-93636D0B3B23}" type="slidenum">
              <a:rPr lang="he-IL" altLang="en-US"/>
              <a:pPr/>
              <a:t>7</a:t>
            </a:fld>
            <a:endParaRPr lang="en-US" altLang="en-US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fr-FR" b="1">
                <a:solidFill>
                  <a:schemeClr val="tx1"/>
                </a:solidFill>
              </a:rPr>
              <a:t>Where to use OCL?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altLang="fr-FR"/>
              <a:t>Specify invariants for classes and types</a:t>
            </a:r>
          </a:p>
          <a:p>
            <a:r>
              <a:rPr lang="en-US" altLang="fr-FR"/>
              <a:t>Specify pre- and post-conditions for methods</a:t>
            </a:r>
          </a:p>
          <a:p>
            <a:r>
              <a:rPr lang="en-US" altLang="fr-FR"/>
              <a:t>As a navigation language</a:t>
            </a:r>
          </a:p>
          <a:p>
            <a:r>
              <a:rPr lang="en-US" altLang="fr-FR"/>
              <a:t>To specify constraints on operations</a:t>
            </a:r>
          </a:p>
          <a:p>
            <a:r>
              <a:rPr lang="en-US" altLang="fr-FR"/>
              <a:t>Test requirements and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5092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Basic Concepts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expressions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Return </a:t>
            </a:r>
            <a:r>
              <a:rPr lang="en-US" altLang="fr-FR" b="1">
                <a:ea typeface="ＭＳ Ｐゴシック" panose="020B0600070205080204" pitchFamily="34" charset="-128"/>
              </a:rPr>
              <a:t>True</a:t>
            </a:r>
            <a:r>
              <a:rPr lang="en-US" altLang="fr-FR">
                <a:ea typeface="ＭＳ Ｐゴシック" panose="020B0600070205080204" pitchFamily="34" charset="-128"/>
              </a:rPr>
              <a:t> or </a:t>
            </a:r>
            <a:r>
              <a:rPr lang="en-US" altLang="fr-FR" b="1">
                <a:ea typeface="ＭＳ Ｐゴシック" panose="020B0600070205080204" pitchFamily="34" charset="-128"/>
              </a:rPr>
              <a:t>False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Are evaluated in a specified context, either a class or an operation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All constraints apply to all instances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208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Simple Predicates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Example:</a:t>
            </a:r>
          </a:p>
          <a:p>
            <a:pPr lvl="3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b="1">
                <a:latin typeface="Courier" charset="0"/>
                <a:ea typeface="ＭＳ Ｐゴシック" panose="020B0600070205080204" pitchFamily="34" charset="-128"/>
              </a:rPr>
              <a:t>context</a:t>
            </a: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 Tournament </a:t>
            </a:r>
            <a:r>
              <a:rPr lang="en-US" altLang="fr-FR" b="1">
                <a:latin typeface="Courier" charset="0"/>
                <a:ea typeface="ＭＳ Ｐゴシック" panose="020B0600070205080204" pitchFamily="34" charset="-128"/>
              </a:rPr>
              <a:t>inv</a:t>
            </a: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	self.getMaxNumPlayers() &gt; 0</a:t>
            </a:r>
          </a:p>
          <a:p>
            <a:pPr lvl="4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In English: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“The maximum number of players in any tournament should be a postive number.”</a:t>
            </a:r>
          </a:p>
          <a:p>
            <a:pPr lvl="4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Notes: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“self” denotes all instances of “Tournament”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OCL uses the same dot notation as Java.</a:t>
            </a:r>
          </a:p>
          <a:p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962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CCEA-41F0-4562-BA8C-BC594A9F3F3F}" type="slidenum">
              <a:rPr lang="he-IL" altLang="en-US"/>
              <a:pPr/>
              <a:t>10</a:t>
            </a:fld>
            <a:endParaRPr lang="en-US" alt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b="1">
                <a:solidFill>
                  <a:schemeClr val="tx1"/>
                </a:solidFill>
              </a:rPr>
              <a:t>More Constraints Examples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 sz="2600"/>
              <a:t>All players must be over 18.</a:t>
            </a:r>
          </a:p>
          <a:p>
            <a:endParaRPr lang="en-US" altLang="fr-FR" sz="2600"/>
          </a:p>
          <a:p>
            <a:pPr>
              <a:buFont typeface="Wingdings" panose="05000000000000000000" pitchFamily="2" charset="2"/>
              <a:buNone/>
            </a:pPr>
            <a:endParaRPr lang="en-US" altLang="fr-FR" sz="2600"/>
          </a:p>
          <a:p>
            <a:r>
              <a:rPr lang="en-US" altLang="fr-FR" sz="2600"/>
              <a:t>The number of guests in each room doesn’t exceed the number of beds in the room.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fr-FR" sz="2400"/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219200" y="2209800"/>
            <a:ext cx="3657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1" algn="ctr"/>
            <a:r>
              <a:rPr lang="en-US" altLang="fr-FR" b="1" dirty="0">
                <a:solidFill>
                  <a:schemeClr val="bg1"/>
                </a:solidFill>
              </a:rPr>
              <a:t>context</a:t>
            </a:r>
            <a:r>
              <a:rPr lang="en-US" altLang="fr-FR" dirty="0">
                <a:solidFill>
                  <a:schemeClr val="bg1"/>
                </a:solidFill>
              </a:rPr>
              <a:t> Player </a:t>
            </a:r>
            <a:r>
              <a:rPr lang="en-US" altLang="fr-FR" b="1" dirty="0">
                <a:solidFill>
                  <a:schemeClr val="bg1"/>
                </a:solidFill>
              </a:rPr>
              <a:t>invariant:</a:t>
            </a:r>
          </a:p>
          <a:p>
            <a:pPr lvl="1" algn="ctr"/>
            <a:r>
              <a:rPr lang="en-US" altLang="fr-FR" dirty="0" err="1">
                <a:solidFill>
                  <a:schemeClr val="bg1"/>
                </a:solidFill>
              </a:rPr>
              <a:t>self.age</a:t>
            </a:r>
            <a:r>
              <a:rPr lang="en-US" altLang="fr-FR" dirty="0">
                <a:solidFill>
                  <a:schemeClr val="bg1"/>
                </a:solidFill>
              </a:rPr>
              <a:t> &gt;=18</a:t>
            </a: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1143000" y="5334000"/>
            <a:ext cx="3886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1" algn="ctr"/>
            <a:r>
              <a:rPr lang="en-US" altLang="fr-FR" b="1" dirty="0">
                <a:solidFill>
                  <a:schemeClr val="bg1"/>
                </a:solidFill>
              </a:rPr>
              <a:t>context</a:t>
            </a:r>
            <a:r>
              <a:rPr lang="en-US" altLang="fr-FR" dirty="0">
                <a:solidFill>
                  <a:schemeClr val="bg1"/>
                </a:solidFill>
              </a:rPr>
              <a:t> Room </a:t>
            </a:r>
            <a:r>
              <a:rPr lang="en-US" altLang="fr-FR" b="1" dirty="0">
                <a:solidFill>
                  <a:schemeClr val="bg1"/>
                </a:solidFill>
              </a:rPr>
              <a:t>invariant:</a:t>
            </a:r>
          </a:p>
          <a:p>
            <a:pPr lvl="1" algn="ctr"/>
            <a:r>
              <a:rPr lang="en-US" altLang="fr-FR" dirty="0">
                <a:solidFill>
                  <a:schemeClr val="bg1"/>
                </a:solidFill>
              </a:rPr>
              <a:t>guests -&gt; size &lt;= </a:t>
            </a:r>
            <a:r>
              <a:rPr lang="en-US" altLang="fr-FR" dirty="0" err="1">
                <a:solidFill>
                  <a:schemeClr val="bg1"/>
                </a:solidFill>
              </a:rPr>
              <a:t>numberOfBeds</a:t>
            </a:r>
            <a:endParaRPr lang="en-US" altLang="fr-FR" dirty="0">
              <a:solidFill>
                <a:schemeClr val="bg1"/>
              </a:solidFill>
            </a:endParaRPr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3051175" y="4038600"/>
            <a:ext cx="928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Room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cxnSp>
        <p:nvCxnSpPr>
          <p:cNvPr id="75784" name="AutoShape 8"/>
          <p:cNvCxnSpPr>
            <a:cxnSpLocks noChangeShapeType="1"/>
          </p:cNvCxnSpPr>
          <p:nvPr/>
        </p:nvCxnSpPr>
        <p:spPr bwMode="auto">
          <a:xfrm>
            <a:off x="4972050" y="4329113"/>
            <a:ext cx="156210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786" name="Text Box 10"/>
          <p:cNvSpPr txBox="1">
            <a:spLocks noChangeArrowheads="1"/>
          </p:cNvSpPr>
          <p:nvPr/>
        </p:nvSpPr>
        <p:spPr bwMode="auto">
          <a:xfrm>
            <a:off x="4946650" y="40386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i="1">
                <a:solidFill>
                  <a:srgbClr val="000000"/>
                </a:solidFill>
                <a:latin typeface="Times New Roman" panose="02020603050405020304" pitchFamily="18" charset="0"/>
              </a:rPr>
              <a:t>room</a:t>
            </a:r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5867400" y="40386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i="1">
                <a:solidFill>
                  <a:srgbClr val="000000"/>
                </a:solidFill>
                <a:latin typeface="Times New Roman" panose="02020603050405020304" pitchFamily="18" charset="0"/>
              </a:rPr>
              <a:t>guest</a:t>
            </a:r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2590800" y="4038600"/>
            <a:ext cx="2362200" cy="457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6553200" y="4038600"/>
            <a:ext cx="2362200" cy="457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75790" name="Text Box 14"/>
          <p:cNvSpPr txBox="1">
            <a:spLocks noChangeArrowheads="1"/>
          </p:cNvSpPr>
          <p:nvPr/>
        </p:nvSpPr>
        <p:spPr bwMode="auto">
          <a:xfrm>
            <a:off x="7038975" y="4038600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Guest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2590800" y="4495800"/>
            <a:ext cx="2362200" cy="533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75792" name="Text Box 16"/>
          <p:cNvSpPr txBox="1">
            <a:spLocks noChangeArrowheads="1"/>
          </p:cNvSpPr>
          <p:nvPr/>
        </p:nvSpPr>
        <p:spPr bwMode="auto">
          <a:xfrm>
            <a:off x="2590800" y="4568825"/>
            <a:ext cx="2349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>
                <a:latin typeface="Times New Roman" panose="02020603050405020304" pitchFamily="18" charset="0"/>
              </a:rPr>
              <a:t>numberOfBeds: Integer</a:t>
            </a:r>
          </a:p>
        </p:txBody>
      </p: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6254750" y="43434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i="1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75799" name="Text Box 23"/>
          <p:cNvSpPr txBox="1">
            <a:spLocks noChangeArrowheads="1"/>
          </p:cNvSpPr>
          <p:nvPr/>
        </p:nvSpPr>
        <p:spPr bwMode="auto">
          <a:xfrm>
            <a:off x="6556375" y="1905000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Player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75800" name="Rectangle 24"/>
          <p:cNvSpPr>
            <a:spLocks noChangeArrowheads="1"/>
          </p:cNvSpPr>
          <p:nvPr/>
        </p:nvSpPr>
        <p:spPr bwMode="auto">
          <a:xfrm>
            <a:off x="6096000" y="1905000"/>
            <a:ext cx="2362200" cy="457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75801" name="Rectangle 25"/>
          <p:cNvSpPr>
            <a:spLocks noChangeArrowheads="1"/>
          </p:cNvSpPr>
          <p:nvPr/>
        </p:nvSpPr>
        <p:spPr bwMode="auto">
          <a:xfrm>
            <a:off x="6096000" y="2362200"/>
            <a:ext cx="2362200" cy="533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75802" name="Text Box 26"/>
          <p:cNvSpPr txBox="1">
            <a:spLocks noChangeArrowheads="1"/>
          </p:cNvSpPr>
          <p:nvPr/>
        </p:nvSpPr>
        <p:spPr bwMode="auto">
          <a:xfrm>
            <a:off x="6524625" y="2435225"/>
            <a:ext cx="1270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fr-FR">
                <a:latin typeface="Times New Roman" panose="02020603050405020304" pitchFamily="18" charset="0"/>
              </a:rPr>
              <a:t>age: Integer</a:t>
            </a:r>
          </a:p>
        </p:txBody>
      </p:sp>
    </p:spTree>
    <p:extLst>
      <p:ext uri="{BB962C8B-B14F-4D97-AF65-F5344CB8AC3E}">
        <p14:creationId xmlns:p14="http://schemas.microsoft.com/office/powerpoint/2010/main" val="17535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3AC79-3A3F-4DB4-879D-1CD4E026C6C9}" type="slidenum">
              <a:rPr lang="he-IL" altLang="en-US"/>
              <a:pPr/>
              <a:t>11</a:t>
            </a:fld>
            <a:endParaRPr lang="en-US" altLang="en-US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848600" cy="4572000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 sz="2400"/>
              <a:t>Modules can be taken iff they have more than seven students registered</a:t>
            </a:r>
          </a:p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 sz="2400"/>
              <a:t>The assessments for a module must total 100%</a:t>
            </a:r>
          </a:p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 sz="2400"/>
              <a:t>Students must register for 120 credits each year</a:t>
            </a:r>
          </a:p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 sz="2400"/>
              <a:t>Students must take at least 90 credits of CS modules each year</a:t>
            </a:r>
          </a:p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 sz="2400"/>
              <a:t>All modules must have at least one assessment worth over 50%</a:t>
            </a:r>
          </a:p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 sz="2400"/>
              <a:t>Students can only have assessments for modules which they are taking</a:t>
            </a:r>
          </a:p>
        </p:txBody>
      </p:sp>
    </p:spTree>
    <p:extLst>
      <p:ext uri="{BB962C8B-B14F-4D97-AF65-F5344CB8AC3E}">
        <p14:creationId xmlns:p14="http://schemas.microsoft.com/office/powerpoint/2010/main" val="187356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82B03-9479-4297-AE67-D889386003F6}" type="slidenum">
              <a:rPr lang="he-IL" altLang="en-US"/>
              <a:pPr/>
              <a:t>12</a:t>
            </a:fld>
            <a:endParaRPr lang="en-US" altLang="en-US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 (a)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/>
            </a:pPr>
            <a:r>
              <a:rPr lang="en-GB" altLang="fr-FR">
                <a:solidFill>
                  <a:srgbClr val="0099FF"/>
                </a:solidFill>
              </a:rPr>
              <a:t>Modules can be taken iff they have more than seven students registered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/>
              <a:t>	Note: when should such a constraint be imposed?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 b="1" u="sng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context </a:t>
            </a:r>
            <a:r>
              <a:rPr lang="en-GB" altLang="fr-FR" i="1"/>
              <a:t>Module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invariant</a:t>
            </a:r>
            <a:r>
              <a:rPr lang="en-GB" altLang="fr-FR"/>
              <a:t>: </a:t>
            </a:r>
            <a:r>
              <a:rPr lang="en-GB" altLang="fr-FR" i="1"/>
              <a:t>taken_by</a:t>
            </a:r>
            <a:r>
              <a:rPr lang="en-GB" altLang="fr-FR" i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GB" altLang="fr-FR" i="1">
                <a:solidFill>
                  <a:srgbClr val="0000FF"/>
                </a:solidFill>
              </a:rPr>
              <a:t>size </a:t>
            </a:r>
            <a:r>
              <a:rPr lang="en-GB" altLang="fr-FR" i="1">
                <a:solidFill>
                  <a:srgbClr val="000000"/>
                </a:solidFill>
              </a:rPr>
              <a:t>&gt; 7</a:t>
            </a:r>
          </a:p>
        </p:txBody>
      </p:sp>
    </p:spTree>
    <p:extLst>
      <p:ext uri="{BB962C8B-B14F-4D97-AF65-F5344CB8AC3E}">
        <p14:creationId xmlns:p14="http://schemas.microsoft.com/office/powerpoint/2010/main" val="43657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345DE-A406-4701-ACCD-BD3F132B28FB}" type="slidenum">
              <a:rPr lang="he-IL" altLang="en-US"/>
              <a:pPr/>
              <a:t>13</a:t>
            </a:fld>
            <a:endParaRPr lang="en-US" altLang="en-US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 (b)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 startAt="2"/>
            </a:pPr>
            <a:r>
              <a:rPr lang="en-GB" altLang="fr-FR">
                <a:solidFill>
                  <a:srgbClr val="0099FF"/>
                </a:solidFill>
              </a:rPr>
              <a:t>The assessments for a module must total 100%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 b="1" u="sng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context </a:t>
            </a:r>
            <a:r>
              <a:rPr lang="en-GB" altLang="fr-FR" i="1"/>
              <a:t>Module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invariant</a:t>
            </a:r>
            <a:r>
              <a:rPr lang="en-GB" altLang="fr-FR"/>
              <a:t>: 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/>
              <a:t>	</a:t>
            </a:r>
            <a:r>
              <a:rPr lang="en-GB" altLang="fr-FR" i="1"/>
              <a:t>set_work.weight</a:t>
            </a:r>
            <a:r>
              <a:rPr lang="en-GB" altLang="fr-FR" i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GB" altLang="fr-FR" i="1">
                <a:solidFill>
                  <a:srgbClr val="0000FF"/>
                </a:solidFill>
              </a:rPr>
              <a:t>sum</a:t>
            </a:r>
            <a:r>
              <a:rPr lang="en-GB" altLang="fr-FR">
                <a:solidFill>
                  <a:srgbClr val="0000FF"/>
                </a:solidFill>
              </a:rPr>
              <a:t>(</a:t>
            </a:r>
            <a:r>
              <a:rPr lang="en-GB" altLang="fr-FR"/>
              <a:t> </a:t>
            </a:r>
            <a:r>
              <a:rPr lang="en-GB" altLang="fr-FR">
                <a:solidFill>
                  <a:srgbClr val="0000FF"/>
                </a:solidFill>
              </a:rPr>
              <a:t>) = </a:t>
            </a:r>
            <a:r>
              <a:rPr lang="en-GB" altLang="fr-FR" i="1">
                <a:solidFill>
                  <a:srgbClr val="0000FF"/>
                </a:solidFill>
              </a:rPr>
              <a:t>100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85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5CEFE-BD9A-4B40-BE69-0A76FDDF526F}" type="slidenum">
              <a:rPr lang="he-IL" altLang="en-US"/>
              <a:pPr/>
              <a:t>14</a:t>
            </a:fld>
            <a:endParaRPr lang="en-US" altLang="en-US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 (c)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 startAt="3"/>
            </a:pPr>
            <a:r>
              <a:rPr lang="en-GB" altLang="fr-FR" dirty="0">
                <a:solidFill>
                  <a:srgbClr val="0099FF"/>
                </a:solidFill>
              </a:rPr>
              <a:t>Students must register for 120 credits each year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 b="1" u="sng" dirty="0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 dirty="0"/>
              <a:t>context </a:t>
            </a:r>
            <a:r>
              <a:rPr lang="en-GB" altLang="fr-FR" i="1" dirty="0"/>
              <a:t>Student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dirty="0"/>
              <a:t>invariant: </a:t>
            </a:r>
            <a:r>
              <a:rPr lang="en-GB" altLang="fr-FR" i="1" dirty="0" err="1"/>
              <a:t>takes.credit</a:t>
            </a:r>
            <a:r>
              <a:rPr lang="en-GB" altLang="fr-FR" i="1" dirty="0" err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GB" altLang="fr-FR" i="1" dirty="0" err="1">
                <a:solidFill>
                  <a:srgbClr val="0000FF"/>
                </a:solidFill>
              </a:rPr>
              <a:t>sum</a:t>
            </a:r>
            <a:r>
              <a:rPr lang="en-GB" altLang="fr-FR" dirty="0">
                <a:solidFill>
                  <a:srgbClr val="0000FF"/>
                </a:solidFill>
              </a:rPr>
              <a:t>(</a:t>
            </a:r>
            <a:r>
              <a:rPr lang="en-GB" altLang="fr-FR" dirty="0"/>
              <a:t> </a:t>
            </a:r>
            <a:r>
              <a:rPr lang="en-GB" altLang="fr-FR" dirty="0">
                <a:solidFill>
                  <a:srgbClr val="0000FF"/>
                </a:solidFill>
              </a:rPr>
              <a:t>) </a:t>
            </a:r>
            <a:r>
              <a:rPr lang="en-GB" altLang="fr-FR" i="1" dirty="0">
                <a:solidFill>
                  <a:srgbClr val="0000FF"/>
                </a:solidFill>
              </a:rPr>
              <a:t>= 120</a:t>
            </a:r>
          </a:p>
        </p:txBody>
      </p:sp>
    </p:spTree>
    <p:extLst>
      <p:ext uri="{BB962C8B-B14F-4D97-AF65-F5344CB8AC3E}">
        <p14:creationId xmlns:p14="http://schemas.microsoft.com/office/powerpoint/2010/main" val="267870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265AE-3C4B-41C2-A425-83BBFDDFD7F6}" type="slidenum">
              <a:rPr lang="he-IL" altLang="en-US"/>
              <a:pPr/>
              <a:t>15</a:t>
            </a:fld>
            <a:endParaRPr lang="en-US" altLang="en-US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 (d)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30725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 startAt="4"/>
            </a:pPr>
            <a:r>
              <a:rPr lang="en-GB" altLang="fr-FR">
                <a:solidFill>
                  <a:srgbClr val="0099FF"/>
                </a:solidFill>
              </a:rPr>
              <a:t>Students must take at least 90 credits of CS modules each year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 b="1" u="sng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context </a:t>
            </a:r>
            <a:r>
              <a:rPr lang="en-GB" altLang="fr-FR" i="1"/>
              <a:t>Student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invariant</a:t>
            </a:r>
            <a:r>
              <a:rPr lang="en-GB" altLang="fr-FR"/>
              <a:t>: 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sz="2400" i="1"/>
              <a:t>takes </a:t>
            </a:r>
            <a:r>
              <a:rPr lang="en-GB" altLang="fr-FR" sz="2400" i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sz="2400" i="1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GB" altLang="fr-FR" sz="2400" i="1">
                <a:solidFill>
                  <a:srgbClr val="0000FF"/>
                </a:solidFill>
              </a:rPr>
              <a:t>select</a:t>
            </a:r>
            <a:r>
              <a:rPr lang="en-GB" altLang="fr-FR" sz="2400">
                <a:solidFill>
                  <a:srgbClr val="0000FF"/>
                </a:solidFill>
              </a:rPr>
              <a:t>(</a:t>
            </a:r>
            <a:r>
              <a:rPr lang="en-GB" altLang="fr-FR" sz="2400" i="1"/>
              <a:t>code.substring</a:t>
            </a:r>
            <a:r>
              <a:rPr lang="en-GB" altLang="fr-FR" sz="2400"/>
              <a:t>(</a:t>
            </a:r>
            <a:r>
              <a:rPr lang="en-GB" altLang="fr-FR" sz="2400" i="1"/>
              <a:t>1,2</a:t>
            </a:r>
            <a:r>
              <a:rPr lang="en-GB" altLang="fr-FR" sz="2400"/>
              <a:t>)</a:t>
            </a:r>
            <a:r>
              <a:rPr lang="en-GB" altLang="fr-FR" sz="2400" i="1"/>
              <a:t> = ‘CS’</a:t>
            </a:r>
            <a:r>
              <a:rPr lang="en-GB" altLang="fr-FR" sz="2400">
                <a:solidFill>
                  <a:srgbClr val="0000FF"/>
                </a:solidFill>
              </a:rPr>
              <a:t>).</a:t>
            </a:r>
            <a:r>
              <a:rPr lang="en-GB" altLang="fr-FR" sz="2400">
                <a:solidFill>
                  <a:srgbClr val="000000"/>
                </a:solidFill>
              </a:rPr>
              <a:t>credit</a:t>
            </a:r>
            <a:r>
              <a:rPr lang="en-GB" altLang="fr-FR" sz="24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GB" altLang="fr-FR" sz="2400">
                <a:solidFill>
                  <a:srgbClr val="0000FF"/>
                </a:solidFill>
              </a:rPr>
              <a:t>sum( ) </a:t>
            </a:r>
            <a:r>
              <a:rPr lang="en-GB" altLang="fr-FR" sz="2400">
                <a:solidFill>
                  <a:srgbClr val="000000"/>
                </a:solidFill>
              </a:rPr>
              <a:t>&gt;= 90</a:t>
            </a:r>
          </a:p>
        </p:txBody>
      </p:sp>
    </p:spTree>
    <p:extLst>
      <p:ext uri="{BB962C8B-B14F-4D97-AF65-F5344CB8AC3E}">
        <p14:creationId xmlns:p14="http://schemas.microsoft.com/office/powerpoint/2010/main" val="211553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8493F-9DF5-4758-9ECA-248A09B5202D}" type="slidenum">
              <a:rPr lang="he-IL" altLang="en-US"/>
              <a:pPr/>
              <a:t>16</a:t>
            </a:fld>
            <a:endParaRPr lang="en-US" altLang="en-US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 (e)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038600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 startAt="5"/>
            </a:pPr>
            <a:r>
              <a:rPr lang="en-GB" altLang="fr-FR">
                <a:solidFill>
                  <a:srgbClr val="0099FF"/>
                </a:solidFill>
              </a:rPr>
              <a:t>All modules must have at least one assessment worth over 50%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 b="1" u="sng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context </a:t>
            </a:r>
            <a:r>
              <a:rPr lang="en-GB" altLang="fr-FR" i="1"/>
              <a:t>Module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invariant</a:t>
            </a:r>
            <a:r>
              <a:rPr lang="en-GB" altLang="fr-FR"/>
              <a:t>: </a:t>
            </a:r>
            <a:r>
              <a:rPr lang="en-GB" altLang="fr-FR" i="1"/>
              <a:t>set_work</a:t>
            </a:r>
            <a:r>
              <a:rPr lang="en-GB" altLang="fr-FR" i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GB" altLang="fr-FR" i="1">
                <a:solidFill>
                  <a:srgbClr val="0000FF"/>
                </a:solidFill>
              </a:rPr>
              <a:t>exists</a:t>
            </a:r>
            <a:r>
              <a:rPr lang="en-GB" altLang="fr-FR">
                <a:solidFill>
                  <a:srgbClr val="0000FF"/>
                </a:solidFill>
              </a:rPr>
              <a:t>(</a:t>
            </a:r>
            <a:r>
              <a:rPr lang="en-GB" altLang="fr-FR" i="1"/>
              <a:t>weight &gt; 50</a:t>
            </a:r>
            <a:r>
              <a:rPr lang="en-GB" altLang="fr-FR">
                <a:solidFill>
                  <a:srgbClr val="0000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856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35858-7E11-41B4-A30C-DF2C897AF583}" type="slidenum">
              <a:rPr lang="he-IL" altLang="en-US"/>
              <a:pPr/>
              <a:t>17</a:t>
            </a:fld>
            <a:endParaRPr lang="en-US" altLang="en-US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/>
              <a:t>Constraint (f)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lphaLcParenR" startAt="6"/>
            </a:pPr>
            <a:r>
              <a:rPr lang="en-GB" altLang="fr-FR">
                <a:solidFill>
                  <a:srgbClr val="0099FF"/>
                </a:solidFill>
              </a:rPr>
              <a:t>Students can only have assessments for modules which they are taking</a:t>
            </a:r>
          </a:p>
          <a:p>
            <a:pPr marL="533400" indent="-533400">
              <a:buFont typeface="Wingdings" panose="05000000000000000000" pitchFamily="2" charset="2"/>
              <a:buNone/>
            </a:pPr>
            <a:endParaRPr lang="en-GB" altLang="fr-FR" b="1" u="sng"/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context </a:t>
            </a:r>
            <a:r>
              <a:rPr lang="en-GB" altLang="fr-FR" i="1"/>
              <a:t>Student</a:t>
            </a:r>
          </a:p>
          <a:p>
            <a:pPr marL="533400" indent="-533400">
              <a:buFont typeface="Wingdings" panose="05000000000000000000" pitchFamily="2" charset="2"/>
              <a:buNone/>
            </a:pPr>
            <a:r>
              <a:rPr lang="en-GB" altLang="fr-FR" b="1"/>
              <a:t>invariant</a:t>
            </a:r>
            <a:r>
              <a:rPr lang="en-GB" altLang="fr-FR"/>
              <a:t>: </a:t>
            </a:r>
            <a:r>
              <a:rPr lang="en-GB" altLang="fr-FR" i="1"/>
              <a:t>takes</a:t>
            </a:r>
            <a:r>
              <a:rPr lang="en-GB" altLang="fr-FR" i="1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en-GB" altLang="fr-FR" i="1">
                <a:solidFill>
                  <a:srgbClr val="0000FF"/>
                </a:solidFill>
              </a:rPr>
              <a:t>includesAll</a:t>
            </a:r>
            <a:r>
              <a:rPr lang="en-GB" altLang="fr-FR">
                <a:solidFill>
                  <a:srgbClr val="0000FF"/>
                </a:solidFill>
              </a:rPr>
              <a:t>(</a:t>
            </a:r>
            <a:r>
              <a:rPr lang="en-GB" altLang="fr-FR" i="1"/>
              <a:t>submits.for_module</a:t>
            </a:r>
            <a:r>
              <a:rPr lang="en-GB" altLang="fr-FR">
                <a:solidFill>
                  <a:srgbClr val="0000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590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Preconditions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Example: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b="1">
                <a:latin typeface="Courier" charset="0"/>
                <a:ea typeface="ＭＳ Ｐゴシック" panose="020B0600070205080204" pitchFamily="34" charset="-128"/>
              </a:rPr>
              <a:t>context</a:t>
            </a: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 Tournament::acceptPlayer(p) </a:t>
            </a:r>
            <a:r>
              <a:rPr lang="en-US" altLang="fr-FR" b="1">
                <a:latin typeface="Courier" charset="0"/>
                <a:ea typeface="ＭＳ Ｐゴシック" panose="020B0600070205080204" pitchFamily="34" charset="-128"/>
              </a:rPr>
              <a:t>pre</a:t>
            </a: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	not self.isPlayerAccepted(p)</a:t>
            </a:r>
          </a:p>
          <a:p>
            <a:pPr lvl="4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In English: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“The acceptPlayer(p) operation can only be invoked if player p has not yet been accepted in the tournament.”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Notes: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The context of a precondtion is an operation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isPlayerAccepted(p) is an operation defined by the class Tournament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1890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71400"/>
            <a:ext cx="7772400" cy="1143000"/>
          </a:xfrm>
        </p:spPr>
        <p:txBody>
          <a:bodyPr/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OCL </a:t>
            </a:r>
            <a:r>
              <a:rPr lang="en-US" altLang="fr-FR" dirty="0" err="1">
                <a:ea typeface="ＭＳ Ｐゴシック" panose="020B0600070205080204" pitchFamily="34" charset="-128"/>
              </a:rPr>
              <a:t>Postconditions</a:t>
            </a:r>
            <a:endParaRPr lang="en-US" altLang="fr-FR" dirty="0">
              <a:ea typeface="ＭＳ Ｐゴシック" panose="020B0600070205080204" pitchFamily="34" charset="-128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971600"/>
            <a:ext cx="8003232" cy="5409728"/>
          </a:xfrm>
        </p:spPr>
        <p:txBody>
          <a:bodyPr>
            <a:normAutofit lnSpcReduction="10000"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fr-FR" dirty="0">
                <a:ea typeface="ＭＳ Ｐゴシック" panose="020B0600070205080204" pitchFamily="34" charset="-128"/>
              </a:rPr>
              <a:t>Example: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b="1" dirty="0">
                <a:latin typeface="Courier" charset="0"/>
                <a:ea typeface="ＭＳ Ｐゴシック" panose="020B0600070205080204" pitchFamily="34" charset="-128"/>
              </a:rPr>
              <a:t>context</a:t>
            </a: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 Tournament::</a:t>
            </a:r>
            <a:r>
              <a:rPr lang="en-US" altLang="fr-FR" dirty="0" err="1">
                <a:latin typeface="Courier" charset="0"/>
                <a:ea typeface="ＭＳ Ｐゴシック" panose="020B0600070205080204" pitchFamily="34" charset="-128"/>
              </a:rPr>
              <a:t>acceptPlayer</a:t>
            </a: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(p) </a:t>
            </a:r>
            <a:r>
              <a:rPr lang="en-US" altLang="fr-FR" b="1" dirty="0">
                <a:latin typeface="Courier" charset="0"/>
                <a:ea typeface="ＭＳ Ｐゴシック" panose="020B0600070205080204" pitchFamily="34" charset="-128"/>
              </a:rPr>
              <a:t>post</a:t>
            </a: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	</a:t>
            </a:r>
            <a:r>
              <a:rPr lang="en-US" altLang="fr-FR" dirty="0" err="1">
                <a:latin typeface="Courier" charset="0"/>
                <a:ea typeface="ＭＳ Ｐゴシック" panose="020B0600070205080204" pitchFamily="34" charset="-128"/>
              </a:rPr>
              <a:t>self.getNumPlayers</a:t>
            </a: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() = 		</a:t>
            </a:r>
            <a:br>
              <a:rPr lang="en-US" altLang="fr-FR" dirty="0">
                <a:latin typeface="Courier" charset="0"/>
                <a:ea typeface="ＭＳ Ｐゴシック" panose="020B0600070205080204" pitchFamily="34" charset="-128"/>
              </a:rPr>
            </a:b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	</a:t>
            </a:r>
            <a:r>
              <a:rPr lang="en-US" altLang="fr-FR" dirty="0" err="1">
                <a:latin typeface="Courier" charset="0"/>
                <a:ea typeface="ＭＳ Ｐゴシック" panose="020B0600070205080204" pitchFamily="34" charset="-128"/>
              </a:rPr>
              <a:t>self@pre.getNumPlayers</a:t>
            </a:r>
            <a:r>
              <a:rPr lang="en-US" altLang="fr-FR" dirty="0">
                <a:latin typeface="Courier" charset="0"/>
                <a:ea typeface="ＭＳ Ｐゴシック" panose="020B0600070205080204" pitchFamily="34" charset="-128"/>
              </a:rPr>
              <a:t>() + 1</a:t>
            </a:r>
          </a:p>
          <a:p>
            <a:pPr lvl="4">
              <a:buFont typeface="Times" panose="02020603050405020304" pitchFamily="18" charset="0"/>
              <a:buNone/>
            </a:pPr>
            <a:endParaRPr lang="en-US" altLang="fr-FR" dirty="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dirty="0">
                <a:ea typeface="ＭＳ Ｐゴシック" panose="020B0600070205080204" pitchFamily="34" charset="-128"/>
              </a:rPr>
              <a:t>In English: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 dirty="0">
                <a:ea typeface="ＭＳ Ｐゴシック" panose="020B0600070205080204" pitchFamily="34" charset="-128"/>
              </a:rPr>
              <a:t>“The number of accepted player in a tournament increases by one after the completion of </a:t>
            </a:r>
            <a:r>
              <a:rPr lang="en-US" altLang="fr-FR" dirty="0" err="1">
                <a:ea typeface="ＭＳ Ｐゴシック" panose="020B0600070205080204" pitchFamily="34" charset="-128"/>
              </a:rPr>
              <a:t>acceptPlayer</a:t>
            </a:r>
            <a:r>
              <a:rPr lang="en-US" altLang="fr-FR" dirty="0">
                <a:ea typeface="ＭＳ Ｐゴシック" panose="020B0600070205080204" pitchFamily="34" charset="-128"/>
              </a:rPr>
              <a:t>()”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dirty="0">
                <a:ea typeface="ＭＳ Ｐゴシック" panose="020B0600070205080204" pitchFamily="34" charset="-128"/>
              </a:rPr>
              <a:t>Notes:</a:t>
            </a:r>
          </a:p>
          <a:p>
            <a:pPr lvl="1"/>
            <a:r>
              <a:rPr lang="en-US" altLang="fr-FR" dirty="0" err="1">
                <a:ea typeface="ＭＳ Ｐゴシック" panose="020B0600070205080204" pitchFamily="34" charset="-128"/>
              </a:rPr>
              <a:t>self@pre</a:t>
            </a:r>
            <a:r>
              <a:rPr lang="en-US" altLang="fr-FR" dirty="0">
                <a:ea typeface="ＭＳ Ｐゴシック" panose="020B0600070205080204" pitchFamily="34" charset="-128"/>
              </a:rPr>
              <a:t> denotes the state of the tournament before the invocation of the operation.</a:t>
            </a:r>
          </a:p>
          <a:p>
            <a:pPr lvl="1"/>
            <a:r>
              <a:rPr lang="en-US" altLang="fr-FR" dirty="0">
                <a:ea typeface="ＭＳ Ｐゴシック" panose="020B0600070205080204" pitchFamily="34" charset="-128"/>
              </a:rPr>
              <a:t>Self denotes the state of the tournament after the completion of the operation.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3928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OCL Contract for acceptPlayer() in  Tournament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acceptPlayer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(p) </a:t>
            </a: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not 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isPlayerAccepted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(p)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 dirty="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acceptPlayer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(p) </a:t>
            </a: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getNumPlayers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() &lt; 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getMaxNumPlayers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()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 dirty="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acceptPlayer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(p) </a:t>
            </a: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isPlayerAccepted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(p)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 dirty="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acceptPlayer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(p) </a:t>
            </a:r>
            <a:r>
              <a:rPr lang="en-US" altLang="fr-FR" sz="18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getNumPlayers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() = @</a:t>
            </a:r>
            <a:r>
              <a:rPr lang="en-US" altLang="fr-FR" sz="1800" dirty="0" err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pre.getNumPlayers</a:t>
            </a:r>
            <a:r>
              <a:rPr lang="en-US" altLang="fr-FR" sz="18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() + 1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228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OCL Contract for removePlayer()  in Tournament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Tournament::removePlayer(p)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isPlayerAccepted(p)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Tournament::removePlayer(p)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not isPlayerAccepted(p)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Tournament::removePlayer(p)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getNumPlayers() = @pre.getNumPlayers() - 1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107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Java Implementation of  Tournament class</a:t>
            </a:r>
            <a:br>
              <a:rPr lang="en-US" altLang="fr-FR" dirty="0">
                <a:ea typeface="ＭＳ Ｐゴシック" panose="020B0600070205080204" pitchFamily="34" charset="-128"/>
              </a:rPr>
            </a:br>
            <a:r>
              <a:rPr lang="en-US" altLang="fr-FR" dirty="0">
                <a:ea typeface="ＭＳ Ｐゴシック" panose="020B0600070205080204" pitchFamily="34" charset="-128"/>
              </a:rPr>
              <a:t>(Contract as a set of </a:t>
            </a:r>
            <a:r>
              <a:rPr lang="en-US" altLang="fr-FR" dirty="0" err="1">
                <a:ea typeface="ＭＳ Ｐゴシック" panose="020B0600070205080204" pitchFamily="34" charset="-128"/>
              </a:rPr>
              <a:t>JavaDoc</a:t>
            </a:r>
            <a:r>
              <a:rPr lang="en-US" altLang="fr-FR" dirty="0">
                <a:ea typeface="ＭＳ Ｐゴシック" panose="020B0600070205080204" pitchFamily="34" charset="-128"/>
              </a:rPr>
              <a:t> comments)</a:t>
            </a:r>
          </a:p>
        </p:txBody>
      </p:sp>
      <p:sp>
        <p:nvSpPr>
          <p:cNvPr id="35843" name="Rectangle 7"/>
          <p:cNvSpPr>
            <a:spLocks noChangeArrowheads="1"/>
          </p:cNvSpPr>
          <p:nvPr/>
        </p:nvSpPr>
        <p:spPr bwMode="auto">
          <a:xfrm>
            <a:off x="414338" y="222250"/>
            <a:ext cx="81534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b="0"/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355600" y="1379538"/>
            <a:ext cx="405130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400">
                <a:latin typeface="Lucida Sans Typewriter" panose="020B0509030504030204" pitchFamily="49" charset="0"/>
              </a:rPr>
              <a:t>public class</a:t>
            </a:r>
            <a:r>
              <a:rPr lang="en-US" altLang="fr-FR" sz="1400" b="0">
                <a:latin typeface="Lucida Sans Typewriter" panose="020B0509030504030204" pitchFamily="49" charset="0"/>
              </a:rPr>
              <a:t> Tournament {</a:t>
            </a:r>
          </a:p>
          <a:p>
            <a:r>
              <a:rPr lang="en-US" altLang="fr-FR" sz="1400" b="0">
                <a:latin typeface="Lucida Sans Typewriter" panose="020B0509030504030204" pitchFamily="49" charset="0"/>
              </a:rPr>
              <a:t>/** The maximum number of players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is positive at all times.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@invariant maxNumPlayers &gt; 0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*/</a:t>
            </a:r>
          </a:p>
          <a:p>
            <a:r>
              <a:rPr lang="en-US" altLang="fr-FR" sz="1400">
                <a:latin typeface="Lucida Sans Typewriter" panose="020B0509030504030204" pitchFamily="49" charset="0"/>
              </a:rPr>
              <a:t>private int</a:t>
            </a:r>
            <a:r>
              <a:rPr lang="en-US" altLang="fr-FR" sz="1400" b="0">
                <a:latin typeface="Lucida Sans Typewriter" panose="020B0509030504030204" pitchFamily="49" charset="0"/>
              </a:rPr>
              <a:t> maxNumPlayers;</a:t>
            </a:r>
          </a:p>
          <a:p>
            <a:endParaRPr lang="en-US" altLang="fr-FR" sz="1400" b="0">
              <a:latin typeface="Lucida Sans Typewriter" panose="020B0509030504030204" pitchFamily="49" charset="0"/>
            </a:endParaRPr>
          </a:p>
          <a:p>
            <a:r>
              <a:rPr lang="en-US" altLang="fr-FR" sz="1400" b="0">
                <a:latin typeface="Lucida Sans Typewriter" panose="020B0509030504030204" pitchFamily="49" charset="0"/>
              </a:rPr>
              <a:t>/** The players List contains  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 references to Players who are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 are registered with the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 Tournament. */</a:t>
            </a:r>
          </a:p>
          <a:p>
            <a:r>
              <a:rPr lang="en-US" altLang="fr-FR" sz="1400">
                <a:latin typeface="Lucida Sans Typewriter" panose="020B0509030504030204" pitchFamily="49" charset="0"/>
              </a:rPr>
              <a:t>private</a:t>
            </a:r>
            <a:r>
              <a:rPr lang="en-US" altLang="fr-FR" sz="1400" b="0">
                <a:latin typeface="Lucida Sans Typewriter" panose="020B0509030504030204" pitchFamily="49" charset="0"/>
              </a:rPr>
              <a:t> List players;</a:t>
            </a:r>
          </a:p>
          <a:p>
            <a:endParaRPr lang="en-US" altLang="fr-FR" sz="1400" b="0">
              <a:latin typeface="Lucida Sans Typewriter" panose="020B0509030504030204" pitchFamily="49" charset="0"/>
            </a:endParaRPr>
          </a:p>
          <a:p>
            <a:r>
              <a:rPr lang="en-US" altLang="fr-FR" sz="1400" b="0">
                <a:latin typeface="Lucida Sans Typewriter" panose="020B0509030504030204" pitchFamily="49" charset="0"/>
              </a:rPr>
              <a:t>/** Returns the current number of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players in the tournament. */</a:t>
            </a:r>
          </a:p>
          <a:p>
            <a:r>
              <a:rPr lang="en-US" altLang="fr-FR" sz="1400">
                <a:solidFill>
                  <a:srgbClr val="C02E06"/>
                </a:solidFill>
                <a:latin typeface="Lucida Sans Typewriter" panose="020B0509030504030204" pitchFamily="49" charset="0"/>
              </a:rPr>
              <a:t>public int</a:t>
            </a:r>
            <a:r>
              <a:rPr lang="en-US" altLang="fr-FR" sz="1400" b="0">
                <a:solidFill>
                  <a:srgbClr val="C02E06"/>
                </a:solidFill>
                <a:latin typeface="Lucida Sans Typewriter" panose="020B0509030504030204" pitchFamily="49" charset="0"/>
              </a:rPr>
              <a:t> getNumPlayers() {…}</a:t>
            </a:r>
          </a:p>
          <a:p>
            <a:endParaRPr lang="en-US" altLang="fr-FR" sz="1400" b="0">
              <a:latin typeface="Lucida Sans Typewriter" panose="020B0509030504030204" pitchFamily="49" charset="0"/>
            </a:endParaRPr>
          </a:p>
          <a:p>
            <a:r>
              <a:rPr lang="en-US" altLang="fr-FR" sz="1400" b="0">
                <a:latin typeface="Lucida Sans Typewriter" panose="020B0509030504030204" pitchFamily="49" charset="0"/>
              </a:rPr>
              <a:t>/** Returns the maximum number of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players in the tournament. */</a:t>
            </a:r>
          </a:p>
          <a:p>
            <a:r>
              <a:rPr lang="en-US" altLang="fr-FR" sz="1400">
                <a:solidFill>
                  <a:srgbClr val="C02E06"/>
                </a:solidFill>
                <a:latin typeface="Lucida Sans Typewriter" panose="020B0509030504030204" pitchFamily="49" charset="0"/>
              </a:rPr>
              <a:t>public int</a:t>
            </a:r>
            <a:r>
              <a:rPr lang="en-US" altLang="fr-FR" sz="1400" b="0">
                <a:solidFill>
                  <a:srgbClr val="C02E06"/>
                </a:solidFill>
                <a:latin typeface="Lucida Sans Typewriter" panose="020B0509030504030204" pitchFamily="49" charset="0"/>
              </a:rPr>
              <a:t> getMaxNumPlayers() {…}</a:t>
            </a:r>
            <a:endParaRPr lang="en-US" altLang="fr-FR" sz="1400" b="0">
              <a:latin typeface="Lucida Sans Typewriter" panose="020B0509030504030204" pitchFamily="49" charset="0"/>
            </a:endParaRPr>
          </a:p>
          <a:p>
            <a:endParaRPr lang="en-US" altLang="fr-FR" sz="1400" b="0">
              <a:latin typeface="Lucida Sans Typewriter" panose="020B0509030504030204" pitchFamily="49" charset="0"/>
            </a:endParaRPr>
          </a:p>
        </p:txBody>
      </p:sp>
      <p:sp>
        <p:nvSpPr>
          <p:cNvPr id="137225" name="Rectangle 9"/>
          <p:cNvSpPr>
            <a:spLocks noChangeArrowheads="1"/>
          </p:cNvSpPr>
          <p:nvPr/>
        </p:nvSpPr>
        <p:spPr bwMode="auto">
          <a:xfrm>
            <a:off x="4559300" y="1379538"/>
            <a:ext cx="458470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400" b="0">
                <a:latin typeface="Lucida Sans Typewriter" panose="020B0509030504030204" pitchFamily="49" charset="0"/>
              </a:rPr>
              <a:t>/** The acceptPlayer() operation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assumes that the specified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player has not been accepted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in the Tournament yet.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@pre !isPlayerAccepted(p)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 * @pre getNumPlayers()&lt;maxNumPlayers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@post isPlayerAccepted(p)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@post getNumPlayers() = 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    @pre.getNumPlayers() + 1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*/</a:t>
            </a:r>
          </a:p>
          <a:p>
            <a:r>
              <a:rPr lang="en-US" altLang="fr-FR" sz="1400">
                <a:solidFill>
                  <a:srgbClr val="C02E06"/>
                </a:solidFill>
                <a:latin typeface="Lucida Sans Typewriter" panose="020B0509030504030204" pitchFamily="49" charset="0"/>
              </a:rPr>
              <a:t>public void</a:t>
            </a:r>
            <a:r>
              <a:rPr lang="en-US" altLang="fr-FR" sz="1400" b="0">
                <a:solidFill>
                  <a:srgbClr val="C02E06"/>
                </a:solidFill>
                <a:latin typeface="Lucida Sans Typewriter" panose="020B0509030504030204" pitchFamily="49" charset="0"/>
              </a:rPr>
              <a:t> acceptPlayer (Player p) {…}</a:t>
            </a:r>
          </a:p>
          <a:p>
            <a:endParaRPr lang="en-US" altLang="fr-FR" sz="1400" b="0">
              <a:solidFill>
                <a:srgbClr val="C02E06"/>
              </a:solidFill>
              <a:latin typeface="Lucida Sans Typewriter" panose="020B0509030504030204" pitchFamily="49" charset="0"/>
            </a:endParaRPr>
          </a:p>
          <a:p>
            <a:r>
              <a:rPr lang="en-US" altLang="fr-FR" sz="1400" b="0">
                <a:latin typeface="Lucida Sans Typewriter" panose="020B0509030504030204" pitchFamily="49" charset="0"/>
              </a:rPr>
              <a:t>/** The removePlayer() operation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assumes that the specified player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is currently in the Tournament.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@pre isPlayerAccepted(p)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@post !isPlayerAccepted(p)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@post getNumPlayers() =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     @pre.getNumPlayers() - 1</a:t>
            </a:r>
            <a:br>
              <a:rPr lang="en-US" altLang="fr-FR" sz="1400" b="0">
                <a:latin typeface="Lucida Sans Typewriter" panose="020B0509030504030204" pitchFamily="49" charset="0"/>
              </a:rPr>
            </a:br>
            <a:r>
              <a:rPr lang="en-US" altLang="fr-FR" sz="1400" b="0">
                <a:latin typeface="Lucida Sans Typewriter" panose="020B0509030504030204" pitchFamily="49" charset="0"/>
              </a:rPr>
              <a:t> */</a:t>
            </a:r>
          </a:p>
          <a:p>
            <a:r>
              <a:rPr lang="en-US" altLang="fr-FR" sz="1400">
                <a:solidFill>
                  <a:srgbClr val="C02E06"/>
                </a:solidFill>
                <a:latin typeface="Lucida Sans Typewriter" panose="020B0509030504030204" pitchFamily="49" charset="0"/>
              </a:rPr>
              <a:t>public void</a:t>
            </a:r>
            <a:r>
              <a:rPr lang="en-US" altLang="fr-FR" sz="1400" b="0">
                <a:solidFill>
                  <a:srgbClr val="C02E06"/>
                </a:solidFill>
                <a:latin typeface="Lucida Sans Typewriter" panose="020B0509030504030204" pitchFamily="49" charset="0"/>
              </a:rPr>
              <a:t> removePlayer(Player p) {…}</a:t>
            </a:r>
          </a:p>
          <a:p>
            <a:endParaRPr lang="en-US" altLang="fr-FR" sz="1400" b="0">
              <a:latin typeface="Lucida Sans Typewriter" panose="020B0509030504030204" pitchFamily="49" charset="0"/>
            </a:endParaRPr>
          </a:p>
          <a:p>
            <a:r>
              <a:rPr lang="en-US" altLang="fr-FR" sz="1400" b="0">
                <a:latin typeface="Lucida Sans Typewriter" panose="020B0509030504030204" pitchFamily="49" charset="0"/>
              </a:rPr>
              <a:t>}</a:t>
            </a:r>
            <a:endParaRPr lang="en-US" altLang="fr-FR" sz="1400" b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170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4" grpId="0" build="p" autoUpdateAnimBg="0"/>
      <p:bldP spid="13722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Constraints can involve more than one class</a:t>
            </a:r>
          </a:p>
        </p:txBody>
      </p:sp>
      <p:sp>
        <p:nvSpPr>
          <p:cNvPr id="37891" name="Rectangle 5"/>
          <p:cNvSpPr>
            <a:spLocks noChangeArrowheads="1"/>
          </p:cNvSpPr>
          <p:nvPr/>
        </p:nvSpPr>
        <p:spPr bwMode="auto">
          <a:xfrm>
            <a:off x="1358900" y="1524000"/>
            <a:ext cx="6477000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fr-FR" sz="2800">
                <a:latin typeface="Palatino" charset="0"/>
              </a:rPr>
              <a:t>How do we specify constraints on </a:t>
            </a:r>
          </a:p>
          <a:p>
            <a:pPr algn="ctr"/>
            <a:r>
              <a:rPr lang="en-US" altLang="fr-FR" sz="2800">
                <a:latin typeface="Palatino" charset="0"/>
              </a:rPr>
              <a:t>on a group of classes?</a:t>
            </a:r>
          </a:p>
        </p:txBody>
      </p:sp>
      <p:sp>
        <p:nvSpPr>
          <p:cNvPr id="146439" name="Text Box 7"/>
          <p:cNvSpPr txBox="1">
            <a:spLocks noChangeArrowheads="1"/>
          </p:cNvSpPr>
          <p:nvPr/>
        </p:nvSpPr>
        <p:spPr bwMode="auto">
          <a:xfrm>
            <a:off x="419100" y="3976688"/>
            <a:ext cx="8367713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b="0">
                <a:latin typeface="Arial" panose="020B0604020202020204" pitchFamily="34" charset="0"/>
              </a:rPr>
              <a:t> Starting from a specific class in the UML class diagram,</a:t>
            </a:r>
          </a:p>
          <a:p>
            <a:r>
              <a:rPr lang="en-US" altLang="fr-FR" b="0">
                <a:latin typeface="Arial" panose="020B0604020202020204" pitchFamily="34" charset="0"/>
              </a:rPr>
              <a:t>we navigate the associations in the class diagram to </a:t>
            </a:r>
          </a:p>
          <a:p>
            <a:r>
              <a:rPr lang="en-US" altLang="fr-FR" b="0">
                <a:latin typeface="Arial" panose="020B0604020202020204" pitchFamily="34" charset="0"/>
              </a:rPr>
              <a:t>refer to the other classes and their properties (attributes and </a:t>
            </a:r>
          </a:p>
          <a:p>
            <a:r>
              <a:rPr lang="en-US" altLang="fr-FR" b="0">
                <a:latin typeface="Arial" panose="020B0604020202020204" pitchFamily="34" charset="0"/>
              </a:rPr>
              <a:t>Operations). </a:t>
            </a:r>
          </a:p>
          <a:p>
            <a:endParaRPr lang="en-US" altLang="fr-FR" b="0">
              <a:latin typeface="Courier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630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97148"/>
            <a:ext cx="8153400" cy="863600"/>
          </a:xfrm>
        </p:spPr>
        <p:txBody>
          <a:bodyPr>
            <a:normAutofit fontScale="90000"/>
          </a:bodyPr>
          <a:lstStyle/>
          <a:p>
            <a:r>
              <a:rPr lang="en-US" altLang="fr-FR" sz="3200" dirty="0">
                <a:ea typeface="ＭＳ Ｐゴシック" panose="020B0600070205080204" pitchFamily="34" charset="-128"/>
              </a:rPr>
              <a:t>Example from ARENA:  League, Tournament and Player</a:t>
            </a:r>
          </a:p>
        </p:txBody>
      </p:sp>
      <p:grpSp>
        <p:nvGrpSpPr>
          <p:cNvPr id="39939" name="Group 50"/>
          <p:cNvGrpSpPr>
            <a:grpSpLocks/>
          </p:cNvGrpSpPr>
          <p:nvPr/>
        </p:nvGrpSpPr>
        <p:grpSpPr bwMode="auto">
          <a:xfrm>
            <a:off x="482600" y="1222375"/>
            <a:ext cx="3863975" cy="4989513"/>
            <a:chOff x="1630" y="786"/>
            <a:chExt cx="2434" cy="3143"/>
          </a:xfrm>
        </p:grpSpPr>
        <p:sp>
          <p:nvSpPr>
            <p:cNvPr id="39942" name="Freeform 3"/>
            <p:cNvSpPr>
              <a:spLocks/>
            </p:cNvSpPr>
            <p:nvPr/>
          </p:nvSpPr>
          <p:spPr bwMode="auto">
            <a:xfrm>
              <a:off x="3142" y="1542"/>
              <a:ext cx="89" cy="193"/>
            </a:xfrm>
            <a:custGeom>
              <a:avLst/>
              <a:gdLst>
                <a:gd name="T0" fmla="*/ 0 w 89"/>
                <a:gd name="T1" fmla="*/ 89 h 193"/>
                <a:gd name="T2" fmla="*/ 45 w 89"/>
                <a:gd name="T3" fmla="*/ 0 h 193"/>
                <a:gd name="T4" fmla="*/ 89 w 89"/>
                <a:gd name="T5" fmla="*/ 89 h 193"/>
                <a:gd name="T6" fmla="*/ 45 w 89"/>
                <a:gd name="T7" fmla="*/ 193 h 193"/>
                <a:gd name="T8" fmla="*/ 0 w 89"/>
                <a:gd name="T9" fmla="*/ 89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193"/>
                <a:gd name="T17" fmla="*/ 89 w 89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193">
                  <a:moveTo>
                    <a:pt x="0" y="89"/>
                  </a:moveTo>
                  <a:lnTo>
                    <a:pt x="45" y="0"/>
                  </a:lnTo>
                  <a:lnTo>
                    <a:pt x="89" y="89"/>
                  </a:lnTo>
                  <a:lnTo>
                    <a:pt x="45" y="193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39943" name="Line 4"/>
            <p:cNvSpPr>
              <a:spLocks noChangeShapeType="1"/>
            </p:cNvSpPr>
            <p:nvPr/>
          </p:nvSpPr>
          <p:spPr bwMode="auto">
            <a:xfrm flipV="1">
              <a:off x="3187" y="1721"/>
              <a:ext cx="1" cy="34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944" name="Rectangle 5"/>
            <p:cNvSpPr>
              <a:spLocks noChangeArrowheads="1"/>
            </p:cNvSpPr>
            <p:nvPr/>
          </p:nvSpPr>
          <p:spPr bwMode="auto">
            <a:xfrm>
              <a:off x="1776" y="3312"/>
              <a:ext cx="50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45" name="Rectangle 6"/>
            <p:cNvSpPr>
              <a:spLocks noChangeArrowheads="1"/>
            </p:cNvSpPr>
            <p:nvPr/>
          </p:nvSpPr>
          <p:spPr bwMode="auto">
            <a:xfrm>
              <a:off x="3081" y="1950"/>
              <a:ext cx="7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46" name="Rectangle 7"/>
            <p:cNvSpPr>
              <a:spLocks noChangeArrowheads="1"/>
            </p:cNvSpPr>
            <p:nvPr/>
          </p:nvSpPr>
          <p:spPr bwMode="auto">
            <a:xfrm>
              <a:off x="3249" y="1950"/>
              <a:ext cx="79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tournaments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47" name="Rectangle 8"/>
            <p:cNvSpPr>
              <a:spLocks noChangeArrowheads="1"/>
            </p:cNvSpPr>
            <p:nvPr/>
          </p:nvSpPr>
          <p:spPr bwMode="auto">
            <a:xfrm>
              <a:off x="2515" y="1772"/>
              <a:ext cx="65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{ordered}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39948" name="Group 9"/>
            <p:cNvGrpSpPr>
              <a:grpSpLocks/>
            </p:cNvGrpSpPr>
            <p:nvPr/>
          </p:nvGrpSpPr>
          <p:grpSpPr bwMode="auto">
            <a:xfrm>
              <a:off x="2342" y="2076"/>
              <a:ext cx="1722" cy="742"/>
              <a:chOff x="2342" y="2076"/>
              <a:chExt cx="1722" cy="742"/>
            </a:xfrm>
          </p:grpSpPr>
          <p:grpSp>
            <p:nvGrpSpPr>
              <p:cNvPr id="39977" name="Group 10"/>
              <p:cNvGrpSpPr>
                <a:grpSpLocks/>
              </p:cNvGrpSpPr>
              <p:nvPr/>
            </p:nvGrpSpPr>
            <p:grpSpPr bwMode="auto">
              <a:xfrm>
                <a:off x="2342" y="2076"/>
                <a:ext cx="1690" cy="267"/>
                <a:chOff x="2342" y="2106"/>
                <a:chExt cx="1690" cy="267"/>
              </a:xfrm>
            </p:grpSpPr>
            <p:sp>
              <p:nvSpPr>
                <p:cNvPr id="39986" name="Rectangle 11"/>
                <p:cNvSpPr>
                  <a:spLocks noChangeArrowheads="1"/>
                </p:cNvSpPr>
                <p:nvPr/>
              </p:nvSpPr>
              <p:spPr bwMode="auto">
                <a:xfrm>
                  <a:off x="2342" y="2106"/>
                  <a:ext cx="1690" cy="267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39987" name="Rectangle 12"/>
                <p:cNvSpPr>
                  <a:spLocks noChangeArrowheads="1"/>
                </p:cNvSpPr>
                <p:nvPr/>
              </p:nvSpPr>
              <p:spPr bwMode="auto">
                <a:xfrm>
                  <a:off x="2827" y="2168"/>
                  <a:ext cx="723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Tournament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  <p:grpSp>
            <p:nvGrpSpPr>
              <p:cNvPr id="39978" name="Group 13"/>
              <p:cNvGrpSpPr>
                <a:grpSpLocks/>
              </p:cNvGrpSpPr>
              <p:nvPr/>
            </p:nvGrpSpPr>
            <p:grpSpPr bwMode="auto">
              <a:xfrm>
                <a:off x="2342" y="2342"/>
                <a:ext cx="1690" cy="281"/>
                <a:chOff x="2342" y="2360"/>
                <a:chExt cx="1690" cy="281"/>
              </a:xfrm>
            </p:grpSpPr>
            <p:sp>
              <p:nvSpPr>
                <p:cNvPr id="39982" name="Rectangle 14"/>
                <p:cNvSpPr>
                  <a:spLocks noChangeArrowheads="1"/>
                </p:cNvSpPr>
                <p:nvPr/>
              </p:nvSpPr>
              <p:spPr bwMode="auto">
                <a:xfrm>
                  <a:off x="2342" y="2360"/>
                  <a:ext cx="1690" cy="281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grpSp>
              <p:nvGrpSpPr>
                <p:cNvPr id="39983" name="Group 15"/>
                <p:cNvGrpSpPr>
                  <a:grpSpLocks/>
                </p:cNvGrpSpPr>
                <p:nvPr/>
              </p:nvGrpSpPr>
              <p:grpSpPr bwMode="auto">
                <a:xfrm>
                  <a:off x="2400" y="2370"/>
                  <a:ext cx="795" cy="263"/>
                  <a:chOff x="2400" y="2380"/>
                  <a:chExt cx="795" cy="263"/>
                </a:xfrm>
              </p:grpSpPr>
              <p:sp>
                <p:nvSpPr>
                  <p:cNvPr id="39984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2380"/>
                    <a:ext cx="795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+start:Date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  <p:sp>
                <p:nvSpPr>
                  <p:cNvPr id="3998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2499"/>
                    <a:ext cx="651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+end:Date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</p:grpSp>
          </p:grpSp>
          <p:grpSp>
            <p:nvGrpSpPr>
              <p:cNvPr id="39979" name="Group 18"/>
              <p:cNvGrpSpPr>
                <a:grpSpLocks/>
              </p:cNvGrpSpPr>
              <p:nvPr/>
            </p:nvGrpSpPr>
            <p:grpSpPr bwMode="auto">
              <a:xfrm>
                <a:off x="2342" y="2626"/>
                <a:ext cx="1722" cy="192"/>
                <a:chOff x="2342" y="2626"/>
                <a:chExt cx="1722" cy="192"/>
              </a:xfrm>
            </p:grpSpPr>
            <p:sp>
              <p:nvSpPr>
                <p:cNvPr id="39980" name="Rectangle 19"/>
                <p:cNvSpPr>
                  <a:spLocks noChangeArrowheads="1"/>
                </p:cNvSpPr>
                <p:nvPr/>
              </p:nvSpPr>
              <p:spPr bwMode="auto">
                <a:xfrm>
                  <a:off x="2342" y="2626"/>
                  <a:ext cx="1690" cy="19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39981" name="Rectangle 20"/>
                <p:cNvSpPr>
                  <a:spLocks noChangeArrowheads="1"/>
                </p:cNvSpPr>
                <p:nvPr/>
              </p:nvSpPr>
              <p:spPr bwMode="auto">
                <a:xfrm>
                  <a:off x="2401" y="2650"/>
                  <a:ext cx="1663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+acceptPlayer(p:Player)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39949" name="Rectangle 21"/>
            <p:cNvSpPr>
              <a:spLocks noChangeArrowheads="1"/>
            </p:cNvSpPr>
            <p:nvPr/>
          </p:nvSpPr>
          <p:spPr bwMode="auto">
            <a:xfrm>
              <a:off x="2255" y="986"/>
              <a:ext cx="7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39950" name="Group 22"/>
            <p:cNvGrpSpPr>
              <a:grpSpLocks/>
            </p:cNvGrpSpPr>
            <p:nvPr/>
          </p:nvGrpSpPr>
          <p:grpSpPr bwMode="auto">
            <a:xfrm>
              <a:off x="2356" y="786"/>
              <a:ext cx="1691" cy="757"/>
              <a:chOff x="2356" y="786"/>
              <a:chExt cx="1691" cy="757"/>
            </a:xfrm>
          </p:grpSpPr>
          <p:grpSp>
            <p:nvGrpSpPr>
              <p:cNvPr id="39966" name="Group 23"/>
              <p:cNvGrpSpPr>
                <a:grpSpLocks/>
              </p:cNvGrpSpPr>
              <p:nvPr/>
            </p:nvGrpSpPr>
            <p:grpSpPr bwMode="auto">
              <a:xfrm>
                <a:off x="2356" y="786"/>
                <a:ext cx="1691" cy="282"/>
                <a:chOff x="2356" y="816"/>
                <a:chExt cx="1691" cy="282"/>
              </a:xfrm>
            </p:grpSpPr>
            <p:sp>
              <p:nvSpPr>
                <p:cNvPr id="39975" name="Rectangle 24"/>
                <p:cNvSpPr>
                  <a:spLocks noChangeArrowheads="1"/>
                </p:cNvSpPr>
                <p:nvPr/>
              </p:nvSpPr>
              <p:spPr bwMode="auto">
                <a:xfrm>
                  <a:off x="2356" y="816"/>
                  <a:ext cx="1691" cy="28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39976" name="Rectangle 25"/>
                <p:cNvSpPr>
                  <a:spLocks noChangeArrowheads="1"/>
                </p:cNvSpPr>
                <p:nvPr/>
              </p:nvSpPr>
              <p:spPr bwMode="auto">
                <a:xfrm>
                  <a:off x="2985" y="885"/>
                  <a:ext cx="43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League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  <p:grpSp>
            <p:nvGrpSpPr>
              <p:cNvPr id="39967" name="Group 26"/>
              <p:cNvGrpSpPr>
                <a:grpSpLocks/>
              </p:cNvGrpSpPr>
              <p:nvPr/>
            </p:nvGrpSpPr>
            <p:grpSpPr bwMode="auto">
              <a:xfrm>
                <a:off x="2356" y="1068"/>
                <a:ext cx="1691" cy="282"/>
                <a:chOff x="2356" y="1084"/>
                <a:chExt cx="1691" cy="282"/>
              </a:xfrm>
            </p:grpSpPr>
            <p:sp>
              <p:nvSpPr>
                <p:cNvPr id="39971" name="Rectangle 27"/>
                <p:cNvSpPr>
                  <a:spLocks noChangeArrowheads="1"/>
                </p:cNvSpPr>
                <p:nvPr/>
              </p:nvSpPr>
              <p:spPr bwMode="auto">
                <a:xfrm>
                  <a:off x="2356" y="1084"/>
                  <a:ext cx="1691" cy="28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grpSp>
              <p:nvGrpSpPr>
                <p:cNvPr id="39972" name="Group 28"/>
                <p:cNvGrpSpPr>
                  <a:grpSpLocks/>
                </p:cNvGrpSpPr>
                <p:nvPr/>
              </p:nvGrpSpPr>
              <p:grpSpPr bwMode="auto">
                <a:xfrm>
                  <a:off x="2408" y="1094"/>
                  <a:ext cx="795" cy="262"/>
                  <a:chOff x="2408" y="1105"/>
                  <a:chExt cx="795" cy="262"/>
                </a:xfrm>
              </p:grpSpPr>
              <p:sp>
                <p:nvSpPr>
                  <p:cNvPr id="39973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1105"/>
                    <a:ext cx="795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+start:Date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  <p:sp>
                <p:nvSpPr>
                  <p:cNvPr id="39974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1223"/>
                    <a:ext cx="651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+end:Date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</p:grpSp>
          </p:grpSp>
          <p:grpSp>
            <p:nvGrpSpPr>
              <p:cNvPr id="39968" name="Group 31"/>
              <p:cNvGrpSpPr>
                <a:grpSpLocks/>
              </p:cNvGrpSpPr>
              <p:nvPr/>
            </p:nvGrpSpPr>
            <p:grpSpPr bwMode="auto">
              <a:xfrm>
                <a:off x="2356" y="1350"/>
                <a:ext cx="1691" cy="193"/>
                <a:chOff x="2356" y="1350"/>
                <a:chExt cx="1691" cy="193"/>
              </a:xfrm>
            </p:grpSpPr>
            <p:sp>
              <p:nvSpPr>
                <p:cNvPr id="39969" name="Rectangle 32"/>
                <p:cNvSpPr>
                  <a:spLocks noChangeArrowheads="1"/>
                </p:cNvSpPr>
                <p:nvPr/>
              </p:nvSpPr>
              <p:spPr bwMode="auto">
                <a:xfrm>
                  <a:off x="2356" y="1350"/>
                  <a:ext cx="1691" cy="193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39970" name="Rectangle 33"/>
                <p:cNvSpPr>
                  <a:spLocks noChangeArrowheads="1"/>
                </p:cNvSpPr>
                <p:nvPr/>
              </p:nvSpPr>
              <p:spPr bwMode="auto">
                <a:xfrm>
                  <a:off x="2411" y="1374"/>
                  <a:ext cx="137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+getActivePlayers()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39951" name="Rectangle 34"/>
            <p:cNvSpPr>
              <a:spLocks noChangeArrowheads="1"/>
            </p:cNvSpPr>
            <p:nvPr/>
          </p:nvSpPr>
          <p:spPr bwMode="auto">
            <a:xfrm>
              <a:off x="2255" y="3537"/>
              <a:ext cx="7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39952" name="Group 35"/>
            <p:cNvGrpSpPr>
              <a:grpSpLocks/>
            </p:cNvGrpSpPr>
            <p:nvPr/>
          </p:nvGrpSpPr>
          <p:grpSpPr bwMode="auto">
            <a:xfrm>
              <a:off x="2342" y="3382"/>
              <a:ext cx="1690" cy="267"/>
              <a:chOff x="2342" y="3382"/>
              <a:chExt cx="1690" cy="267"/>
            </a:xfrm>
          </p:grpSpPr>
          <p:sp>
            <p:nvSpPr>
              <p:cNvPr id="39964" name="Rectangle 36"/>
              <p:cNvSpPr>
                <a:spLocks noChangeArrowheads="1"/>
              </p:cNvSpPr>
              <p:nvPr/>
            </p:nvSpPr>
            <p:spPr bwMode="auto">
              <a:xfrm>
                <a:off x="2342" y="3382"/>
                <a:ext cx="1690" cy="267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39965" name="Rectangle 37"/>
              <p:cNvSpPr>
                <a:spLocks noChangeArrowheads="1"/>
              </p:cNvSpPr>
              <p:nvPr/>
            </p:nvSpPr>
            <p:spPr bwMode="auto">
              <a:xfrm>
                <a:off x="2971" y="3444"/>
                <a:ext cx="434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Player</a:t>
                </a:r>
                <a:endParaRPr lang="en-US" altLang="fr-FR" sz="1800" b="0"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39953" name="Group 38"/>
            <p:cNvGrpSpPr>
              <a:grpSpLocks/>
            </p:cNvGrpSpPr>
            <p:nvPr/>
          </p:nvGrpSpPr>
          <p:grpSpPr bwMode="auto">
            <a:xfrm>
              <a:off x="2342" y="3647"/>
              <a:ext cx="1690" cy="282"/>
              <a:chOff x="2342" y="3635"/>
              <a:chExt cx="1690" cy="282"/>
            </a:xfrm>
          </p:grpSpPr>
          <p:sp>
            <p:nvSpPr>
              <p:cNvPr id="39960" name="Rectangle 39"/>
              <p:cNvSpPr>
                <a:spLocks noChangeArrowheads="1"/>
              </p:cNvSpPr>
              <p:nvPr/>
            </p:nvSpPr>
            <p:spPr bwMode="auto">
              <a:xfrm>
                <a:off x="2342" y="3635"/>
                <a:ext cx="1690" cy="282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grpSp>
            <p:nvGrpSpPr>
              <p:cNvPr id="39961" name="Group 40"/>
              <p:cNvGrpSpPr>
                <a:grpSpLocks/>
              </p:cNvGrpSpPr>
              <p:nvPr/>
            </p:nvGrpSpPr>
            <p:grpSpPr bwMode="auto">
              <a:xfrm>
                <a:off x="2397" y="3645"/>
                <a:ext cx="940" cy="262"/>
                <a:chOff x="2397" y="3656"/>
                <a:chExt cx="940" cy="262"/>
              </a:xfrm>
            </p:grpSpPr>
            <p:sp>
              <p:nvSpPr>
                <p:cNvPr id="39962" name="Rectangle 41"/>
                <p:cNvSpPr>
                  <a:spLocks noChangeArrowheads="1"/>
                </p:cNvSpPr>
                <p:nvPr/>
              </p:nvSpPr>
              <p:spPr bwMode="auto">
                <a:xfrm>
                  <a:off x="2397" y="3656"/>
                  <a:ext cx="868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+name:String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39963" name="Rectangle 42"/>
                <p:cNvSpPr>
                  <a:spLocks noChangeArrowheads="1"/>
                </p:cNvSpPr>
                <p:nvPr/>
              </p:nvSpPr>
              <p:spPr bwMode="auto">
                <a:xfrm>
                  <a:off x="2397" y="3774"/>
                  <a:ext cx="94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+email:String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39954" name="Line 43"/>
            <p:cNvSpPr>
              <a:spLocks noChangeShapeType="1"/>
            </p:cNvSpPr>
            <p:nvPr/>
          </p:nvSpPr>
          <p:spPr bwMode="auto">
            <a:xfrm flipV="1">
              <a:off x="3187" y="2822"/>
              <a:ext cx="1" cy="56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955" name="Rectangle 44"/>
            <p:cNvSpPr>
              <a:spLocks noChangeArrowheads="1"/>
            </p:cNvSpPr>
            <p:nvPr/>
          </p:nvSpPr>
          <p:spPr bwMode="auto">
            <a:xfrm>
              <a:off x="3081" y="3226"/>
              <a:ext cx="7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56" name="Rectangle 45"/>
            <p:cNvSpPr>
              <a:spLocks noChangeArrowheads="1"/>
            </p:cNvSpPr>
            <p:nvPr/>
          </p:nvSpPr>
          <p:spPr bwMode="auto">
            <a:xfrm>
              <a:off x="3249" y="3226"/>
              <a:ext cx="50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57" name="Rectangle 46"/>
            <p:cNvSpPr>
              <a:spLocks noChangeArrowheads="1"/>
            </p:cNvSpPr>
            <p:nvPr/>
          </p:nvSpPr>
          <p:spPr bwMode="auto">
            <a:xfrm>
              <a:off x="3249" y="2840"/>
              <a:ext cx="79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tournaments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58" name="Rectangle 47"/>
            <p:cNvSpPr>
              <a:spLocks noChangeArrowheads="1"/>
            </p:cNvSpPr>
            <p:nvPr/>
          </p:nvSpPr>
          <p:spPr bwMode="auto">
            <a:xfrm>
              <a:off x="3081" y="2840"/>
              <a:ext cx="7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39959" name="Freeform 48"/>
            <p:cNvSpPr>
              <a:spLocks/>
            </p:cNvSpPr>
            <p:nvPr/>
          </p:nvSpPr>
          <p:spPr bwMode="auto">
            <a:xfrm>
              <a:off x="1630" y="949"/>
              <a:ext cx="726" cy="2552"/>
            </a:xfrm>
            <a:custGeom>
              <a:avLst/>
              <a:gdLst>
                <a:gd name="T0" fmla="*/ 726 w 726"/>
                <a:gd name="T1" fmla="*/ 0 h 2552"/>
                <a:gd name="T2" fmla="*/ 0 w 726"/>
                <a:gd name="T3" fmla="*/ 0 h 2552"/>
                <a:gd name="T4" fmla="*/ 0 w 726"/>
                <a:gd name="T5" fmla="*/ 2552 h 2552"/>
                <a:gd name="T6" fmla="*/ 712 w 726"/>
                <a:gd name="T7" fmla="*/ 2552 h 25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2552"/>
                <a:gd name="T14" fmla="*/ 726 w 726"/>
                <a:gd name="T15" fmla="*/ 2552 h 25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2552">
                  <a:moveTo>
                    <a:pt x="726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712" y="2552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</p:grpSp>
      <p:sp>
        <p:nvSpPr>
          <p:cNvPr id="139317" name="Rectangle 53"/>
          <p:cNvSpPr>
            <a:spLocks noGrp="1" noChangeArrowheads="1"/>
          </p:cNvSpPr>
          <p:nvPr>
            <p:ph type="body" sz="half" idx="2"/>
          </p:nvPr>
        </p:nvSpPr>
        <p:spPr>
          <a:xfrm>
            <a:off x="4559300" y="1524000"/>
            <a:ext cx="4313238" cy="3187700"/>
          </a:xfrm>
          <a:noFill/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None/>
            </a:pPr>
            <a:r>
              <a:rPr lang="en-US" altLang="fr-FR" sz="2000">
                <a:ea typeface="ＭＳ Ｐゴシック" panose="020B0600070205080204" pitchFamily="34" charset="-128"/>
              </a:rPr>
              <a:t>Constraints: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 sz="2000">
                <a:ea typeface="ＭＳ Ｐゴシック" panose="020B0600070205080204" pitchFamily="34" charset="-128"/>
              </a:rPr>
              <a:t>A Tournament’s planned duration must be under one week.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 sz="2000">
                <a:ea typeface="ＭＳ Ｐゴシック" panose="020B0600070205080204" pitchFamily="34" charset="-128"/>
              </a:rPr>
              <a:t>Players can be accepted in a Tournament only if they are already registered with the corresponding League.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 sz="2000">
                <a:ea typeface="ＭＳ Ｐゴシック" panose="020B0600070205080204" pitchFamily="34" charset="-128"/>
              </a:rPr>
              <a:t>The number of active Players in a League are those that have taken part in at least one Tournament of the League.</a:t>
            </a:r>
          </a:p>
        </p:txBody>
      </p:sp>
      <p:sp>
        <p:nvSpPr>
          <p:cNvPr id="139318" name="Rectangle 54"/>
          <p:cNvSpPr>
            <a:spLocks noChangeArrowheads="1"/>
          </p:cNvSpPr>
          <p:nvPr/>
        </p:nvSpPr>
        <p:spPr bwMode="auto">
          <a:xfrm>
            <a:off x="4664075" y="4727575"/>
            <a:ext cx="4313238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457200" indent="-4572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2000" b="0" i="1">
              <a:solidFill>
                <a:srgbClr val="0005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44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17" grpId="0" build="p" autoUpdateAnimBg="0"/>
      <p:bldP spid="139318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5108"/>
            <a:ext cx="5881687" cy="704850"/>
          </a:xfrm>
        </p:spPr>
        <p:txBody>
          <a:bodyPr/>
          <a:lstStyle/>
          <a:p>
            <a:r>
              <a:rPr lang="en-US" altLang="fr-FR" sz="3600" dirty="0">
                <a:ea typeface="ＭＳ Ｐゴシック" panose="020B0600070205080204" pitchFamily="34" charset="-128"/>
              </a:rPr>
              <a:t>Instance Diagram: 2 Leagues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377825" y="1452563"/>
            <a:ext cx="2270125" cy="414337"/>
            <a:chOff x="238" y="825"/>
            <a:chExt cx="1430" cy="261"/>
          </a:xfrm>
        </p:grpSpPr>
        <p:sp>
          <p:nvSpPr>
            <p:cNvPr id="42040" name="Rectangle 17"/>
            <p:cNvSpPr>
              <a:spLocks noChangeArrowheads="1"/>
            </p:cNvSpPr>
            <p:nvPr/>
          </p:nvSpPr>
          <p:spPr bwMode="auto">
            <a:xfrm>
              <a:off x="238" y="825"/>
              <a:ext cx="1430" cy="261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41" name="Rectangle 18"/>
            <p:cNvSpPr>
              <a:spLocks noChangeArrowheads="1"/>
            </p:cNvSpPr>
            <p:nvPr/>
          </p:nvSpPr>
          <p:spPr bwMode="auto">
            <a:xfrm>
              <a:off x="417" y="889"/>
              <a:ext cx="115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 u="sng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tttExpert:League</a:t>
              </a:r>
              <a:endParaRPr lang="en-US" altLang="fr-FR" sz="1500" b="0" u="sng">
                <a:latin typeface="Lucida Sans Typewriter" panose="020B0509030504030204" pitchFamily="49" charset="0"/>
              </a:endParaRPr>
            </a:p>
          </p:txBody>
        </p:sp>
      </p:grp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318250" y="1481138"/>
            <a:ext cx="2270125" cy="414337"/>
            <a:chOff x="3980" y="843"/>
            <a:chExt cx="1430" cy="261"/>
          </a:xfrm>
        </p:grpSpPr>
        <p:sp>
          <p:nvSpPr>
            <p:cNvPr id="42038" name="Rectangle 26"/>
            <p:cNvSpPr>
              <a:spLocks noChangeArrowheads="1"/>
            </p:cNvSpPr>
            <p:nvPr/>
          </p:nvSpPr>
          <p:spPr bwMode="auto">
            <a:xfrm>
              <a:off x="3980" y="843"/>
              <a:ext cx="1430" cy="261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39" name="Rectangle 27"/>
            <p:cNvSpPr>
              <a:spLocks noChangeArrowheads="1"/>
            </p:cNvSpPr>
            <p:nvPr/>
          </p:nvSpPr>
          <p:spPr bwMode="auto">
            <a:xfrm>
              <a:off x="4032" y="883"/>
              <a:ext cx="130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 u="sng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chessNovice:League</a:t>
              </a:r>
              <a:endParaRPr lang="en-US" altLang="fr-FR" sz="1500" b="0" u="sng">
                <a:latin typeface="Lucida Sans Typewriter" panose="020B0509030504030204" pitchFamily="49" charset="0"/>
              </a:endParaRPr>
            </a:p>
          </p:txBody>
        </p:sp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3543300" y="3409950"/>
            <a:ext cx="2601913" cy="2060575"/>
            <a:chOff x="2232" y="2058"/>
            <a:chExt cx="1639" cy="1298"/>
          </a:xfrm>
        </p:grpSpPr>
        <p:sp>
          <p:nvSpPr>
            <p:cNvPr id="42033" name="Line 3"/>
            <p:cNvSpPr>
              <a:spLocks noChangeShapeType="1"/>
            </p:cNvSpPr>
            <p:nvPr/>
          </p:nvSpPr>
          <p:spPr bwMode="auto">
            <a:xfrm>
              <a:off x="3209" y="2104"/>
              <a:ext cx="1" cy="2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034" name="Freeform 28"/>
            <p:cNvSpPr>
              <a:spLocks/>
            </p:cNvSpPr>
            <p:nvPr/>
          </p:nvSpPr>
          <p:spPr bwMode="auto">
            <a:xfrm>
              <a:off x="3168" y="2058"/>
              <a:ext cx="82" cy="178"/>
            </a:xfrm>
            <a:custGeom>
              <a:avLst/>
              <a:gdLst>
                <a:gd name="T0" fmla="*/ 82 w 82"/>
                <a:gd name="T1" fmla="*/ 82 h 178"/>
                <a:gd name="T2" fmla="*/ 41 w 82"/>
                <a:gd name="T3" fmla="*/ 178 h 178"/>
                <a:gd name="T4" fmla="*/ 0 w 82"/>
                <a:gd name="T5" fmla="*/ 82 h 178"/>
                <a:gd name="T6" fmla="*/ 41 w 82"/>
                <a:gd name="T7" fmla="*/ 0 h 178"/>
                <a:gd name="T8" fmla="*/ 82 w 82"/>
                <a:gd name="T9" fmla="*/ 82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178"/>
                <a:gd name="T17" fmla="*/ 82 w 82"/>
                <a:gd name="T18" fmla="*/ 178 h 1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178">
                  <a:moveTo>
                    <a:pt x="82" y="82"/>
                  </a:moveTo>
                  <a:lnTo>
                    <a:pt x="41" y="178"/>
                  </a:lnTo>
                  <a:lnTo>
                    <a:pt x="0" y="82"/>
                  </a:lnTo>
                  <a:lnTo>
                    <a:pt x="41" y="0"/>
                  </a:lnTo>
                  <a:lnTo>
                    <a:pt x="82" y="82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35" name="Freeform 30"/>
            <p:cNvSpPr>
              <a:spLocks/>
            </p:cNvSpPr>
            <p:nvPr/>
          </p:nvSpPr>
          <p:spPr bwMode="auto">
            <a:xfrm>
              <a:off x="2232" y="2366"/>
              <a:ext cx="1638" cy="440"/>
            </a:xfrm>
            <a:custGeom>
              <a:avLst/>
              <a:gdLst>
                <a:gd name="T0" fmla="*/ 0 w 1638"/>
                <a:gd name="T1" fmla="*/ 426 h 440"/>
                <a:gd name="T2" fmla="*/ 0 w 1638"/>
                <a:gd name="T3" fmla="*/ 0 h 440"/>
                <a:gd name="T4" fmla="*/ 1638 w 1638"/>
                <a:gd name="T5" fmla="*/ 0 h 440"/>
                <a:gd name="T6" fmla="*/ 1638 w 1638"/>
                <a:gd name="T7" fmla="*/ 440 h 4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38"/>
                <a:gd name="T13" fmla="*/ 0 h 440"/>
                <a:gd name="T14" fmla="*/ 1638 w 1638"/>
                <a:gd name="T15" fmla="*/ 440 h 4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38" h="440">
                  <a:moveTo>
                    <a:pt x="0" y="426"/>
                  </a:moveTo>
                  <a:lnTo>
                    <a:pt x="0" y="0"/>
                  </a:lnTo>
                  <a:lnTo>
                    <a:pt x="1638" y="0"/>
                  </a:lnTo>
                  <a:lnTo>
                    <a:pt x="1638" y="44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36" name="Line 31"/>
            <p:cNvSpPr>
              <a:spLocks noChangeShapeType="1"/>
            </p:cNvSpPr>
            <p:nvPr/>
          </p:nvSpPr>
          <p:spPr bwMode="auto">
            <a:xfrm>
              <a:off x="2920" y="2366"/>
              <a:ext cx="1" cy="71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037" name="Line 38"/>
            <p:cNvSpPr>
              <a:spLocks noChangeShapeType="1"/>
            </p:cNvSpPr>
            <p:nvPr/>
          </p:nvSpPr>
          <p:spPr bwMode="auto">
            <a:xfrm>
              <a:off x="3870" y="2366"/>
              <a:ext cx="1" cy="99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" name="Group 64"/>
          <p:cNvGrpSpPr>
            <a:grpSpLocks/>
          </p:cNvGrpSpPr>
          <p:nvPr/>
        </p:nvGrpSpPr>
        <p:grpSpPr bwMode="auto">
          <a:xfrm>
            <a:off x="1535113" y="3371850"/>
            <a:ext cx="1616075" cy="1203325"/>
            <a:chOff x="967" y="2034"/>
            <a:chExt cx="1018" cy="758"/>
          </a:xfrm>
        </p:grpSpPr>
        <p:sp>
          <p:nvSpPr>
            <p:cNvPr id="42030" name="Freeform 29"/>
            <p:cNvSpPr>
              <a:spLocks/>
            </p:cNvSpPr>
            <p:nvPr/>
          </p:nvSpPr>
          <p:spPr bwMode="auto">
            <a:xfrm>
              <a:off x="1187" y="2034"/>
              <a:ext cx="83" cy="178"/>
            </a:xfrm>
            <a:custGeom>
              <a:avLst/>
              <a:gdLst>
                <a:gd name="T0" fmla="*/ 83 w 83"/>
                <a:gd name="T1" fmla="*/ 82 h 178"/>
                <a:gd name="T2" fmla="*/ 41 w 83"/>
                <a:gd name="T3" fmla="*/ 178 h 178"/>
                <a:gd name="T4" fmla="*/ 0 w 83"/>
                <a:gd name="T5" fmla="*/ 82 h 178"/>
                <a:gd name="T6" fmla="*/ 41 w 83"/>
                <a:gd name="T7" fmla="*/ 0 h 178"/>
                <a:gd name="T8" fmla="*/ 83 w 83"/>
                <a:gd name="T9" fmla="*/ 82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3"/>
                <a:gd name="T16" fmla="*/ 0 h 178"/>
                <a:gd name="T17" fmla="*/ 83 w 83"/>
                <a:gd name="T18" fmla="*/ 178 h 1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3" h="178">
                  <a:moveTo>
                    <a:pt x="83" y="82"/>
                  </a:moveTo>
                  <a:lnTo>
                    <a:pt x="41" y="178"/>
                  </a:lnTo>
                  <a:lnTo>
                    <a:pt x="0" y="82"/>
                  </a:lnTo>
                  <a:lnTo>
                    <a:pt x="41" y="0"/>
                  </a:lnTo>
                  <a:lnTo>
                    <a:pt x="83" y="82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31" name="Line 32"/>
            <p:cNvSpPr>
              <a:spLocks noChangeShapeType="1"/>
            </p:cNvSpPr>
            <p:nvPr/>
          </p:nvSpPr>
          <p:spPr bwMode="auto">
            <a:xfrm>
              <a:off x="1228" y="2200"/>
              <a:ext cx="1" cy="16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032" name="Freeform 39"/>
            <p:cNvSpPr>
              <a:spLocks/>
            </p:cNvSpPr>
            <p:nvPr/>
          </p:nvSpPr>
          <p:spPr bwMode="auto">
            <a:xfrm>
              <a:off x="967" y="2366"/>
              <a:ext cx="1018" cy="426"/>
            </a:xfrm>
            <a:custGeom>
              <a:avLst/>
              <a:gdLst>
                <a:gd name="T0" fmla="*/ 1018 w 1018"/>
                <a:gd name="T1" fmla="*/ 426 h 426"/>
                <a:gd name="T2" fmla="*/ 1018 w 1018"/>
                <a:gd name="T3" fmla="*/ 0 h 426"/>
                <a:gd name="T4" fmla="*/ 0 w 1018"/>
                <a:gd name="T5" fmla="*/ 0 h 426"/>
                <a:gd name="T6" fmla="*/ 0 w 1018"/>
                <a:gd name="T7" fmla="*/ 151 h 4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8"/>
                <a:gd name="T13" fmla="*/ 0 h 426"/>
                <a:gd name="T14" fmla="*/ 1018 w 1018"/>
                <a:gd name="T15" fmla="*/ 426 h 4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8" h="426">
                  <a:moveTo>
                    <a:pt x="1018" y="426"/>
                  </a:moveTo>
                  <a:lnTo>
                    <a:pt x="1018" y="0"/>
                  </a:lnTo>
                  <a:lnTo>
                    <a:pt x="0" y="0"/>
                  </a:lnTo>
                  <a:lnTo>
                    <a:pt x="0" y="151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</p:grp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508000" y="1865313"/>
            <a:ext cx="6573838" cy="4044950"/>
            <a:chOff x="320" y="1085"/>
            <a:chExt cx="4141" cy="2548"/>
          </a:xfrm>
        </p:grpSpPr>
        <p:sp>
          <p:nvSpPr>
            <p:cNvPr id="42015" name="Line 35"/>
            <p:cNvSpPr>
              <a:spLocks noChangeShapeType="1"/>
            </p:cNvSpPr>
            <p:nvPr/>
          </p:nvSpPr>
          <p:spPr bwMode="auto">
            <a:xfrm flipH="1">
              <a:off x="362" y="3205"/>
              <a:ext cx="1981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2016" name="Group 62"/>
            <p:cNvGrpSpPr>
              <a:grpSpLocks/>
            </p:cNvGrpSpPr>
            <p:nvPr/>
          </p:nvGrpSpPr>
          <p:grpSpPr bwMode="auto">
            <a:xfrm>
              <a:off x="320" y="1085"/>
              <a:ext cx="4141" cy="2548"/>
              <a:chOff x="320" y="1085"/>
              <a:chExt cx="4141" cy="2548"/>
            </a:xfrm>
          </p:grpSpPr>
          <p:sp>
            <p:nvSpPr>
              <p:cNvPr id="42017" name="Rectangle 5"/>
              <p:cNvSpPr>
                <a:spLocks noChangeArrowheads="1"/>
              </p:cNvSpPr>
              <p:nvPr/>
            </p:nvSpPr>
            <p:spPr bwMode="auto">
              <a:xfrm>
                <a:off x="444" y="2517"/>
                <a:ext cx="1156" cy="261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2018" name="Rectangle 6"/>
              <p:cNvSpPr>
                <a:spLocks noChangeArrowheads="1"/>
              </p:cNvSpPr>
              <p:nvPr/>
            </p:nvSpPr>
            <p:spPr bwMode="auto">
              <a:xfrm>
                <a:off x="620" y="2581"/>
                <a:ext cx="86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 u="sng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alice:Player</a:t>
                </a:r>
                <a:endParaRPr lang="en-US" altLang="fr-FR" sz="1500" b="0" u="sng"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42019" name="Rectangle 8"/>
              <p:cNvSpPr>
                <a:spLocks noChangeArrowheads="1"/>
              </p:cNvSpPr>
              <p:nvPr/>
            </p:nvSpPr>
            <p:spPr bwMode="auto">
              <a:xfrm>
                <a:off x="1393" y="2806"/>
                <a:ext cx="1156" cy="247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2020" name="Rectangle 9"/>
              <p:cNvSpPr>
                <a:spLocks noChangeArrowheads="1"/>
              </p:cNvSpPr>
              <p:nvPr/>
            </p:nvSpPr>
            <p:spPr bwMode="auto">
              <a:xfrm>
                <a:off x="1636" y="2863"/>
                <a:ext cx="72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 u="sng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bob:Player</a:t>
                </a:r>
                <a:endParaRPr lang="en-US" altLang="fr-FR" sz="1500" b="0" u="sng"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42021" name="Rectangle 11"/>
              <p:cNvSpPr>
                <a:spLocks noChangeArrowheads="1"/>
              </p:cNvSpPr>
              <p:nvPr/>
            </p:nvSpPr>
            <p:spPr bwMode="auto">
              <a:xfrm>
                <a:off x="2343" y="3081"/>
                <a:ext cx="1169" cy="261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2022" name="Rectangle 12"/>
              <p:cNvSpPr>
                <a:spLocks noChangeArrowheads="1"/>
              </p:cNvSpPr>
              <p:nvPr/>
            </p:nvSpPr>
            <p:spPr bwMode="auto">
              <a:xfrm>
                <a:off x="2559" y="3145"/>
                <a:ext cx="795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 u="sng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marc:Player</a:t>
                </a:r>
                <a:endParaRPr lang="en-US" altLang="fr-FR" sz="1500" b="0" u="sng"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42023" name="Rectangle 20"/>
              <p:cNvSpPr>
                <a:spLocks noChangeArrowheads="1"/>
              </p:cNvSpPr>
              <p:nvPr/>
            </p:nvSpPr>
            <p:spPr bwMode="auto">
              <a:xfrm>
                <a:off x="3292" y="3372"/>
                <a:ext cx="1169" cy="261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2024" name="Rectangle 21"/>
              <p:cNvSpPr>
                <a:spLocks noChangeArrowheads="1"/>
              </p:cNvSpPr>
              <p:nvPr/>
            </p:nvSpPr>
            <p:spPr bwMode="auto">
              <a:xfrm>
                <a:off x="3542" y="3436"/>
                <a:ext cx="72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 u="sng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joe:Player</a:t>
                </a:r>
                <a:endParaRPr lang="en-US" altLang="fr-FR" sz="1500" b="0" u="sng">
                  <a:latin typeface="Lucida Sans Typewriter" panose="020B0509030504030204" pitchFamily="49" charset="0"/>
                </a:endParaRPr>
              </a:p>
            </p:txBody>
          </p:sp>
          <p:sp>
            <p:nvSpPr>
              <p:cNvPr id="42025" name="Line 33"/>
              <p:cNvSpPr>
                <a:spLocks noChangeShapeType="1"/>
              </p:cNvSpPr>
              <p:nvPr/>
            </p:nvSpPr>
            <p:spPr bwMode="auto">
              <a:xfrm>
                <a:off x="362" y="1224"/>
                <a:ext cx="1" cy="2256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2026" name="Line 34"/>
              <p:cNvSpPr>
                <a:spLocks noChangeShapeType="1"/>
              </p:cNvSpPr>
              <p:nvPr/>
            </p:nvSpPr>
            <p:spPr bwMode="auto">
              <a:xfrm flipH="1">
                <a:off x="362" y="2929"/>
                <a:ext cx="1031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2027" name="Line 36"/>
              <p:cNvSpPr>
                <a:spLocks noChangeShapeType="1"/>
              </p:cNvSpPr>
              <p:nvPr/>
            </p:nvSpPr>
            <p:spPr bwMode="auto">
              <a:xfrm flipH="1">
                <a:off x="362" y="3480"/>
                <a:ext cx="2930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2028" name="Line 37"/>
              <p:cNvSpPr>
                <a:spLocks noChangeShapeType="1"/>
              </p:cNvSpPr>
              <p:nvPr/>
            </p:nvSpPr>
            <p:spPr bwMode="auto">
              <a:xfrm>
                <a:off x="362" y="2641"/>
                <a:ext cx="82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2029" name="Freeform 52"/>
              <p:cNvSpPr>
                <a:spLocks/>
              </p:cNvSpPr>
              <p:nvPr/>
            </p:nvSpPr>
            <p:spPr bwMode="auto">
              <a:xfrm>
                <a:off x="320" y="1085"/>
                <a:ext cx="83" cy="192"/>
              </a:xfrm>
              <a:custGeom>
                <a:avLst/>
                <a:gdLst>
                  <a:gd name="T0" fmla="*/ 83 w 83"/>
                  <a:gd name="T1" fmla="*/ 96 h 192"/>
                  <a:gd name="T2" fmla="*/ 42 w 83"/>
                  <a:gd name="T3" fmla="*/ 192 h 192"/>
                  <a:gd name="T4" fmla="*/ 0 w 83"/>
                  <a:gd name="T5" fmla="*/ 96 h 192"/>
                  <a:gd name="T6" fmla="*/ 42 w 83"/>
                  <a:gd name="T7" fmla="*/ 0 h 192"/>
                  <a:gd name="T8" fmla="*/ 83 w 83"/>
                  <a:gd name="T9" fmla="*/ 9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3"/>
                  <a:gd name="T16" fmla="*/ 0 h 192"/>
                  <a:gd name="T17" fmla="*/ 83 w 83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3" h="192">
                    <a:moveTo>
                      <a:pt x="83" y="96"/>
                    </a:moveTo>
                    <a:lnTo>
                      <a:pt x="42" y="192"/>
                    </a:lnTo>
                    <a:lnTo>
                      <a:pt x="0" y="96"/>
                    </a:lnTo>
                    <a:lnTo>
                      <a:pt x="42" y="0"/>
                    </a:lnTo>
                    <a:lnTo>
                      <a:pt x="83" y="96"/>
                    </a:lnTo>
                    <a:close/>
                  </a:path>
                </a:pathLst>
              </a:custGeom>
              <a:solidFill>
                <a:srgbClr val="FFFF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</p:grpSp>
      </p:grpSp>
      <p:grpSp>
        <p:nvGrpSpPr>
          <p:cNvPr id="8" name="Group 61"/>
          <p:cNvGrpSpPr>
            <a:grpSpLocks/>
          </p:cNvGrpSpPr>
          <p:nvPr/>
        </p:nvGrpSpPr>
        <p:grpSpPr bwMode="auto">
          <a:xfrm>
            <a:off x="6732588" y="1895475"/>
            <a:ext cx="1855787" cy="4454525"/>
            <a:chOff x="4241" y="1104"/>
            <a:chExt cx="1169" cy="2806"/>
          </a:xfrm>
        </p:grpSpPr>
        <p:sp>
          <p:nvSpPr>
            <p:cNvPr id="42011" name="Freeform 42"/>
            <p:cNvSpPr>
              <a:spLocks/>
            </p:cNvSpPr>
            <p:nvPr/>
          </p:nvSpPr>
          <p:spPr bwMode="auto">
            <a:xfrm>
              <a:off x="4777" y="1104"/>
              <a:ext cx="83" cy="193"/>
            </a:xfrm>
            <a:custGeom>
              <a:avLst/>
              <a:gdLst>
                <a:gd name="T0" fmla="*/ 83 w 83"/>
                <a:gd name="T1" fmla="*/ 97 h 193"/>
                <a:gd name="T2" fmla="*/ 42 w 83"/>
                <a:gd name="T3" fmla="*/ 193 h 193"/>
                <a:gd name="T4" fmla="*/ 0 w 83"/>
                <a:gd name="T5" fmla="*/ 97 h 193"/>
                <a:gd name="T6" fmla="*/ 42 w 83"/>
                <a:gd name="T7" fmla="*/ 0 h 193"/>
                <a:gd name="T8" fmla="*/ 83 w 83"/>
                <a:gd name="T9" fmla="*/ 97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3"/>
                <a:gd name="T16" fmla="*/ 0 h 193"/>
                <a:gd name="T17" fmla="*/ 83 w 83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3" h="193">
                  <a:moveTo>
                    <a:pt x="83" y="97"/>
                  </a:moveTo>
                  <a:lnTo>
                    <a:pt x="42" y="193"/>
                  </a:lnTo>
                  <a:lnTo>
                    <a:pt x="0" y="97"/>
                  </a:lnTo>
                  <a:lnTo>
                    <a:pt x="42" y="0"/>
                  </a:lnTo>
                  <a:lnTo>
                    <a:pt x="83" y="97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12" name="Line 43"/>
            <p:cNvSpPr>
              <a:spLocks noChangeShapeType="1"/>
            </p:cNvSpPr>
            <p:nvPr/>
          </p:nvSpPr>
          <p:spPr bwMode="auto">
            <a:xfrm>
              <a:off x="4819" y="1283"/>
              <a:ext cx="1" cy="238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013" name="Rectangle 54"/>
            <p:cNvSpPr>
              <a:spLocks noChangeArrowheads="1"/>
            </p:cNvSpPr>
            <p:nvPr/>
          </p:nvSpPr>
          <p:spPr bwMode="auto">
            <a:xfrm>
              <a:off x="4241" y="3663"/>
              <a:ext cx="1169" cy="247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14" name="Rectangle 55"/>
            <p:cNvSpPr>
              <a:spLocks noChangeArrowheads="1"/>
            </p:cNvSpPr>
            <p:nvPr/>
          </p:nvSpPr>
          <p:spPr bwMode="auto">
            <a:xfrm>
              <a:off x="4491" y="3720"/>
              <a:ext cx="72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 u="sng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zoe:Player</a:t>
              </a:r>
              <a:endParaRPr lang="en-US" altLang="fr-FR" sz="1500" b="0" u="sng">
                <a:latin typeface="Lucida Sans Typewriter" panose="020B0509030504030204" pitchFamily="49" charset="0"/>
              </a:endParaRPr>
            </a:p>
          </p:txBody>
        </p:sp>
      </p:grpSp>
      <p:grpSp>
        <p:nvGrpSpPr>
          <p:cNvPr id="9" name="Group 74"/>
          <p:cNvGrpSpPr>
            <a:grpSpLocks/>
          </p:cNvGrpSpPr>
          <p:nvPr/>
        </p:nvGrpSpPr>
        <p:grpSpPr bwMode="auto">
          <a:xfrm>
            <a:off x="1949450" y="2238375"/>
            <a:ext cx="4298950" cy="1173163"/>
            <a:chOff x="1228" y="1320"/>
            <a:chExt cx="2708" cy="739"/>
          </a:xfrm>
        </p:grpSpPr>
        <p:sp>
          <p:nvSpPr>
            <p:cNvPr id="42005" name="Rectangle 23"/>
            <p:cNvSpPr>
              <a:spLocks noChangeArrowheads="1"/>
            </p:cNvSpPr>
            <p:nvPr/>
          </p:nvSpPr>
          <p:spPr bwMode="auto">
            <a:xfrm>
              <a:off x="2494" y="1536"/>
              <a:ext cx="1431" cy="261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06" name="Rectangle 24"/>
            <p:cNvSpPr>
              <a:spLocks noChangeArrowheads="1"/>
            </p:cNvSpPr>
            <p:nvPr/>
          </p:nvSpPr>
          <p:spPr bwMode="auto">
            <a:xfrm>
              <a:off x="2707" y="1600"/>
              <a:ext cx="122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 u="sng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winter:Tournament</a:t>
              </a:r>
              <a:endParaRPr lang="en-US" altLang="fr-FR" sz="1500" b="0" u="sng">
                <a:latin typeface="Lucida Sans Typewriter" panose="020B0509030504030204" pitchFamily="49" charset="0"/>
              </a:endParaRPr>
            </a:p>
          </p:txBody>
        </p:sp>
        <p:sp>
          <p:nvSpPr>
            <p:cNvPr id="42007" name="Freeform 40"/>
            <p:cNvSpPr>
              <a:spLocks/>
            </p:cNvSpPr>
            <p:nvPr/>
          </p:nvSpPr>
          <p:spPr bwMode="auto">
            <a:xfrm>
              <a:off x="1228" y="1320"/>
              <a:ext cx="1981" cy="206"/>
            </a:xfrm>
            <a:custGeom>
              <a:avLst/>
              <a:gdLst>
                <a:gd name="T0" fmla="*/ 0 w 1981"/>
                <a:gd name="T1" fmla="*/ 193 h 206"/>
                <a:gd name="T2" fmla="*/ 0 w 1981"/>
                <a:gd name="T3" fmla="*/ 0 h 206"/>
                <a:gd name="T4" fmla="*/ 1981 w 1981"/>
                <a:gd name="T5" fmla="*/ 0 h 206"/>
                <a:gd name="T6" fmla="*/ 1981 w 1981"/>
                <a:gd name="T7" fmla="*/ 206 h 2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1"/>
                <a:gd name="T13" fmla="*/ 0 h 206"/>
                <a:gd name="T14" fmla="*/ 1981 w 1981"/>
                <a:gd name="T15" fmla="*/ 206 h 2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1" h="206">
                  <a:moveTo>
                    <a:pt x="0" y="193"/>
                  </a:moveTo>
                  <a:lnTo>
                    <a:pt x="0" y="0"/>
                  </a:lnTo>
                  <a:lnTo>
                    <a:pt x="1981" y="0"/>
                  </a:lnTo>
                  <a:lnTo>
                    <a:pt x="1981" y="206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08" name="Rectangle 49"/>
            <p:cNvSpPr>
              <a:spLocks noChangeArrowheads="1"/>
            </p:cNvSpPr>
            <p:nvPr/>
          </p:nvSpPr>
          <p:spPr bwMode="auto">
            <a:xfrm>
              <a:off x="2554" y="1805"/>
              <a:ext cx="8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start=Jan 12</a:t>
              </a:r>
              <a:endParaRPr lang="en-US" altLang="fr-FR" sz="15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2009" name="Rectangle 50"/>
            <p:cNvSpPr>
              <a:spLocks noChangeArrowheads="1"/>
            </p:cNvSpPr>
            <p:nvPr/>
          </p:nvSpPr>
          <p:spPr bwMode="auto">
            <a:xfrm>
              <a:off x="2554" y="1915"/>
              <a:ext cx="79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end= Jan 14</a:t>
              </a:r>
              <a:endParaRPr lang="en-US" altLang="fr-FR" sz="15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2010" name="Rectangle 51"/>
            <p:cNvSpPr>
              <a:spLocks noChangeArrowheads="1"/>
            </p:cNvSpPr>
            <p:nvPr/>
          </p:nvSpPr>
          <p:spPr bwMode="auto">
            <a:xfrm>
              <a:off x="2494" y="1797"/>
              <a:ext cx="1431" cy="262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</p:grpSp>
      <p:grpSp>
        <p:nvGrpSpPr>
          <p:cNvPr id="10" name="Group 73"/>
          <p:cNvGrpSpPr>
            <a:grpSpLocks/>
          </p:cNvGrpSpPr>
          <p:nvPr/>
        </p:nvGrpSpPr>
        <p:grpSpPr bwMode="auto">
          <a:xfrm>
            <a:off x="836613" y="1887538"/>
            <a:ext cx="2270125" cy="1506537"/>
            <a:chOff x="527" y="1099"/>
            <a:chExt cx="1430" cy="949"/>
          </a:xfrm>
        </p:grpSpPr>
        <p:sp>
          <p:nvSpPr>
            <p:cNvPr id="41997" name="Rectangle 14"/>
            <p:cNvSpPr>
              <a:spLocks noChangeArrowheads="1"/>
            </p:cNvSpPr>
            <p:nvPr/>
          </p:nvSpPr>
          <p:spPr bwMode="auto">
            <a:xfrm>
              <a:off x="527" y="1526"/>
              <a:ext cx="1430" cy="261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1998" name="Rectangle 15"/>
            <p:cNvSpPr>
              <a:spLocks noChangeArrowheads="1"/>
            </p:cNvSpPr>
            <p:nvPr/>
          </p:nvSpPr>
          <p:spPr bwMode="auto">
            <a:xfrm>
              <a:off x="673" y="1590"/>
              <a:ext cx="108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 u="sng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Xmas:Tournament</a:t>
              </a:r>
              <a:endParaRPr lang="en-US" altLang="fr-FR" sz="1500" b="0" u="sng">
                <a:latin typeface="Lucida Sans Typewriter" panose="020B0509030504030204" pitchFamily="49" charset="0"/>
              </a:endParaRPr>
            </a:p>
          </p:txBody>
        </p:sp>
        <p:sp>
          <p:nvSpPr>
            <p:cNvPr id="41999" name="Line 41"/>
            <p:cNvSpPr>
              <a:spLocks noChangeShapeType="1"/>
            </p:cNvSpPr>
            <p:nvPr/>
          </p:nvSpPr>
          <p:spPr bwMode="auto">
            <a:xfrm flipV="1">
              <a:off x="1228" y="1261"/>
              <a:ext cx="0" cy="7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000" name="Rectangle 44"/>
            <p:cNvSpPr>
              <a:spLocks noChangeArrowheads="1"/>
            </p:cNvSpPr>
            <p:nvPr/>
          </p:nvSpPr>
          <p:spPr bwMode="auto">
            <a:xfrm>
              <a:off x="578" y="1794"/>
              <a:ext cx="8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start=Dec 23</a:t>
              </a:r>
              <a:endParaRPr lang="en-US" altLang="fr-FR" sz="15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2001" name="Rectangle 45"/>
            <p:cNvSpPr>
              <a:spLocks noChangeArrowheads="1"/>
            </p:cNvSpPr>
            <p:nvPr/>
          </p:nvSpPr>
          <p:spPr bwMode="auto">
            <a:xfrm>
              <a:off x="578" y="1904"/>
              <a:ext cx="79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end= Dec 25</a:t>
              </a:r>
              <a:endParaRPr lang="en-US" altLang="fr-FR" sz="15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2002" name="Rectangle 46"/>
            <p:cNvSpPr>
              <a:spLocks noChangeArrowheads="1"/>
            </p:cNvSpPr>
            <p:nvPr/>
          </p:nvSpPr>
          <p:spPr bwMode="auto">
            <a:xfrm>
              <a:off x="527" y="1787"/>
              <a:ext cx="1430" cy="26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03" name="Freeform 56"/>
            <p:cNvSpPr>
              <a:spLocks/>
            </p:cNvSpPr>
            <p:nvPr/>
          </p:nvSpPr>
          <p:spPr bwMode="auto">
            <a:xfrm>
              <a:off x="1188" y="1099"/>
              <a:ext cx="83" cy="179"/>
            </a:xfrm>
            <a:custGeom>
              <a:avLst/>
              <a:gdLst>
                <a:gd name="T0" fmla="*/ 83 w 83"/>
                <a:gd name="T1" fmla="*/ 83 h 179"/>
                <a:gd name="T2" fmla="*/ 41 w 83"/>
                <a:gd name="T3" fmla="*/ 179 h 179"/>
                <a:gd name="T4" fmla="*/ 0 w 83"/>
                <a:gd name="T5" fmla="*/ 83 h 179"/>
                <a:gd name="T6" fmla="*/ 41 w 83"/>
                <a:gd name="T7" fmla="*/ 0 h 179"/>
                <a:gd name="T8" fmla="*/ 83 w 83"/>
                <a:gd name="T9" fmla="*/ 83 h 1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3"/>
                <a:gd name="T16" fmla="*/ 0 h 179"/>
                <a:gd name="T17" fmla="*/ 83 w 83"/>
                <a:gd name="T18" fmla="*/ 179 h 1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3" h="179">
                  <a:moveTo>
                    <a:pt x="83" y="83"/>
                  </a:moveTo>
                  <a:lnTo>
                    <a:pt x="41" y="179"/>
                  </a:lnTo>
                  <a:lnTo>
                    <a:pt x="0" y="83"/>
                  </a:lnTo>
                  <a:lnTo>
                    <a:pt x="41" y="0"/>
                  </a:lnTo>
                  <a:lnTo>
                    <a:pt x="83" y="83"/>
                  </a:lnTo>
                  <a:close/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2004" name="Line 71"/>
            <p:cNvSpPr>
              <a:spLocks noChangeShapeType="1"/>
            </p:cNvSpPr>
            <p:nvPr/>
          </p:nvSpPr>
          <p:spPr bwMode="auto">
            <a:xfrm>
              <a:off x="1228" y="127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CA"/>
            </a:p>
          </p:txBody>
        </p:sp>
      </p:grpSp>
      <p:sp>
        <p:nvSpPr>
          <p:cNvPr id="140363" name="Rectangle 75"/>
          <p:cNvSpPr>
            <a:spLocks noChangeArrowheads="1"/>
          </p:cNvSpPr>
          <p:nvPr/>
        </p:nvSpPr>
        <p:spPr bwMode="auto">
          <a:xfrm>
            <a:off x="5668963" y="192088"/>
            <a:ext cx="223996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3000" dirty="0">
                <a:latin typeface="Century Gothic" panose="020B0502020202020204" pitchFamily="34" charset="0"/>
              </a:rPr>
              <a:t>, 5 Players,</a:t>
            </a:r>
          </a:p>
        </p:txBody>
      </p:sp>
      <p:sp>
        <p:nvSpPr>
          <p:cNvPr id="140364" name="Rectangle 76"/>
          <p:cNvSpPr>
            <a:spLocks noChangeArrowheads="1"/>
          </p:cNvSpPr>
          <p:nvPr/>
        </p:nvSpPr>
        <p:spPr bwMode="auto">
          <a:xfrm>
            <a:off x="4919663" y="606425"/>
            <a:ext cx="339883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3000">
                <a:latin typeface="Century Gothic" panose="020B0502020202020204" pitchFamily="34" charset="0"/>
              </a:rPr>
              <a:t>2 Tournaments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191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63" grpId="0" build="p" autoUpdateAnimBg="0"/>
      <p:bldP spid="140364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22250"/>
            <a:ext cx="8153400" cy="1225550"/>
          </a:xfrm>
        </p:spPr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3 Types of Navigation through a Class Diagram</a:t>
            </a:r>
          </a:p>
        </p:txBody>
      </p:sp>
      <p:sp>
        <p:nvSpPr>
          <p:cNvPr id="141338" name="Rectangle 26"/>
          <p:cNvSpPr>
            <a:spLocks noChangeArrowheads="1"/>
          </p:cNvSpPr>
          <p:nvPr/>
        </p:nvSpPr>
        <p:spPr bwMode="auto">
          <a:xfrm>
            <a:off x="581025" y="1600200"/>
            <a:ext cx="17414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2000" b="0">
                <a:solidFill>
                  <a:srgbClr val="000000"/>
                </a:solidFill>
                <a:latin typeface="Times New Roman" panose="02020603050405020304" pitchFamily="18" charset="0"/>
              </a:rPr>
              <a:t>1. Local attribute</a:t>
            </a:r>
            <a:endParaRPr lang="en-US" altLang="fr-FR" sz="2800">
              <a:latin typeface="Palatino" charset="0"/>
            </a:endParaRPr>
          </a:p>
        </p:txBody>
      </p:sp>
      <p:sp>
        <p:nvSpPr>
          <p:cNvPr id="141339" name="Rectangle 27"/>
          <p:cNvSpPr>
            <a:spLocks noChangeArrowheads="1"/>
          </p:cNvSpPr>
          <p:nvPr/>
        </p:nvSpPr>
        <p:spPr bwMode="auto">
          <a:xfrm>
            <a:off x="3402013" y="1600200"/>
            <a:ext cx="2397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2000" b="0">
                <a:solidFill>
                  <a:srgbClr val="000000"/>
                </a:solidFill>
                <a:latin typeface="Times New Roman" panose="02020603050405020304" pitchFamily="18" charset="0"/>
              </a:rPr>
              <a:t>2. Directly related class</a:t>
            </a:r>
            <a:endParaRPr lang="en-US" altLang="fr-FR" sz="2800">
              <a:latin typeface="Palatino" charset="0"/>
            </a:endParaRPr>
          </a:p>
        </p:txBody>
      </p:sp>
      <p:sp>
        <p:nvSpPr>
          <p:cNvPr id="141340" name="Rectangle 28"/>
          <p:cNvSpPr>
            <a:spLocks noChangeArrowheads="1"/>
          </p:cNvSpPr>
          <p:nvPr/>
        </p:nvSpPr>
        <p:spPr bwMode="auto">
          <a:xfrm>
            <a:off x="6192838" y="1600200"/>
            <a:ext cx="2552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2000" b="0">
                <a:solidFill>
                  <a:srgbClr val="000000"/>
                </a:solidFill>
                <a:latin typeface="Times New Roman" panose="02020603050405020304" pitchFamily="18" charset="0"/>
              </a:rPr>
              <a:t>3. Indirectly related class</a:t>
            </a:r>
            <a:endParaRPr lang="en-US" altLang="fr-FR" sz="2800">
              <a:latin typeface="Palatino" charset="0"/>
            </a:endParaRP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6175375" y="1944688"/>
            <a:ext cx="1703388" cy="2898775"/>
            <a:chOff x="3890" y="1225"/>
            <a:chExt cx="1073" cy="1826"/>
          </a:xfrm>
        </p:grpSpPr>
        <p:sp>
          <p:nvSpPr>
            <p:cNvPr id="44062" name="Freeform 11"/>
            <p:cNvSpPr>
              <a:spLocks/>
            </p:cNvSpPr>
            <p:nvPr/>
          </p:nvSpPr>
          <p:spPr bwMode="auto">
            <a:xfrm>
              <a:off x="4386" y="1485"/>
              <a:ext cx="83" cy="209"/>
            </a:xfrm>
            <a:custGeom>
              <a:avLst/>
              <a:gdLst>
                <a:gd name="T0" fmla="*/ 83 w 83"/>
                <a:gd name="T1" fmla="*/ 112 h 209"/>
                <a:gd name="T2" fmla="*/ 42 w 83"/>
                <a:gd name="T3" fmla="*/ 209 h 209"/>
                <a:gd name="T4" fmla="*/ 0 w 83"/>
                <a:gd name="T5" fmla="*/ 112 h 209"/>
                <a:gd name="T6" fmla="*/ 42 w 83"/>
                <a:gd name="T7" fmla="*/ 0 h 209"/>
                <a:gd name="T8" fmla="*/ 83 w 83"/>
                <a:gd name="T9" fmla="*/ 112 h 2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3"/>
                <a:gd name="T16" fmla="*/ 0 h 209"/>
                <a:gd name="T17" fmla="*/ 83 w 83"/>
                <a:gd name="T18" fmla="*/ 209 h 2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3" h="209">
                  <a:moveTo>
                    <a:pt x="83" y="112"/>
                  </a:moveTo>
                  <a:lnTo>
                    <a:pt x="42" y="209"/>
                  </a:lnTo>
                  <a:lnTo>
                    <a:pt x="0" y="112"/>
                  </a:lnTo>
                  <a:lnTo>
                    <a:pt x="42" y="0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4063" name="Line 12"/>
            <p:cNvSpPr>
              <a:spLocks noChangeShapeType="1"/>
            </p:cNvSpPr>
            <p:nvPr/>
          </p:nvSpPr>
          <p:spPr bwMode="auto">
            <a:xfrm>
              <a:off x="4426" y="1657"/>
              <a:ext cx="1" cy="34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4064" name="Group 45"/>
            <p:cNvGrpSpPr>
              <a:grpSpLocks/>
            </p:cNvGrpSpPr>
            <p:nvPr/>
          </p:nvGrpSpPr>
          <p:grpSpPr bwMode="auto">
            <a:xfrm>
              <a:off x="3890" y="2006"/>
              <a:ext cx="1073" cy="265"/>
              <a:chOff x="3890" y="2006"/>
              <a:chExt cx="1073" cy="265"/>
            </a:xfrm>
          </p:grpSpPr>
          <p:sp>
            <p:nvSpPr>
              <p:cNvPr id="44075" name="Rectangle 21"/>
              <p:cNvSpPr>
                <a:spLocks noChangeArrowheads="1"/>
              </p:cNvSpPr>
              <p:nvPr/>
            </p:nvSpPr>
            <p:spPr bwMode="auto">
              <a:xfrm>
                <a:off x="3890" y="2006"/>
                <a:ext cx="1073" cy="265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4076" name="Rectangle 22"/>
              <p:cNvSpPr>
                <a:spLocks noChangeArrowheads="1"/>
              </p:cNvSpPr>
              <p:nvPr/>
            </p:nvSpPr>
            <p:spPr bwMode="auto">
              <a:xfrm>
                <a:off x="3992" y="2052"/>
                <a:ext cx="86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8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Tournament</a:t>
                </a:r>
                <a:endParaRPr lang="en-US" altLang="fr-FR" b="0"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44065" name="Group 44"/>
            <p:cNvGrpSpPr>
              <a:grpSpLocks/>
            </p:cNvGrpSpPr>
            <p:nvPr/>
          </p:nvGrpSpPr>
          <p:grpSpPr bwMode="auto">
            <a:xfrm>
              <a:off x="3890" y="1225"/>
              <a:ext cx="1073" cy="265"/>
              <a:chOff x="3890" y="1225"/>
              <a:chExt cx="1073" cy="265"/>
            </a:xfrm>
          </p:grpSpPr>
          <p:sp>
            <p:nvSpPr>
              <p:cNvPr id="44073" name="Rectangle 24"/>
              <p:cNvSpPr>
                <a:spLocks noChangeArrowheads="1"/>
              </p:cNvSpPr>
              <p:nvPr/>
            </p:nvSpPr>
            <p:spPr bwMode="auto">
              <a:xfrm>
                <a:off x="3890" y="1225"/>
                <a:ext cx="1073" cy="265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4074" name="Rectangle 25"/>
              <p:cNvSpPr>
                <a:spLocks noChangeArrowheads="1"/>
              </p:cNvSpPr>
              <p:nvPr/>
            </p:nvSpPr>
            <p:spPr bwMode="auto">
              <a:xfrm>
                <a:off x="4166" y="1271"/>
                <a:ext cx="52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8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League</a:t>
                </a:r>
                <a:endParaRPr lang="en-US" altLang="fr-FR" b="0"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44066" name="Rectangle 31"/>
            <p:cNvSpPr>
              <a:spLocks noChangeArrowheads="1"/>
            </p:cNvSpPr>
            <p:nvPr/>
          </p:nvSpPr>
          <p:spPr bwMode="auto">
            <a:xfrm>
              <a:off x="4285" y="1886"/>
              <a:ext cx="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8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b="0">
                <a:latin typeface="Lucida Sans Typewriter" panose="020B0509030504030204" pitchFamily="49" charset="0"/>
              </a:endParaRPr>
            </a:p>
          </p:txBody>
        </p:sp>
        <p:sp>
          <p:nvSpPr>
            <p:cNvPr id="44067" name="Rectangle 32"/>
            <p:cNvSpPr>
              <a:spLocks noChangeArrowheads="1"/>
            </p:cNvSpPr>
            <p:nvPr/>
          </p:nvSpPr>
          <p:spPr bwMode="auto">
            <a:xfrm>
              <a:off x="4285" y="2291"/>
              <a:ext cx="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8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b="0">
                <a:latin typeface="Lucida Sans Typewriter" panose="020B0509030504030204" pitchFamily="49" charset="0"/>
              </a:endParaRPr>
            </a:p>
          </p:txBody>
        </p:sp>
        <p:sp>
          <p:nvSpPr>
            <p:cNvPr id="44068" name="Line 33"/>
            <p:cNvSpPr>
              <a:spLocks noChangeShapeType="1"/>
            </p:cNvSpPr>
            <p:nvPr/>
          </p:nvSpPr>
          <p:spPr bwMode="auto">
            <a:xfrm>
              <a:off x="4426" y="2257"/>
              <a:ext cx="1" cy="54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4069" name="Group 46"/>
            <p:cNvGrpSpPr>
              <a:grpSpLocks/>
            </p:cNvGrpSpPr>
            <p:nvPr/>
          </p:nvGrpSpPr>
          <p:grpSpPr bwMode="auto">
            <a:xfrm>
              <a:off x="3890" y="2800"/>
              <a:ext cx="1073" cy="251"/>
              <a:chOff x="3890" y="2800"/>
              <a:chExt cx="1073" cy="251"/>
            </a:xfrm>
          </p:grpSpPr>
          <p:sp>
            <p:nvSpPr>
              <p:cNvPr id="44071" name="Rectangle 35"/>
              <p:cNvSpPr>
                <a:spLocks noChangeArrowheads="1"/>
              </p:cNvSpPr>
              <p:nvPr/>
            </p:nvSpPr>
            <p:spPr bwMode="auto">
              <a:xfrm>
                <a:off x="3890" y="2800"/>
                <a:ext cx="1073" cy="251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4072" name="Rectangle 36"/>
              <p:cNvSpPr>
                <a:spLocks noChangeArrowheads="1"/>
              </p:cNvSpPr>
              <p:nvPr/>
            </p:nvSpPr>
            <p:spPr bwMode="auto">
              <a:xfrm>
                <a:off x="4166" y="2839"/>
                <a:ext cx="52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8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Player</a:t>
                </a:r>
                <a:endParaRPr lang="en-US" altLang="fr-FR" b="0"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44070" name="Rectangle 37"/>
            <p:cNvSpPr>
              <a:spLocks noChangeArrowheads="1"/>
            </p:cNvSpPr>
            <p:nvPr/>
          </p:nvSpPr>
          <p:spPr bwMode="auto">
            <a:xfrm>
              <a:off x="4285" y="2681"/>
              <a:ext cx="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8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b="0">
                <a:latin typeface="Lucida Sans Typewriter" panose="020B0509030504030204" pitchFamily="49" charset="0"/>
              </a:endParaRPr>
            </a:p>
          </p:txBody>
        </p:sp>
      </p:grpSp>
      <p:sp>
        <p:nvSpPr>
          <p:cNvPr id="141350" name="Bogen 38"/>
          <p:cNvSpPr>
            <a:spLocks/>
          </p:cNvSpPr>
          <p:nvPr/>
        </p:nvSpPr>
        <p:spPr bwMode="auto">
          <a:xfrm rot="18900000" flipH="1">
            <a:off x="5257800" y="2500313"/>
            <a:ext cx="1676400" cy="1676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8F8F8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3397250" y="1944688"/>
            <a:ext cx="1704975" cy="1682750"/>
            <a:chOff x="2140" y="1225"/>
            <a:chExt cx="1074" cy="1060"/>
          </a:xfrm>
        </p:grpSpPr>
        <p:sp>
          <p:nvSpPr>
            <p:cNvPr id="44054" name="Line 13"/>
            <p:cNvSpPr>
              <a:spLocks noChangeShapeType="1"/>
            </p:cNvSpPr>
            <p:nvPr/>
          </p:nvSpPr>
          <p:spPr bwMode="auto">
            <a:xfrm>
              <a:off x="2670" y="1476"/>
              <a:ext cx="1" cy="54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4055" name="Group 43"/>
            <p:cNvGrpSpPr>
              <a:grpSpLocks/>
            </p:cNvGrpSpPr>
            <p:nvPr/>
          </p:nvGrpSpPr>
          <p:grpSpPr bwMode="auto">
            <a:xfrm>
              <a:off x="2140" y="1225"/>
              <a:ext cx="1074" cy="265"/>
              <a:chOff x="2140" y="1225"/>
              <a:chExt cx="1074" cy="265"/>
            </a:xfrm>
          </p:grpSpPr>
          <p:sp>
            <p:nvSpPr>
              <p:cNvPr id="44060" name="Rectangle 15"/>
              <p:cNvSpPr>
                <a:spLocks noChangeArrowheads="1"/>
              </p:cNvSpPr>
              <p:nvPr/>
            </p:nvSpPr>
            <p:spPr bwMode="auto">
              <a:xfrm>
                <a:off x="2140" y="1225"/>
                <a:ext cx="1074" cy="265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4061" name="Rectangle 16"/>
              <p:cNvSpPr>
                <a:spLocks noChangeArrowheads="1"/>
              </p:cNvSpPr>
              <p:nvPr/>
            </p:nvSpPr>
            <p:spPr bwMode="auto">
              <a:xfrm>
                <a:off x="2416" y="1271"/>
                <a:ext cx="52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8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League</a:t>
                </a:r>
                <a:endParaRPr lang="en-US" altLang="fr-FR" b="0"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44056" name="Rectangle 18"/>
            <p:cNvSpPr>
              <a:spLocks noChangeArrowheads="1"/>
            </p:cNvSpPr>
            <p:nvPr/>
          </p:nvSpPr>
          <p:spPr bwMode="auto">
            <a:xfrm>
              <a:off x="2140" y="2020"/>
              <a:ext cx="1074" cy="265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4057" name="Rectangle 19"/>
            <p:cNvSpPr>
              <a:spLocks noChangeArrowheads="1"/>
            </p:cNvSpPr>
            <p:nvPr/>
          </p:nvSpPr>
          <p:spPr bwMode="auto">
            <a:xfrm>
              <a:off x="2476" y="2086"/>
              <a:ext cx="52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8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</a:t>
              </a:r>
              <a:endParaRPr lang="en-US" altLang="fr-FR" b="0">
                <a:latin typeface="Lucida Sans Typewriter" panose="020B0509030504030204" pitchFamily="49" charset="0"/>
              </a:endParaRPr>
            </a:p>
          </p:txBody>
        </p:sp>
        <p:sp>
          <p:nvSpPr>
            <p:cNvPr id="44058" name="Rectangle 29"/>
            <p:cNvSpPr>
              <a:spLocks noChangeArrowheads="1"/>
            </p:cNvSpPr>
            <p:nvPr/>
          </p:nvSpPr>
          <p:spPr bwMode="auto">
            <a:xfrm>
              <a:off x="2573" y="1900"/>
              <a:ext cx="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8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b="0">
                <a:latin typeface="Lucida Sans Typewriter" panose="020B0509030504030204" pitchFamily="49" charset="0"/>
              </a:endParaRPr>
            </a:p>
          </p:txBody>
        </p:sp>
        <p:sp>
          <p:nvSpPr>
            <p:cNvPr id="44059" name="Rectangle 30"/>
            <p:cNvSpPr>
              <a:spLocks noChangeArrowheads="1"/>
            </p:cNvSpPr>
            <p:nvPr/>
          </p:nvSpPr>
          <p:spPr bwMode="auto">
            <a:xfrm>
              <a:off x="2573" y="1510"/>
              <a:ext cx="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8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b="0">
                <a:latin typeface="Lucida Sans Typewriter" panose="020B0509030504030204" pitchFamily="49" charset="0"/>
              </a:endParaRPr>
            </a:p>
          </p:txBody>
        </p:sp>
      </p:grpSp>
      <p:sp>
        <p:nvSpPr>
          <p:cNvPr id="141351" name="Bogen 39"/>
          <p:cNvSpPr>
            <a:spLocks/>
          </p:cNvSpPr>
          <p:nvPr/>
        </p:nvSpPr>
        <p:spPr bwMode="auto">
          <a:xfrm rot="18900000" flipH="1">
            <a:off x="2986088" y="2384425"/>
            <a:ext cx="762000" cy="762000"/>
          </a:xfrm>
          <a:custGeom>
            <a:avLst/>
            <a:gdLst>
              <a:gd name="T0" fmla="*/ 0 w 21600"/>
              <a:gd name="T1" fmla="*/ 0 h 21600"/>
              <a:gd name="T2" fmla="*/ 948325475 w 21600"/>
              <a:gd name="T3" fmla="*/ 948325475 h 21600"/>
              <a:gd name="T4" fmla="*/ 0 w 21600"/>
              <a:gd name="T5" fmla="*/ 948325475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8F8F8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grpSp>
        <p:nvGrpSpPr>
          <p:cNvPr id="8" name="Group 51"/>
          <p:cNvGrpSpPr>
            <a:grpSpLocks/>
          </p:cNvGrpSpPr>
          <p:nvPr/>
        </p:nvGrpSpPr>
        <p:grpSpPr bwMode="auto">
          <a:xfrm>
            <a:off x="608013" y="1944688"/>
            <a:ext cx="1704975" cy="931862"/>
            <a:chOff x="383" y="1225"/>
            <a:chExt cx="1074" cy="587"/>
          </a:xfrm>
        </p:grpSpPr>
        <p:grpSp>
          <p:nvGrpSpPr>
            <p:cNvPr id="44046" name="Group 42"/>
            <p:cNvGrpSpPr>
              <a:grpSpLocks/>
            </p:cNvGrpSpPr>
            <p:nvPr/>
          </p:nvGrpSpPr>
          <p:grpSpPr bwMode="auto">
            <a:xfrm>
              <a:off x="384" y="1225"/>
              <a:ext cx="1073" cy="265"/>
              <a:chOff x="356" y="1225"/>
              <a:chExt cx="1073" cy="265"/>
            </a:xfrm>
          </p:grpSpPr>
          <p:sp>
            <p:nvSpPr>
              <p:cNvPr id="44052" name="Rectangle 4"/>
              <p:cNvSpPr>
                <a:spLocks noChangeArrowheads="1"/>
              </p:cNvSpPr>
              <p:nvPr/>
            </p:nvSpPr>
            <p:spPr bwMode="auto">
              <a:xfrm>
                <a:off x="356" y="1225"/>
                <a:ext cx="1073" cy="265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4053" name="Rectangle 5"/>
              <p:cNvSpPr>
                <a:spLocks noChangeArrowheads="1"/>
              </p:cNvSpPr>
              <p:nvPr/>
            </p:nvSpPr>
            <p:spPr bwMode="auto">
              <a:xfrm>
                <a:off x="458" y="1271"/>
                <a:ext cx="86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8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Tournament</a:t>
                </a:r>
                <a:endParaRPr lang="en-US" altLang="fr-FR" b="0"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44047" name="Group 6"/>
            <p:cNvGrpSpPr>
              <a:grpSpLocks/>
            </p:cNvGrpSpPr>
            <p:nvPr/>
          </p:nvGrpSpPr>
          <p:grpSpPr bwMode="auto">
            <a:xfrm>
              <a:off x="383" y="1488"/>
              <a:ext cx="1073" cy="324"/>
              <a:chOff x="740" y="1773"/>
              <a:chExt cx="1073" cy="265"/>
            </a:xfrm>
          </p:grpSpPr>
          <p:grpSp>
            <p:nvGrpSpPr>
              <p:cNvPr id="44048" name="Group 7"/>
              <p:cNvGrpSpPr>
                <a:grpSpLocks/>
              </p:cNvGrpSpPr>
              <p:nvPr/>
            </p:nvGrpSpPr>
            <p:grpSpPr bwMode="auto">
              <a:xfrm>
                <a:off x="786" y="1783"/>
                <a:ext cx="868" cy="253"/>
                <a:chOff x="786" y="1793"/>
                <a:chExt cx="868" cy="253"/>
              </a:xfrm>
            </p:grpSpPr>
            <p:sp>
              <p:nvSpPr>
                <p:cNvPr id="44050" name="Rectangle 8"/>
                <p:cNvSpPr>
                  <a:spLocks noChangeArrowheads="1"/>
                </p:cNvSpPr>
                <p:nvPr/>
              </p:nvSpPr>
              <p:spPr bwMode="auto">
                <a:xfrm>
                  <a:off x="786" y="1793"/>
                  <a:ext cx="868" cy="1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8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start:Date</a:t>
                  </a:r>
                  <a:endParaRPr lang="en-US" altLang="fr-FR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44051" name="Rectangle 9"/>
                <p:cNvSpPr>
                  <a:spLocks noChangeArrowheads="1"/>
                </p:cNvSpPr>
                <p:nvPr/>
              </p:nvSpPr>
              <p:spPr bwMode="auto">
                <a:xfrm>
                  <a:off x="786" y="1905"/>
                  <a:ext cx="694" cy="1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8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end:Date</a:t>
                  </a:r>
                  <a:endParaRPr lang="en-US" altLang="fr-FR" b="0">
                    <a:latin typeface="Lucida Sans Typewriter" panose="020B0509030504030204" pitchFamily="49" charset="0"/>
                  </a:endParaRPr>
                </a:p>
              </p:txBody>
            </p:sp>
          </p:grpSp>
          <p:sp>
            <p:nvSpPr>
              <p:cNvPr id="44049" name="Rectangle 10"/>
              <p:cNvSpPr>
                <a:spLocks noChangeArrowheads="1"/>
              </p:cNvSpPr>
              <p:nvPr/>
            </p:nvSpPr>
            <p:spPr bwMode="auto">
              <a:xfrm>
                <a:off x="740" y="1773"/>
                <a:ext cx="1073" cy="265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</p:grpSp>
      </p:grpSp>
      <p:sp>
        <p:nvSpPr>
          <p:cNvPr id="141352" name="Bogen 40"/>
          <p:cNvSpPr>
            <a:spLocks/>
          </p:cNvSpPr>
          <p:nvPr/>
        </p:nvSpPr>
        <p:spPr bwMode="auto">
          <a:xfrm rot="18900000" flipH="1">
            <a:off x="304800" y="2195513"/>
            <a:ext cx="381000" cy="381000"/>
          </a:xfrm>
          <a:custGeom>
            <a:avLst/>
            <a:gdLst>
              <a:gd name="T0" fmla="*/ 0 w 21600"/>
              <a:gd name="T1" fmla="*/ 0 h 21600"/>
              <a:gd name="T2" fmla="*/ 118540689 w 21600"/>
              <a:gd name="T3" fmla="*/ 118540689 h 21600"/>
              <a:gd name="T4" fmla="*/ 0 w 21600"/>
              <a:gd name="T5" fmla="*/ 11854068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8F8F8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1353" name="Text Box 41"/>
          <p:cNvSpPr txBox="1">
            <a:spLocks noChangeArrowheads="1"/>
          </p:cNvSpPr>
          <p:nvPr/>
        </p:nvSpPr>
        <p:spPr bwMode="auto">
          <a:xfrm>
            <a:off x="323850" y="5167313"/>
            <a:ext cx="8459788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fr-FR" b="0" i="1">
                <a:solidFill>
                  <a:schemeClr val="tx2"/>
                </a:solidFill>
                <a:latin typeface="Verdana" panose="020B0604030504040204" pitchFamily="34" charset="0"/>
              </a:rPr>
              <a:t>Any constraint for an arbitrary UML class diagram can</a:t>
            </a:r>
          </a:p>
          <a:p>
            <a:pPr algn="ctr"/>
            <a:r>
              <a:rPr lang="en-US" altLang="fr-FR" b="0" i="1">
                <a:solidFill>
                  <a:schemeClr val="tx2"/>
                </a:solidFill>
                <a:latin typeface="Verdana" panose="020B0604030504040204" pitchFamily="34" charset="0"/>
              </a:rPr>
              <a:t>be specified using only a combination of these </a:t>
            </a:r>
          </a:p>
          <a:p>
            <a:pPr algn="ctr"/>
            <a:r>
              <a:rPr lang="en-US" altLang="fr-FR" b="0" i="1">
                <a:solidFill>
                  <a:schemeClr val="tx2"/>
                </a:solidFill>
                <a:latin typeface="Verdana" panose="020B0604030504040204" pitchFamily="34" charset="0"/>
              </a:rPr>
              <a:t>3 navigation types!</a:t>
            </a:r>
          </a:p>
        </p:txBody>
      </p:sp>
      <p:sp>
        <p:nvSpPr>
          <p:cNvPr id="141362" name="Oval 50"/>
          <p:cNvSpPr>
            <a:spLocks noChangeArrowheads="1"/>
          </p:cNvSpPr>
          <p:nvPr/>
        </p:nvSpPr>
        <p:spPr bwMode="auto">
          <a:xfrm>
            <a:off x="0" y="1447800"/>
            <a:ext cx="2781300" cy="1863725"/>
          </a:xfrm>
          <a:prstGeom prst="ellipse">
            <a:avLst/>
          </a:prstGeom>
          <a:noFill/>
          <a:ln w="12700">
            <a:solidFill>
              <a:srgbClr val="C02E0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802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8" grpId="0" build="p" autoUpdateAnimBg="0"/>
      <p:bldP spid="141339" grpId="0" build="p" autoUpdateAnimBg="0"/>
      <p:bldP spid="141340" grpId="0" build="p" autoUpdateAnimBg="0"/>
      <p:bldP spid="141350" grpId="0" animBg="1"/>
      <p:bldP spid="141351" grpId="0" animBg="1"/>
      <p:bldP spid="141352" grpId="0" animBg="1"/>
      <p:bldP spid="141353" grpId="0" autoUpdateAnimBg="0"/>
      <p:bldP spid="1413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72937" y="-6350"/>
            <a:ext cx="7870825" cy="863600"/>
          </a:xfrm>
        </p:spPr>
        <p:txBody>
          <a:bodyPr/>
          <a:lstStyle/>
          <a:p>
            <a:r>
              <a:rPr lang="en-US" altLang="fr-FR" sz="3200" dirty="0">
                <a:ea typeface="ＭＳ Ｐゴシック" panose="020B0600070205080204" pitchFamily="34" charset="-128"/>
              </a:rPr>
              <a:t>Specifying the Model Constraints in OCL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46150"/>
            <a:ext cx="5359400" cy="6731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endParaRPr lang="en-US" altLang="fr-FR" sz="20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2000">
                <a:ea typeface="ＭＳ Ｐゴシック" panose="020B0600070205080204" pitchFamily="34" charset="-128"/>
              </a:rPr>
              <a:t>Local attribute navigation</a:t>
            </a:r>
          </a:p>
        </p:txBody>
      </p:sp>
      <p:grpSp>
        <p:nvGrpSpPr>
          <p:cNvPr id="46084" name="Group 4"/>
          <p:cNvGrpSpPr>
            <a:grpSpLocks/>
          </p:cNvGrpSpPr>
          <p:nvPr/>
        </p:nvGrpSpPr>
        <p:grpSpPr bwMode="auto">
          <a:xfrm>
            <a:off x="5094288" y="1247775"/>
            <a:ext cx="3935412" cy="4989513"/>
            <a:chOff x="1630" y="786"/>
            <a:chExt cx="2417" cy="3143"/>
          </a:xfrm>
        </p:grpSpPr>
        <p:sp>
          <p:nvSpPr>
            <p:cNvPr id="46099" name="Freeform 5"/>
            <p:cNvSpPr>
              <a:spLocks/>
            </p:cNvSpPr>
            <p:nvPr/>
          </p:nvSpPr>
          <p:spPr bwMode="auto">
            <a:xfrm>
              <a:off x="3142" y="1542"/>
              <a:ext cx="89" cy="193"/>
            </a:xfrm>
            <a:custGeom>
              <a:avLst/>
              <a:gdLst>
                <a:gd name="T0" fmla="*/ 0 w 89"/>
                <a:gd name="T1" fmla="*/ 89 h 193"/>
                <a:gd name="T2" fmla="*/ 45 w 89"/>
                <a:gd name="T3" fmla="*/ 0 h 193"/>
                <a:gd name="T4" fmla="*/ 89 w 89"/>
                <a:gd name="T5" fmla="*/ 89 h 193"/>
                <a:gd name="T6" fmla="*/ 45 w 89"/>
                <a:gd name="T7" fmla="*/ 193 h 193"/>
                <a:gd name="T8" fmla="*/ 0 w 89"/>
                <a:gd name="T9" fmla="*/ 89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193"/>
                <a:gd name="T17" fmla="*/ 89 w 89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193">
                  <a:moveTo>
                    <a:pt x="0" y="89"/>
                  </a:moveTo>
                  <a:lnTo>
                    <a:pt x="45" y="0"/>
                  </a:lnTo>
                  <a:lnTo>
                    <a:pt x="89" y="89"/>
                  </a:lnTo>
                  <a:lnTo>
                    <a:pt x="45" y="193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46100" name="Line 6"/>
            <p:cNvSpPr>
              <a:spLocks noChangeShapeType="1"/>
            </p:cNvSpPr>
            <p:nvPr/>
          </p:nvSpPr>
          <p:spPr bwMode="auto">
            <a:xfrm flipV="1">
              <a:off x="3187" y="1721"/>
              <a:ext cx="1" cy="34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6101" name="Rectangle 7"/>
            <p:cNvSpPr>
              <a:spLocks noChangeArrowheads="1"/>
            </p:cNvSpPr>
            <p:nvPr/>
          </p:nvSpPr>
          <p:spPr bwMode="auto">
            <a:xfrm>
              <a:off x="1776" y="3312"/>
              <a:ext cx="4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02" name="Rectangle 8"/>
            <p:cNvSpPr>
              <a:spLocks noChangeArrowheads="1"/>
            </p:cNvSpPr>
            <p:nvPr/>
          </p:nvSpPr>
          <p:spPr bwMode="auto">
            <a:xfrm>
              <a:off x="3082" y="1950"/>
              <a:ext cx="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03" name="Rectangle 9"/>
            <p:cNvSpPr>
              <a:spLocks noChangeArrowheads="1"/>
            </p:cNvSpPr>
            <p:nvPr/>
          </p:nvSpPr>
          <p:spPr bwMode="auto">
            <a:xfrm>
              <a:off x="3249" y="1950"/>
              <a:ext cx="77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tournaments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04" name="Rectangle 10"/>
            <p:cNvSpPr>
              <a:spLocks noChangeArrowheads="1"/>
            </p:cNvSpPr>
            <p:nvPr/>
          </p:nvSpPr>
          <p:spPr bwMode="auto">
            <a:xfrm>
              <a:off x="2514" y="1772"/>
              <a:ext cx="63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{ordered}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46105" name="Group 11"/>
            <p:cNvGrpSpPr>
              <a:grpSpLocks/>
            </p:cNvGrpSpPr>
            <p:nvPr/>
          </p:nvGrpSpPr>
          <p:grpSpPr bwMode="auto">
            <a:xfrm>
              <a:off x="2342" y="2076"/>
              <a:ext cx="1690" cy="742"/>
              <a:chOff x="2342" y="2076"/>
              <a:chExt cx="1690" cy="742"/>
            </a:xfrm>
          </p:grpSpPr>
          <p:grpSp>
            <p:nvGrpSpPr>
              <p:cNvPr id="46134" name="Group 12"/>
              <p:cNvGrpSpPr>
                <a:grpSpLocks/>
              </p:cNvGrpSpPr>
              <p:nvPr/>
            </p:nvGrpSpPr>
            <p:grpSpPr bwMode="auto">
              <a:xfrm>
                <a:off x="2342" y="2076"/>
                <a:ext cx="1690" cy="267"/>
                <a:chOff x="2342" y="2106"/>
                <a:chExt cx="1690" cy="267"/>
              </a:xfrm>
            </p:grpSpPr>
            <p:sp>
              <p:nvSpPr>
                <p:cNvPr id="46143" name="Rectangle 13"/>
                <p:cNvSpPr>
                  <a:spLocks noChangeArrowheads="1"/>
                </p:cNvSpPr>
                <p:nvPr/>
              </p:nvSpPr>
              <p:spPr bwMode="auto">
                <a:xfrm>
                  <a:off x="2342" y="2106"/>
                  <a:ext cx="1690" cy="267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46144" name="Rectangle 14"/>
                <p:cNvSpPr>
                  <a:spLocks noChangeArrowheads="1"/>
                </p:cNvSpPr>
                <p:nvPr/>
              </p:nvSpPr>
              <p:spPr bwMode="auto">
                <a:xfrm>
                  <a:off x="2823" y="2168"/>
                  <a:ext cx="705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Tournament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  <p:grpSp>
            <p:nvGrpSpPr>
              <p:cNvPr id="46135" name="Group 15"/>
              <p:cNvGrpSpPr>
                <a:grpSpLocks/>
              </p:cNvGrpSpPr>
              <p:nvPr/>
            </p:nvGrpSpPr>
            <p:grpSpPr bwMode="auto">
              <a:xfrm>
                <a:off x="2342" y="2342"/>
                <a:ext cx="1690" cy="281"/>
                <a:chOff x="2342" y="2360"/>
                <a:chExt cx="1690" cy="281"/>
              </a:xfrm>
            </p:grpSpPr>
            <p:sp>
              <p:nvSpPr>
                <p:cNvPr id="46139" name="Rectangle 16"/>
                <p:cNvSpPr>
                  <a:spLocks noChangeArrowheads="1"/>
                </p:cNvSpPr>
                <p:nvPr/>
              </p:nvSpPr>
              <p:spPr bwMode="auto">
                <a:xfrm>
                  <a:off x="2342" y="2360"/>
                  <a:ext cx="1690" cy="281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grpSp>
              <p:nvGrpSpPr>
                <p:cNvPr id="46140" name="Group 17"/>
                <p:cNvGrpSpPr>
                  <a:grpSpLocks/>
                </p:cNvGrpSpPr>
                <p:nvPr/>
              </p:nvGrpSpPr>
              <p:grpSpPr bwMode="auto">
                <a:xfrm>
                  <a:off x="2400" y="2370"/>
                  <a:ext cx="775" cy="263"/>
                  <a:chOff x="2400" y="2380"/>
                  <a:chExt cx="775" cy="263"/>
                </a:xfrm>
              </p:grpSpPr>
              <p:sp>
                <p:nvSpPr>
                  <p:cNvPr id="46141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2380"/>
                    <a:ext cx="775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+start:Date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  <p:sp>
                <p:nvSpPr>
                  <p:cNvPr id="4614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2499"/>
                    <a:ext cx="635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+end:Date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</p:grpSp>
          </p:grpSp>
          <p:grpSp>
            <p:nvGrpSpPr>
              <p:cNvPr id="46136" name="Group 20"/>
              <p:cNvGrpSpPr>
                <a:grpSpLocks/>
              </p:cNvGrpSpPr>
              <p:nvPr/>
            </p:nvGrpSpPr>
            <p:grpSpPr bwMode="auto">
              <a:xfrm>
                <a:off x="2342" y="2626"/>
                <a:ext cx="1690" cy="192"/>
                <a:chOff x="2342" y="2626"/>
                <a:chExt cx="1690" cy="192"/>
              </a:xfrm>
            </p:grpSpPr>
            <p:sp>
              <p:nvSpPr>
                <p:cNvPr id="461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342" y="2626"/>
                  <a:ext cx="1690" cy="19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46138" name="Rectangle 22"/>
                <p:cNvSpPr>
                  <a:spLocks noChangeArrowheads="1"/>
                </p:cNvSpPr>
                <p:nvPr/>
              </p:nvSpPr>
              <p:spPr bwMode="auto">
                <a:xfrm>
                  <a:off x="2406" y="2650"/>
                  <a:ext cx="1622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+acceptPlayer(p:Player)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46106" name="Rectangle 23"/>
            <p:cNvSpPr>
              <a:spLocks noChangeArrowheads="1"/>
            </p:cNvSpPr>
            <p:nvPr/>
          </p:nvSpPr>
          <p:spPr bwMode="auto">
            <a:xfrm>
              <a:off x="2255" y="986"/>
              <a:ext cx="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46107" name="Group 24"/>
            <p:cNvGrpSpPr>
              <a:grpSpLocks/>
            </p:cNvGrpSpPr>
            <p:nvPr/>
          </p:nvGrpSpPr>
          <p:grpSpPr bwMode="auto">
            <a:xfrm>
              <a:off x="2356" y="786"/>
              <a:ext cx="1691" cy="757"/>
              <a:chOff x="2356" y="786"/>
              <a:chExt cx="1691" cy="757"/>
            </a:xfrm>
          </p:grpSpPr>
          <p:grpSp>
            <p:nvGrpSpPr>
              <p:cNvPr id="46123" name="Group 25"/>
              <p:cNvGrpSpPr>
                <a:grpSpLocks/>
              </p:cNvGrpSpPr>
              <p:nvPr/>
            </p:nvGrpSpPr>
            <p:grpSpPr bwMode="auto">
              <a:xfrm>
                <a:off x="2356" y="786"/>
                <a:ext cx="1691" cy="282"/>
                <a:chOff x="2356" y="816"/>
                <a:chExt cx="1691" cy="282"/>
              </a:xfrm>
            </p:grpSpPr>
            <p:sp>
              <p:nvSpPr>
                <p:cNvPr id="46132" name="Rectangle 26"/>
                <p:cNvSpPr>
                  <a:spLocks noChangeArrowheads="1"/>
                </p:cNvSpPr>
                <p:nvPr/>
              </p:nvSpPr>
              <p:spPr bwMode="auto">
                <a:xfrm>
                  <a:off x="2356" y="816"/>
                  <a:ext cx="1691" cy="28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46133" name="Rectangle 27"/>
                <p:cNvSpPr>
                  <a:spLocks noChangeArrowheads="1"/>
                </p:cNvSpPr>
                <p:nvPr/>
              </p:nvSpPr>
              <p:spPr bwMode="auto">
                <a:xfrm>
                  <a:off x="2987" y="885"/>
                  <a:ext cx="423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League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  <p:grpSp>
            <p:nvGrpSpPr>
              <p:cNvPr id="46124" name="Group 28"/>
              <p:cNvGrpSpPr>
                <a:grpSpLocks/>
              </p:cNvGrpSpPr>
              <p:nvPr/>
            </p:nvGrpSpPr>
            <p:grpSpPr bwMode="auto">
              <a:xfrm>
                <a:off x="2356" y="1068"/>
                <a:ext cx="1691" cy="282"/>
                <a:chOff x="2356" y="1084"/>
                <a:chExt cx="1691" cy="282"/>
              </a:xfrm>
            </p:grpSpPr>
            <p:sp>
              <p:nvSpPr>
                <p:cNvPr id="46128" name="Rectangle 29"/>
                <p:cNvSpPr>
                  <a:spLocks noChangeArrowheads="1"/>
                </p:cNvSpPr>
                <p:nvPr/>
              </p:nvSpPr>
              <p:spPr bwMode="auto">
                <a:xfrm>
                  <a:off x="2356" y="1084"/>
                  <a:ext cx="1691" cy="28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grpSp>
              <p:nvGrpSpPr>
                <p:cNvPr id="46129" name="Group 30"/>
                <p:cNvGrpSpPr>
                  <a:grpSpLocks/>
                </p:cNvGrpSpPr>
                <p:nvPr/>
              </p:nvGrpSpPr>
              <p:grpSpPr bwMode="auto">
                <a:xfrm>
                  <a:off x="2407" y="1094"/>
                  <a:ext cx="775" cy="262"/>
                  <a:chOff x="2407" y="1105"/>
                  <a:chExt cx="775" cy="262"/>
                </a:xfrm>
              </p:grpSpPr>
              <p:sp>
                <p:nvSpPr>
                  <p:cNvPr id="46130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407" y="1105"/>
                    <a:ext cx="775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+start:Date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  <p:sp>
                <p:nvSpPr>
                  <p:cNvPr id="46131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1223"/>
                    <a:ext cx="635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+end:Date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</p:grpSp>
          </p:grpSp>
          <p:grpSp>
            <p:nvGrpSpPr>
              <p:cNvPr id="46125" name="Group 33"/>
              <p:cNvGrpSpPr>
                <a:grpSpLocks/>
              </p:cNvGrpSpPr>
              <p:nvPr/>
            </p:nvGrpSpPr>
            <p:grpSpPr bwMode="auto">
              <a:xfrm>
                <a:off x="2356" y="1350"/>
                <a:ext cx="1691" cy="193"/>
                <a:chOff x="2356" y="1350"/>
                <a:chExt cx="1691" cy="193"/>
              </a:xfrm>
            </p:grpSpPr>
            <p:sp>
              <p:nvSpPr>
                <p:cNvPr id="46126" name="Rectangle 34"/>
                <p:cNvSpPr>
                  <a:spLocks noChangeArrowheads="1"/>
                </p:cNvSpPr>
                <p:nvPr/>
              </p:nvSpPr>
              <p:spPr bwMode="auto">
                <a:xfrm>
                  <a:off x="2356" y="1350"/>
                  <a:ext cx="1691" cy="193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46127" name="Rectangle 35"/>
                <p:cNvSpPr>
                  <a:spLocks noChangeArrowheads="1"/>
                </p:cNvSpPr>
                <p:nvPr/>
              </p:nvSpPr>
              <p:spPr bwMode="auto">
                <a:xfrm>
                  <a:off x="2407" y="1374"/>
                  <a:ext cx="134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+getActivePlayers()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46108" name="Rectangle 36"/>
            <p:cNvSpPr>
              <a:spLocks noChangeArrowheads="1"/>
            </p:cNvSpPr>
            <p:nvPr/>
          </p:nvSpPr>
          <p:spPr bwMode="auto">
            <a:xfrm>
              <a:off x="2255" y="3537"/>
              <a:ext cx="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46109" name="Group 37"/>
            <p:cNvGrpSpPr>
              <a:grpSpLocks/>
            </p:cNvGrpSpPr>
            <p:nvPr/>
          </p:nvGrpSpPr>
          <p:grpSpPr bwMode="auto">
            <a:xfrm>
              <a:off x="2342" y="3382"/>
              <a:ext cx="1690" cy="267"/>
              <a:chOff x="2342" y="3382"/>
              <a:chExt cx="1690" cy="267"/>
            </a:xfrm>
          </p:grpSpPr>
          <p:sp>
            <p:nvSpPr>
              <p:cNvPr id="46121" name="Rectangle 38"/>
              <p:cNvSpPr>
                <a:spLocks noChangeArrowheads="1"/>
              </p:cNvSpPr>
              <p:nvPr/>
            </p:nvSpPr>
            <p:spPr bwMode="auto">
              <a:xfrm>
                <a:off x="2342" y="3382"/>
                <a:ext cx="1690" cy="267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46122" name="Rectangle 39"/>
              <p:cNvSpPr>
                <a:spLocks noChangeArrowheads="1"/>
              </p:cNvSpPr>
              <p:nvPr/>
            </p:nvSpPr>
            <p:spPr bwMode="auto">
              <a:xfrm>
                <a:off x="2973" y="3444"/>
                <a:ext cx="42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Player</a:t>
                </a:r>
                <a:endParaRPr lang="en-US" altLang="fr-FR" sz="1800" b="0"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46110" name="Group 40"/>
            <p:cNvGrpSpPr>
              <a:grpSpLocks/>
            </p:cNvGrpSpPr>
            <p:nvPr/>
          </p:nvGrpSpPr>
          <p:grpSpPr bwMode="auto">
            <a:xfrm>
              <a:off x="2342" y="3647"/>
              <a:ext cx="1690" cy="282"/>
              <a:chOff x="2342" y="3635"/>
              <a:chExt cx="1690" cy="282"/>
            </a:xfrm>
          </p:grpSpPr>
          <p:sp>
            <p:nvSpPr>
              <p:cNvPr id="46117" name="Rectangle 41"/>
              <p:cNvSpPr>
                <a:spLocks noChangeArrowheads="1"/>
              </p:cNvSpPr>
              <p:nvPr/>
            </p:nvSpPr>
            <p:spPr bwMode="auto">
              <a:xfrm>
                <a:off x="2342" y="3635"/>
                <a:ext cx="1690" cy="282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grpSp>
            <p:nvGrpSpPr>
              <p:cNvPr id="46118" name="Group 42"/>
              <p:cNvGrpSpPr>
                <a:grpSpLocks/>
              </p:cNvGrpSpPr>
              <p:nvPr/>
            </p:nvGrpSpPr>
            <p:grpSpPr bwMode="auto">
              <a:xfrm>
                <a:off x="2395" y="3645"/>
                <a:ext cx="916" cy="262"/>
                <a:chOff x="2395" y="3656"/>
                <a:chExt cx="916" cy="262"/>
              </a:xfrm>
            </p:grpSpPr>
            <p:sp>
              <p:nvSpPr>
                <p:cNvPr id="46119" name="Rectangle 43"/>
                <p:cNvSpPr>
                  <a:spLocks noChangeArrowheads="1"/>
                </p:cNvSpPr>
                <p:nvPr/>
              </p:nvSpPr>
              <p:spPr bwMode="auto">
                <a:xfrm>
                  <a:off x="2396" y="3656"/>
                  <a:ext cx="84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+name:String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46120" name="Rectangle 44"/>
                <p:cNvSpPr>
                  <a:spLocks noChangeArrowheads="1"/>
                </p:cNvSpPr>
                <p:nvPr/>
              </p:nvSpPr>
              <p:spPr bwMode="auto">
                <a:xfrm>
                  <a:off x="2395" y="3774"/>
                  <a:ext cx="91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+email:String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46111" name="Line 45"/>
            <p:cNvSpPr>
              <a:spLocks noChangeShapeType="1"/>
            </p:cNvSpPr>
            <p:nvPr/>
          </p:nvSpPr>
          <p:spPr bwMode="auto">
            <a:xfrm flipV="1">
              <a:off x="3187" y="2822"/>
              <a:ext cx="1" cy="56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6112" name="Rectangle 46"/>
            <p:cNvSpPr>
              <a:spLocks noChangeArrowheads="1"/>
            </p:cNvSpPr>
            <p:nvPr/>
          </p:nvSpPr>
          <p:spPr bwMode="auto">
            <a:xfrm>
              <a:off x="3082" y="3226"/>
              <a:ext cx="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13" name="Rectangle 47"/>
            <p:cNvSpPr>
              <a:spLocks noChangeArrowheads="1"/>
            </p:cNvSpPr>
            <p:nvPr/>
          </p:nvSpPr>
          <p:spPr bwMode="auto">
            <a:xfrm>
              <a:off x="3249" y="3226"/>
              <a:ext cx="4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14" name="Rectangle 48"/>
            <p:cNvSpPr>
              <a:spLocks noChangeArrowheads="1"/>
            </p:cNvSpPr>
            <p:nvPr/>
          </p:nvSpPr>
          <p:spPr bwMode="auto">
            <a:xfrm>
              <a:off x="3249" y="2840"/>
              <a:ext cx="77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tournaments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15" name="Rectangle 49"/>
            <p:cNvSpPr>
              <a:spLocks noChangeArrowheads="1"/>
            </p:cNvSpPr>
            <p:nvPr/>
          </p:nvSpPr>
          <p:spPr bwMode="auto">
            <a:xfrm>
              <a:off x="3082" y="2840"/>
              <a:ext cx="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46116" name="Freeform 50"/>
            <p:cNvSpPr>
              <a:spLocks/>
            </p:cNvSpPr>
            <p:nvPr/>
          </p:nvSpPr>
          <p:spPr bwMode="auto">
            <a:xfrm>
              <a:off x="1630" y="949"/>
              <a:ext cx="726" cy="2552"/>
            </a:xfrm>
            <a:custGeom>
              <a:avLst/>
              <a:gdLst>
                <a:gd name="T0" fmla="*/ 726 w 726"/>
                <a:gd name="T1" fmla="*/ 0 h 2552"/>
                <a:gd name="T2" fmla="*/ 0 w 726"/>
                <a:gd name="T3" fmla="*/ 0 h 2552"/>
                <a:gd name="T4" fmla="*/ 0 w 726"/>
                <a:gd name="T5" fmla="*/ 2552 h 2552"/>
                <a:gd name="T6" fmla="*/ 712 w 726"/>
                <a:gd name="T7" fmla="*/ 2552 h 25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2552"/>
                <a:gd name="T14" fmla="*/ 726 w 726"/>
                <a:gd name="T15" fmla="*/ 2552 h 25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2552">
                  <a:moveTo>
                    <a:pt x="726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712" y="2552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</p:grpSp>
      <p:sp>
        <p:nvSpPr>
          <p:cNvPr id="142387" name="Oval 51"/>
          <p:cNvSpPr>
            <a:spLocks noChangeArrowheads="1"/>
          </p:cNvSpPr>
          <p:nvPr/>
        </p:nvSpPr>
        <p:spPr bwMode="auto">
          <a:xfrm>
            <a:off x="6342063" y="3675063"/>
            <a:ext cx="1557337" cy="527050"/>
          </a:xfrm>
          <a:prstGeom prst="ellipse">
            <a:avLst/>
          </a:prstGeom>
          <a:noFill/>
          <a:ln w="38100">
            <a:solidFill>
              <a:srgbClr val="C02E0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96" name="Oval 60"/>
          <p:cNvSpPr>
            <a:spLocks noChangeArrowheads="1"/>
          </p:cNvSpPr>
          <p:nvPr/>
        </p:nvSpPr>
        <p:spPr bwMode="auto">
          <a:xfrm>
            <a:off x="7162800" y="1143000"/>
            <a:ext cx="1143000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97" name="Oval 61"/>
          <p:cNvSpPr>
            <a:spLocks noChangeArrowheads="1"/>
          </p:cNvSpPr>
          <p:nvPr/>
        </p:nvSpPr>
        <p:spPr bwMode="auto">
          <a:xfrm>
            <a:off x="5229225" y="5105400"/>
            <a:ext cx="1143000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99" name="Oval 63"/>
          <p:cNvSpPr>
            <a:spLocks noChangeArrowheads="1"/>
          </p:cNvSpPr>
          <p:nvPr/>
        </p:nvSpPr>
        <p:spPr bwMode="auto">
          <a:xfrm>
            <a:off x="5981700" y="5410200"/>
            <a:ext cx="533400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402" name="Freeform 66"/>
          <p:cNvSpPr>
            <a:spLocks/>
          </p:cNvSpPr>
          <p:nvPr/>
        </p:nvSpPr>
        <p:spPr bwMode="auto">
          <a:xfrm>
            <a:off x="4737100" y="863600"/>
            <a:ext cx="2692400" cy="4318000"/>
          </a:xfrm>
          <a:custGeom>
            <a:avLst/>
            <a:gdLst>
              <a:gd name="T0" fmla="*/ 2147483647 w 1696"/>
              <a:gd name="T1" fmla="*/ 564515000 h 2720"/>
              <a:gd name="T2" fmla="*/ 2147483647 w 1696"/>
              <a:gd name="T3" fmla="*/ 443547500 h 2720"/>
              <a:gd name="T4" fmla="*/ 2147483647 w 1696"/>
              <a:gd name="T5" fmla="*/ 201612500 h 2720"/>
              <a:gd name="T6" fmla="*/ 705643750 w 1696"/>
              <a:gd name="T7" fmla="*/ 685482500 h 2720"/>
              <a:gd name="T8" fmla="*/ 100806250 w 1696"/>
              <a:gd name="T9" fmla="*/ 2147483647 h 2720"/>
              <a:gd name="T10" fmla="*/ 1310481250 w 1696"/>
              <a:gd name="T11" fmla="*/ 2147483647 h 27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696"/>
              <a:gd name="T19" fmla="*/ 0 h 2720"/>
              <a:gd name="T20" fmla="*/ 1696 w 1696"/>
              <a:gd name="T21" fmla="*/ 2720 h 27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696" h="2720">
                <a:moveTo>
                  <a:pt x="1672" y="224"/>
                </a:moveTo>
                <a:cubicBezTo>
                  <a:pt x="1684" y="212"/>
                  <a:pt x="1696" y="200"/>
                  <a:pt x="1576" y="176"/>
                </a:cubicBezTo>
                <a:cubicBezTo>
                  <a:pt x="1456" y="152"/>
                  <a:pt x="1168" y="64"/>
                  <a:pt x="952" y="80"/>
                </a:cubicBezTo>
                <a:cubicBezTo>
                  <a:pt x="736" y="96"/>
                  <a:pt x="432" y="0"/>
                  <a:pt x="280" y="272"/>
                </a:cubicBezTo>
                <a:cubicBezTo>
                  <a:pt x="128" y="544"/>
                  <a:pt x="0" y="1304"/>
                  <a:pt x="40" y="1712"/>
                </a:cubicBezTo>
                <a:cubicBezTo>
                  <a:pt x="80" y="2120"/>
                  <a:pt x="440" y="2552"/>
                  <a:pt x="520" y="2720"/>
                </a:cubicBezTo>
              </a:path>
            </a:pathLst>
          </a:custGeom>
          <a:noFill/>
          <a:ln w="57150">
            <a:solidFill>
              <a:srgbClr val="0005C5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403" name="Rectangle 67"/>
          <p:cNvSpPr>
            <a:spLocks noChangeArrowheads="1"/>
          </p:cNvSpPr>
          <p:nvPr/>
        </p:nvSpPr>
        <p:spPr bwMode="auto">
          <a:xfrm>
            <a:off x="152400" y="2552700"/>
            <a:ext cx="5359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457200" indent="-4572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2000" b="0">
                <a:latin typeface="Verdana" panose="020B0604030504040204" pitchFamily="34" charset="0"/>
              </a:rPr>
              <a:t>Directly related class navigation</a:t>
            </a:r>
          </a:p>
        </p:txBody>
      </p:sp>
      <p:sp>
        <p:nvSpPr>
          <p:cNvPr id="142406" name="Rectangle 70"/>
          <p:cNvSpPr>
            <a:spLocks noChangeArrowheads="1"/>
          </p:cNvSpPr>
          <p:nvPr/>
        </p:nvSpPr>
        <p:spPr bwMode="auto">
          <a:xfrm>
            <a:off x="177800" y="1314450"/>
            <a:ext cx="53594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457200" indent="-4572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838200" indent="-3810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endParaRPr lang="en-US" altLang="fr-FR" sz="2000" b="0">
              <a:latin typeface="Lucida Sans Typewriter" panose="020B0509030504030204" pitchFamily="49" charset="0"/>
            </a:endParaRPr>
          </a:p>
          <a:p>
            <a:pPr lvl="1">
              <a:lnSpc>
                <a:spcPct val="80000"/>
              </a:lnSpc>
            </a:pPr>
            <a:r>
              <a:rPr lang="en-US" altLang="fr-FR" sz="2000" b="0">
                <a:latin typeface="Lucida Sans Typewriter" panose="020B0509030504030204" pitchFamily="49" charset="0"/>
              </a:rPr>
              <a:t>context </a:t>
            </a:r>
            <a:r>
              <a:rPr lang="en-US" altLang="fr-FR" sz="2000">
                <a:latin typeface="Lucida Sans Typewriter" panose="020B0509030504030204" pitchFamily="49" charset="0"/>
              </a:rPr>
              <a:t>Tournament</a:t>
            </a:r>
            <a:r>
              <a:rPr lang="en-US" altLang="fr-FR" sz="2000" b="0">
                <a:latin typeface="Lucida Sans Typewriter" panose="020B0509030504030204" pitchFamily="49" charset="0"/>
              </a:rPr>
              <a:t> inv:</a:t>
            </a:r>
          </a:p>
          <a:p>
            <a:pPr lvl="1">
              <a:lnSpc>
                <a:spcPct val="80000"/>
              </a:lnSpc>
            </a:pPr>
            <a:r>
              <a:rPr lang="en-US" altLang="fr-FR" sz="2000" b="0">
                <a:latin typeface="Lucida Sans Typewriter" panose="020B0509030504030204" pitchFamily="49" charset="0"/>
              </a:rPr>
              <a:t>	</a:t>
            </a:r>
            <a:r>
              <a:rPr lang="en-US" altLang="fr-FR" sz="2000">
                <a:latin typeface="Lucida Sans Typewriter" panose="020B0509030504030204" pitchFamily="49" charset="0"/>
              </a:rPr>
              <a:t>end - start &lt;= 7</a:t>
            </a:r>
          </a:p>
          <a:p>
            <a:pPr lvl="1">
              <a:lnSpc>
                <a:spcPct val="80000"/>
              </a:lnSpc>
            </a:pPr>
            <a:endParaRPr lang="en-US" altLang="fr-FR" sz="2000"/>
          </a:p>
        </p:txBody>
      </p:sp>
      <p:sp>
        <p:nvSpPr>
          <p:cNvPr id="142408" name="Rectangle 72"/>
          <p:cNvSpPr>
            <a:spLocks noChangeArrowheads="1"/>
          </p:cNvSpPr>
          <p:nvPr/>
        </p:nvSpPr>
        <p:spPr bwMode="auto">
          <a:xfrm>
            <a:off x="57150" y="3035300"/>
            <a:ext cx="578961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457200" indent="-4572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fr-FR" sz="2000" b="0">
                <a:latin typeface="Lucida Sans Typewriter" panose="020B0509030504030204" pitchFamily="49" charset="0"/>
              </a:rPr>
              <a:t> context</a:t>
            </a:r>
          </a:p>
          <a:p>
            <a:pPr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fr-FR" sz="2000" b="0">
                <a:latin typeface="Lucida Sans Typewriter" panose="020B0509030504030204" pitchFamily="49" charset="0"/>
              </a:rPr>
              <a:t>  </a:t>
            </a:r>
            <a:r>
              <a:rPr lang="en-US" altLang="fr-FR" sz="2000">
                <a:latin typeface="Lucida Sans Typewriter" panose="020B0509030504030204" pitchFamily="49" charset="0"/>
              </a:rPr>
              <a:t>Tournament::acceptPlayer(p)</a:t>
            </a:r>
            <a:r>
              <a:rPr lang="en-US" altLang="fr-FR" sz="2000" b="0">
                <a:latin typeface="Lucida Sans Typewriter" panose="020B0509030504030204" pitchFamily="49" charset="0"/>
              </a:rPr>
              <a:t> </a:t>
            </a:r>
            <a:br>
              <a:rPr lang="en-US" altLang="fr-FR" sz="2000" b="0">
                <a:latin typeface="Lucida Sans Typewriter" panose="020B0509030504030204" pitchFamily="49" charset="0"/>
              </a:rPr>
            </a:br>
            <a:r>
              <a:rPr lang="en-US" altLang="fr-FR" sz="2000" b="0">
                <a:latin typeface="Lucida Sans Typewriter" panose="020B0509030504030204" pitchFamily="49" charset="0"/>
              </a:rPr>
              <a:t>pre: </a:t>
            </a:r>
            <a:br>
              <a:rPr lang="en-US" altLang="fr-FR" sz="2000" b="0">
                <a:latin typeface="Lucida Sans Typewriter" panose="020B0509030504030204" pitchFamily="49" charset="0"/>
              </a:rPr>
            </a:br>
            <a:r>
              <a:rPr lang="en-US" altLang="fr-FR" sz="2000">
                <a:latin typeface="Lucida Sans Typewriter" panose="020B0509030504030204" pitchFamily="49" charset="0"/>
              </a:rPr>
              <a:t>league.players-&gt;includes(p)</a:t>
            </a:r>
          </a:p>
          <a:p>
            <a:pPr>
              <a:lnSpc>
                <a:spcPct val="80000"/>
              </a:lnSpc>
            </a:pPr>
            <a:endParaRPr lang="en-US" altLang="fr-FR" sz="2000"/>
          </a:p>
        </p:txBody>
      </p:sp>
      <p:sp>
        <p:nvSpPr>
          <p:cNvPr id="142407" name="AutoShape 7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flipV="1">
            <a:off x="4465638" y="2606675"/>
            <a:ext cx="373062" cy="225425"/>
          </a:xfrm>
          <a:prstGeom prst="actionButtonForwardNext">
            <a:avLst/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94" name="Oval 58"/>
          <p:cNvSpPr>
            <a:spLocks noChangeArrowheads="1"/>
          </p:cNvSpPr>
          <p:nvPr/>
        </p:nvSpPr>
        <p:spPr bwMode="auto">
          <a:xfrm>
            <a:off x="1666875" y="3783013"/>
            <a:ext cx="1111250" cy="496887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95" name="Oval 59"/>
          <p:cNvSpPr>
            <a:spLocks noChangeArrowheads="1"/>
          </p:cNvSpPr>
          <p:nvPr/>
        </p:nvSpPr>
        <p:spPr bwMode="auto">
          <a:xfrm>
            <a:off x="600075" y="3783013"/>
            <a:ext cx="1066800" cy="530225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98" name="Oval 62"/>
          <p:cNvSpPr>
            <a:spLocks noChangeArrowheads="1"/>
          </p:cNvSpPr>
          <p:nvPr/>
        </p:nvSpPr>
        <p:spPr bwMode="auto">
          <a:xfrm>
            <a:off x="2797175" y="3733800"/>
            <a:ext cx="2041525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388" name="Oval 52"/>
          <p:cNvSpPr>
            <a:spLocks noChangeArrowheads="1"/>
          </p:cNvSpPr>
          <p:nvPr/>
        </p:nvSpPr>
        <p:spPr bwMode="auto">
          <a:xfrm>
            <a:off x="914400" y="1765300"/>
            <a:ext cx="3086100" cy="458788"/>
          </a:xfrm>
          <a:prstGeom prst="ellipse">
            <a:avLst/>
          </a:prstGeom>
          <a:noFill/>
          <a:ln w="38100">
            <a:solidFill>
              <a:srgbClr val="C02E0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42405" name="AutoShape 6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flipV="1">
            <a:off x="4092575" y="1895475"/>
            <a:ext cx="373063" cy="225425"/>
          </a:xfrm>
          <a:prstGeom prst="actionButtonForwardNext">
            <a:avLst/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4422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autoUpdateAnimBg="0"/>
      <p:bldP spid="142387" grpId="0" animBg="1"/>
      <p:bldP spid="142396" grpId="0" animBg="1"/>
      <p:bldP spid="142397" grpId="0" animBg="1"/>
      <p:bldP spid="142399" grpId="0" animBg="1"/>
      <p:bldP spid="142402" grpId="0" animBg="1"/>
      <p:bldP spid="142403" grpId="0" autoUpdateAnimBg="0"/>
      <p:bldP spid="142406" grpId="0" autoUpdateAnimBg="0"/>
      <p:bldP spid="142408" grpId="0" autoUpdateAnimBg="0"/>
      <p:bldP spid="142407" grpId="0" animBg="1"/>
      <p:bldP spid="142394" grpId="0" animBg="1"/>
      <p:bldP spid="142395" grpId="0" animBg="1"/>
      <p:bldP spid="142398" grpId="0" animBg="1"/>
      <p:bldP spid="142388" grpId="0" animBg="1"/>
      <p:bldP spid="14240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Sets, Bags and Sequences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Sets, Bags and Sequences are predefined in OCL and subtypes of </a:t>
            </a:r>
            <a:r>
              <a:rPr lang="en-US" altLang="fr-FR">
                <a:solidFill>
                  <a:srgbClr val="C02E06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Collection</a:t>
            </a:r>
            <a:r>
              <a:rPr lang="en-US" altLang="fr-FR">
                <a:latin typeface="Arial" panose="020B0604020202020204" pitchFamily="34" charset="0"/>
                <a:ea typeface="ＭＳ Ｐゴシック" panose="020B0600070205080204" pitchFamily="34" charset="-128"/>
              </a:rPr>
              <a:t>. OCL offers a large number of predefined operations on collections. They are all of the form:</a:t>
            </a:r>
            <a:endParaRPr lang="en-US" altLang="fr-FR">
              <a:latin typeface="Courier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latin typeface="Courier" charset="0"/>
                <a:ea typeface="ＭＳ Ｐゴシック" panose="020B0600070205080204" pitchFamily="34" charset="-128"/>
              </a:rPr>
              <a:t>		collection-&gt;operation(arguments)</a:t>
            </a:r>
          </a:p>
          <a:p>
            <a:endParaRPr lang="en-US" altLang="fr-FR">
              <a:solidFill>
                <a:srgbClr val="0000FF"/>
              </a:solidFill>
              <a:latin typeface="American Typewriter" charset="0"/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9563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16B0-83BA-47A1-9859-0C48B0C280CC}" type="slidenum">
              <a:rPr lang="he-IL" altLang="en-US"/>
              <a:pPr/>
              <a:t>29</a:t>
            </a:fld>
            <a:endParaRPr lang="en-US" alt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 b="1">
                <a:solidFill>
                  <a:schemeClr val="tx1"/>
                </a:solidFill>
              </a:rPr>
              <a:t>Collection Operations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495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fr-FR"/>
              <a:t>&lt;collection&gt;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size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			  isEmpty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			  notEmpty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			  sum ( )</a:t>
            </a:r>
            <a:endParaRPr lang="en-GB" altLang="fr-FR"/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			  count (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object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includes ( </a:t>
            </a:r>
            <a:r>
              <a:rPr lang="en-GB" altLang="fr-FR">
                <a:sym typeface="Symbol" panose="05050102010706020507" pitchFamily="18" charset="2"/>
              </a:rPr>
              <a:t>object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includesAll ( </a:t>
            </a:r>
            <a:r>
              <a:rPr lang="en-GB" altLang="fr-FR">
                <a:sym typeface="Symbol" panose="05050102010706020507" pitchFamily="18" charset="2"/>
              </a:rPr>
              <a:t>collection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 u="sng"/>
          </a:p>
        </p:txBody>
      </p:sp>
    </p:spTree>
    <p:extLst>
      <p:ext uri="{BB962C8B-B14F-4D97-AF65-F5344CB8AC3E}">
        <p14:creationId xmlns:p14="http://schemas.microsoft.com/office/powerpoint/2010/main" val="3710203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8963-924E-4E33-B2C1-6E544985A970}" type="slidenum">
              <a:rPr lang="he-IL" altLang="en-US"/>
              <a:pPr/>
              <a:t>30</a:t>
            </a:fld>
            <a:endParaRPr lang="en-US" altLang="en-US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fr-FR" b="1">
                <a:solidFill>
                  <a:schemeClr val="tx1"/>
                </a:solidFill>
              </a:rPr>
              <a:t>Collections cont.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763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fr-FR"/>
              <a:t>&lt;collection&gt;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select ( </a:t>
            </a:r>
            <a:r>
              <a:rPr lang="en-GB" altLang="fr-FR">
                <a:sym typeface="Symbol" panose="05050102010706020507" pitchFamily="18" charset="2"/>
              </a:rPr>
              <a:t>e:T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| &lt;b.e.&gt;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reject ( </a:t>
            </a:r>
            <a:r>
              <a:rPr lang="en-GB" altLang="fr-FR">
                <a:sym typeface="Symbol" panose="05050102010706020507" pitchFamily="18" charset="2"/>
              </a:rPr>
              <a:t>e:T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| &lt;b.e.&gt;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collect ( </a:t>
            </a:r>
            <a:r>
              <a:rPr lang="en-GB" altLang="fr-FR">
                <a:sym typeface="Symbol" panose="05050102010706020507" pitchFamily="18" charset="2"/>
              </a:rPr>
              <a:t>e:T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| &lt;v.e.&gt;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forAll ( </a:t>
            </a:r>
            <a:r>
              <a:rPr lang="en-GB" altLang="fr-FR">
                <a:sym typeface="Symbol" panose="05050102010706020507" pitchFamily="18" charset="2"/>
              </a:rPr>
              <a:t>e:T*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| &lt;b.e.&gt;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exists ( </a:t>
            </a:r>
            <a:r>
              <a:rPr lang="en-GB" altLang="fr-FR">
                <a:sym typeface="Symbol" panose="05050102010706020507" pitchFamily="18" charset="2"/>
              </a:rPr>
              <a:t>e:T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| &lt;b.e.&gt;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	 </a:t>
            </a:r>
            <a:r>
              <a:rPr lang="en-GB" altLang="fr-FR">
                <a:solidFill>
                  <a:srgbClr val="0000FF"/>
                </a:solidFill>
                <a:sym typeface="Symbol" panose="05050102010706020507" pitchFamily="18" charset="2"/>
              </a:rPr>
              <a:t> iterate ( </a:t>
            </a:r>
            <a:r>
              <a:rPr lang="en-GB" altLang="fr-FR">
                <a:sym typeface="Symbol" panose="05050102010706020507" pitchFamily="18" charset="2"/>
              </a:rPr>
              <a:t>e:T</a:t>
            </a:r>
            <a:r>
              <a:rPr lang="en-GB" altLang="fr-FR" baseline="-25000">
                <a:sym typeface="Symbol" panose="05050102010706020507" pitchFamily="18" charset="2"/>
              </a:rPr>
              <a:t>1</a:t>
            </a:r>
            <a:r>
              <a:rPr lang="en-GB" altLang="fr-FR">
                <a:sym typeface="Symbol" panose="05050102010706020507" pitchFamily="18" charset="2"/>
              </a:rPr>
              <a:t>; r:T</a:t>
            </a:r>
            <a:r>
              <a:rPr lang="en-GB" altLang="fr-FR" baseline="-25000">
                <a:sym typeface="Symbol" panose="05050102010706020507" pitchFamily="18" charset="2"/>
              </a:rPr>
              <a:t>2</a:t>
            </a:r>
            <a:r>
              <a:rPr lang="en-GB" altLang="fr-FR">
                <a:sym typeface="Symbol" panose="05050102010706020507" pitchFamily="18" charset="2"/>
              </a:rPr>
              <a:t> = &lt;v.e.&gt; </a:t>
            </a:r>
            <a:r>
              <a:rPr lang="en-GB" altLang="fr-FR">
                <a:cs typeface="Times New Roman" panose="02020603050405020304" pitchFamily="18" charset="0"/>
                <a:sym typeface="Symbol" panose="05050102010706020507" pitchFamily="18" charset="2"/>
              </a:rPr>
              <a:t>| &lt;v.e.&gt;</a:t>
            </a:r>
            <a:r>
              <a:rPr lang="en-GB" altLang="fr-FR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GB" altLang="fr-FR" sz="2000"/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fr-FR" sz="2400"/>
              <a:t>b.e. stands for: boolean expression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fr-FR" sz="2400"/>
              <a:t>v.e. stands for: value expression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GB" altLang="fr-FR" sz="2400"/>
          </a:p>
        </p:txBody>
      </p:sp>
    </p:spTree>
    <p:extLst>
      <p:ext uri="{BB962C8B-B14F-4D97-AF65-F5344CB8AC3E}">
        <p14:creationId xmlns:p14="http://schemas.microsoft.com/office/powerpoint/2010/main" val="2112408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5FD02-CDE0-4366-A073-7E23D3880972}" type="slidenum">
              <a:rPr lang="he-IL" altLang="en-US"/>
              <a:pPr/>
              <a:t>31</a:t>
            </a:fld>
            <a:endParaRPr lang="en-US" altLang="en-US"/>
          </a:p>
        </p:txBody>
      </p:sp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304800" y="3657600"/>
            <a:ext cx="8531225" cy="284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GB" altLang="fr-FR" sz="2800" b="1">
                <a:latin typeface="Times New Roman" panose="02020603050405020304" pitchFamily="18" charset="0"/>
              </a:rPr>
              <a:t>context</a:t>
            </a:r>
            <a:r>
              <a:rPr lang="en-GB" altLang="fr-FR" sz="2800">
                <a:latin typeface="Times New Roman" panose="02020603050405020304" pitchFamily="18" charset="0"/>
              </a:rPr>
              <a:t> </a:t>
            </a:r>
            <a:r>
              <a:rPr lang="en-GB" altLang="fr-FR" sz="2800" i="1">
                <a:latin typeface="Times New Roman" panose="02020603050405020304" pitchFamily="18" charset="0"/>
              </a:rPr>
              <a:t>StoreCard</a:t>
            </a:r>
          </a:p>
          <a:p>
            <a:pPr eaLnBrk="0" hangingPunct="0"/>
            <a:r>
              <a:rPr lang="en-GB" altLang="fr-FR" sz="2800" b="1">
                <a:latin typeface="Times New Roman" panose="02020603050405020304" pitchFamily="18" charset="0"/>
              </a:rPr>
              <a:t>invariant</a:t>
            </a:r>
            <a:r>
              <a:rPr lang="en-GB" altLang="fr-FR" sz="2800">
                <a:latin typeface="Times New Roman" panose="02020603050405020304" pitchFamily="18" charset="0"/>
              </a:rPr>
              <a:t>: </a:t>
            </a:r>
            <a:r>
              <a:rPr lang="en-GB" altLang="fr-FR" sz="2800" i="1">
                <a:latin typeface="Times New Roman" panose="02020603050405020304" pitchFamily="18" charset="0"/>
              </a:rPr>
              <a:t>printName = owner.title.concat</a:t>
            </a:r>
            <a:r>
              <a:rPr lang="en-GB" altLang="fr-FR" sz="2800">
                <a:latin typeface="Times New Roman" panose="02020603050405020304" pitchFamily="18" charset="0"/>
              </a:rPr>
              <a:t>(</a:t>
            </a:r>
            <a:r>
              <a:rPr lang="en-GB" altLang="fr-FR" sz="2800" i="1">
                <a:latin typeface="Times New Roman" panose="02020603050405020304" pitchFamily="18" charset="0"/>
              </a:rPr>
              <a:t>owner.name</a:t>
            </a:r>
            <a:r>
              <a:rPr lang="en-GB" altLang="fr-FR" sz="2800">
                <a:latin typeface="Times New Roman" panose="02020603050405020304" pitchFamily="18" charset="0"/>
              </a:rPr>
              <a:t>)</a:t>
            </a:r>
            <a:r>
              <a:rPr lang="en-GB" altLang="fr-FR" sz="2800" u="sng">
                <a:latin typeface="Times New Roman" panose="02020603050405020304" pitchFamily="18" charset="0"/>
              </a:rPr>
              <a:t> </a:t>
            </a:r>
          </a:p>
          <a:p>
            <a:pPr eaLnBrk="0" hangingPunct="0"/>
            <a:endParaRPr lang="en-GB" altLang="fr-FR" sz="2800" u="sng">
              <a:latin typeface="Times New Roman" panose="02020603050405020304" pitchFamily="18" charset="0"/>
            </a:endParaRPr>
          </a:p>
          <a:p>
            <a:pPr eaLnBrk="0" hangingPunct="0"/>
            <a:r>
              <a:rPr lang="en-GB" altLang="fr-FR" sz="2800" b="1">
                <a:latin typeface="Times New Roman" panose="02020603050405020304" pitchFamily="18" charset="0"/>
              </a:rPr>
              <a:t>context</a:t>
            </a:r>
            <a:r>
              <a:rPr lang="en-GB" altLang="fr-FR" sz="2800">
                <a:latin typeface="Times New Roman" panose="02020603050405020304" pitchFamily="18" charset="0"/>
              </a:rPr>
              <a:t> </a:t>
            </a:r>
            <a:r>
              <a:rPr lang="en-GB" altLang="fr-FR" sz="2800" i="1">
                <a:latin typeface="Times New Roman" panose="02020603050405020304" pitchFamily="18" charset="0"/>
              </a:rPr>
              <a:t>Customer</a:t>
            </a:r>
          </a:p>
          <a:p>
            <a:pPr eaLnBrk="0" hangingPunct="0">
              <a:lnSpc>
                <a:spcPct val="90000"/>
              </a:lnSpc>
            </a:pPr>
            <a:r>
              <a:rPr lang="en-GB" altLang="fr-FR" sz="2800" i="1">
                <a:latin typeface="Times New Roman" panose="02020603050405020304" pitchFamily="18" charset="0"/>
              </a:rPr>
              <a:t>cards </a:t>
            </a:r>
            <a:r>
              <a:rPr lang="en-GB" altLang="fr-FR" sz="2800" i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 forAll</a:t>
            </a:r>
            <a:r>
              <a:rPr lang="en-GB" altLang="fr-FR" sz="28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( </a:t>
            </a:r>
            <a:endParaRPr lang="en-GB" altLang="fr-FR" sz="280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90000"/>
              </a:lnSpc>
            </a:pPr>
            <a:r>
              <a:rPr lang="en-GB" altLang="fr-FR" sz="2800">
                <a:latin typeface="Times New Roman" panose="02020603050405020304" pitchFamily="18" charset="0"/>
              </a:rPr>
              <a:t>          </a:t>
            </a:r>
            <a:r>
              <a:rPr lang="en-GB" altLang="fr-FR" sz="2800" i="1">
                <a:latin typeface="Times New Roman" panose="02020603050405020304" pitchFamily="18" charset="0"/>
              </a:rPr>
              <a:t>printName</a:t>
            </a:r>
            <a:r>
              <a:rPr lang="en-GB" altLang="fr-FR" sz="2800">
                <a:latin typeface="Times New Roman" panose="02020603050405020304" pitchFamily="18" charset="0"/>
              </a:rPr>
              <a:t> = </a:t>
            </a:r>
            <a:r>
              <a:rPr lang="en-GB" altLang="fr-FR" sz="2800" i="1">
                <a:latin typeface="Times New Roman" panose="02020603050405020304" pitchFamily="18" charset="0"/>
              </a:rPr>
              <a:t>owner.title.concat</a:t>
            </a:r>
            <a:r>
              <a:rPr lang="en-GB" altLang="fr-FR" sz="2800">
                <a:latin typeface="Times New Roman" panose="02020603050405020304" pitchFamily="18" charset="0"/>
              </a:rPr>
              <a:t>(</a:t>
            </a:r>
            <a:r>
              <a:rPr lang="en-GB" altLang="fr-FR" sz="2800" i="1">
                <a:latin typeface="Times New Roman" panose="02020603050405020304" pitchFamily="18" charset="0"/>
              </a:rPr>
              <a:t>owner.name</a:t>
            </a:r>
            <a:r>
              <a:rPr lang="en-GB" altLang="fr-FR" sz="2800">
                <a:latin typeface="Times New Roman" panose="02020603050405020304" pitchFamily="18" charset="0"/>
              </a:rPr>
              <a:t>) </a:t>
            </a:r>
            <a:r>
              <a:rPr lang="en-GB" altLang="fr-FR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GB" altLang="fr-FR" sz="280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90000"/>
              </a:lnSpc>
            </a:pPr>
            <a:endParaRPr lang="en-GB" altLang="fr-FR" sz="2000" b="1">
              <a:latin typeface="Times New Roman" panose="02020603050405020304" pitchFamily="18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title"/>
          </p:nvPr>
        </p:nvSpPr>
        <p:spPr>
          <a:xfrm>
            <a:off x="755650" y="-378432"/>
            <a:ext cx="7772400" cy="1143000"/>
          </a:xfrm>
        </p:spPr>
        <p:txBody>
          <a:bodyPr/>
          <a:lstStyle/>
          <a:p>
            <a:r>
              <a:rPr lang="en-GB" altLang="fr-FR" b="1" dirty="0">
                <a:solidFill>
                  <a:schemeClr val="tx1"/>
                </a:solidFill>
              </a:rPr>
              <a:t>Changing the context</a:t>
            </a:r>
          </a:p>
        </p:txBody>
      </p:sp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1831975" y="1143000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Customer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5334000" y="1600200"/>
            <a:ext cx="2314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printName:String</a:t>
            </a:r>
          </a:p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points: Integer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cxnSp>
        <p:nvCxnSpPr>
          <p:cNvPr id="151558" name="AutoShape 6"/>
          <p:cNvCxnSpPr>
            <a:cxnSpLocks noChangeShapeType="1"/>
          </p:cNvCxnSpPr>
          <p:nvPr/>
        </p:nvCxnSpPr>
        <p:spPr bwMode="auto">
          <a:xfrm>
            <a:off x="3752850" y="2324100"/>
            <a:ext cx="156210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1559" name="Text Box 7"/>
          <p:cNvSpPr txBox="1">
            <a:spLocks noChangeArrowheads="1"/>
          </p:cNvSpPr>
          <p:nvPr/>
        </p:nvSpPr>
        <p:spPr bwMode="auto">
          <a:xfrm>
            <a:off x="4806950" y="1752600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b="1">
                <a:latin typeface="Times New Roman" panose="02020603050405020304" pitchFamily="18" charset="0"/>
              </a:rPr>
              <a:t>1..*</a:t>
            </a:r>
          </a:p>
        </p:txBody>
      </p:sp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3727450" y="2033588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i="1">
                <a:solidFill>
                  <a:srgbClr val="000000"/>
                </a:solidFill>
                <a:latin typeface="Times New Roman" panose="02020603050405020304" pitchFamily="18" charset="0"/>
              </a:rPr>
              <a:t>owner</a:t>
            </a: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641850" y="2033588"/>
            <a:ext cx="692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i="1">
                <a:solidFill>
                  <a:srgbClr val="000000"/>
                </a:solidFill>
                <a:latin typeface="Times New Roman" panose="02020603050405020304" pitchFamily="18" charset="0"/>
              </a:rPr>
              <a:t>cards</a:t>
            </a:r>
          </a:p>
        </p:txBody>
      </p:sp>
      <p:sp>
        <p:nvSpPr>
          <p:cNvPr id="151562" name="Rectangle 10"/>
          <p:cNvSpPr>
            <a:spLocks noChangeArrowheads="1"/>
          </p:cNvSpPr>
          <p:nvPr/>
        </p:nvSpPr>
        <p:spPr bwMode="auto">
          <a:xfrm>
            <a:off x="1371600" y="1143000"/>
            <a:ext cx="2362200" cy="457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1563" name="Rectangle 11"/>
          <p:cNvSpPr>
            <a:spLocks noChangeArrowheads="1"/>
          </p:cNvSpPr>
          <p:nvPr/>
        </p:nvSpPr>
        <p:spPr bwMode="auto">
          <a:xfrm>
            <a:off x="5334000" y="1143000"/>
            <a:ext cx="2362200" cy="457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1564" name="Text Box 12"/>
          <p:cNvSpPr txBox="1">
            <a:spLocks noChangeArrowheads="1"/>
          </p:cNvSpPr>
          <p:nvPr/>
        </p:nvSpPr>
        <p:spPr bwMode="auto">
          <a:xfrm>
            <a:off x="5819775" y="1143000"/>
            <a:ext cx="1419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StoreCard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1371600" y="1600200"/>
            <a:ext cx="2362200" cy="13716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1566" name="Text Box 14"/>
          <p:cNvSpPr txBox="1">
            <a:spLocks noChangeArrowheads="1"/>
          </p:cNvSpPr>
          <p:nvPr/>
        </p:nvSpPr>
        <p:spPr bwMode="auto">
          <a:xfrm>
            <a:off x="1371600" y="1600200"/>
            <a:ext cx="24082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name:String</a:t>
            </a:r>
          </a:p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title: String</a:t>
            </a:r>
          </a:p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golduser: Boolean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151567" name="Rectangle 15"/>
          <p:cNvSpPr>
            <a:spLocks noChangeArrowheads="1"/>
          </p:cNvSpPr>
          <p:nvPr/>
        </p:nvSpPr>
        <p:spPr bwMode="auto">
          <a:xfrm>
            <a:off x="1371600" y="2971800"/>
            <a:ext cx="2362200" cy="533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1568" name="Text Box 16"/>
          <p:cNvSpPr txBox="1">
            <a:spLocks noChangeArrowheads="1"/>
          </p:cNvSpPr>
          <p:nvPr/>
        </p:nvSpPr>
        <p:spPr bwMode="auto">
          <a:xfrm>
            <a:off x="1371600" y="2971800"/>
            <a:ext cx="183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age( ):Integer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151569" name="Rectangle 17"/>
          <p:cNvSpPr>
            <a:spLocks noChangeArrowheads="1"/>
          </p:cNvSpPr>
          <p:nvPr/>
        </p:nvSpPr>
        <p:spPr bwMode="auto">
          <a:xfrm>
            <a:off x="5334000" y="2514600"/>
            <a:ext cx="2362200" cy="533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1570" name="Text Box 18"/>
          <p:cNvSpPr txBox="1">
            <a:spLocks noChangeArrowheads="1"/>
          </p:cNvSpPr>
          <p:nvPr/>
        </p:nvSpPr>
        <p:spPr bwMode="auto">
          <a:xfrm>
            <a:off x="5334000" y="2514600"/>
            <a:ext cx="200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fr-FR" sz="2400">
                <a:latin typeface="Times New Roman" panose="02020603050405020304" pitchFamily="18" charset="0"/>
              </a:rPr>
              <a:t>earn(p:Integer)</a:t>
            </a:r>
            <a:endParaRPr lang="en-GB" altLang="fr-FR" sz="2400" b="1">
              <a:latin typeface="Times New Roman" panose="02020603050405020304" pitchFamily="18" charset="0"/>
            </a:endParaRPr>
          </a:p>
        </p:txBody>
      </p:sp>
      <p:sp>
        <p:nvSpPr>
          <p:cNvPr id="151571" name="Rectangle 19"/>
          <p:cNvSpPr>
            <a:spLocks noChangeArrowheads="1"/>
          </p:cNvSpPr>
          <p:nvPr/>
        </p:nvSpPr>
        <p:spPr bwMode="auto">
          <a:xfrm>
            <a:off x="5334000" y="1600200"/>
            <a:ext cx="2362200" cy="914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CA"/>
          </a:p>
        </p:txBody>
      </p:sp>
      <p:grpSp>
        <p:nvGrpSpPr>
          <p:cNvPr id="151572" name="Group 20"/>
          <p:cNvGrpSpPr>
            <a:grpSpLocks/>
          </p:cNvGrpSpPr>
          <p:nvPr/>
        </p:nvGrpSpPr>
        <p:grpSpPr bwMode="auto">
          <a:xfrm>
            <a:off x="3276600" y="4970463"/>
            <a:ext cx="4144963" cy="820737"/>
            <a:chOff x="2064" y="3131"/>
            <a:chExt cx="2611" cy="517"/>
          </a:xfrm>
        </p:grpSpPr>
        <p:sp>
          <p:nvSpPr>
            <p:cNvPr id="151573" name="Line 21"/>
            <p:cNvSpPr>
              <a:spLocks noChangeShapeType="1"/>
            </p:cNvSpPr>
            <p:nvPr/>
          </p:nvSpPr>
          <p:spPr bwMode="auto">
            <a:xfrm flipH="1">
              <a:off x="2064" y="3312"/>
              <a:ext cx="720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51574" name="Text Box 22"/>
            <p:cNvSpPr txBox="1">
              <a:spLocks noChangeArrowheads="1"/>
            </p:cNvSpPr>
            <p:nvPr/>
          </p:nvSpPr>
          <p:spPr bwMode="auto">
            <a:xfrm>
              <a:off x="2774" y="3131"/>
              <a:ext cx="190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GB" altLang="fr-FR" sz="2000">
                  <a:solidFill>
                    <a:srgbClr val="FF3300"/>
                  </a:solidFill>
                  <a:latin typeface="Comic Sans MS" panose="030F0702030302020204" pitchFamily="66" charset="0"/>
                </a:rPr>
                <a:t>Note switch of context!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402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fr-FR">
                <a:ea typeface="ＭＳ Ｐゴシック" panose="020B0600070205080204" pitchFamily="34" charset="-128"/>
              </a:rPr>
              <a:t>OCL-Collection</a:t>
            </a:r>
          </a:p>
        </p:txBody>
      </p:sp>
      <p:sp>
        <p:nvSpPr>
          <p:cNvPr id="2355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altLang="fr-FR">
                <a:ea typeface="ＭＳ Ｐゴシック" panose="020B0600070205080204" pitchFamily="34" charset="-128"/>
              </a:rPr>
              <a:t>The OCL-Type Collection is the generic superclass of a collection of objects of Type T</a:t>
            </a:r>
          </a:p>
          <a:p>
            <a:r>
              <a:rPr lang="de-DE" altLang="fr-FR">
                <a:ea typeface="ＭＳ Ｐゴシック" panose="020B0600070205080204" pitchFamily="34" charset="-128"/>
              </a:rPr>
              <a:t>Subclasses of Collection are </a:t>
            </a:r>
          </a:p>
          <a:p>
            <a:pPr lvl="1"/>
            <a:r>
              <a:rPr lang="de-DE" altLang="fr-FR">
                <a:ea typeface="ＭＳ Ｐゴシック" panose="020B0600070205080204" pitchFamily="34" charset="-128"/>
              </a:rPr>
              <a:t>Set: Set in the mathematical sense. Every </a:t>
            </a:r>
            <a:r>
              <a:rPr lang="en-US" altLang="fr-FR">
                <a:ea typeface="ＭＳ Ｐゴシック" panose="020B0600070205080204" pitchFamily="34" charset="-128"/>
              </a:rPr>
              <a:t>element</a:t>
            </a:r>
            <a:r>
              <a:rPr lang="de-DE" altLang="fr-FR">
                <a:ea typeface="ＭＳ Ｐゴシック" panose="020B0600070205080204" pitchFamily="34" charset="-128"/>
              </a:rPr>
              <a:t> can appear only once  </a:t>
            </a:r>
          </a:p>
          <a:p>
            <a:pPr lvl="1"/>
            <a:r>
              <a:rPr lang="de-DE" altLang="fr-FR">
                <a:ea typeface="ＭＳ Ｐゴシック" panose="020B0600070205080204" pitchFamily="34" charset="-128"/>
              </a:rPr>
              <a:t>Bag: A collection, in which elements can appear more than once (also called multiset)</a:t>
            </a:r>
          </a:p>
          <a:p>
            <a:pPr lvl="1"/>
            <a:r>
              <a:rPr lang="de-DE" altLang="fr-FR">
                <a:ea typeface="ＭＳ Ｐゴシック" panose="020B0600070205080204" pitchFamily="34" charset="-128"/>
              </a:rPr>
              <a:t>Sequence: A multiset, in which the elements are ordered</a:t>
            </a:r>
          </a:p>
          <a:p>
            <a:r>
              <a:rPr lang="de-DE" altLang="fr-FR">
                <a:ea typeface="ＭＳ Ｐゴシック" panose="020B0600070205080204" pitchFamily="34" charset="-128"/>
              </a:rPr>
              <a:t>Example for Collections: </a:t>
            </a:r>
          </a:p>
          <a:p>
            <a:pPr lvl="1"/>
            <a:r>
              <a:rPr lang="de-DE" altLang="fr-FR">
                <a:ea typeface="ＭＳ Ｐゴシック" panose="020B0600070205080204" pitchFamily="34" charset="-128"/>
              </a:rPr>
              <a:t>Set(Integer): a set of integer numbers</a:t>
            </a:r>
          </a:p>
          <a:p>
            <a:pPr lvl="1"/>
            <a:r>
              <a:rPr lang="de-DE" altLang="fr-FR">
                <a:ea typeface="ＭＳ Ｐゴシック" panose="020B0600070205080204" pitchFamily="34" charset="-128"/>
              </a:rPr>
              <a:t>Bag(Person): a multiset of persons</a:t>
            </a:r>
          </a:p>
          <a:p>
            <a:pPr lvl="1"/>
            <a:r>
              <a:rPr lang="de-DE" altLang="fr-FR">
                <a:ea typeface="ＭＳ Ｐゴシック" panose="020B0600070205080204" pitchFamily="34" charset="-128"/>
              </a:rPr>
              <a:t>Sequence(Customer): a sequence of customers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6426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31540" y="-162272"/>
            <a:ext cx="8458200" cy="1143000"/>
          </a:xfrm>
        </p:spPr>
        <p:txBody>
          <a:bodyPr/>
          <a:lstStyle/>
          <a:p>
            <a:r>
              <a:rPr lang="de-DE" altLang="fr-FR" dirty="0">
                <a:ea typeface="ＭＳ Ｐゴシック" panose="020B0600070205080204" pitchFamily="34" charset="-128"/>
              </a:rPr>
              <a:t>OCL-</a:t>
            </a:r>
            <a:r>
              <a:rPr lang="de-DE" altLang="fr-FR" dirty="0" err="1">
                <a:ea typeface="ＭＳ Ｐゴシック" panose="020B0600070205080204" pitchFamily="34" charset="-128"/>
              </a:rPr>
              <a:t>Operations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for</a:t>
            </a:r>
            <a:r>
              <a:rPr lang="de-DE" altLang="fr-FR" dirty="0">
                <a:ea typeface="ＭＳ Ｐゴシック" panose="020B0600070205080204" pitchFamily="34" charset="-128"/>
              </a:rPr>
              <a:t> OCL-Collections (1)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458200" cy="5562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size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: Integer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sz="2000" dirty="0" err="1">
                <a:ea typeface="ＭＳ Ｐゴシック" panose="020B0600070205080204" pitchFamily="34" charset="-128"/>
              </a:rPr>
              <a:t>Number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of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elements</a:t>
            </a:r>
            <a:r>
              <a:rPr lang="de-DE" altLang="fr-FR" sz="2000" dirty="0">
                <a:ea typeface="ＭＳ Ｐゴシック" panose="020B0600070205080204" pitchFamily="34" charset="-128"/>
              </a:rPr>
              <a:t> in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collection</a:t>
            </a:r>
            <a:endParaRPr lang="de-DE" altLang="fr-FR" sz="2000" dirty="0">
              <a:ea typeface="ＭＳ Ｐゴシック" panose="020B0600070205080204" pitchFamily="34" charset="-128"/>
            </a:endParaRPr>
          </a:p>
          <a:p>
            <a:pPr>
              <a:lnSpc>
                <a:spcPct val="0"/>
              </a:lnSpc>
              <a:buFont typeface="Times" panose="02020603050405020304" pitchFamily="18" charset="0"/>
              <a:buNone/>
            </a:pPr>
            <a:endParaRPr lang="de-DE" altLang="fr-FR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includes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o:OclAny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): Boolean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sz="2000" dirty="0">
                <a:ea typeface="ＭＳ Ｐゴシック" panose="020B0600070205080204" pitchFamily="34" charset="-128"/>
              </a:rPr>
              <a:t>True,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if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element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o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is</a:t>
            </a:r>
            <a:r>
              <a:rPr lang="de-DE" altLang="fr-FR" sz="2000" dirty="0">
                <a:ea typeface="ＭＳ Ｐゴシック" panose="020B0600070205080204" pitchFamily="34" charset="-128"/>
              </a:rPr>
              <a:t>  in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collection</a:t>
            </a:r>
            <a:endParaRPr lang="de-DE" altLang="fr-FR" dirty="0">
              <a:ea typeface="ＭＳ Ｐゴシック" panose="020B0600070205080204" pitchFamily="34" charset="-128"/>
            </a:endParaRPr>
          </a:p>
          <a:p>
            <a:pPr>
              <a:lnSpc>
                <a:spcPct val="0"/>
              </a:lnSpc>
              <a:buFont typeface="Times" panose="02020603050405020304" pitchFamily="18" charset="0"/>
              <a:buNone/>
            </a:pPr>
            <a:endParaRPr lang="de-DE" altLang="fr-FR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count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o:OclAny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): Integer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sz="2000" dirty="0">
                <a:ea typeface="ＭＳ Ｐゴシック" panose="020B0600070205080204" pitchFamily="34" charset="-128"/>
              </a:rPr>
              <a:t>Counts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how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many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times</a:t>
            </a:r>
            <a:r>
              <a:rPr lang="de-DE" altLang="fr-FR" sz="2000" dirty="0">
                <a:ea typeface="ＭＳ Ｐゴシック" panose="020B0600070205080204" pitchFamily="34" charset="-128"/>
              </a:rPr>
              <a:t> an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element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is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contained</a:t>
            </a:r>
            <a:r>
              <a:rPr lang="de-DE" altLang="fr-FR" sz="2000" dirty="0">
                <a:ea typeface="ＭＳ Ｐゴシック" panose="020B0600070205080204" pitchFamily="34" charset="-128"/>
              </a:rPr>
              <a:t> in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collection</a:t>
            </a:r>
            <a:endParaRPr lang="de-DE" altLang="fr-FR" sz="2000" dirty="0">
              <a:ea typeface="ＭＳ Ｐゴシック" panose="020B0600070205080204" pitchFamily="34" charset="-128"/>
            </a:endParaRPr>
          </a:p>
          <a:p>
            <a:pPr>
              <a:lnSpc>
                <a:spcPct val="10000"/>
              </a:lnSpc>
              <a:buFont typeface="Times" panose="02020603050405020304" pitchFamily="18" charset="0"/>
              <a:buNone/>
            </a:pPr>
            <a:endParaRPr lang="de-DE" altLang="fr-FR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isEmpty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: Boolean</a:t>
            </a:r>
            <a:br>
              <a:rPr lang="de-DE" altLang="fr-FR" dirty="0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de-DE" altLang="fr-FR" sz="2000" dirty="0">
                <a:ea typeface="ＭＳ Ｐゴシック" panose="020B0600070205080204" pitchFamily="34" charset="-128"/>
              </a:rPr>
              <a:t>True,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if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collection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is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empty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10000"/>
              </a:lnSpc>
              <a:buFont typeface="Times" panose="02020603050405020304" pitchFamily="18" charset="0"/>
              <a:buNone/>
            </a:pPr>
            <a:endParaRPr lang="de-DE" altLang="fr-FR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notEmpty</a:t>
            </a:r>
            <a:r>
              <a:rPr lang="de-DE" altLang="fr-FR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: Boolean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>
                <a:ea typeface="ＭＳ Ｐゴシック" panose="020B0600070205080204" pitchFamily="34" charset="-128"/>
              </a:rPr>
              <a:t>True,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if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collection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is</a:t>
            </a:r>
            <a:r>
              <a:rPr lang="de-DE" altLang="fr-FR" sz="2000" dirty="0">
                <a:ea typeface="ＭＳ Ｐゴシック" panose="020B0600070205080204" pitchFamily="34" charset="-128"/>
              </a:rPr>
              <a:t> not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empty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</a:p>
          <a:p>
            <a:pPr lvl="2">
              <a:lnSpc>
                <a:spcPct val="50000"/>
              </a:lnSpc>
              <a:buFont typeface="Times" panose="02020603050405020304" pitchFamily="18" charset="0"/>
              <a:buNone/>
            </a:pPr>
            <a:endParaRPr lang="de-DE" altLang="fr-FR" dirty="0">
              <a:latin typeface="ヒラギノ角ゴ Pro W3" charset="-128"/>
              <a:ea typeface="ＭＳ Ｐゴシック" panose="020B0600070205080204" pitchFamily="34" charset="-128"/>
            </a:endParaRPr>
          </a:p>
          <a:p>
            <a:pPr lvl="2">
              <a:lnSpc>
                <a:spcPct val="50000"/>
              </a:lnSpc>
              <a:buFont typeface="Times" panose="02020603050405020304" pitchFamily="18" charset="0"/>
              <a:buNone/>
            </a:pPr>
            <a:endParaRPr lang="de-DE" altLang="fr-FR" dirty="0">
              <a:latin typeface="ヒラギノ角ゴ Pro W3" charset="-128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sz="2000" dirty="0">
                <a:ea typeface="ＭＳ Ｐゴシック" panose="020B0600070205080204" pitchFamily="34" charset="-128"/>
              </a:rPr>
              <a:t>The OCL-Type </a:t>
            </a:r>
            <a:r>
              <a:rPr lang="de-DE" altLang="fr-FR" sz="2000" b="1" dirty="0" err="1">
                <a:ea typeface="ＭＳ Ｐゴシック" panose="020B0600070205080204" pitchFamily="34" charset="-128"/>
              </a:rPr>
              <a:t>OclAny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is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the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most</a:t>
            </a:r>
            <a:r>
              <a:rPr lang="de-DE" altLang="fr-FR" sz="2000" dirty="0">
                <a:ea typeface="ＭＳ Ｐゴシック" panose="020B0600070205080204" pitchFamily="34" charset="-128"/>
              </a:rPr>
              <a:t> </a:t>
            </a:r>
            <a:r>
              <a:rPr lang="de-DE" altLang="fr-FR" sz="2000" dirty="0" err="1">
                <a:ea typeface="ＭＳ Ｐゴシック" panose="020B0600070205080204" pitchFamily="34" charset="-128"/>
              </a:rPr>
              <a:t>general</a:t>
            </a:r>
            <a:r>
              <a:rPr lang="de-DE" altLang="fr-FR" sz="2000" dirty="0">
                <a:ea typeface="ＭＳ Ｐゴシック" panose="020B0600070205080204" pitchFamily="34" charset="-128"/>
              </a:rPr>
              <a:t> OCL-Type</a:t>
            </a:r>
          </a:p>
          <a:p>
            <a:pPr lvl="1">
              <a:buFont typeface="Times" panose="02020603050405020304" pitchFamily="18" charset="0"/>
              <a:buNone/>
            </a:pPr>
            <a:endParaRPr lang="de-DE" altLang="fr-FR" sz="1800" dirty="0">
              <a:ea typeface="ＭＳ Ｐゴシック" panose="020B0600070205080204" pitchFamily="34" charset="-128"/>
            </a:endParaRPr>
          </a:p>
        </p:txBody>
      </p:sp>
      <p:sp>
        <p:nvSpPr>
          <p:cNvPr id="236548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47675" y="1873250"/>
            <a:ext cx="279400" cy="279400"/>
          </a:xfrm>
          <a:prstGeom prst="actionButtonForwardNex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1982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7" grpId="0" build="p" autoUpdateAnimBg="0"/>
      <p:bldP spid="23654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31540" y="-13539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de-DE" altLang="fr-FR" dirty="0">
                <a:ea typeface="ＭＳ Ｐゴシック" panose="020B0600070205080204" pitchFamily="34" charset="-128"/>
              </a:rPr>
              <a:t>OCL-</a:t>
            </a:r>
            <a:r>
              <a:rPr lang="de-DE" altLang="fr-FR" dirty="0" err="1">
                <a:ea typeface="ＭＳ Ｐゴシック" panose="020B0600070205080204" pitchFamily="34" charset="-128"/>
              </a:rPr>
              <a:t>Operations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for</a:t>
            </a:r>
            <a:r>
              <a:rPr lang="de-DE" altLang="fr-FR" dirty="0">
                <a:ea typeface="ＭＳ Ｐゴシック" panose="020B0600070205080204" pitchFamily="34" charset="-128"/>
              </a:rPr>
              <a:t> OCL-Collections(2)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240713" cy="5562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union(c1:Collection)</a:t>
            </a:r>
            <a:br>
              <a:rPr lang="de-DE" altLang="fr-F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Union with collection </a:t>
            </a:r>
            <a:r>
              <a:rPr lang="de-DE" altLang="fr-FR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c1</a:t>
            </a:r>
          </a:p>
          <a:p>
            <a:pPr>
              <a:lnSpc>
                <a:spcPct val="10000"/>
              </a:lnSpc>
              <a:buFont typeface="Times" panose="02020603050405020304" pitchFamily="18" charset="0"/>
              <a:buNone/>
            </a:pPr>
            <a:endParaRPr lang="de-DE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intersection(c2:Collection)</a:t>
            </a:r>
            <a:br>
              <a:rPr lang="de-DE" altLang="fr-F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Intersection  with Collection </a:t>
            </a:r>
            <a:r>
              <a:rPr lang="de-DE" altLang="fr-FR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c2</a:t>
            </a:r>
            <a:r>
              <a:rPr lang="de-DE" altLang="fr-FR" sz="2000">
                <a:ea typeface="ＭＳ Ｐゴシック" panose="020B0600070205080204" pitchFamily="34" charset="-128"/>
              </a:rPr>
              <a:t> (contains only elements, which appear in the collection as well as in collection </a:t>
            </a:r>
            <a:r>
              <a:rPr lang="de-DE" altLang="fr-FR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c2</a:t>
            </a:r>
            <a:r>
              <a:rPr lang="de-DE" altLang="fr-FR" sz="2000">
                <a:ea typeface="ＭＳ Ｐゴシック" panose="020B0600070205080204" pitchFamily="34" charset="-128"/>
              </a:rPr>
              <a:t> auftreten)</a:t>
            </a:r>
          </a:p>
          <a:p>
            <a:pPr>
              <a:lnSpc>
                <a:spcPct val="10000"/>
              </a:lnSpc>
              <a:buFont typeface="Times" panose="02020603050405020304" pitchFamily="18" charset="0"/>
              <a:buNone/>
            </a:pPr>
            <a:endParaRPr lang="de-DE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including(o:OclAny)</a:t>
            </a:r>
            <a:b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Collection containing all elements of the  Collection and element </a:t>
            </a:r>
            <a:r>
              <a:rPr lang="de-DE" altLang="fr-FR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o</a:t>
            </a:r>
          </a:p>
          <a:p>
            <a:pPr>
              <a:lnSpc>
                <a:spcPct val="20000"/>
              </a:lnSpc>
              <a:buFont typeface="Times" panose="02020603050405020304" pitchFamily="18" charset="0"/>
              <a:buNone/>
            </a:pPr>
            <a:endParaRPr lang="de-DE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select(expr:OclExpression) </a:t>
            </a:r>
            <a:b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Subset of all elements of the collection, for which the OCL-expression </a:t>
            </a:r>
            <a:r>
              <a:rPr lang="de-DE" altLang="fr-FR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expr</a:t>
            </a:r>
            <a:r>
              <a:rPr lang="de-DE" altLang="fr-FR" sz="2000">
                <a:ea typeface="ＭＳ Ｐゴシック" panose="020B0600070205080204" pitchFamily="34" charset="-128"/>
              </a:rPr>
              <a:t> is true</a:t>
            </a:r>
          </a:p>
          <a:p>
            <a:pPr>
              <a:buFont typeface="Times" panose="02020603050405020304" pitchFamily="18" charset="0"/>
              <a:buNone/>
            </a:pPr>
            <a:endParaRPr lang="de-DE" altLang="fr-FR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endParaRPr lang="de-DE" altLang="fr-FR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3450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fr-FR">
                <a:ea typeface="ＭＳ Ｐゴシック" panose="020B0600070205080204" pitchFamily="34" charset="-128"/>
              </a:rPr>
              <a:t>How do we get  OCL-Collections? </a:t>
            </a:r>
          </a:p>
        </p:txBody>
      </p:sp>
      <p:sp>
        <p:nvSpPr>
          <p:cNvPr id="2396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A collection can be generated by explicitly enumerating the elements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A collection can be generated by navigating along one or more 1-N associations</a:t>
            </a:r>
          </a:p>
          <a:p>
            <a:pPr lvl="1">
              <a:lnSpc>
                <a:spcPct val="110000"/>
              </a:lnSpc>
            </a:pPr>
            <a:r>
              <a:rPr lang="en-US" altLang="fr-FR">
                <a:ea typeface="ＭＳ Ｐゴシック" panose="020B0600070205080204" pitchFamily="34" charset="-128"/>
              </a:rPr>
              <a:t>Navigation along a single 1:n association yields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Set</a:t>
            </a:r>
            <a:endParaRPr lang="en-US" altLang="fr-FR">
              <a:ea typeface="ＭＳ Ｐゴシック" panose="020B0600070205080204" pitchFamily="34" charset="-128"/>
            </a:endParaRPr>
          </a:p>
          <a:p>
            <a:pPr lvl="1">
              <a:lnSpc>
                <a:spcPct val="110000"/>
              </a:lnSpc>
            </a:pPr>
            <a:r>
              <a:rPr lang="en-US" altLang="fr-FR">
                <a:ea typeface="ＭＳ Ｐゴシック" panose="020B0600070205080204" pitchFamily="34" charset="-128"/>
              </a:rPr>
              <a:t>Navigation along a couple of  1:n associations yields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Bag</a:t>
            </a:r>
            <a:r>
              <a:rPr lang="en-US" altLang="fr-FR">
                <a:ea typeface="ＭＳ Ｐゴシック" panose="020B0600070205080204" pitchFamily="34" charset="-128"/>
              </a:rPr>
              <a:t> (Multiset) </a:t>
            </a:r>
          </a:p>
          <a:p>
            <a:pPr lvl="1">
              <a:lnSpc>
                <a:spcPct val="110000"/>
              </a:lnSpc>
            </a:pPr>
            <a:r>
              <a:rPr lang="en-US" altLang="fr-FR">
                <a:ea typeface="ＭＳ Ｐゴシック" panose="020B0600070205080204" pitchFamily="34" charset="-128"/>
              </a:rPr>
              <a:t>Navigation along a single 1:n association labeled  with the constraint {ordered }  yields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Sequence</a:t>
            </a:r>
            <a:endParaRPr lang="en-US" altLang="fr-FR">
              <a:ea typeface="ＭＳ Ｐゴシック" panose="020B0600070205080204" pitchFamily="34" charset="-128"/>
            </a:endParaRPr>
          </a:p>
          <a:p>
            <a:pPr lvl="1">
              <a:lnSpc>
                <a:spcPct val="110000"/>
              </a:lnSpc>
            </a:pPr>
            <a:endParaRPr lang="en-US" altLang="fr-FR">
              <a:ea typeface="ＭＳ Ｐゴシック" panose="020B0600070205080204" pitchFamily="34" charset="-128"/>
            </a:endParaRPr>
          </a:p>
          <a:p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765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1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-171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de-DE" altLang="fr-FR" dirty="0">
                <a:ea typeface="ＭＳ Ｐゴシック" panose="020B0600070205080204" pitchFamily="34" charset="-128"/>
              </a:rPr>
              <a:t>Navigation </a:t>
            </a:r>
            <a:r>
              <a:rPr lang="de-DE" altLang="fr-FR" dirty="0" err="1">
                <a:ea typeface="ＭＳ Ｐゴシック" panose="020B0600070205080204" pitchFamily="34" charset="-128"/>
              </a:rPr>
              <a:t>through</a:t>
            </a:r>
            <a:r>
              <a:rPr lang="de-DE" altLang="fr-FR" dirty="0">
                <a:ea typeface="ＭＳ Ｐゴシック" panose="020B0600070205080204" pitchFamily="34" charset="-128"/>
              </a:rPr>
              <a:t> a 1:n-Association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947738"/>
            <a:ext cx="8901113" cy="1930400"/>
          </a:xfrm>
        </p:spPr>
        <p:txBody>
          <a:bodyPr>
            <a:normAutofit fontScale="32500" lnSpcReduction="20000"/>
          </a:bodyPr>
          <a:lstStyle/>
          <a:p>
            <a:pPr>
              <a:buFont typeface="Times" panose="02020603050405020304" pitchFamily="18" charset="0"/>
              <a:buNone/>
            </a:pPr>
            <a:endParaRPr lang="de-DE" altLang="fr-FR" dirty="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sz="4400" dirty="0" err="1">
                <a:ea typeface="ＭＳ Ｐゴシック" panose="020B0600070205080204" pitchFamily="34" charset="-128"/>
              </a:rPr>
              <a:t>Example</a:t>
            </a:r>
            <a:r>
              <a:rPr lang="de-DE" altLang="fr-FR" sz="4400" dirty="0">
                <a:ea typeface="ＭＳ Ｐゴシック" panose="020B0600070205080204" pitchFamily="34" charset="-128"/>
              </a:rPr>
              <a:t>: A Customer </a:t>
            </a:r>
            <a:r>
              <a:rPr lang="de-DE" altLang="fr-FR" sz="4400" dirty="0" err="1">
                <a:ea typeface="ＭＳ Ｐゴシック" panose="020B0600070205080204" pitchFamily="34" charset="-128"/>
              </a:rPr>
              <a:t>should</a:t>
            </a:r>
            <a:r>
              <a:rPr lang="de-DE" altLang="fr-FR" sz="4400" dirty="0">
                <a:ea typeface="ＭＳ Ｐゴシック" panose="020B0600070205080204" pitchFamily="34" charset="-128"/>
              </a:rPr>
              <a:t> not </a:t>
            </a:r>
            <a:r>
              <a:rPr lang="de-DE" altLang="fr-FR" sz="4400" dirty="0" err="1">
                <a:ea typeface="ＭＳ Ｐゴシック" panose="020B0600070205080204" pitchFamily="34" charset="-128"/>
              </a:rPr>
              <a:t>have</a:t>
            </a:r>
            <a:r>
              <a:rPr lang="de-DE" altLang="fr-FR" sz="4400" dirty="0">
                <a:ea typeface="ＭＳ Ｐゴシック" panose="020B0600070205080204" pitchFamily="34" charset="-128"/>
              </a:rPr>
              <a:t> </a:t>
            </a:r>
            <a:r>
              <a:rPr lang="de-DE" altLang="fr-FR" sz="4400" dirty="0" err="1">
                <a:ea typeface="ＭＳ Ｐゴシック" panose="020B0600070205080204" pitchFamily="34" charset="-128"/>
              </a:rPr>
              <a:t>more</a:t>
            </a:r>
            <a:r>
              <a:rPr lang="de-DE" altLang="fr-FR" sz="4400" dirty="0">
                <a:ea typeface="ＭＳ Ｐゴシック" panose="020B0600070205080204" pitchFamily="34" charset="-128"/>
              </a:rPr>
              <a:t> </a:t>
            </a:r>
            <a:r>
              <a:rPr lang="de-DE" altLang="fr-FR" sz="4400" dirty="0" err="1">
                <a:ea typeface="ＭＳ Ｐゴシック" panose="020B0600070205080204" pitchFamily="34" charset="-128"/>
              </a:rPr>
              <a:t>than</a:t>
            </a:r>
            <a:r>
              <a:rPr lang="de-DE" altLang="fr-FR" sz="4400" dirty="0">
                <a:ea typeface="ＭＳ Ｐゴシック" panose="020B0600070205080204" pitchFamily="34" charset="-128"/>
              </a:rPr>
              <a:t> 4 </a:t>
            </a:r>
            <a:r>
              <a:rPr lang="de-DE" altLang="fr-FR" sz="4400" dirty="0" err="1">
                <a:ea typeface="ＭＳ Ｐゴシック" panose="020B0600070205080204" pitchFamily="34" charset="-128"/>
              </a:rPr>
              <a:t>cards</a:t>
            </a:r>
            <a:endParaRPr lang="de-DE" altLang="fr-FR" sz="4400" dirty="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36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36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36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Customer </a:t>
            </a:r>
            <a:r>
              <a:rPr lang="en-US" altLang="fr-FR" sz="3600" b="1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36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3600" dirty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card-&gt;size &lt;= 4</a:t>
            </a:r>
            <a:endParaRPr lang="de-DE" altLang="fr-FR" sz="3600" b="1" u="sng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endParaRPr lang="de-DE" altLang="fr-FR" sz="3600" b="1" u="sng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 sz="3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Alternative </a:t>
            </a:r>
            <a:r>
              <a:rPr lang="de-DE" altLang="fr-FR" sz="36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writing</a:t>
            </a:r>
            <a:r>
              <a:rPr lang="de-DE" altLang="fr-FR" sz="3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style</a:t>
            </a:r>
            <a:endParaRPr lang="de-DE" altLang="fr-FR" sz="3600" b="1" u="sng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sz="3600" b="1" u="sng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Customer</a:t>
            </a:r>
            <a:endParaRPr lang="de-DE" altLang="fr-FR" sz="3600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sz="36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card</a:t>
            </a:r>
            <a:r>
              <a:rPr lang="de-DE" altLang="fr-FR" sz="3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-&gt;</a:t>
            </a:r>
            <a:r>
              <a:rPr lang="de-DE" altLang="fr-FR" sz="36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size</a:t>
            </a:r>
            <a:r>
              <a:rPr lang="de-DE" altLang="fr-FR" sz="3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&lt;= 4</a:t>
            </a:r>
            <a:endParaRPr lang="de-DE" altLang="fr-FR" sz="1800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grpSp>
        <p:nvGrpSpPr>
          <p:cNvPr id="58372" name="Group 4"/>
          <p:cNvGrpSpPr>
            <a:grpSpLocks/>
          </p:cNvGrpSpPr>
          <p:nvPr/>
        </p:nvGrpSpPr>
        <p:grpSpPr bwMode="auto">
          <a:xfrm>
            <a:off x="4475163" y="2227263"/>
            <a:ext cx="2427287" cy="4264025"/>
            <a:chOff x="2389" y="1589"/>
            <a:chExt cx="1655" cy="2686"/>
          </a:xfrm>
        </p:grpSpPr>
        <p:sp>
          <p:nvSpPr>
            <p:cNvPr id="58376" name="Freeform 5"/>
            <p:cNvSpPr>
              <a:spLocks/>
            </p:cNvSpPr>
            <p:nvPr/>
          </p:nvSpPr>
          <p:spPr bwMode="auto">
            <a:xfrm>
              <a:off x="2389" y="1788"/>
              <a:ext cx="931" cy="546"/>
            </a:xfrm>
            <a:custGeom>
              <a:avLst/>
              <a:gdLst>
                <a:gd name="T0" fmla="*/ 0 w 931"/>
                <a:gd name="T1" fmla="*/ 0 h 546"/>
                <a:gd name="T2" fmla="*/ 0 w 931"/>
                <a:gd name="T3" fmla="*/ 546 h 546"/>
                <a:gd name="T4" fmla="*/ 931 w 931"/>
                <a:gd name="T5" fmla="*/ 546 h 546"/>
                <a:gd name="T6" fmla="*/ 931 w 931"/>
                <a:gd name="T7" fmla="*/ 0 h 546"/>
                <a:gd name="T8" fmla="*/ 0 w 931"/>
                <a:gd name="T9" fmla="*/ 0 h 546"/>
                <a:gd name="T10" fmla="*/ 0 w 931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1"/>
                <a:gd name="T19" fmla="*/ 0 h 546"/>
                <a:gd name="T20" fmla="*/ 931 w 931"/>
                <a:gd name="T21" fmla="*/ 546 h 5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1" h="546">
                  <a:moveTo>
                    <a:pt x="0" y="0"/>
                  </a:moveTo>
                  <a:lnTo>
                    <a:pt x="0" y="546"/>
                  </a:lnTo>
                  <a:lnTo>
                    <a:pt x="931" y="546"/>
                  </a:lnTo>
                  <a:lnTo>
                    <a:pt x="9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77" name="Rectangle 6"/>
            <p:cNvSpPr>
              <a:spLocks noChangeArrowheads="1"/>
            </p:cNvSpPr>
            <p:nvPr/>
          </p:nvSpPr>
          <p:spPr bwMode="auto">
            <a:xfrm>
              <a:off x="2389" y="1788"/>
              <a:ext cx="931" cy="54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78" name="Rectangle 7"/>
            <p:cNvSpPr>
              <a:spLocks noChangeArrowheads="1"/>
            </p:cNvSpPr>
            <p:nvPr/>
          </p:nvSpPr>
          <p:spPr bwMode="auto">
            <a:xfrm>
              <a:off x="2411" y="1821"/>
              <a:ext cx="29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name:</a:t>
              </a:r>
              <a:endParaRPr lang="de-DE" altLang="fr-FR" sz="2000"/>
            </a:p>
          </p:txBody>
        </p:sp>
        <p:sp>
          <p:nvSpPr>
            <p:cNvPr id="58379" name="Rectangle 8"/>
            <p:cNvSpPr>
              <a:spLocks noChangeArrowheads="1"/>
            </p:cNvSpPr>
            <p:nvPr/>
          </p:nvSpPr>
          <p:spPr bwMode="auto">
            <a:xfrm>
              <a:off x="2706" y="1821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380" name="Rectangle 9"/>
            <p:cNvSpPr>
              <a:spLocks noChangeArrowheads="1"/>
            </p:cNvSpPr>
            <p:nvPr/>
          </p:nvSpPr>
          <p:spPr bwMode="auto">
            <a:xfrm>
              <a:off x="2735" y="1821"/>
              <a:ext cx="29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String</a:t>
              </a:r>
              <a:endParaRPr lang="de-DE" altLang="fr-FR" sz="2000"/>
            </a:p>
          </p:txBody>
        </p:sp>
        <p:sp>
          <p:nvSpPr>
            <p:cNvPr id="58381" name="Rectangle 10"/>
            <p:cNvSpPr>
              <a:spLocks noChangeArrowheads="1"/>
            </p:cNvSpPr>
            <p:nvPr/>
          </p:nvSpPr>
          <p:spPr bwMode="auto">
            <a:xfrm>
              <a:off x="2411" y="1946"/>
              <a:ext cx="22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titel:</a:t>
              </a:r>
              <a:endParaRPr lang="de-DE" altLang="fr-FR" sz="2000"/>
            </a:p>
          </p:txBody>
        </p:sp>
        <p:sp>
          <p:nvSpPr>
            <p:cNvPr id="58382" name="Rectangle 11"/>
            <p:cNvSpPr>
              <a:spLocks noChangeArrowheads="1"/>
            </p:cNvSpPr>
            <p:nvPr/>
          </p:nvSpPr>
          <p:spPr bwMode="auto">
            <a:xfrm>
              <a:off x="2642" y="1946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383" name="Rectangle 12"/>
            <p:cNvSpPr>
              <a:spLocks noChangeArrowheads="1"/>
            </p:cNvSpPr>
            <p:nvPr/>
          </p:nvSpPr>
          <p:spPr bwMode="auto">
            <a:xfrm>
              <a:off x="2674" y="1946"/>
              <a:ext cx="29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String</a:t>
              </a:r>
              <a:endParaRPr lang="de-DE" altLang="fr-FR" sz="2000"/>
            </a:p>
          </p:txBody>
        </p:sp>
        <p:sp>
          <p:nvSpPr>
            <p:cNvPr id="58384" name="Rectangle 13"/>
            <p:cNvSpPr>
              <a:spLocks noChangeArrowheads="1"/>
            </p:cNvSpPr>
            <p:nvPr/>
          </p:nvSpPr>
          <p:spPr bwMode="auto">
            <a:xfrm>
              <a:off x="2411" y="2070"/>
              <a:ext cx="20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age:</a:t>
              </a:r>
              <a:endParaRPr lang="de-DE" altLang="fr-FR" sz="2000"/>
            </a:p>
          </p:txBody>
        </p:sp>
        <p:sp>
          <p:nvSpPr>
            <p:cNvPr id="58385" name="Rectangle 14"/>
            <p:cNvSpPr>
              <a:spLocks noChangeArrowheads="1"/>
            </p:cNvSpPr>
            <p:nvPr/>
          </p:nvSpPr>
          <p:spPr bwMode="auto">
            <a:xfrm>
              <a:off x="2663" y="2070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386" name="Rectangle 15"/>
            <p:cNvSpPr>
              <a:spLocks noChangeArrowheads="1"/>
            </p:cNvSpPr>
            <p:nvPr/>
          </p:nvSpPr>
          <p:spPr bwMode="auto">
            <a:xfrm>
              <a:off x="2695" y="2070"/>
              <a:ext cx="34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Integer</a:t>
              </a:r>
              <a:endParaRPr lang="de-DE" altLang="fr-FR" sz="2000"/>
            </a:p>
          </p:txBody>
        </p:sp>
        <p:sp>
          <p:nvSpPr>
            <p:cNvPr id="58387" name="Rectangle 16"/>
            <p:cNvSpPr>
              <a:spLocks noChangeArrowheads="1"/>
            </p:cNvSpPr>
            <p:nvPr/>
          </p:nvSpPr>
          <p:spPr bwMode="auto">
            <a:xfrm>
              <a:off x="2411" y="2195"/>
              <a:ext cx="43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birthday:</a:t>
              </a:r>
              <a:endParaRPr lang="de-DE" altLang="fr-FR" sz="2000"/>
            </a:p>
          </p:txBody>
        </p:sp>
        <p:sp>
          <p:nvSpPr>
            <p:cNvPr id="58388" name="Rectangle 17"/>
            <p:cNvSpPr>
              <a:spLocks noChangeArrowheads="1"/>
            </p:cNvSpPr>
            <p:nvPr/>
          </p:nvSpPr>
          <p:spPr bwMode="auto">
            <a:xfrm>
              <a:off x="2923" y="2195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389" name="Rectangle 18"/>
            <p:cNvSpPr>
              <a:spLocks noChangeArrowheads="1"/>
            </p:cNvSpPr>
            <p:nvPr/>
          </p:nvSpPr>
          <p:spPr bwMode="auto">
            <a:xfrm>
              <a:off x="2955" y="2195"/>
              <a:ext cx="22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Date</a:t>
              </a:r>
              <a:endParaRPr lang="de-DE" altLang="fr-FR" sz="2000"/>
            </a:p>
          </p:txBody>
        </p:sp>
        <p:sp>
          <p:nvSpPr>
            <p:cNvPr id="58390" name="Freeform 19"/>
            <p:cNvSpPr>
              <a:spLocks/>
            </p:cNvSpPr>
            <p:nvPr/>
          </p:nvSpPr>
          <p:spPr bwMode="auto">
            <a:xfrm>
              <a:off x="2389" y="2334"/>
              <a:ext cx="931" cy="170"/>
            </a:xfrm>
            <a:custGeom>
              <a:avLst/>
              <a:gdLst>
                <a:gd name="T0" fmla="*/ 0 w 931"/>
                <a:gd name="T1" fmla="*/ 0 h 170"/>
                <a:gd name="T2" fmla="*/ 0 w 931"/>
                <a:gd name="T3" fmla="*/ 170 h 170"/>
                <a:gd name="T4" fmla="*/ 931 w 931"/>
                <a:gd name="T5" fmla="*/ 170 h 170"/>
                <a:gd name="T6" fmla="*/ 931 w 931"/>
                <a:gd name="T7" fmla="*/ 0 h 170"/>
                <a:gd name="T8" fmla="*/ 0 w 931"/>
                <a:gd name="T9" fmla="*/ 0 h 170"/>
                <a:gd name="T10" fmla="*/ 0 w 931"/>
                <a:gd name="T11" fmla="*/ 0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1"/>
                <a:gd name="T19" fmla="*/ 0 h 170"/>
                <a:gd name="T20" fmla="*/ 931 w 931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1" h="170">
                  <a:moveTo>
                    <a:pt x="0" y="0"/>
                  </a:moveTo>
                  <a:lnTo>
                    <a:pt x="0" y="170"/>
                  </a:lnTo>
                  <a:lnTo>
                    <a:pt x="931" y="170"/>
                  </a:lnTo>
                  <a:lnTo>
                    <a:pt x="9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91" name="Rectangle 20"/>
            <p:cNvSpPr>
              <a:spLocks noChangeArrowheads="1"/>
            </p:cNvSpPr>
            <p:nvPr/>
          </p:nvSpPr>
          <p:spPr bwMode="auto">
            <a:xfrm>
              <a:off x="2389" y="2334"/>
              <a:ext cx="931" cy="170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92" name="Rectangle 21"/>
            <p:cNvSpPr>
              <a:spLocks noChangeArrowheads="1"/>
            </p:cNvSpPr>
            <p:nvPr/>
          </p:nvSpPr>
          <p:spPr bwMode="auto">
            <a:xfrm>
              <a:off x="2411" y="2365"/>
              <a:ext cx="4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getage():</a:t>
              </a:r>
              <a:endParaRPr lang="de-DE" altLang="fr-FR" sz="2000"/>
            </a:p>
          </p:txBody>
        </p:sp>
        <p:sp>
          <p:nvSpPr>
            <p:cNvPr id="58393" name="Rectangle 22"/>
            <p:cNvSpPr>
              <a:spLocks noChangeArrowheads="1"/>
            </p:cNvSpPr>
            <p:nvPr/>
          </p:nvSpPr>
          <p:spPr bwMode="auto">
            <a:xfrm>
              <a:off x="2923" y="2365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394" name="Rectangle 23"/>
            <p:cNvSpPr>
              <a:spLocks noChangeArrowheads="1"/>
            </p:cNvSpPr>
            <p:nvPr/>
          </p:nvSpPr>
          <p:spPr bwMode="auto">
            <a:xfrm>
              <a:off x="2955" y="2365"/>
              <a:ext cx="34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Integer</a:t>
              </a:r>
              <a:endParaRPr lang="de-DE" altLang="fr-FR" sz="2000"/>
            </a:p>
          </p:txBody>
        </p:sp>
        <p:sp>
          <p:nvSpPr>
            <p:cNvPr id="58395" name="Freeform 24"/>
            <p:cNvSpPr>
              <a:spLocks/>
            </p:cNvSpPr>
            <p:nvPr/>
          </p:nvSpPr>
          <p:spPr bwMode="auto">
            <a:xfrm>
              <a:off x="2389" y="1589"/>
              <a:ext cx="931" cy="199"/>
            </a:xfrm>
            <a:custGeom>
              <a:avLst/>
              <a:gdLst>
                <a:gd name="T0" fmla="*/ 0 w 931"/>
                <a:gd name="T1" fmla="*/ 0 h 199"/>
                <a:gd name="T2" fmla="*/ 0 w 931"/>
                <a:gd name="T3" fmla="*/ 199 h 199"/>
                <a:gd name="T4" fmla="*/ 931 w 931"/>
                <a:gd name="T5" fmla="*/ 199 h 199"/>
                <a:gd name="T6" fmla="*/ 931 w 931"/>
                <a:gd name="T7" fmla="*/ 0 h 199"/>
                <a:gd name="T8" fmla="*/ 0 w 931"/>
                <a:gd name="T9" fmla="*/ 0 h 199"/>
                <a:gd name="T10" fmla="*/ 0 w 931"/>
                <a:gd name="T11" fmla="*/ 0 h 1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1"/>
                <a:gd name="T19" fmla="*/ 0 h 199"/>
                <a:gd name="T20" fmla="*/ 931 w 931"/>
                <a:gd name="T21" fmla="*/ 199 h 1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1" h="199">
                  <a:moveTo>
                    <a:pt x="0" y="0"/>
                  </a:moveTo>
                  <a:lnTo>
                    <a:pt x="0" y="199"/>
                  </a:lnTo>
                  <a:lnTo>
                    <a:pt x="931" y="199"/>
                  </a:lnTo>
                  <a:lnTo>
                    <a:pt x="9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96" name="Rectangle 25"/>
            <p:cNvSpPr>
              <a:spLocks noChangeArrowheads="1"/>
            </p:cNvSpPr>
            <p:nvPr/>
          </p:nvSpPr>
          <p:spPr bwMode="auto">
            <a:xfrm>
              <a:off x="2389" y="1589"/>
              <a:ext cx="931" cy="199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97" name="Rectangle 26"/>
            <p:cNvSpPr>
              <a:spLocks noChangeArrowheads="1"/>
            </p:cNvSpPr>
            <p:nvPr/>
          </p:nvSpPr>
          <p:spPr bwMode="auto">
            <a:xfrm>
              <a:off x="2679" y="1635"/>
              <a:ext cx="51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Customer</a:t>
              </a:r>
              <a:endParaRPr lang="de-DE" altLang="fr-FR" sz="2000"/>
            </a:p>
          </p:txBody>
        </p:sp>
        <p:sp>
          <p:nvSpPr>
            <p:cNvPr id="58398" name="Freeform 27"/>
            <p:cNvSpPr>
              <a:spLocks/>
            </p:cNvSpPr>
            <p:nvPr/>
          </p:nvSpPr>
          <p:spPr bwMode="auto">
            <a:xfrm>
              <a:off x="2872" y="3077"/>
              <a:ext cx="1172" cy="795"/>
            </a:xfrm>
            <a:custGeom>
              <a:avLst/>
              <a:gdLst>
                <a:gd name="T0" fmla="*/ 0 w 1172"/>
                <a:gd name="T1" fmla="*/ 0 h 795"/>
                <a:gd name="T2" fmla="*/ 0 w 1172"/>
                <a:gd name="T3" fmla="*/ 795 h 795"/>
                <a:gd name="T4" fmla="*/ 1172 w 1172"/>
                <a:gd name="T5" fmla="*/ 795 h 795"/>
                <a:gd name="T6" fmla="*/ 1172 w 1172"/>
                <a:gd name="T7" fmla="*/ 0 h 795"/>
                <a:gd name="T8" fmla="*/ 0 w 1172"/>
                <a:gd name="T9" fmla="*/ 0 h 795"/>
                <a:gd name="T10" fmla="*/ 0 w 1172"/>
                <a:gd name="T11" fmla="*/ 0 h 7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72"/>
                <a:gd name="T19" fmla="*/ 0 h 795"/>
                <a:gd name="T20" fmla="*/ 1172 w 1172"/>
                <a:gd name="T21" fmla="*/ 795 h 79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72" h="795">
                  <a:moveTo>
                    <a:pt x="0" y="0"/>
                  </a:moveTo>
                  <a:lnTo>
                    <a:pt x="0" y="795"/>
                  </a:lnTo>
                  <a:lnTo>
                    <a:pt x="1172" y="795"/>
                  </a:lnTo>
                  <a:lnTo>
                    <a:pt x="11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399" name="Rectangle 28"/>
            <p:cNvSpPr>
              <a:spLocks noChangeArrowheads="1"/>
            </p:cNvSpPr>
            <p:nvPr/>
          </p:nvSpPr>
          <p:spPr bwMode="auto">
            <a:xfrm>
              <a:off x="2872" y="3077"/>
              <a:ext cx="1172" cy="795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400" name="Rectangle 29"/>
            <p:cNvSpPr>
              <a:spLocks noChangeArrowheads="1"/>
            </p:cNvSpPr>
            <p:nvPr/>
          </p:nvSpPr>
          <p:spPr bwMode="auto">
            <a:xfrm>
              <a:off x="2894" y="3107"/>
              <a:ext cx="27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valid:</a:t>
              </a:r>
              <a:endParaRPr lang="de-DE" altLang="fr-FR" sz="2000"/>
            </a:p>
          </p:txBody>
        </p:sp>
        <p:sp>
          <p:nvSpPr>
            <p:cNvPr id="58401" name="Rectangle 30"/>
            <p:cNvSpPr>
              <a:spLocks noChangeArrowheads="1"/>
            </p:cNvSpPr>
            <p:nvPr/>
          </p:nvSpPr>
          <p:spPr bwMode="auto">
            <a:xfrm>
              <a:off x="3188" y="3107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02" name="Rectangle 31"/>
            <p:cNvSpPr>
              <a:spLocks noChangeArrowheads="1"/>
            </p:cNvSpPr>
            <p:nvPr/>
          </p:nvSpPr>
          <p:spPr bwMode="auto">
            <a:xfrm>
              <a:off x="3218" y="3107"/>
              <a:ext cx="40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Boolean</a:t>
              </a:r>
              <a:endParaRPr lang="de-DE" altLang="fr-FR" sz="2000"/>
            </a:p>
          </p:txBody>
        </p:sp>
        <p:sp>
          <p:nvSpPr>
            <p:cNvPr id="58403" name="Rectangle 32"/>
            <p:cNvSpPr>
              <a:spLocks noChangeArrowheads="1"/>
            </p:cNvSpPr>
            <p:nvPr/>
          </p:nvSpPr>
          <p:spPr bwMode="auto">
            <a:xfrm>
              <a:off x="2894" y="3232"/>
              <a:ext cx="54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validSince:</a:t>
              </a:r>
              <a:endParaRPr lang="de-DE" altLang="fr-FR" sz="2000"/>
            </a:p>
          </p:txBody>
        </p:sp>
        <p:sp>
          <p:nvSpPr>
            <p:cNvPr id="58404" name="Rectangle 33"/>
            <p:cNvSpPr>
              <a:spLocks noChangeArrowheads="1"/>
            </p:cNvSpPr>
            <p:nvPr/>
          </p:nvSpPr>
          <p:spPr bwMode="auto">
            <a:xfrm>
              <a:off x="3324" y="3232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05" name="Rectangle 34"/>
            <p:cNvSpPr>
              <a:spLocks noChangeArrowheads="1"/>
            </p:cNvSpPr>
            <p:nvPr/>
          </p:nvSpPr>
          <p:spPr bwMode="auto">
            <a:xfrm>
              <a:off x="3353" y="3232"/>
              <a:ext cx="22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Date</a:t>
              </a:r>
              <a:endParaRPr lang="de-DE" altLang="fr-FR" sz="2000"/>
            </a:p>
          </p:txBody>
        </p:sp>
        <p:sp>
          <p:nvSpPr>
            <p:cNvPr id="58406" name="Rectangle 35"/>
            <p:cNvSpPr>
              <a:spLocks noChangeArrowheads="1"/>
            </p:cNvSpPr>
            <p:nvPr/>
          </p:nvSpPr>
          <p:spPr bwMode="auto">
            <a:xfrm>
              <a:off x="2894" y="3359"/>
              <a:ext cx="38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expires:</a:t>
              </a:r>
              <a:endParaRPr lang="de-DE" altLang="fr-FR" sz="2000"/>
            </a:p>
          </p:txBody>
        </p:sp>
        <p:sp>
          <p:nvSpPr>
            <p:cNvPr id="58407" name="Rectangle 36"/>
            <p:cNvSpPr>
              <a:spLocks noChangeArrowheads="1"/>
            </p:cNvSpPr>
            <p:nvPr/>
          </p:nvSpPr>
          <p:spPr bwMode="auto">
            <a:xfrm>
              <a:off x="3460" y="3359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08" name="Rectangle 37"/>
            <p:cNvSpPr>
              <a:spLocks noChangeArrowheads="1"/>
            </p:cNvSpPr>
            <p:nvPr/>
          </p:nvSpPr>
          <p:spPr bwMode="auto">
            <a:xfrm>
              <a:off x="3491" y="3359"/>
              <a:ext cx="22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Date</a:t>
              </a:r>
              <a:endParaRPr lang="de-DE" altLang="fr-FR" sz="2000"/>
            </a:p>
          </p:txBody>
        </p:sp>
        <p:sp>
          <p:nvSpPr>
            <p:cNvPr id="58409" name="Rectangle 38"/>
            <p:cNvSpPr>
              <a:spLocks noChangeArrowheads="1"/>
            </p:cNvSpPr>
            <p:nvPr/>
          </p:nvSpPr>
          <p:spPr bwMode="auto">
            <a:xfrm>
              <a:off x="2894" y="3483"/>
              <a:ext cx="28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color:</a:t>
              </a:r>
              <a:endParaRPr lang="de-DE" altLang="fr-FR" sz="2000"/>
            </a:p>
          </p:txBody>
        </p:sp>
        <p:sp>
          <p:nvSpPr>
            <p:cNvPr id="58410" name="Rectangle 39"/>
            <p:cNvSpPr>
              <a:spLocks noChangeArrowheads="1"/>
            </p:cNvSpPr>
            <p:nvPr/>
          </p:nvSpPr>
          <p:spPr bwMode="auto">
            <a:xfrm>
              <a:off x="3167" y="3483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</a:t>
              </a:r>
              <a:endParaRPr lang="de-DE" altLang="fr-FR" sz="2000"/>
            </a:p>
          </p:txBody>
        </p:sp>
        <p:sp>
          <p:nvSpPr>
            <p:cNvPr id="58411" name="Rectangle 40"/>
            <p:cNvSpPr>
              <a:spLocks noChangeArrowheads="1"/>
            </p:cNvSpPr>
            <p:nvPr/>
          </p:nvSpPr>
          <p:spPr bwMode="auto">
            <a:xfrm>
              <a:off x="3228" y="3483"/>
              <a:ext cx="26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enum</a:t>
              </a:r>
              <a:endParaRPr lang="de-DE" altLang="fr-FR" sz="2000"/>
            </a:p>
          </p:txBody>
        </p:sp>
        <p:sp>
          <p:nvSpPr>
            <p:cNvPr id="58412" name="Rectangle 41"/>
            <p:cNvSpPr>
              <a:spLocks noChangeArrowheads="1"/>
            </p:cNvSpPr>
            <p:nvPr/>
          </p:nvSpPr>
          <p:spPr bwMode="auto">
            <a:xfrm>
              <a:off x="3491" y="3483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13" name="Rectangle 42"/>
            <p:cNvSpPr>
              <a:spLocks noChangeArrowheads="1"/>
            </p:cNvSpPr>
            <p:nvPr/>
          </p:nvSpPr>
          <p:spPr bwMode="auto">
            <a:xfrm>
              <a:off x="3520" y="3483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{</a:t>
              </a:r>
              <a:endParaRPr lang="de-DE" altLang="fr-FR" sz="2000"/>
            </a:p>
          </p:txBody>
        </p:sp>
        <p:sp>
          <p:nvSpPr>
            <p:cNvPr id="58414" name="Rectangle 43"/>
            <p:cNvSpPr>
              <a:spLocks noChangeArrowheads="1"/>
            </p:cNvSpPr>
            <p:nvPr/>
          </p:nvSpPr>
          <p:spPr bwMode="auto">
            <a:xfrm>
              <a:off x="3573" y="3483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15" name="Rectangle 44"/>
            <p:cNvSpPr>
              <a:spLocks noChangeArrowheads="1"/>
            </p:cNvSpPr>
            <p:nvPr/>
          </p:nvSpPr>
          <p:spPr bwMode="auto">
            <a:xfrm>
              <a:off x="3605" y="3483"/>
              <a:ext cx="29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silver,</a:t>
              </a:r>
              <a:endParaRPr lang="de-DE" altLang="fr-FR" sz="2000"/>
            </a:p>
          </p:txBody>
        </p:sp>
        <p:sp>
          <p:nvSpPr>
            <p:cNvPr id="58416" name="Rectangle 45"/>
            <p:cNvSpPr>
              <a:spLocks noChangeArrowheads="1"/>
            </p:cNvSpPr>
            <p:nvPr/>
          </p:nvSpPr>
          <p:spPr bwMode="auto">
            <a:xfrm>
              <a:off x="3886" y="3483"/>
              <a:ext cx="3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17" name="Rectangle 46"/>
            <p:cNvSpPr>
              <a:spLocks noChangeArrowheads="1"/>
            </p:cNvSpPr>
            <p:nvPr/>
          </p:nvSpPr>
          <p:spPr bwMode="auto">
            <a:xfrm>
              <a:off x="2894" y="3608"/>
              <a:ext cx="69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     </a:t>
              </a:r>
              <a:endParaRPr lang="de-DE" altLang="fr-FR" sz="2000"/>
            </a:p>
          </p:txBody>
        </p:sp>
        <p:sp>
          <p:nvSpPr>
            <p:cNvPr id="58418" name="Rectangle 47"/>
            <p:cNvSpPr>
              <a:spLocks noChangeArrowheads="1"/>
            </p:cNvSpPr>
            <p:nvPr/>
          </p:nvSpPr>
          <p:spPr bwMode="auto">
            <a:xfrm>
              <a:off x="3616" y="3608"/>
              <a:ext cx="27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gold}</a:t>
              </a:r>
              <a:endParaRPr lang="de-DE" altLang="fr-FR" sz="2000"/>
            </a:p>
          </p:txBody>
        </p:sp>
        <p:sp>
          <p:nvSpPr>
            <p:cNvPr id="58419" name="Rectangle 48"/>
            <p:cNvSpPr>
              <a:spLocks noChangeArrowheads="1"/>
            </p:cNvSpPr>
            <p:nvPr/>
          </p:nvSpPr>
          <p:spPr bwMode="auto">
            <a:xfrm>
              <a:off x="2894" y="3733"/>
              <a:ext cx="69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printedName :</a:t>
              </a:r>
            </a:p>
          </p:txBody>
        </p:sp>
        <p:sp>
          <p:nvSpPr>
            <p:cNvPr id="58420" name="Rectangle 49"/>
            <p:cNvSpPr>
              <a:spLocks noChangeArrowheads="1"/>
            </p:cNvSpPr>
            <p:nvPr/>
          </p:nvSpPr>
          <p:spPr bwMode="auto">
            <a:xfrm>
              <a:off x="3708" y="3733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de-DE" altLang="fr-FR" sz="2000"/>
            </a:p>
          </p:txBody>
        </p:sp>
        <p:sp>
          <p:nvSpPr>
            <p:cNvPr id="58421" name="Rectangle 50"/>
            <p:cNvSpPr>
              <a:spLocks noChangeArrowheads="1"/>
            </p:cNvSpPr>
            <p:nvPr/>
          </p:nvSpPr>
          <p:spPr bwMode="auto">
            <a:xfrm>
              <a:off x="3740" y="3733"/>
              <a:ext cx="29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String</a:t>
              </a:r>
              <a:endParaRPr lang="de-DE" altLang="fr-FR" sz="2000"/>
            </a:p>
          </p:txBody>
        </p:sp>
        <p:sp>
          <p:nvSpPr>
            <p:cNvPr id="58422" name="Freeform 51"/>
            <p:cNvSpPr>
              <a:spLocks/>
            </p:cNvSpPr>
            <p:nvPr/>
          </p:nvSpPr>
          <p:spPr bwMode="auto">
            <a:xfrm>
              <a:off x="2872" y="3872"/>
              <a:ext cx="1172" cy="170"/>
            </a:xfrm>
            <a:custGeom>
              <a:avLst/>
              <a:gdLst>
                <a:gd name="T0" fmla="*/ 0 w 1172"/>
                <a:gd name="T1" fmla="*/ 0 h 170"/>
                <a:gd name="T2" fmla="*/ 0 w 1172"/>
                <a:gd name="T3" fmla="*/ 170 h 170"/>
                <a:gd name="T4" fmla="*/ 1172 w 1172"/>
                <a:gd name="T5" fmla="*/ 170 h 170"/>
                <a:gd name="T6" fmla="*/ 1172 w 1172"/>
                <a:gd name="T7" fmla="*/ 0 h 170"/>
                <a:gd name="T8" fmla="*/ 0 w 1172"/>
                <a:gd name="T9" fmla="*/ 0 h 170"/>
                <a:gd name="T10" fmla="*/ 0 w 1172"/>
                <a:gd name="T11" fmla="*/ 0 h 1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72"/>
                <a:gd name="T19" fmla="*/ 0 h 170"/>
                <a:gd name="T20" fmla="*/ 1172 w 1172"/>
                <a:gd name="T21" fmla="*/ 170 h 1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72" h="170">
                  <a:moveTo>
                    <a:pt x="0" y="0"/>
                  </a:moveTo>
                  <a:lnTo>
                    <a:pt x="0" y="170"/>
                  </a:lnTo>
                  <a:lnTo>
                    <a:pt x="1172" y="170"/>
                  </a:lnTo>
                  <a:lnTo>
                    <a:pt x="11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423" name="Freeform 52"/>
            <p:cNvSpPr>
              <a:spLocks/>
            </p:cNvSpPr>
            <p:nvPr/>
          </p:nvSpPr>
          <p:spPr bwMode="auto">
            <a:xfrm>
              <a:off x="2872" y="2878"/>
              <a:ext cx="1172" cy="199"/>
            </a:xfrm>
            <a:custGeom>
              <a:avLst/>
              <a:gdLst>
                <a:gd name="T0" fmla="*/ 0 w 1172"/>
                <a:gd name="T1" fmla="*/ 0 h 199"/>
                <a:gd name="T2" fmla="*/ 0 w 1172"/>
                <a:gd name="T3" fmla="*/ 199 h 199"/>
                <a:gd name="T4" fmla="*/ 1172 w 1172"/>
                <a:gd name="T5" fmla="*/ 199 h 199"/>
                <a:gd name="T6" fmla="*/ 1172 w 1172"/>
                <a:gd name="T7" fmla="*/ 0 h 199"/>
                <a:gd name="T8" fmla="*/ 0 w 1172"/>
                <a:gd name="T9" fmla="*/ 0 h 199"/>
                <a:gd name="T10" fmla="*/ 0 w 1172"/>
                <a:gd name="T11" fmla="*/ 0 h 1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72"/>
                <a:gd name="T19" fmla="*/ 0 h 199"/>
                <a:gd name="T20" fmla="*/ 1172 w 1172"/>
                <a:gd name="T21" fmla="*/ 199 h 1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72" h="199">
                  <a:moveTo>
                    <a:pt x="0" y="0"/>
                  </a:moveTo>
                  <a:lnTo>
                    <a:pt x="0" y="199"/>
                  </a:lnTo>
                  <a:lnTo>
                    <a:pt x="1172" y="199"/>
                  </a:lnTo>
                  <a:lnTo>
                    <a:pt x="11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424" name="Rectangle 53"/>
            <p:cNvSpPr>
              <a:spLocks noChangeArrowheads="1"/>
            </p:cNvSpPr>
            <p:nvPr/>
          </p:nvSpPr>
          <p:spPr bwMode="auto">
            <a:xfrm>
              <a:off x="2872" y="3872"/>
              <a:ext cx="1172" cy="170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425" name="Rectangle 54"/>
            <p:cNvSpPr>
              <a:spLocks noChangeArrowheads="1"/>
            </p:cNvSpPr>
            <p:nvPr/>
          </p:nvSpPr>
          <p:spPr bwMode="auto">
            <a:xfrm>
              <a:off x="2872" y="2878"/>
              <a:ext cx="1172" cy="199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58426" name="Rectangle 55"/>
            <p:cNvSpPr>
              <a:spLocks noChangeArrowheads="1"/>
            </p:cNvSpPr>
            <p:nvPr/>
          </p:nvSpPr>
          <p:spPr bwMode="auto">
            <a:xfrm>
              <a:off x="3093" y="2924"/>
              <a:ext cx="74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customerCard</a:t>
              </a:r>
              <a:endParaRPr lang="de-DE" altLang="fr-FR" sz="2000"/>
            </a:p>
          </p:txBody>
        </p:sp>
        <p:sp>
          <p:nvSpPr>
            <p:cNvPr id="58427" name="Rectangle 56"/>
            <p:cNvSpPr>
              <a:spLocks noChangeArrowheads="1"/>
            </p:cNvSpPr>
            <p:nvPr/>
          </p:nvSpPr>
          <p:spPr bwMode="auto">
            <a:xfrm>
              <a:off x="2727" y="2540"/>
              <a:ext cx="3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owner</a:t>
              </a:r>
              <a:endParaRPr lang="de-DE" altLang="fr-FR" sz="2000"/>
            </a:p>
          </p:txBody>
        </p:sp>
        <p:sp>
          <p:nvSpPr>
            <p:cNvPr id="58428" name="Rectangle 57"/>
            <p:cNvSpPr>
              <a:spLocks noChangeArrowheads="1"/>
            </p:cNvSpPr>
            <p:nvPr/>
          </p:nvSpPr>
          <p:spPr bwMode="auto">
            <a:xfrm>
              <a:off x="2935" y="2738"/>
              <a:ext cx="20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card</a:t>
              </a:r>
              <a:endParaRPr lang="de-DE" altLang="fr-FR" sz="2000"/>
            </a:p>
          </p:txBody>
        </p:sp>
        <p:sp>
          <p:nvSpPr>
            <p:cNvPr id="58429" name="Rectangle 58"/>
            <p:cNvSpPr>
              <a:spLocks noChangeArrowheads="1"/>
            </p:cNvSpPr>
            <p:nvPr/>
          </p:nvSpPr>
          <p:spPr bwMode="auto">
            <a:xfrm>
              <a:off x="3486" y="4083"/>
              <a:ext cx="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de-DE" altLang="fr-FR" sz="2000"/>
            </a:p>
          </p:txBody>
        </p:sp>
        <p:sp>
          <p:nvSpPr>
            <p:cNvPr id="58430" name="Line 59"/>
            <p:cNvSpPr>
              <a:spLocks noChangeShapeType="1"/>
            </p:cNvSpPr>
            <p:nvPr/>
          </p:nvSpPr>
          <p:spPr bwMode="auto">
            <a:xfrm>
              <a:off x="3090" y="2504"/>
              <a:ext cx="368" cy="374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8431" name="Rectangle 60"/>
            <p:cNvSpPr>
              <a:spLocks noChangeArrowheads="1"/>
            </p:cNvSpPr>
            <p:nvPr/>
          </p:nvSpPr>
          <p:spPr bwMode="auto">
            <a:xfrm>
              <a:off x="3533" y="2688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de-DE" altLang="fr-FR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  <a:endParaRPr lang="de-DE" altLang="fr-FR" sz="2000"/>
            </a:p>
          </p:txBody>
        </p:sp>
      </p:grpSp>
      <p:sp>
        <p:nvSpPr>
          <p:cNvPr id="240701" name="AutoShape 61"/>
          <p:cNvSpPr>
            <a:spLocks noChangeArrowheads="1"/>
          </p:cNvSpPr>
          <p:nvPr/>
        </p:nvSpPr>
        <p:spPr bwMode="auto">
          <a:xfrm>
            <a:off x="419100" y="3600450"/>
            <a:ext cx="2336800" cy="1092200"/>
          </a:xfrm>
          <a:prstGeom prst="wedgeRoundRectCallout">
            <a:avLst>
              <a:gd name="adj1" fmla="val -18750"/>
              <a:gd name="adj2" fmla="val -99273"/>
              <a:gd name="adj3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fr-FR" sz="2000">
                <a:latin typeface="Courier New" panose="02070309020205020404" pitchFamily="49" charset="0"/>
              </a:rPr>
              <a:t>card</a:t>
            </a:r>
            <a:r>
              <a:rPr lang="de-DE" altLang="fr-FR" sz="2000" b="0">
                <a:latin typeface="Times New Roman" panose="02020603050405020304" pitchFamily="18" charset="0"/>
              </a:rPr>
              <a:t> denotes</a:t>
            </a:r>
            <a:br>
              <a:rPr lang="de-DE" altLang="fr-FR" sz="2000" b="0">
                <a:latin typeface="Times New Roman" panose="02020603050405020304" pitchFamily="18" charset="0"/>
              </a:rPr>
            </a:br>
            <a:r>
              <a:rPr lang="de-DE" altLang="fr-FR" sz="2000" b="0">
                <a:latin typeface="Times New Roman" panose="02020603050405020304" pitchFamily="18" charset="0"/>
              </a:rPr>
              <a:t>a </a:t>
            </a:r>
            <a:r>
              <a:rPr lang="de-DE" altLang="fr-FR" sz="2000" b="0">
                <a:solidFill>
                  <a:srgbClr val="0005C5"/>
                </a:solidFill>
                <a:latin typeface="Times New Roman" panose="02020603050405020304" pitchFamily="18" charset="0"/>
              </a:rPr>
              <a:t>set</a:t>
            </a:r>
            <a:r>
              <a:rPr lang="de-DE" altLang="fr-FR" sz="2000" b="0">
                <a:latin typeface="Times New Roman" panose="02020603050405020304" pitchFamily="18" charset="0"/>
              </a:rPr>
              <a:t> of </a:t>
            </a:r>
            <a:br>
              <a:rPr lang="de-DE" altLang="fr-FR" sz="2000" b="0">
                <a:latin typeface="Times New Roman" panose="02020603050405020304" pitchFamily="18" charset="0"/>
              </a:rPr>
            </a:br>
            <a:r>
              <a:rPr lang="de-DE" altLang="fr-FR" sz="2000">
                <a:latin typeface="Courier New" panose="02070309020205020404" pitchFamily="49" charset="0"/>
              </a:rPr>
              <a:t>customercards</a:t>
            </a:r>
            <a:endParaRPr lang="de-DE" altLang="fr-FR" sz="2000">
              <a:latin typeface="Times New Roman" panose="02020603050405020304" pitchFamily="18" charset="0"/>
            </a:endParaRPr>
          </a:p>
        </p:txBody>
      </p:sp>
      <p:sp>
        <p:nvSpPr>
          <p:cNvPr id="240702" name="AutoShape 62"/>
          <p:cNvSpPr>
            <a:spLocks noChangeArrowheads="1"/>
          </p:cNvSpPr>
          <p:nvPr/>
        </p:nvSpPr>
        <p:spPr bwMode="auto">
          <a:xfrm>
            <a:off x="5942013" y="3895725"/>
            <a:ext cx="563562" cy="352425"/>
          </a:xfrm>
          <a:prstGeom prst="flowChartConnector">
            <a:avLst/>
          </a:prstGeom>
          <a:noFill/>
          <a:ln w="38100">
            <a:solidFill>
              <a:srgbClr val="C02E0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40703" name="AutoShape 6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876425" y="3127375"/>
            <a:ext cx="330200" cy="198438"/>
          </a:xfrm>
          <a:prstGeom prst="actionButtonForwardNex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866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3" grpId="0" build="p" bldLvl="2" autoUpdateAnimBg="0"/>
      <p:bldP spid="240701" grpId="0" animBg="1" autoUpdateAnimBg="0"/>
      <p:bldP spid="240702" grpId="0" animBg="1"/>
      <p:bldP spid="24070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391525" cy="863600"/>
          </a:xfrm>
        </p:spPr>
        <p:txBody>
          <a:bodyPr>
            <a:normAutofit fontScale="90000"/>
          </a:bodyPr>
          <a:lstStyle/>
          <a:p>
            <a:r>
              <a:rPr lang="de-DE" altLang="fr-FR" dirty="0">
                <a:ea typeface="ＭＳ Ｐゴシック" panose="020B0600070205080204" pitchFamily="34" charset="-128"/>
              </a:rPr>
              <a:t>Navigation </a:t>
            </a:r>
            <a:r>
              <a:rPr lang="de-DE" altLang="fr-FR" dirty="0" err="1">
                <a:ea typeface="ＭＳ Ｐゴシック" panose="020B0600070205080204" pitchFamily="34" charset="-128"/>
              </a:rPr>
              <a:t>through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several</a:t>
            </a:r>
            <a:r>
              <a:rPr lang="de-DE" altLang="fr-FR" dirty="0">
                <a:ea typeface="ＭＳ Ｐゴシック" panose="020B0600070205080204" pitchFamily="34" charset="-128"/>
              </a:rPr>
              <a:t> 1:n-Associations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01000" cy="1709738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de-DE" altLang="fr-FR">
                <a:ea typeface="ＭＳ Ｐゴシック" panose="020B0600070205080204" pitchFamily="34" charset="-128"/>
              </a:rPr>
              <a:t>Example: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sz="1800" b="1" u="sng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programPartner</a:t>
            </a:r>
            <a:endParaRPr lang="de-DE" altLang="fr-FR" sz="1800" b="1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nrcustomer = bonusprogram.customer-&gt;size</a:t>
            </a:r>
          </a:p>
        </p:txBody>
      </p:sp>
      <p:sp>
        <p:nvSpPr>
          <p:cNvPr id="60420" name="Freeform 4"/>
          <p:cNvSpPr>
            <a:spLocks/>
          </p:cNvSpPr>
          <p:nvPr/>
        </p:nvSpPr>
        <p:spPr bwMode="auto">
          <a:xfrm>
            <a:off x="679450" y="5915025"/>
            <a:ext cx="1687513" cy="274638"/>
          </a:xfrm>
          <a:custGeom>
            <a:avLst/>
            <a:gdLst>
              <a:gd name="T0" fmla="*/ 0 w 1150"/>
              <a:gd name="T1" fmla="*/ 0 h 173"/>
              <a:gd name="T2" fmla="*/ 0 w 1150"/>
              <a:gd name="T3" fmla="*/ 435988619 h 173"/>
              <a:gd name="T4" fmla="*/ 2147483647 w 1150"/>
              <a:gd name="T5" fmla="*/ 435988619 h 173"/>
              <a:gd name="T6" fmla="*/ 2147483647 w 1150"/>
              <a:gd name="T7" fmla="*/ 0 h 173"/>
              <a:gd name="T8" fmla="*/ 0 w 1150"/>
              <a:gd name="T9" fmla="*/ 0 h 173"/>
              <a:gd name="T10" fmla="*/ 0 w 1150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0"/>
              <a:gd name="T19" fmla="*/ 0 h 173"/>
              <a:gd name="T20" fmla="*/ 1150 w 1150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0" h="173">
                <a:moveTo>
                  <a:pt x="0" y="0"/>
                </a:moveTo>
                <a:lnTo>
                  <a:pt x="0" y="173"/>
                </a:lnTo>
                <a:lnTo>
                  <a:pt x="1150" y="173"/>
                </a:lnTo>
                <a:lnTo>
                  <a:pt x="1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679450" y="5915025"/>
            <a:ext cx="1687513" cy="274638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714375" y="5964238"/>
            <a:ext cx="9096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nrcustomer:</a:t>
            </a:r>
            <a:endParaRPr lang="de-DE" altLang="fr-FR" sz="2000"/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1773238" y="5964238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1817688" y="5964238"/>
            <a:ext cx="539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Integer</a:t>
            </a:r>
            <a:endParaRPr lang="de-DE" altLang="fr-FR" sz="2000"/>
          </a:p>
        </p:txBody>
      </p:sp>
      <p:sp>
        <p:nvSpPr>
          <p:cNvPr id="60425" name="Freeform 9"/>
          <p:cNvSpPr>
            <a:spLocks/>
          </p:cNvSpPr>
          <p:nvPr/>
        </p:nvSpPr>
        <p:spPr bwMode="auto">
          <a:xfrm>
            <a:off x="679450" y="6189663"/>
            <a:ext cx="1687513" cy="274637"/>
          </a:xfrm>
          <a:custGeom>
            <a:avLst/>
            <a:gdLst>
              <a:gd name="T0" fmla="*/ 0 w 1150"/>
              <a:gd name="T1" fmla="*/ 0 h 173"/>
              <a:gd name="T2" fmla="*/ 0 w 1150"/>
              <a:gd name="T3" fmla="*/ 435985444 h 173"/>
              <a:gd name="T4" fmla="*/ 2147483647 w 1150"/>
              <a:gd name="T5" fmla="*/ 435985444 h 173"/>
              <a:gd name="T6" fmla="*/ 2147483647 w 1150"/>
              <a:gd name="T7" fmla="*/ 0 h 173"/>
              <a:gd name="T8" fmla="*/ 0 w 1150"/>
              <a:gd name="T9" fmla="*/ 0 h 173"/>
              <a:gd name="T10" fmla="*/ 0 w 1150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0"/>
              <a:gd name="T19" fmla="*/ 0 h 173"/>
              <a:gd name="T20" fmla="*/ 1150 w 1150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0" h="173">
                <a:moveTo>
                  <a:pt x="0" y="0"/>
                </a:moveTo>
                <a:lnTo>
                  <a:pt x="0" y="173"/>
                </a:lnTo>
                <a:lnTo>
                  <a:pt x="1150" y="173"/>
                </a:lnTo>
                <a:lnTo>
                  <a:pt x="1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26" name="Freeform 10"/>
          <p:cNvSpPr>
            <a:spLocks/>
          </p:cNvSpPr>
          <p:nvPr/>
        </p:nvSpPr>
        <p:spPr bwMode="auto">
          <a:xfrm>
            <a:off x="679450" y="5594350"/>
            <a:ext cx="1687513" cy="320675"/>
          </a:xfrm>
          <a:custGeom>
            <a:avLst/>
            <a:gdLst>
              <a:gd name="T0" fmla="*/ 0 w 1150"/>
              <a:gd name="T1" fmla="*/ 0 h 202"/>
              <a:gd name="T2" fmla="*/ 0 w 1150"/>
              <a:gd name="T3" fmla="*/ 509071563 h 202"/>
              <a:gd name="T4" fmla="*/ 2147483647 w 1150"/>
              <a:gd name="T5" fmla="*/ 509071563 h 202"/>
              <a:gd name="T6" fmla="*/ 2147483647 w 1150"/>
              <a:gd name="T7" fmla="*/ 0 h 202"/>
              <a:gd name="T8" fmla="*/ 0 w 1150"/>
              <a:gd name="T9" fmla="*/ 0 h 202"/>
              <a:gd name="T10" fmla="*/ 0 w 1150"/>
              <a:gd name="T11" fmla="*/ 0 h 20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0"/>
              <a:gd name="T19" fmla="*/ 0 h 202"/>
              <a:gd name="T20" fmla="*/ 1150 w 1150"/>
              <a:gd name="T21" fmla="*/ 202 h 20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0" h="202">
                <a:moveTo>
                  <a:pt x="0" y="0"/>
                </a:moveTo>
                <a:lnTo>
                  <a:pt x="0" y="202"/>
                </a:lnTo>
                <a:lnTo>
                  <a:pt x="1150" y="202"/>
                </a:lnTo>
                <a:lnTo>
                  <a:pt x="1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27" name="Rectangle 11"/>
          <p:cNvSpPr>
            <a:spLocks noChangeArrowheads="1"/>
          </p:cNvSpPr>
          <p:nvPr/>
        </p:nvSpPr>
        <p:spPr bwMode="auto">
          <a:xfrm>
            <a:off x="679450" y="6189663"/>
            <a:ext cx="1687513" cy="274637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28" name="Rectangle 12"/>
          <p:cNvSpPr>
            <a:spLocks noChangeArrowheads="1"/>
          </p:cNvSpPr>
          <p:nvPr/>
        </p:nvSpPr>
        <p:spPr bwMode="auto">
          <a:xfrm>
            <a:off x="679450" y="5594350"/>
            <a:ext cx="1687513" cy="320675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784225" y="5668963"/>
            <a:ext cx="13541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>
                <a:solidFill>
                  <a:srgbClr val="000000"/>
                </a:solidFill>
                <a:latin typeface="Times New Roman" panose="02020603050405020304" pitchFamily="18" charset="0"/>
              </a:rPr>
              <a:t>programPartner</a:t>
            </a:r>
            <a:endParaRPr lang="de-DE" altLang="fr-FR" sz="2000"/>
          </a:p>
        </p:txBody>
      </p:sp>
      <p:sp>
        <p:nvSpPr>
          <p:cNvPr id="60430" name="Freeform 24"/>
          <p:cNvSpPr>
            <a:spLocks/>
          </p:cNvSpPr>
          <p:nvPr/>
        </p:nvSpPr>
        <p:spPr bwMode="auto">
          <a:xfrm>
            <a:off x="7423150" y="4527550"/>
            <a:ext cx="1387475" cy="882650"/>
          </a:xfrm>
          <a:custGeom>
            <a:avLst/>
            <a:gdLst>
              <a:gd name="T0" fmla="*/ 0 w 947"/>
              <a:gd name="T1" fmla="*/ 0 h 556"/>
              <a:gd name="T2" fmla="*/ 0 w 947"/>
              <a:gd name="T3" fmla="*/ 1401206875 h 556"/>
              <a:gd name="T4" fmla="*/ 2032826690 w 947"/>
              <a:gd name="T5" fmla="*/ 1401206875 h 556"/>
              <a:gd name="T6" fmla="*/ 2032826690 w 947"/>
              <a:gd name="T7" fmla="*/ 0 h 556"/>
              <a:gd name="T8" fmla="*/ 0 w 947"/>
              <a:gd name="T9" fmla="*/ 0 h 556"/>
              <a:gd name="T10" fmla="*/ 0 w 947"/>
              <a:gd name="T11" fmla="*/ 0 h 5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7"/>
              <a:gd name="T19" fmla="*/ 0 h 556"/>
              <a:gd name="T20" fmla="*/ 947 w 947"/>
              <a:gd name="T21" fmla="*/ 556 h 55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7" h="556">
                <a:moveTo>
                  <a:pt x="0" y="0"/>
                </a:moveTo>
                <a:lnTo>
                  <a:pt x="0" y="556"/>
                </a:lnTo>
                <a:lnTo>
                  <a:pt x="947" y="556"/>
                </a:lnTo>
                <a:lnTo>
                  <a:pt x="9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31" name="Rectangle 25"/>
          <p:cNvSpPr>
            <a:spLocks noChangeArrowheads="1"/>
          </p:cNvSpPr>
          <p:nvPr/>
        </p:nvSpPr>
        <p:spPr bwMode="auto">
          <a:xfrm>
            <a:off x="7423150" y="4527550"/>
            <a:ext cx="1387475" cy="882650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32" name="Rectangle 26"/>
          <p:cNvSpPr>
            <a:spLocks noChangeArrowheads="1"/>
          </p:cNvSpPr>
          <p:nvPr/>
        </p:nvSpPr>
        <p:spPr bwMode="auto">
          <a:xfrm>
            <a:off x="7456488" y="4579938"/>
            <a:ext cx="465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name:</a:t>
            </a:r>
            <a:endParaRPr lang="de-DE" altLang="fr-FR" sz="2000"/>
          </a:p>
        </p:txBody>
      </p:sp>
      <p:sp>
        <p:nvSpPr>
          <p:cNvPr id="60433" name="Rectangle 27"/>
          <p:cNvSpPr>
            <a:spLocks noChangeArrowheads="1"/>
          </p:cNvSpPr>
          <p:nvPr/>
        </p:nvSpPr>
        <p:spPr bwMode="auto">
          <a:xfrm>
            <a:off x="7896225" y="4579938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0434" name="Rectangle 28"/>
          <p:cNvSpPr>
            <a:spLocks noChangeArrowheads="1"/>
          </p:cNvSpPr>
          <p:nvPr/>
        </p:nvSpPr>
        <p:spPr bwMode="auto">
          <a:xfrm>
            <a:off x="7937500" y="4579938"/>
            <a:ext cx="4651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String</a:t>
            </a:r>
            <a:endParaRPr lang="de-DE" altLang="fr-FR" sz="2000"/>
          </a:p>
        </p:txBody>
      </p:sp>
      <p:sp>
        <p:nvSpPr>
          <p:cNvPr id="60435" name="Rectangle 29"/>
          <p:cNvSpPr>
            <a:spLocks noChangeArrowheads="1"/>
          </p:cNvSpPr>
          <p:nvPr/>
        </p:nvSpPr>
        <p:spPr bwMode="auto">
          <a:xfrm>
            <a:off x="7456488" y="4781550"/>
            <a:ext cx="349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titel:</a:t>
            </a:r>
            <a:endParaRPr lang="de-DE" altLang="fr-FR" sz="2000"/>
          </a:p>
        </p:txBody>
      </p:sp>
      <p:sp>
        <p:nvSpPr>
          <p:cNvPr id="60436" name="Rectangle 30"/>
          <p:cNvSpPr>
            <a:spLocks noChangeArrowheads="1"/>
          </p:cNvSpPr>
          <p:nvPr/>
        </p:nvSpPr>
        <p:spPr bwMode="auto">
          <a:xfrm>
            <a:off x="7800975" y="478155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0437" name="Rectangle 31"/>
          <p:cNvSpPr>
            <a:spLocks noChangeArrowheads="1"/>
          </p:cNvSpPr>
          <p:nvPr/>
        </p:nvSpPr>
        <p:spPr bwMode="auto">
          <a:xfrm>
            <a:off x="7847013" y="4781550"/>
            <a:ext cx="465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String</a:t>
            </a:r>
            <a:endParaRPr lang="de-DE" altLang="fr-FR" sz="2000"/>
          </a:p>
        </p:txBody>
      </p:sp>
      <p:sp>
        <p:nvSpPr>
          <p:cNvPr id="60438" name="Rectangle 32"/>
          <p:cNvSpPr>
            <a:spLocks noChangeArrowheads="1"/>
          </p:cNvSpPr>
          <p:nvPr/>
        </p:nvSpPr>
        <p:spPr bwMode="auto">
          <a:xfrm>
            <a:off x="7456488" y="4983163"/>
            <a:ext cx="317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age:</a:t>
            </a:r>
            <a:endParaRPr lang="de-DE" altLang="fr-FR" sz="2000"/>
          </a:p>
        </p:txBody>
      </p:sp>
      <p:sp>
        <p:nvSpPr>
          <p:cNvPr id="60439" name="Rectangle 33"/>
          <p:cNvSpPr>
            <a:spLocks noChangeArrowheads="1"/>
          </p:cNvSpPr>
          <p:nvPr/>
        </p:nvSpPr>
        <p:spPr bwMode="auto">
          <a:xfrm>
            <a:off x="7832725" y="4983163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0440" name="Rectangle 34"/>
          <p:cNvSpPr>
            <a:spLocks noChangeArrowheads="1"/>
          </p:cNvSpPr>
          <p:nvPr/>
        </p:nvSpPr>
        <p:spPr bwMode="auto">
          <a:xfrm>
            <a:off x="7878763" y="4983163"/>
            <a:ext cx="539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Integer</a:t>
            </a:r>
            <a:endParaRPr lang="de-DE" altLang="fr-FR" sz="2000"/>
          </a:p>
        </p:txBody>
      </p:sp>
      <p:sp>
        <p:nvSpPr>
          <p:cNvPr id="60441" name="Rectangle 35"/>
          <p:cNvSpPr>
            <a:spLocks noChangeArrowheads="1"/>
          </p:cNvSpPr>
          <p:nvPr/>
        </p:nvSpPr>
        <p:spPr bwMode="auto">
          <a:xfrm>
            <a:off x="7456488" y="5184775"/>
            <a:ext cx="687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birthday:</a:t>
            </a:r>
            <a:endParaRPr lang="de-DE" altLang="fr-FR" sz="2000"/>
          </a:p>
        </p:txBody>
      </p:sp>
      <p:sp>
        <p:nvSpPr>
          <p:cNvPr id="60442" name="Rectangle 36"/>
          <p:cNvSpPr>
            <a:spLocks noChangeArrowheads="1"/>
          </p:cNvSpPr>
          <p:nvPr/>
        </p:nvSpPr>
        <p:spPr bwMode="auto">
          <a:xfrm>
            <a:off x="8220075" y="518477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0443" name="Rectangle 37"/>
          <p:cNvSpPr>
            <a:spLocks noChangeArrowheads="1"/>
          </p:cNvSpPr>
          <p:nvPr/>
        </p:nvSpPr>
        <p:spPr bwMode="auto">
          <a:xfrm>
            <a:off x="8267700" y="5184775"/>
            <a:ext cx="5191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Datum</a:t>
            </a:r>
            <a:endParaRPr lang="de-DE" altLang="fr-FR" sz="2000"/>
          </a:p>
        </p:txBody>
      </p:sp>
      <p:sp>
        <p:nvSpPr>
          <p:cNvPr id="60444" name="Freeform 38"/>
          <p:cNvSpPr>
            <a:spLocks/>
          </p:cNvSpPr>
          <p:nvPr/>
        </p:nvSpPr>
        <p:spPr bwMode="auto">
          <a:xfrm>
            <a:off x="7423150" y="5410200"/>
            <a:ext cx="1387475" cy="274638"/>
          </a:xfrm>
          <a:custGeom>
            <a:avLst/>
            <a:gdLst>
              <a:gd name="T0" fmla="*/ 0 w 947"/>
              <a:gd name="T1" fmla="*/ 0 h 173"/>
              <a:gd name="T2" fmla="*/ 0 w 947"/>
              <a:gd name="T3" fmla="*/ 435988619 h 173"/>
              <a:gd name="T4" fmla="*/ 2032826690 w 947"/>
              <a:gd name="T5" fmla="*/ 435988619 h 173"/>
              <a:gd name="T6" fmla="*/ 2032826690 w 947"/>
              <a:gd name="T7" fmla="*/ 0 h 173"/>
              <a:gd name="T8" fmla="*/ 0 w 947"/>
              <a:gd name="T9" fmla="*/ 0 h 173"/>
              <a:gd name="T10" fmla="*/ 0 w 947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7"/>
              <a:gd name="T19" fmla="*/ 0 h 173"/>
              <a:gd name="T20" fmla="*/ 947 w 947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7" h="173">
                <a:moveTo>
                  <a:pt x="0" y="0"/>
                </a:moveTo>
                <a:lnTo>
                  <a:pt x="0" y="173"/>
                </a:lnTo>
                <a:lnTo>
                  <a:pt x="947" y="173"/>
                </a:lnTo>
                <a:lnTo>
                  <a:pt x="9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45" name="Rectangle 39"/>
          <p:cNvSpPr>
            <a:spLocks noChangeArrowheads="1"/>
          </p:cNvSpPr>
          <p:nvPr/>
        </p:nvSpPr>
        <p:spPr bwMode="auto">
          <a:xfrm>
            <a:off x="7423150" y="5410200"/>
            <a:ext cx="1387475" cy="274638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46" name="Rectangle 40"/>
          <p:cNvSpPr>
            <a:spLocks noChangeArrowheads="1"/>
          </p:cNvSpPr>
          <p:nvPr/>
        </p:nvSpPr>
        <p:spPr bwMode="auto">
          <a:xfrm>
            <a:off x="7456488" y="5457825"/>
            <a:ext cx="676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getage():</a:t>
            </a:r>
            <a:endParaRPr lang="de-DE" altLang="fr-FR" sz="2000"/>
          </a:p>
        </p:txBody>
      </p:sp>
      <p:sp>
        <p:nvSpPr>
          <p:cNvPr id="60447" name="Rectangle 41"/>
          <p:cNvSpPr>
            <a:spLocks noChangeArrowheads="1"/>
          </p:cNvSpPr>
          <p:nvPr/>
        </p:nvSpPr>
        <p:spPr bwMode="auto">
          <a:xfrm>
            <a:off x="8220075" y="545782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0448" name="Rectangle 42"/>
          <p:cNvSpPr>
            <a:spLocks noChangeArrowheads="1"/>
          </p:cNvSpPr>
          <p:nvPr/>
        </p:nvSpPr>
        <p:spPr bwMode="auto">
          <a:xfrm>
            <a:off x="8267700" y="5457825"/>
            <a:ext cx="539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Integer</a:t>
            </a:r>
            <a:endParaRPr lang="de-DE" altLang="fr-FR" sz="2000"/>
          </a:p>
        </p:txBody>
      </p:sp>
      <p:sp>
        <p:nvSpPr>
          <p:cNvPr id="60449" name="Freeform 43"/>
          <p:cNvSpPr>
            <a:spLocks/>
          </p:cNvSpPr>
          <p:nvPr/>
        </p:nvSpPr>
        <p:spPr bwMode="auto">
          <a:xfrm>
            <a:off x="7423150" y="4205288"/>
            <a:ext cx="1387475" cy="322262"/>
          </a:xfrm>
          <a:custGeom>
            <a:avLst/>
            <a:gdLst>
              <a:gd name="T0" fmla="*/ 0 w 947"/>
              <a:gd name="T1" fmla="*/ 0 h 203"/>
              <a:gd name="T2" fmla="*/ 0 w 947"/>
              <a:gd name="T3" fmla="*/ 511590131 h 203"/>
              <a:gd name="T4" fmla="*/ 2032826690 w 947"/>
              <a:gd name="T5" fmla="*/ 511590131 h 203"/>
              <a:gd name="T6" fmla="*/ 2032826690 w 947"/>
              <a:gd name="T7" fmla="*/ 0 h 203"/>
              <a:gd name="T8" fmla="*/ 0 w 947"/>
              <a:gd name="T9" fmla="*/ 0 h 203"/>
              <a:gd name="T10" fmla="*/ 0 w 947"/>
              <a:gd name="T11" fmla="*/ 0 h 2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7"/>
              <a:gd name="T19" fmla="*/ 0 h 203"/>
              <a:gd name="T20" fmla="*/ 947 w 947"/>
              <a:gd name="T21" fmla="*/ 203 h 2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7" h="203">
                <a:moveTo>
                  <a:pt x="0" y="0"/>
                </a:moveTo>
                <a:lnTo>
                  <a:pt x="0" y="203"/>
                </a:lnTo>
                <a:lnTo>
                  <a:pt x="947" y="203"/>
                </a:lnTo>
                <a:lnTo>
                  <a:pt x="9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50" name="Rectangle 44"/>
          <p:cNvSpPr>
            <a:spLocks noChangeArrowheads="1"/>
          </p:cNvSpPr>
          <p:nvPr/>
        </p:nvSpPr>
        <p:spPr bwMode="auto">
          <a:xfrm>
            <a:off x="7423150" y="4205288"/>
            <a:ext cx="1387475" cy="322262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51" name="Rectangle 45"/>
          <p:cNvSpPr>
            <a:spLocks noChangeArrowheads="1"/>
          </p:cNvSpPr>
          <p:nvPr/>
        </p:nvSpPr>
        <p:spPr bwMode="auto">
          <a:xfrm>
            <a:off x="7856538" y="4279900"/>
            <a:ext cx="804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>
                <a:solidFill>
                  <a:srgbClr val="000000"/>
                </a:solidFill>
                <a:latin typeface="Times New Roman" panose="02020603050405020304" pitchFamily="18" charset="0"/>
              </a:rPr>
              <a:t>Customer</a:t>
            </a:r>
            <a:endParaRPr lang="de-DE" altLang="fr-FR" sz="2000"/>
          </a:p>
        </p:txBody>
      </p:sp>
      <p:sp>
        <p:nvSpPr>
          <p:cNvPr id="60452" name="Line 46"/>
          <p:cNvSpPr>
            <a:spLocks noChangeShapeType="1"/>
          </p:cNvSpPr>
          <p:nvPr/>
        </p:nvSpPr>
        <p:spPr bwMode="auto">
          <a:xfrm flipV="1">
            <a:off x="1517650" y="4295775"/>
            <a:ext cx="2063750" cy="1293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60453" name="Rectangle 47"/>
          <p:cNvSpPr>
            <a:spLocks noChangeArrowheads="1"/>
          </p:cNvSpPr>
          <p:nvPr/>
        </p:nvSpPr>
        <p:spPr bwMode="auto">
          <a:xfrm>
            <a:off x="1562100" y="5186363"/>
            <a:ext cx="280988" cy="2063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54" name="Rectangle 48"/>
          <p:cNvSpPr>
            <a:spLocks noChangeArrowheads="1"/>
          </p:cNvSpPr>
          <p:nvPr/>
        </p:nvSpPr>
        <p:spPr bwMode="auto">
          <a:xfrm>
            <a:off x="1563688" y="5200650"/>
            <a:ext cx="285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1..*</a:t>
            </a:r>
            <a:endParaRPr lang="de-DE" altLang="fr-FR" sz="2000"/>
          </a:p>
        </p:txBody>
      </p:sp>
      <p:sp>
        <p:nvSpPr>
          <p:cNvPr id="60455" name="Rectangle 49"/>
          <p:cNvSpPr>
            <a:spLocks noChangeArrowheads="1"/>
          </p:cNvSpPr>
          <p:nvPr/>
        </p:nvSpPr>
        <p:spPr bwMode="auto">
          <a:xfrm>
            <a:off x="3109913" y="4217988"/>
            <a:ext cx="280987" cy="2016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56" name="Rectangle 50"/>
          <p:cNvSpPr>
            <a:spLocks noChangeArrowheads="1"/>
          </p:cNvSpPr>
          <p:nvPr/>
        </p:nvSpPr>
        <p:spPr bwMode="auto">
          <a:xfrm>
            <a:off x="3111500" y="4232275"/>
            <a:ext cx="285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1..*</a:t>
            </a:r>
            <a:endParaRPr lang="de-DE" altLang="fr-FR" sz="2000"/>
          </a:p>
        </p:txBody>
      </p:sp>
      <p:sp>
        <p:nvSpPr>
          <p:cNvPr id="60457" name="Line 52"/>
          <p:cNvSpPr>
            <a:spLocks noChangeShapeType="1"/>
          </p:cNvSpPr>
          <p:nvPr/>
        </p:nvSpPr>
        <p:spPr bwMode="auto">
          <a:xfrm flipH="1" flipV="1">
            <a:off x="5297488" y="4295775"/>
            <a:ext cx="2125662" cy="10922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60458" name="Freeform 14"/>
          <p:cNvSpPr>
            <a:spLocks/>
          </p:cNvSpPr>
          <p:nvPr/>
        </p:nvSpPr>
        <p:spPr bwMode="auto">
          <a:xfrm>
            <a:off x="3581400" y="4184650"/>
            <a:ext cx="1716088" cy="274638"/>
          </a:xfrm>
          <a:custGeom>
            <a:avLst/>
            <a:gdLst>
              <a:gd name="T0" fmla="*/ 0 w 1171"/>
              <a:gd name="T1" fmla="*/ 0 h 173"/>
              <a:gd name="T2" fmla="*/ 0 w 1171"/>
              <a:gd name="T3" fmla="*/ 435988619 h 173"/>
              <a:gd name="T4" fmla="*/ 2147483647 w 1171"/>
              <a:gd name="T5" fmla="*/ 435988619 h 173"/>
              <a:gd name="T6" fmla="*/ 2147483647 w 1171"/>
              <a:gd name="T7" fmla="*/ 0 h 173"/>
              <a:gd name="T8" fmla="*/ 0 w 1171"/>
              <a:gd name="T9" fmla="*/ 0 h 173"/>
              <a:gd name="T10" fmla="*/ 0 w 1171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1"/>
              <a:gd name="T19" fmla="*/ 0 h 173"/>
              <a:gd name="T20" fmla="*/ 1171 w 1171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1" h="173">
                <a:moveTo>
                  <a:pt x="0" y="0"/>
                </a:moveTo>
                <a:lnTo>
                  <a:pt x="0" y="173"/>
                </a:lnTo>
                <a:lnTo>
                  <a:pt x="1171" y="173"/>
                </a:lnTo>
                <a:lnTo>
                  <a:pt x="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59" name="Freeform 15"/>
          <p:cNvSpPr>
            <a:spLocks/>
          </p:cNvSpPr>
          <p:nvPr/>
        </p:nvSpPr>
        <p:spPr bwMode="auto">
          <a:xfrm>
            <a:off x="3581400" y="4459288"/>
            <a:ext cx="1716088" cy="273050"/>
          </a:xfrm>
          <a:custGeom>
            <a:avLst/>
            <a:gdLst>
              <a:gd name="T0" fmla="*/ 0 w 1171"/>
              <a:gd name="T1" fmla="*/ 0 h 172"/>
              <a:gd name="T2" fmla="*/ 0 w 1171"/>
              <a:gd name="T3" fmla="*/ 433466875 h 172"/>
              <a:gd name="T4" fmla="*/ 2147483647 w 1171"/>
              <a:gd name="T5" fmla="*/ 433466875 h 172"/>
              <a:gd name="T6" fmla="*/ 2147483647 w 1171"/>
              <a:gd name="T7" fmla="*/ 0 h 172"/>
              <a:gd name="T8" fmla="*/ 0 w 1171"/>
              <a:gd name="T9" fmla="*/ 0 h 172"/>
              <a:gd name="T10" fmla="*/ 0 w 1171"/>
              <a:gd name="T11" fmla="*/ 0 h 1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1"/>
              <a:gd name="T19" fmla="*/ 0 h 172"/>
              <a:gd name="T20" fmla="*/ 1171 w 1171"/>
              <a:gd name="T21" fmla="*/ 172 h 1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1" h="172">
                <a:moveTo>
                  <a:pt x="0" y="0"/>
                </a:moveTo>
                <a:lnTo>
                  <a:pt x="0" y="172"/>
                </a:lnTo>
                <a:lnTo>
                  <a:pt x="1171" y="172"/>
                </a:lnTo>
                <a:lnTo>
                  <a:pt x="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60" name="Rectangle 16"/>
          <p:cNvSpPr>
            <a:spLocks noChangeArrowheads="1"/>
          </p:cNvSpPr>
          <p:nvPr/>
        </p:nvSpPr>
        <p:spPr bwMode="auto">
          <a:xfrm>
            <a:off x="3581400" y="4184650"/>
            <a:ext cx="1716088" cy="274638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61" name="Rectangle 17"/>
          <p:cNvSpPr>
            <a:spLocks noChangeArrowheads="1"/>
          </p:cNvSpPr>
          <p:nvPr/>
        </p:nvSpPr>
        <p:spPr bwMode="auto">
          <a:xfrm>
            <a:off x="3581400" y="4459288"/>
            <a:ext cx="1716088" cy="273050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62" name="Rectangle 18"/>
          <p:cNvSpPr>
            <a:spLocks noChangeArrowheads="1"/>
          </p:cNvSpPr>
          <p:nvPr/>
        </p:nvSpPr>
        <p:spPr bwMode="auto">
          <a:xfrm>
            <a:off x="3617913" y="4506913"/>
            <a:ext cx="7826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register(k:</a:t>
            </a:r>
            <a:endParaRPr lang="de-DE" altLang="fr-FR" sz="2000"/>
          </a:p>
        </p:txBody>
      </p:sp>
      <p:sp>
        <p:nvSpPr>
          <p:cNvPr id="60463" name="Rectangle 20"/>
          <p:cNvSpPr>
            <a:spLocks noChangeArrowheads="1"/>
          </p:cNvSpPr>
          <p:nvPr/>
        </p:nvSpPr>
        <p:spPr bwMode="auto">
          <a:xfrm>
            <a:off x="4438650" y="4506913"/>
            <a:ext cx="804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Customer)</a:t>
            </a:r>
            <a:endParaRPr lang="de-DE" altLang="fr-FR" sz="2000"/>
          </a:p>
        </p:txBody>
      </p:sp>
      <p:sp>
        <p:nvSpPr>
          <p:cNvPr id="60464" name="Freeform 21"/>
          <p:cNvSpPr>
            <a:spLocks/>
          </p:cNvSpPr>
          <p:nvPr/>
        </p:nvSpPr>
        <p:spPr bwMode="auto">
          <a:xfrm>
            <a:off x="3581400" y="3862388"/>
            <a:ext cx="1716088" cy="322262"/>
          </a:xfrm>
          <a:custGeom>
            <a:avLst/>
            <a:gdLst>
              <a:gd name="T0" fmla="*/ 0 w 1171"/>
              <a:gd name="T1" fmla="*/ 0 h 203"/>
              <a:gd name="T2" fmla="*/ 0 w 1171"/>
              <a:gd name="T3" fmla="*/ 511590131 h 203"/>
              <a:gd name="T4" fmla="*/ 2147483647 w 1171"/>
              <a:gd name="T5" fmla="*/ 511590131 h 203"/>
              <a:gd name="T6" fmla="*/ 2147483647 w 1171"/>
              <a:gd name="T7" fmla="*/ 0 h 203"/>
              <a:gd name="T8" fmla="*/ 0 w 1171"/>
              <a:gd name="T9" fmla="*/ 0 h 203"/>
              <a:gd name="T10" fmla="*/ 0 w 1171"/>
              <a:gd name="T11" fmla="*/ 0 h 2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1"/>
              <a:gd name="T19" fmla="*/ 0 h 203"/>
              <a:gd name="T20" fmla="*/ 1171 w 1171"/>
              <a:gd name="T21" fmla="*/ 203 h 2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1" h="203">
                <a:moveTo>
                  <a:pt x="0" y="0"/>
                </a:moveTo>
                <a:lnTo>
                  <a:pt x="0" y="203"/>
                </a:lnTo>
                <a:lnTo>
                  <a:pt x="1171" y="203"/>
                </a:lnTo>
                <a:lnTo>
                  <a:pt x="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65" name="Rectangle 22"/>
          <p:cNvSpPr>
            <a:spLocks noChangeArrowheads="1"/>
          </p:cNvSpPr>
          <p:nvPr/>
        </p:nvSpPr>
        <p:spPr bwMode="auto">
          <a:xfrm>
            <a:off x="3581400" y="3862388"/>
            <a:ext cx="1716088" cy="322262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0466" name="Rectangle 23"/>
          <p:cNvSpPr>
            <a:spLocks noChangeArrowheads="1"/>
          </p:cNvSpPr>
          <p:nvPr/>
        </p:nvSpPr>
        <p:spPr bwMode="auto">
          <a:xfrm>
            <a:off x="3756025" y="3937000"/>
            <a:ext cx="12271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>
                <a:solidFill>
                  <a:srgbClr val="000000"/>
                </a:solidFill>
                <a:latin typeface="Times New Roman" panose="02020603050405020304" pitchFamily="18" charset="0"/>
              </a:rPr>
              <a:t>Bonusprogram</a:t>
            </a:r>
            <a:endParaRPr lang="de-DE" altLang="fr-FR" sz="2000"/>
          </a:p>
        </p:txBody>
      </p:sp>
      <p:sp>
        <p:nvSpPr>
          <p:cNvPr id="60467" name="Rectangle 51"/>
          <p:cNvSpPr>
            <a:spLocks noChangeArrowheads="1"/>
          </p:cNvSpPr>
          <p:nvPr/>
        </p:nvSpPr>
        <p:spPr bwMode="auto">
          <a:xfrm>
            <a:off x="5399088" y="4202113"/>
            <a:ext cx="6461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program</a:t>
            </a:r>
            <a:endParaRPr lang="de-DE" altLang="fr-FR" sz="2000"/>
          </a:p>
        </p:txBody>
      </p:sp>
      <p:sp>
        <p:nvSpPr>
          <p:cNvPr id="60468" name="Rectangle 53"/>
          <p:cNvSpPr>
            <a:spLocks noChangeArrowheads="1"/>
          </p:cNvSpPr>
          <p:nvPr/>
        </p:nvSpPr>
        <p:spPr bwMode="auto">
          <a:xfrm>
            <a:off x="5381625" y="4627563"/>
            <a:ext cx="238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  *</a:t>
            </a:r>
            <a:endParaRPr lang="de-DE" altLang="fr-FR" sz="2000"/>
          </a:p>
        </p:txBody>
      </p:sp>
      <p:sp>
        <p:nvSpPr>
          <p:cNvPr id="60469" name="Rectangle 54"/>
          <p:cNvSpPr>
            <a:spLocks noChangeArrowheads="1"/>
          </p:cNvSpPr>
          <p:nvPr/>
        </p:nvSpPr>
        <p:spPr bwMode="auto">
          <a:xfrm>
            <a:off x="7077075" y="5106988"/>
            <a:ext cx="285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  .*</a:t>
            </a:r>
            <a:endParaRPr lang="de-DE" altLang="fr-FR" sz="2000"/>
          </a:p>
        </p:txBody>
      </p:sp>
      <p:sp>
        <p:nvSpPr>
          <p:cNvPr id="241719" name="AutoShape 55"/>
          <p:cNvSpPr>
            <a:spLocks noChangeArrowheads="1"/>
          </p:cNvSpPr>
          <p:nvPr/>
        </p:nvSpPr>
        <p:spPr bwMode="auto">
          <a:xfrm>
            <a:off x="6126163" y="1295400"/>
            <a:ext cx="2824162" cy="765175"/>
          </a:xfrm>
          <a:prstGeom prst="wedgeRoundRectCallout">
            <a:avLst>
              <a:gd name="adj1" fmla="val -67370"/>
              <a:gd name="adj2" fmla="val 57676"/>
              <a:gd name="adj3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fr-FR" sz="2000">
                <a:latin typeface="Courier New" panose="02070309020205020404" pitchFamily="49" charset="0"/>
              </a:rPr>
              <a:t>Customer</a:t>
            </a:r>
            <a:r>
              <a:rPr lang="de-DE" altLang="fr-FR" sz="2000" b="0">
                <a:latin typeface="Times New Roman" panose="02020603050405020304" pitchFamily="18" charset="0"/>
              </a:rPr>
              <a:t> denotes a </a:t>
            </a:r>
            <a:r>
              <a:rPr lang="de-DE" altLang="fr-FR" sz="2000" b="0">
                <a:solidFill>
                  <a:srgbClr val="0005C5"/>
                </a:solidFill>
                <a:latin typeface="Times New Roman" panose="02020603050405020304" pitchFamily="18" charset="0"/>
              </a:rPr>
              <a:t>multiset</a:t>
            </a:r>
            <a:r>
              <a:rPr lang="de-DE" altLang="fr-FR" sz="2000" b="0">
                <a:latin typeface="Times New Roman" panose="02020603050405020304" pitchFamily="18" charset="0"/>
              </a:rPr>
              <a:t> of </a:t>
            </a:r>
            <a:r>
              <a:rPr lang="de-DE" altLang="fr-FR" sz="2000">
                <a:latin typeface="Courier New" panose="02070309020205020404" pitchFamily="49" charset="0"/>
              </a:rPr>
              <a:t>customer</a:t>
            </a:r>
            <a:endParaRPr lang="de-DE" altLang="fr-FR" sz="2000">
              <a:latin typeface="Times New Roman" panose="02020603050405020304" pitchFamily="18" charset="0"/>
            </a:endParaRPr>
          </a:p>
        </p:txBody>
      </p:sp>
      <p:sp>
        <p:nvSpPr>
          <p:cNvPr id="241720" name="AutoShape 56"/>
          <p:cNvSpPr>
            <a:spLocks noChangeArrowheads="1"/>
          </p:cNvSpPr>
          <p:nvPr/>
        </p:nvSpPr>
        <p:spPr bwMode="auto">
          <a:xfrm>
            <a:off x="160338" y="2514600"/>
            <a:ext cx="2927350" cy="1092200"/>
          </a:xfrm>
          <a:prstGeom prst="wedgeRoundRectCallout">
            <a:avLst>
              <a:gd name="adj1" fmla="val 87069"/>
              <a:gd name="adj2" fmla="val -69769"/>
              <a:gd name="adj3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de-DE" altLang="fr-FR" sz="2000">
                <a:latin typeface="Courier New" panose="02070309020205020404" pitchFamily="49" charset="0"/>
              </a:rPr>
              <a:t>bonusprogram</a:t>
            </a:r>
            <a:r>
              <a:rPr lang="de-DE" altLang="fr-FR" sz="2000" b="0">
                <a:latin typeface="Times New Roman" panose="02020603050405020304" pitchFamily="18" charset="0"/>
              </a:rPr>
              <a:t> denotes a </a:t>
            </a:r>
            <a:r>
              <a:rPr lang="de-DE" altLang="fr-FR" sz="2000" b="0">
                <a:solidFill>
                  <a:srgbClr val="0005C5"/>
                </a:solidFill>
                <a:latin typeface="Times New Roman" panose="02020603050405020304" pitchFamily="18" charset="0"/>
              </a:rPr>
              <a:t>set</a:t>
            </a:r>
            <a:r>
              <a:rPr lang="de-DE" altLang="fr-FR" sz="2000" b="0">
                <a:latin typeface="Times New Roman" panose="02020603050405020304" pitchFamily="18" charset="0"/>
              </a:rPr>
              <a:t> of </a:t>
            </a:r>
            <a:r>
              <a:rPr lang="de-DE" altLang="fr-FR" sz="2000">
                <a:latin typeface="Courier New" panose="02070309020205020404" pitchFamily="49" charset="0"/>
              </a:rPr>
              <a:t>Bonusprograms</a:t>
            </a:r>
            <a:endParaRPr lang="de-DE" altLang="fr-FR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24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build="p" autoUpdateAnimBg="0"/>
      <p:bldP spid="241719" grpId="0" animBg="1" autoUpdateAnimBg="0"/>
      <p:bldP spid="241720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2888" y="369156"/>
            <a:ext cx="8674100" cy="863600"/>
          </a:xfrm>
        </p:spPr>
        <p:txBody>
          <a:bodyPr>
            <a:normAutofit fontScale="90000"/>
          </a:bodyPr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Navigation through a constrained Association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Navigation through an association with the constraint </a:t>
            </a:r>
            <a:r>
              <a:rPr lang="en-US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{ordered}</a:t>
            </a:r>
            <a:r>
              <a:rPr lang="en-US" altLang="fr-FR">
                <a:ea typeface="ＭＳ Ｐゴシック" panose="020B0600070205080204" pitchFamily="34" charset="-128"/>
              </a:rPr>
              <a:t> yields a </a:t>
            </a:r>
            <a:r>
              <a:rPr lang="en-US" altLang="fr-FR" i="1">
                <a:ea typeface="ＭＳ Ｐゴシック" panose="020B0600070205080204" pitchFamily="34" charset="-128"/>
              </a:rPr>
              <a:t>sequence</a:t>
            </a:r>
            <a:r>
              <a:rPr lang="en-US" altLang="fr-FR"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Example: 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 b="1" u="sng">
                <a:latin typeface="Courier New" panose="02070309020205020404" pitchFamily="49" charset="0"/>
                <a:ea typeface="ＭＳ Ｐゴシック" panose="020B0600070205080204" pitchFamily="34" charset="-128"/>
              </a:rPr>
              <a:t>Bonusprogram</a:t>
            </a:r>
            <a:endParaRPr lang="en-US" altLang="fr-FR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level-&gt;size = 2</a:t>
            </a:r>
            <a:endParaRPr lang="en-US" altLang="fr-FR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62468" name="Freeform 4"/>
          <p:cNvSpPr>
            <a:spLocks/>
          </p:cNvSpPr>
          <p:nvPr/>
        </p:nvSpPr>
        <p:spPr bwMode="auto">
          <a:xfrm>
            <a:off x="5854700" y="2981325"/>
            <a:ext cx="2108200" cy="292100"/>
          </a:xfrm>
          <a:custGeom>
            <a:avLst/>
            <a:gdLst>
              <a:gd name="T0" fmla="*/ 0 w 1249"/>
              <a:gd name="T1" fmla="*/ 0 h 184"/>
              <a:gd name="T2" fmla="*/ 0 w 1249"/>
              <a:gd name="T3" fmla="*/ 463708750 h 184"/>
              <a:gd name="T4" fmla="*/ 2147483647 w 1249"/>
              <a:gd name="T5" fmla="*/ 463708750 h 184"/>
              <a:gd name="T6" fmla="*/ 2147483647 w 1249"/>
              <a:gd name="T7" fmla="*/ 0 h 184"/>
              <a:gd name="T8" fmla="*/ 0 w 1249"/>
              <a:gd name="T9" fmla="*/ 0 h 184"/>
              <a:gd name="T10" fmla="*/ 0 w 1249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49"/>
              <a:gd name="T19" fmla="*/ 0 h 184"/>
              <a:gd name="T20" fmla="*/ 1249 w 1249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49" h="184">
                <a:moveTo>
                  <a:pt x="0" y="0"/>
                </a:moveTo>
                <a:lnTo>
                  <a:pt x="0" y="184"/>
                </a:lnTo>
                <a:lnTo>
                  <a:pt x="1249" y="184"/>
                </a:lnTo>
                <a:lnTo>
                  <a:pt x="1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69" name="Freeform 5"/>
          <p:cNvSpPr>
            <a:spLocks/>
          </p:cNvSpPr>
          <p:nvPr/>
        </p:nvSpPr>
        <p:spPr bwMode="auto">
          <a:xfrm>
            <a:off x="5854700" y="3273425"/>
            <a:ext cx="2108200" cy="292100"/>
          </a:xfrm>
          <a:custGeom>
            <a:avLst/>
            <a:gdLst>
              <a:gd name="T0" fmla="*/ 0 w 1249"/>
              <a:gd name="T1" fmla="*/ 0 h 184"/>
              <a:gd name="T2" fmla="*/ 0 w 1249"/>
              <a:gd name="T3" fmla="*/ 463708750 h 184"/>
              <a:gd name="T4" fmla="*/ 2147483647 w 1249"/>
              <a:gd name="T5" fmla="*/ 463708750 h 184"/>
              <a:gd name="T6" fmla="*/ 2147483647 w 1249"/>
              <a:gd name="T7" fmla="*/ 0 h 184"/>
              <a:gd name="T8" fmla="*/ 0 w 1249"/>
              <a:gd name="T9" fmla="*/ 0 h 184"/>
              <a:gd name="T10" fmla="*/ 0 w 1249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49"/>
              <a:gd name="T19" fmla="*/ 0 h 184"/>
              <a:gd name="T20" fmla="*/ 1249 w 1249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49" h="184">
                <a:moveTo>
                  <a:pt x="0" y="0"/>
                </a:moveTo>
                <a:lnTo>
                  <a:pt x="0" y="184"/>
                </a:lnTo>
                <a:lnTo>
                  <a:pt x="1249" y="184"/>
                </a:lnTo>
                <a:lnTo>
                  <a:pt x="1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5854700" y="2981325"/>
            <a:ext cx="1927225" cy="2921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5854700" y="3273425"/>
            <a:ext cx="1927225" cy="2921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5894388" y="3324225"/>
            <a:ext cx="8350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register(k:</a:t>
            </a:r>
            <a:endParaRPr lang="en-US" altLang="fr-FR" sz="2000"/>
          </a:p>
        </p:txBody>
      </p:sp>
      <p:sp>
        <p:nvSpPr>
          <p:cNvPr id="62473" name="Rectangle 9"/>
          <p:cNvSpPr>
            <a:spLocks noChangeArrowheads="1"/>
          </p:cNvSpPr>
          <p:nvPr/>
        </p:nvSpPr>
        <p:spPr bwMode="auto">
          <a:xfrm>
            <a:off x="7056438" y="3324225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fr-FR" sz="2000"/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6762750" y="3324225"/>
            <a:ext cx="857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Customer)</a:t>
            </a:r>
            <a:endParaRPr lang="en-US" altLang="fr-FR" sz="2000"/>
          </a:p>
        </p:txBody>
      </p:sp>
      <p:sp>
        <p:nvSpPr>
          <p:cNvPr id="62475" name="Freeform 11"/>
          <p:cNvSpPr>
            <a:spLocks/>
          </p:cNvSpPr>
          <p:nvPr/>
        </p:nvSpPr>
        <p:spPr bwMode="auto">
          <a:xfrm>
            <a:off x="5854700" y="2638425"/>
            <a:ext cx="2108200" cy="342900"/>
          </a:xfrm>
          <a:custGeom>
            <a:avLst/>
            <a:gdLst>
              <a:gd name="T0" fmla="*/ 0 w 1249"/>
              <a:gd name="T1" fmla="*/ 0 h 216"/>
              <a:gd name="T2" fmla="*/ 0 w 1249"/>
              <a:gd name="T3" fmla="*/ 544353750 h 216"/>
              <a:gd name="T4" fmla="*/ 2147483647 w 1249"/>
              <a:gd name="T5" fmla="*/ 544353750 h 216"/>
              <a:gd name="T6" fmla="*/ 2147483647 w 1249"/>
              <a:gd name="T7" fmla="*/ 0 h 216"/>
              <a:gd name="T8" fmla="*/ 0 w 1249"/>
              <a:gd name="T9" fmla="*/ 0 h 216"/>
              <a:gd name="T10" fmla="*/ 0 w 1249"/>
              <a:gd name="T11" fmla="*/ 0 h 2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49"/>
              <a:gd name="T19" fmla="*/ 0 h 216"/>
              <a:gd name="T20" fmla="*/ 1249 w 1249"/>
              <a:gd name="T21" fmla="*/ 216 h 2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49" h="216">
                <a:moveTo>
                  <a:pt x="0" y="0"/>
                </a:moveTo>
                <a:lnTo>
                  <a:pt x="0" y="216"/>
                </a:lnTo>
                <a:lnTo>
                  <a:pt x="1249" y="216"/>
                </a:lnTo>
                <a:lnTo>
                  <a:pt x="1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5854700" y="2638425"/>
            <a:ext cx="1927225" cy="3429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77" name="Rectangle 13"/>
          <p:cNvSpPr>
            <a:spLocks noChangeArrowheads="1"/>
          </p:cNvSpPr>
          <p:nvPr/>
        </p:nvSpPr>
        <p:spPr bwMode="auto">
          <a:xfrm>
            <a:off x="6042025" y="2716213"/>
            <a:ext cx="13096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>
                <a:solidFill>
                  <a:srgbClr val="000000"/>
                </a:solidFill>
                <a:latin typeface="Times New Roman" panose="02020603050405020304" pitchFamily="18" charset="0"/>
              </a:rPr>
              <a:t>Bonusprogram</a:t>
            </a:r>
            <a:endParaRPr lang="en-US" altLang="fr-FR" sz="2000"/>
          </a:p>
        </p:txBody>
      </p:sp>
      <p:sp>
        <p:nvSpPr>
          <p:cNvPr id="62478" name="Line 14"/>
          <p:cNvSpPr>
            <a:spLocks noChangeShapeType="1"/>
          </p:cNvSpPr>
          <p:nvPr/>
        </p:nvSpPr>
        <p:spPr bwMode="auto">
          <a:xfrm flipH="1">
            <a:off x="5508625" y="3565525"/>
            <a:ext cx="1262063" cy="1906588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62479" name="Rectangle 15"/>
          <p:cNvSpPr>
            <a:spLocks noChangeArrowheads="1"/>
          </p:cNvSpPr>
          <p:nvPr/>
        </p:nvSpPr>
        <p:spPr bwMode="auto">
          <a:xfrm>
            <a:off x="4806950" y="5153025"/>
            <a:ext cx="8159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{ordered}</a:t>
            </a:r>
            <a:endParaRPr lang="en-US" altLang="fr-FR" sz="2000"/>
          </a:p>
        </p:txBody>
      </p:sp>
      <p:sp>
        <p:nvSpPr>
          <p:cNvPr id="62480" name="Freeform 16"/>
          <p:cNvSpPr>
            <a:spLocks/>
          </p:cNvSpPr>
          <p:nvPr/>
        </p:nvSpPr>
        <p:spPr bwMode="auto">
          <a:xfrm>
            <a:off x="5191125" y="5815013"/>
            <a:ext cx="1266825" cy="292100"/>
          </a:xfrm>
          <a:custGeom>
            <a:avLst/>
            <a:gdLst>
              <a:gd name="T0" fmla="*/ 0 w 864"/>
              <a:gd name="T1" fmla="*/ 0 h 184"/>
              <a:gd name="T2" fmla="*/ 0 w 864"/>
              <a:gd name="T3" fmla="*/ 463708750 h 184"/>
              <a:gd name="T4" fmla="*/ 1857460163 w 864"/>
              <a:gd name="T5" fmla="*/ 463708750 h 184"/>
              <a:gd name="T6" fmla="*/ 1857460163 w 864"/>
              <a:gd name="T7" fmla="*/ 0 h 184"/>
              <a:gd name="T8" fmla="*/ 0 w 864"/>
              <a:gd name="T9" fmla="*/ 0 h 184"/>
              <a:gd name="T10" fmla="*/ 0 w 864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4"/>
              <a:gd name="T19" fmla="*/ 0 h 184"/>
              <a:gd name="T20" fmla="*/ 864 w 864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4" h="184">
                <a:moveTo>
                  <a:pt x="0" y="0"/>
                </a:moveTo>
                <a:lnTo>
                  <a:pt x="0" y="184"/>
                </a:lnTo>
                <a:lnTo>
                  <a:pt x="864" y="184"/>
                </a:lnTo>
                <a:lnTo>
                  <a:pt x="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5191125" y="5815013"/>
            <a:ext cx="1266825" cy="2921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5230813" y="5870575"/>
            <a:ext cx="4968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name:</a:t>
            </a:r>
            <a:endParaRPr lang="en-US" altLang="fr-FR" sz="2000"/>
          </a:p>
        </p:txBody>
      </p:sp>
      <p:sp>
        <p:nvSpPr>
          <p:cNvPr id="62483" name="Rectangle 19"/>
          <p:cNvSpPr>
            <a:spLocks noChangeArrowheads="1"/>
          </p:cNvSpPr>
          <p:nvPr/>
        </p:nvSpPr>
        <p:spPr bwMode="auto">
          <a:xfrm>
            <a:off x="5695950" y="5870575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fr-FR" sz="2000"/>
          </a:p>
        </p:txBody>
      </p:sp>
      <p:sp>
        <p:nvSpPr>
          <p:cNvPr id="62484" name="Rectangle 20"/>
          <p:cNvSpPr>
            <a:spLocks noChangeArrowheads="1"/>
          </p:cNvSpPr>
          <p:nvPr/>
        </p:nvSpPr>
        <p:spPr bwMode="auto">
          <a:xfrm>
            <a:off x="5745163" y="5870575"/>
            <a:ext cx="4968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String</a:t>
            </a:r>
            <a:endParaRPr lang="en-US" altLang="fr-FR" sz="2000"/>
          </a:p>
        </p:txBody>
      </p:sp>
      <p:sp>
        <p:nvSpPr>
          <p:cNvPr id="62485" name="Freeform 21"/>
          <p:cNvSpPr>
            <a:spLocks/>
          </p:cNvSpPr>
          <p:nvPr/>
        </p:nvSpPr>
        <p:spPr bwMode="auto">
          <a:xfrm>
            <a:off x="5191125" y="6107113"/>
            <a:ext cx="1266825" cy="292100"/>
          </a:xfrm>
          <a:custGeom>
            <a:avLst/>
            <a:gdLst>
              <a:gd name="T0" fmla="*/ 0 w 864"/>
              <a:gd name="T1" fmla="*/ 0 h 184"/>
              <a:gd name="T2" fmla="*/ 0 w 864"/>
              <a:gd name="T3" fmla="*/ 463708750 h 184"/>
              <a:gd name="T4" fmla="*/ 1857460163 w 864"/>
              <a:gd name="T5" fmla="*/ 463708750 h 184"/>
              <a:gd name="T6" fmla="*/ 1857460163 w 864"/>
              <a:gd name="T7" fmla="*/ 0 h 184"/>
              <a:gd name="T8" fmla="*/ 0 w 864"/>
              <a:gd name="T9" fmla="*/ 0 h 184"/>
              <a:gd name="T10" fmla="*/ 0 w 864"/>
              <a:gd name="T11" fmla="*/ 0 h 1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4"/>
              <a:gd name="T19" fmla="*/ 0 h 184"/>
              <a:gd name="T20" fmla="*/ 864 w 864"/>
              <a:gd name="T21" fmla="*/ 184 h 1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4" h="184">
                <a:moveTo>
                  <a:pt x="0" y="0"/>
                </a:moveTo>
                <a:lnTo>
                  <a:pt x="0" y="184"/>
                </a:lnTo>
                <a:lnTo>
                  <a:pt x="864" y="184"/>
                </a:lnTo>
                <a:lnTo>
                  <a:pt x="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86" name="Freeform 22"/>
          <p:cNvSpPr>
            <a:spLocks/>
          </p:cNvSpPr>
          <p:nvPr/>
        </p:nvSpPr>
        <p:spPr bwMode="auto">
          <a:xfrm>
            <a:off x="5191125" y="5472113"/>
            <a:ext cx="1266825" cy="342900"/>
          </a:xfrm>
          <a:custGeom>
            <a:avLst/>
            <a:gdLst>
              <a:gd name="T0" fmla="*/ 0 w 864"/>
              <a:gd name="T1" fmla="*/ 0 h 216"/>
              <a:gd name="T2" fmla="*/ 0 w 864"/>
              <a:gd name="T3" fmla="*/ 544353750 h 216"/>
              <a:gd name="T4" fmla="*/ 1857460163 w 864"/>
              <a:gd name="T5" fmla="*/ 544353750 h 216"/>
              <a:gd name="T6" fmla="*/ 1857460163 w 864"/>
              <a:gd name="T7" fmla="*/ 0 h 216"/>
              <a:gd name="T8" fmla="*/ 0 w 864"/>
              <a:gd name="T9" fmla="*/ 0 h 216"/>
              <a:gd name="T10" fmla="*/ 0 w 864"/>
              <a:gd name="T11" fmla="*/ 0 h 2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64"/>
              <a:gd name="T19" fmla="*/ 0 h 216"/>
              <a:gd name="T20" fmla="*/ 864 w 864"/>
              <a:gd name="T21" fmla="*/ 216 h 2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64" h="216">
                <a:moveTo>
                  <a:pt x="0" y="0"/>
                </a:moveTo>
                <a:lnTo>
                  <a:pt x="0" y="216"/>
                </a:lnTo>
                <a:lnTo>
                  <a:pt x="864" y="216"/>
                </a:lnTo>
                <a:lnTo>
                  <a:pt x="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87" name="Rectangle 23"/>
          <p:cNvSpPr>
            <a:spLocks noChangeArrowheads="1"/>
          </p:cNvSpPr>
          <p:nvPr/>
        </p:nvSpPr>
        <p:spPr bwMode="auto">
          <a:xfrm>
            <a:off x="5191125" y="6107113"/>
            <a:ext cx="1266825" cy="2921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88" name="Rectangle 24"/>
          <p:cNvSpPr>
            <a:spLocks noChangeArrowheads="1"/>
          </p:cNvSpPr>
          <p:nvPr/>
        </p:nvSpPr>
        <p:spPr bwMode="auto">
          <a:xfrm>
            <a:off x="5191125" y="5472113"/>
            <a:ext cx="1266825" cy="3429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2489" name="Rectangle 25"/>
          <p:cNvSpPr>
            <a:spLocks noChangeArrowheads="1"/>
          </p:cNvSpPr>
          <p:nvPr/>
        </p:nvSpPr>
        <p:spPr bwMode="auto">
          <a:xfrm>
            <a:off x="5568950" y="5549900"/>
            <a:ext cx="4746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>
                <a:solidFill>
                  <a:srgbClr val="000000"/>
                </a:solidFill>
                <a:latin typeface="Times New Roman" panose="02020603050405020304" pitchFamily="18" charset="0"/>
              </a:rPr>
              <a:t>Level</a:t>
            </a:r>
            <a:endParaRPr lang="en-US" altLang="fr-FR" sz="2000"/>
          </a:p>
        </p:txBody>
      </p:sp>
      <p:sp>
        <p:nvSpPr>
          <p:cNvPr id="62490" name="Rectangle 26"/>
          <p:cNvSpPr>
            <a:spLocks noChangeArrowheads="1"/>
          </p:cNvSpPr>
          <p:nvPr/>
        </p:nvSpPr>
        <p:spPr bwMode="auto">
          <a:xfrm>
            <a:off x="5743575" y="5216525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600" b="0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  <a:endParaRPr lang="en-US" altLang="fr-FR" sz="2000"/>
          </a:p>
        </p:txBody>
      </p:sp>
      <p:sp>
        <p:nvSpPr>
          <p:cNvPr id="62491" name="AutoShape 27"/>
          <p:cNvSpPr>
            <a:spLocks noChangeArrowheads="1"/>
          </p:cNvSpPr>
          <p:nvPr/>
        </p:nvSpPr>
        <p:spPr bwMode="auto">
          <a:xfrm>
            <a:off x="461963" y="3895725"/>
            <a:ext cx="2932112" cy="765175"/>
          </a:xfrm>
          <a:prstGeom prst="wedgeRoundRectCallout">
            <a:avLst>
              <a:gd name="adj1" fmla="val -6685"/>
              <a:gd name="adj2" fmla="val -147509"/>
              <a:gd name="adj3" fmla="val 1666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fr-FR" sz="2000">
                <a:latin typeface="Courier New" panose="02070309020205020404" pitchFamily="49" charset="0"/>
              </a:rPr>
              <a:t>level</a:t>
            </a:r>
            <a:r>
              <a:rPr lang="en-US" altLang="fr-FR" sz="2000" b="0">
                <a:latin typeface="Times New Roman" panose="02020603050405020304" pitchFamily="18" charset="0"/>
              </a:rPr>
              <a:t> denotes a </a:t>
            </a:r>
            <a:r>
              <a:rPr lang="en-US" altLang="fr-FR" sz="2000" b="0">
                <a:solidFill>
                  <a:srgbClr val="0005C5"/>
                </a:solidFill>
                <a:latin typeface="Times New Roman" panose="02020603050405020304" pitchFamily="18" charset="0"/>
              </a:rPr>
              <a:t>sequence</a:t>
            </a:r>
            <a:r>
              <a:rPr lang="en-US" altLang="fr-FR" sz="2000" b="0">
                <a:latin typeface="Times New Roman" panose="02020603050405020304" pitchFamily="18" charset="0"/>
              </a:rPr>
              <a:t> von </a:t>
            </a:r>
            <a:r>
              <a:rPr lang="en-US" altLang="fr-FR" sz="2000">
                <a:latin typeface="Courier New" panose="02070309020205020404" pitchFamily="49" charset="0"/>
              </a:rPr>
              <a:t>levels</a:t>
            </a:r>
            <a:endParaRPr lang="en-US" altLang="fr-FR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9235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altLang="fr-FR">
                <a:ea typeface="ＭＳ Ｐゴシック" panose="020B0600070205080204" pitchFamily="34" charset="-128"/>
              </a:rPr>
              <a:t>Conversion between OCL-Collections</a:t>
            </a:r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45488" cy="4800600"/>
          </a:xfrm>
        </p:spPr>
        <p:txBody>
          <a:bodyPr/>
          <a:lstStyle/>
          <a:p>
            <a:r>
              <a:rPr lang="de-DE" altLang="fr-FR" dirty="0">
                <a:ea typeface="ＭＳ Ｐゴシック" panose="020B0600070205080204" pitchFamily="34" charset="-128"/>
              </a:rPr>
              <a:t>OCL </a:t>
            </a:r>
            <a:r>
              <a:rPr lang="de-DE" altLang="fr-FR" dirty="0" err="1">
                <a:ea typeface="ＭＳ Ｐゴシック" panose="020B0600070205080204" pitchFamily="34" charset="-128"/>
              </a:rPr>
              <a:t>offers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operations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to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convert</a:t>
            </a:r>
            <a:r>
              <a:rPr lang="de-DE" altLang="fr-FR" dirty="0">
                <a:ea typeface="ＭＳ Ｐゴシック" panose="020B0600070205080204" pitchFamily="34" charset="-128"/>
              </a:rPr>
              <a:t> OCL-Collections:</a:t>
            </a:r>
          </a:p>
          <a:p>
            <a:pPr lvl="1">
              <a:buFont typeface="Times" panose="02020603050405020304" pitchFamily="18" charset="0"/>
              <a:buNone/>
            </a:pPr>
            <a:endParaRPr lang="de-DE" altLang="fr-FR" dirty="0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dirty="0" err="1">
                <a:ea typeface="ＭＳ Ｐゴシック" panose="020B0600070205080204" pitchFamily="34" charset="-128"/>
              </a:rPr>
              <a:t>asSet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sz="1800" dirty="0">
                <a:ea typeface="ＭＳ Ｐゴシック" panose="020B0600070205080204" pitchFamily="34" charset="-128"/>
              </a:rPr>
              <a:t>Transforms a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multiset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or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sequence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into</a:t>
            </a:r>
            <a:r>
              <a:rPr lang="de-DE" altLang="fr-FR" sz="1800" dirty="0">
                <a:ea typeface="ＭＳ Ｐゴシック" panose="020B0600070205080204" pitchFamily="34" charset="-128"/>
              </a:rPr>
              <a:t> a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set</a:t>
            </a:r>
            <a:endParaRPr lang="de-DE" altLang="fr-FR" sz="1800" dirty="0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endParaRPr lang="de-DE" altLang="fr-FR" sz="1800" dirty="0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dirty="0" err="1">
                <a:ea typeface="ＭＳ Ｐゴシック" panose="020B0600070205080204" pitchFamily="34" charset="-128"/>
              </a:rPr>
              <a:t>asBag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sz="1800" dirty="0" err="1">
                <a:ea typeface="ＭＳ Ｐゴシック" panose="020B0600070205080204" pitchFamily="34" charset="-128"/>
              </a:rPr>
              <a:t>transforms</a:t>
            </a:r>
            <a:r>
              <a:rPr lang="de-DE" altLang="fr-FR" sz="1800" dirty="0">
                <a:ea typeface="ＭＳ Ｐゴシック" panose="020B0600070205080204" pitchFamily="34" charset="-128"/>
              </a:rPr>
              <a:t> a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set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or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sequence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into</a:t>
            </a:r>
            <a:r>
              <a:rPr lang="de-DE" altLang="fr-FR" sz="1800" dirty="0">
                <a:ea typeface="ＭＳ Ｐゴシック" panose="020B0600070205080204" pitchFamily="34" charset="-128"/>
              </a:rPr>
              <a:t> a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multiset</a:t>
            </a:r>
            <a:endParaRPr lang="de-DE" altLang="fr-FR" sz="1800" dirty="0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endParaRPr lang="de-DE" altLang="fr-FR" sz="1800" dirty="0">
              <a:ea typeface="ＭＳ Ｐゴシック" panose="020B0600070205080204" pitchFamily="34" charset="-128"/>
            </a:endParaRP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dirty="0" err="1">
                <a:ea typeface="ＭＳ Ｐゴシック" panose="020B0600070205080204" pitchFamily="34" charset="-128"/>
              </a:rPr>
              <a:t>asSequence</a:t>
            </a:r>
            <a:br>
              <a:rPr lang="de-DE" altLang="fr-FR" dirty="0">
                <a:ea typeface="ＭＳ Ｐゴシック" panose="020B0600070205080204" pitchFamily="34" charset="-128"/>
              </a:rPr>
            </a:br>
            <a:r>
              <a:rPr lang="de-DE" altLang="fr-FR" sz="1800" dirty="0" err="1">
                <a:ea typeface="ＭＳ Ｐゴシック" panose="020B0600070205080204" pitchFamily="34" charset="-128"/>
              </a:rPr>
              <a:t>transforms</a:t>
            </a:r>
            <a:r>
              <a:rPr lang="de-DE" altLang="fr-FR" sz="1800" dirty="0">
                <a:ea typeface="ＭＳ Ｐゴシック" panose="020B0600070205080204" pitchFamily="34" charset="-128"/>
              </a:rPr>
              <a:t> a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set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or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multiset</a:t>
            </a:r>
            <a:r>
              <a:rPr lang="de-DE" altLang="fr-FR" sz="1800" dirty="0">
                <a:ea typeface="ＭＳ Ｐゴシック" panose="020B0600070205080204" pitchFamily="34" charset="-128"/>
              </a:rPr>
              <a:t>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into</a:t>
            </a:r>
            <a:r>
              <a:rPr lang="de-DE" altLang="fr-FR" sz="1800" dirty="0">
                <a:ea typeface="ＭＳ Ｐゴシック" panose="020B0600070205080204" pitchFamily="34" charset="-128"/>
              </a:rPr>
              <a:t> a </a:t>
            </a:r>
            <a:r>
              <a:rPr lang="de-DE" altLang="fr-FR" sz="1800" dirty="0" err="1">
                <a:ea typeface="ＭＳ Ｐゴシック" panose="020B0600070205080204" pitchFamily="34" charset="-128"/>
              </a:rPr>
              <a:t>sequence</a:t>
            </a:r>
            <a:r>
              <a:rPr lang="de-DE" altLang="fr-FR" sz="1800" dirty="0">
                <a:ea typeface="ＭＳ Ｐゴシック" panose="020B0600070205080204" pitchFamily="34" charset="-128"/>
              </a:rPr>
              <a:t>.</a:t>
            </a:r>
            <a:endParaRPr lang="de-DE" altLang="fr-FR" dirty="0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39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092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7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564" y="-171400"/>
            <a:ext cx="7772400" cy="1143000"/>
          </a:xfrm>
        </p:spPr>
        <p:txBody>
          <a:bodyPr/>
          <a:lstStyle/>
          <a:p>
            <a:r>
              <a:rPr lang="de-DE" altLang="fr-FR" dirty="0" err="1">
                <a:ea typeface="ＭＳ Ｐゴシック" panose="020B0600070205080204" pitchFamily="34" charset="-128"/>
              </a:rPr>
              <a:t>Example</a:t>
            </a:r>
            <a:r>
              <a:rPr lang="de-DE" altLang="fr-FR" dirty="0">
                <a:ea typeface="ＭＳ Ｐゴシック" panose="020B0600070205080204" pitchFamily="34" charset="-128"/>
              </a:rPr>
              <a:t> </a:t>
            </a:r>
            <a:r>
              <a:rPr lang="de-DE" altLang="fr-FR" dirty="0" err="1">
                <a:ea typeface="ＭＳ Ｐゴシック" panose="020B0600070205080204" pitchFamily="34" charset="-128"/>
              </a:rPr>
              <a:t>of</a:t>
            </a:r>
            <a:r>
              <a:rPr lang="de-DE" altLang="fr-FR" dirty="0">
                <a:ea typeface="ＭＳ Ｐゴシック" panose="020B0600070205080204" pitchFamily="34" charset="-128"/>
              </a:rPr>
              <a:t> a </a:t>
            </a:r>
            <a:r>
              <a:rPr lang="de-DE" altLang="fr-FR" dirty="0" err="1">
                <a:ea typeface="ＭＳ Ｐゴシック" panose="020B0600070205080204" pitchFamily="34" charset="-128"/>
              </a:rPr>
              <a:t>Conversion</a:t>
            </a:r>
            <a:endParaRPr lang="en-US" altLang="fr-FR" dirty="0">
              <a:ea typeface="ＭＳ Ｐゴシック" panose="020B0600070205080204" pitchFamily="34" charset="-128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66813"/>
            <a:ext cx="8001000" cy="3436937"/>
          </a:xfrm>
        </p:spPr>
        <p:txBody>
          <a:bodyPr/>
          <a:lstStyle/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de-DE" altLang="fr-FR" b="1" u="sng">
                <a:latin typeface="Courier New" panose="02070309020205020404" pitchFamily="49" charset="0"/>
                <a:ea typeface="ＭＳ Ｐゴシック" panose="020B0600070205080204" pitchFamily="34" charset="-128"/>
              </a:rPr>
              <a:t>programPartner</a:t>
            </a:r>
            <a:endParaRPr lang="de-DE" altLang="fr-FR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nrcustomer = bonusprogram.Customer-&gt;size</a:t>
            </a:r>
            <a:endParaRPr lang="de-DE" altLang="fr-FR">
              <a:ea typeface="ＭＳ Ｐゴシック" panose="020B0600070205080204" pitchFamily="34" charset="-128"/>
            </a:endParaRPr>
          </a:p>
          <a:p>
            <a:pPr>
              <a:lnSpc>
                <a:spcPct val="40000"/>
              </a:lnSpc>
              <a:buFont typeface="Monotype Sorts" charset="2"/>
              <a:buChar char=" "/>
            </a:pPr>
            <a:endParaRPr lang="de-DE" altLang="fr-FR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de-DE" altLang="fr-FR" sz="2000">
                <a:ea typeface="ＭＳ Ｐゴシック" panose="020B0600070205080204" pitchFamily="34" charset="-128"/>
              </a:rPr>
              <a:t>This  expression may contain customer multiple times, we can  get the number of unique customers as follows:</a:t>
            </a:r>
            <a:r>
              <a:rPr lang="de-DE" altLang="fr-FR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50000"/>
              </a:lnSpc>
              <a:buFont typeface="Monotype Sorts" charset="2"/>
              <a:buNone/>
            </a:pPr>
            <a:endParaRPr lang="de-DE" altLang="fr-FR" b="1" u="sng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de-DE" altLang="fr-FR" b="1" u="sng">
                <a:latin typeface="Courier New" panose="02070309020205020404" pitchFamily="49" charset="0"/>
                <a:ea typeface="ＭＳ Ｐゴシック" panose="020B0600070205080204" pitchFamily="34" charset="-128"/>
              </a:rPr>
              <a:t>programPartner</a:t>
            </a:r>
            <a:endParaRPr lang="de-DE" altLang="fr-FR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de-DE" altLang="fr-F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nrcustomer = bonusprogram.Customer-&gt;asSet-&gt;size</a:t>
            </a:r>
            <a:endParaRPr lang="de-DE" altLang="fr-FR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66564" name="Freeform 4"/>
          <p:cNvSpPr>
            <a:spLocks/>
          </p:cNvSpPr>
          <p:nvPr/>
        </p:nvSpPr>
        <p:spPr bwMode="auto">
          <a:xfrm>
            <a:off x="679450" y="5972175"/>
            <a:ext cx="1687513" cy="274638"/>
          </a:xfrm>
          <a:custGeom>
            <a:avLst/>
            <a:gdLst>
              <a:gd name="T0" fmla="*/ 0 w 1150"/>
              <a:gd name="T1" fmla="*/ 0 h 173"/>
              <a:gd name="T2" fmla="*/ 0 w 1150"/>
              <a:gd name="T3" fmla="*/ 435988619 h 173"/>
              <a:gd name="T4" fmla="*/ 2147483647 w 1150"/>
              <a:gd name="T5" fmla="*/ 435988619 h 173"/>
              <a:gd name="T6" fmla="*/ 2147483647 w 1150"/>
              <a:gd name="T7" fmla="*/ 0 h 173"/>
              <a:gd name="T8" fmla="*/ 0 w 1150"/>
              <a:gd name="T9" fmla="*/ 0 h 173"/>
              <a:gd name="T10" fmla="*/ 0 w 1150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0"/>
              <a:gd name="T19" fmla="*/ 0 h 173"/>
              <a:gd name="T20" fmla="*/ 1150 w 1150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0" h="173">
                <a:moveTo>
                  <a:pt x="0" y="0"/>
                </a:moveTo>
                <a:lnTo>
                  <a:pt x="0" y="173"/>
                </a:lnTo>
                <a:lnTo>
                  <a:pt x="1150" y="173"/>
                </a:lnTo>
                <a:lnTo>
                  <a:pt x="1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679450" y="5972175"/>
            <a:ext cx="1687513" cy="274638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714375" y="6021388"/>
            <a:ext cx="9096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nrcustomer:</a:t>
            </a:r>
            <a:endParaRPr lang="de-DE" altLang="fr-FR" sz="2000"/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1773238" y="6021388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1817688" y="6021388"/>
            <a:ext cx="539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Integer</a:t>
            </a:r>
            <a:endParaRPr lang="de-DE" altLang="fr-FR" sz="2000"/>
          </a:p>
        </p:txBody>
      </p:sp>
      <p:sp>
        <p:nvSpPr>
          <p:cNvPr id="66569" name="Freeform 9"/>
          <p:cNvSpPr>
            <a:spLocks/>
          </p:cNvSpPr>
          <p:nvPr/>
        </p:nvSpPr>
        <p:spPr bwMode="auto">
          <a:xfrm>
            <a:off x="679450" y="6246813"/>
            <a:ext cx="1687513" cy="274637"/>
          </a:xfrm>
          <a:custGeom>
            <a:avLst/>
            <a:gdLst>
              <a:gd name="T0" fmla="*/ 0 w 1150"/>
              <a:gd name="T1" fmla="*/ 0 h 173"/>
              <a:gd name="T2" fmla="*/ 0 w 1150"/>
              <a:gd name="T3" fmla="*/ 435985444 h 173"/>
              <a:gd name="T4" fmla="*/ 2147483647 w 1150"/>
              <a:gd name="T5" fmla="*/ 435985444 h 173"/>
              <a:gd name="T6" fmla="*/ 2147483647 w 1150"/>
              <a:gd name="T7" fmla="*/ 0 h 173"/>
              <a:gd name="T8" fmla="*/ 0 w 1150"/>
              <a:gd name="T9" fmla="*/ 0 h 173"/>
              <a:gd name="T10" fmla="*/ 0 w 1150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0"/>
              <a:gd name="T19" fmla="*/ 0 h 173"/>
              <a:gd name="T20" fmla="*/ 1150 w 1150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0" h="173">
                <a:moveTo>
                  <a:pt x="0" y="0"/>
                </a:moveTo>
                <a:lnTo>
                  <a:pt x="0" y="173"/>
                </a:lnTo>
                <a:lnTo>
                  <a:pt x="1150" y="173"/>
                </a:lnTo>
                <a:lnTo>
                  <a:pt x="1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70" name="Freeform 10"/>
          <p:cNvSpPr>
            <a:spLocks/>
          </p:cNvSpPr>
          <p:nvPr/>
        </p:nvSpPr>
        <p:spPr bwMode="auto">
          <a:xfrm>
            <a:off x="679450" y="5651500"/>
            <a:ext cx="1687513" cy="320675"/>
          </a:xfrm>
          <a:custGeom>
            <a:avLst/>
            <a:gdLst>
              <a:gd name="T0" fmla="*/ 0 w 1150"/>
              <a:gd name="T1" fmla="*/ 0 h 202"/>
              <a:gd name="T2" fmla="*/ 0 w 1150"/>
              <a:gd name="T3" fmla="*/ 509071563 h 202"/>
              <a:gd name="T4" fmla="*/ 2147483647 w 1150"/>
              <a:gd name="T5" fmla="*/ 509071563 h 202"/>
              <a:gd name="T6" fmla="*/ 2147483647 w 1150"/>
              <a:gd name="T7" fmla="*/ 0 h 202"/>
              <a:gd name="T8" fmla="*/ 0 w 1150"/>
              <a:gd name="T9" fmla="*/ 0 h 202"/>
              <a:gd name="T10" fmla="*/ 0 w 1150"/>
              <a:gd name="T11" fmla="*/ 0 h 20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50"/>
              <a:gd name="T19" fmla="*/ 0 h 202"/>
              <a:gd name="T20" fmla="*/ 1150 w 1150"/>
              <a:gd name="T21" fmla="*/ 202 h 20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50" h="202">
                <a:moveTo>
                  <a:pt x="0" y="0"/>
                </a:moveTo>
                <a:lnTo>
                  <a:pt x="0" y="202"/>
                </a:lnTo>
                <a:lnTo>
                  <a:pt x="1150" y="202"/>
                </a:lnTo>
                <a:lnTo>
                  <a:pt x="1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71" name="Rectangle 11"/>
          <p:cNvSpPr>
            <a:spLocks noChangeArrowheads="1"/>
          </p:cNvSpPr>
          <p:nvPr/>
        </p:nvSpPr>
        <p:spPr bwMode="auto">
          <a:xfrm>
            <a:off x="679450" y="6246813"/>
            <a:ext cx="1687513" cy="274637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72" name="Rectangle 12"/>
          <p:cNvSpPr>
            <a:spLocks noChangeArrowheads="1"/>
          </p:cNvSpPr>
          <p:nvPr/>
        </p:nvSpPr>
        <p:spPr bwMode="auto">
          <a:xfrm>
            <a:off x="679450" y="5651500"/>
            <a:ext cx="1687513" cy="320675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784225" y="5726113"/>
            <a:ext cx="13541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>
                <a:solidFill>
                  <a:srgbClr val="000000"/>
                </a:solidFill>
                <a:latin typeface="Times New Roman" panose="02020603050405020304" pitchFamily="18" charset="0"/>
              </a:rPr>
              <a:t>programPartner</a:t>
            </a:r>
            <a:endParaRPr lang="de-DE" altLang="fr-FR" sz="2000"/>
          </a:p>
        </p:txBody>
      </p:sp>
      <p:sp>
        <p:nvSpPr>
          <p:cNvPr id="66574" name="Freeform 14"/>
          <p:cNvSpPr>
            <a:spLocks/>
          </p:cNvSpPr>
          <p:nvPr/>
        </p:nvSpPr>
        <p:spPr bwMode="auto">
          <a:xfrm>
            <a:off x="7423150" y="4584700"/>
            <a:ext cx="1387475" cy="882650"/>
          </a:xfrm>
          <a:custGeom>
            <a:avLst/>
            <a:gdLst>
              <a:gd name="T0" fmla="*/ 0 w 947"/>
              <a:gd name="T1" fmla="*/ 0 h 556"/>
              <a:gd name="T2" fmla="*/ 0 w 947"/>
              <a:gd name="T3" fmla="*/ 1401206875 h 556"/>
              <a:gd name="T4" fmla="*/ 2032826690 w 947"/>
              <a:gd name="T5" fmla="*/ 1401206875 h 556"/>
              <a:gd name="T6" fmla="*/ 2032826690 w 947"/>
              <a:gd name="T7" fmla="*/ 0 h 556"/>
              <a:gd name="T8" fmla="*/ 0 w 947"/>
              <a:gd name="T9" fmla="*/ 0 h 556"/>
              <a:gd name="T10" fmla="*/ 0 w 947"/>
              <a:gd name="T11" fmla="*/ 0 h 5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7"/>
              <a:gd name="T19" fmla="*/ 0 h 556"/>
              <a:gd name="T20" fmla="*/ 947 w 947"/>
              <a:gd name="T21" fmla="*/ 556 h 55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7" h="556">
                <a:moveTo>
                  <a:pt x="0" y="0"/>
                </a:moveTo>
                <a:lnTo>
                  <a:pt x="0" y="556"/>
                </a:lnTo>
                <a:lnTo>
                  <a:pt x="947" y="556"/>
                </a:lnTo>
                <a:lnTo>
                  <a:pt x="9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7423150" y="4584700"/>
            <a:ext cx="1387475" cy="882650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76" name="Rectangle 16"/>
          <p:cNvSpPr>
            <a:spLocks noChangeArrowheads="1"/>
          </p:cNvSpPr>
          <p:nvPr/>
        </p:nvSpPr>
        <p:spPr bwMode="auto">
          <a:xfrm>
            <a:off x="7456488" y="4637088"/>
            <a:ext cx="465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name:</a:t>
            </a:r>
            <a:endParaRPr lang="de-DE" altLang="fr-FR" sz="2000"/>
          </a:p>
        </p:txBody>
      </p:sp>
      <p:sp>
        <p:nvSpPr>
          <p:cNvPr id="66577" name="Rectangle 17"/>
          <p:cNvSpPr>
            <a:spLocks noChangeArrowheads="1"/>
          </p:cNvSpPr>
          <p:nvPr/>
        </p:nvSpPr>
        <p:spPr bwMode="auto">
          <a:xfrm>
            <a:off x="7896225" y="4637088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6578" name="Rectangle 18"/>
          <p:cNvSpPr>
            <a:spLocks noChangeArrowheads="1"/>
          </p:cNvSpPr>
          <p:nvPr/>
        </p:nvSpPr>
        <p:spPr bwMode="auto">
          <a:xfrm>
            <a:off x="7937500" y="4637088"/>
            <a:ext cx="4651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String</a:t>
            </a:r>
            <a:endParaRPr lang="de-DE" altLang="fr-FR" sz="2000"/>
          </a:p>
        </p:txBody>
      </p:sp>
      <p:sp>
        <p:nvSpPr>
          <p:cNvPr id="66579" name="Rectangle 19"/>
          <p:cNvSpPr>
            <a:spLocks noChangeArrowheads="1"/>
          </p:cNvSpPr>
          <p:nvPr/>
        </p:nvSpPr>
        <p:spPr bwMode="auto">
          <a:xfrm>
            <a:off x="7456488" y="4838700"/>
            <a:ext cx="349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titel:</a:t>
            </a:r>
            <a:endParaRPr lang="de-DE" altLang="fr-FR" sz="2000"/>
          </a:p>
        </p:txBody>
      </p:sp>
      <p:sp>
        <p:nvSpPr>
          <p:cNvPr id="66580" name="Rectangle 20"/>
          <p:cNvSpPr>
            <a:spLocks noChangeArrowheads="1"/>
          </p:cNvSpPr>
          <p:nvPr/>
        </p:nvSpPr>
        <p:spPr bwMode="auto">
          <a:xfrm>
            <a:off x="7800975" y="4838700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6581" name="Rectangle 21"/>
          <p:cNvSpPr>
            <a:spLocks noChangeArrowheads="1"/>
          </p:cNvSpPr>
          <p:nvPr/>
        </p:nvSpPr>
        <p:spPr bwMode="auto">
          <a:xfrm>
            <a:off x="7847013" y="4838700"/>
            <a:ext cx="4651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String</a:t>
            </a:r>
            <a:endParaRPr lang="de-DE" altLang="fr-FR" sz="2000"/>
          </a:p>
        </p:txBody>
      </p:sp>
      <p:sp>
        <p:nvSpPr>
          <p:cNvPr id="66582" name="Rectangle 22"/>
          <p:cNvSpPr>
            <a:spLocks noChangeArrowheads="1"/>
          </p:cNvSpPr>
          <p:nvPr/>
        </p:nvSpPr>
        <p:spPr bwMode="auto">
          <a:xfrm>
            <a:off x="7456488" y="5040313"/>
            <a:ext cx="317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age:</a:t>
            </a:r>
            <a:endParaRPr lang="de-DE" altLang="fr-FR" sz="2000"/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7832725" y="5040313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6584" name="Rectangle 24"/>
          <p:cNvSpPr>
            <a:spLocks noChangeArrowheads="1"/>
          </p:cNvSpPr>
          <p:nvPr/>
        </p:nvSpPr>
        <p:spPr bwMode="auto">
          <a:xfrm>
            <a:off x="7878763" y="5040313"/>
            <a:ext cx="539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Integer</a:t>
            </a:r>
            <a:endParaRPr lang="de-DE" altLang="fr-FR" sz="2000"/>
          </a:p>
        </p:txBody>
      </p:sp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7456488" y="5241925"/>
            <a:ext cx="687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birthday:</a:t>
            </a:r>
            <a:endParaRPr lang="de-DE" altLang="fr-FR" sz="2000"/>
          </a:p>
        </p:txBody>
      </p:sp>
      <p:sp>
        <p:nvSpPr>
          <p:cNvPr id="66586" name="Rectangle 26"/>
          <p:cNvSpPr>
            <a:spLocks noChangeArrowheads="1"/>
          </p:cNvSpPr>
          <p:nvPr/>
        </p:nvSpPr>
        <p:spPr bwMode="auto">
          <a:xfrm>
            <a:off x="8220075" y="524192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8267700" y="5241925"/>
            <a:ext cx="5191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Datum</a:t>
            </a:r>
            <a:endParaRPr lang="de-DE" altLang="fr-FR" sz="2000"/>
          </a:p>
        </p:txBody>
      </p:sp>
      <p:sp>
        <p:nvSpPr>
          <p:cNvPr id="66588" name="Freeform 28"/>
          <p:cNvSpPr>
            <a:spLocks/>
          </p:cNvSpPr>
          <p:nvPr/>
        </p:nvSpPr>
        <p:spPr bwMode="auto">
          <a:xfrm>
            <a:off x="7423150" y="5467350"/>
            <a:ext cx="1387475" cy="274638"/>
          </a:xfrm>
          <a:custGeom>
            <a:avLst/>
            <a:gdLst>
              <a:gd name="T0" fmla="*/ 0 w 947"/>
              <a:gd name="T1" fmla="*/ 0 h 173"/>
              <a:gd name="T2" fmla="*/ 0 w 947"/>
              <a:gd name="T3" fmla="*/ 435988619 h 173"/>
              <a:gd name="T4" fmla="*/ 2032826690 w 947"/>
              <a:gd name="T5" fmla="*/ 435988619 h 173"/>
              <a:gd name="T6" fmla="*/ 2032826690 w 947"/>
              <a:gd name="T7" fmla="*/ 0 h 173"/>
              <a:gd name="T8" fmla="*/ 0 w 947"/>
              <a:gd name="T9" fmla="*/ 0 h 173"/>
              <a:gd name="T10" fmla="*/ 0 w 947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7"/>
              <a:gd name="T19" fmla="*/ 0 h 173"/>
              <a:gd name="T20" fmla="*/ 947 w 947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7" h="173">
                <a:moveTo>
                  <a:pt x="0" y="0"/>
                </a:moveTo>
                <a:lnTo>
                  <a:pt x="0" y="173"/>
                </a:lnTo>
                <a:lnTo>
                  <a:pt x="947" y="173"/>
                </a:lnTo>
                <a:lnTo>
                  <a:pt x="9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7423150" y="5467350"/>
            <a:ext cx="1387475" cy="274638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90" name="Rectangle 30"/>
          <p:cNvSpPr>
            <a:spLocks noChangeArrowheads="1"/>
          </p:cNvSpPr>
          <p:nvPr/>
        </p:nvSpPr>
        <p:spPr bwMode="auto">
          <a:xfrm>
            <a:off x="7456488" y="5514975"/>
            <a:ext cx="676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getage():</a:t>
            </a:r>
            <a:endParaRPr lang="de-DE" altLang="fr-FR" sz="2000"/>
          </a:p>
        </p:txBody>
      </p:sp>
      <p:sp>
        <p:nvSpPr>
          <p:cNvPr id="66591" name="Rectangle 31"/>
          <p:cNvSpPr>
            <a:spLocks noChangeArrowheads="1"/>
          </p:cNvSpPr>
          <p:nvPr/>
        </p:nvSpPr>
        <p:spPr bwMode="auto">
          <a:xfrm>
            <a:off x="8220075" y="5514975"/>
            <a:ext cx="47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de-DE" altLang="fr-FR" sz="2000"/>
          </a:p>
        </p:txBody>
      </p:sp>
      <p:sp>
        <p:nvSpPr>
          <p:cNvPr id="66592" name="Rectangle 32"/>
          <p:cNvSpPr>
            <a:spLocks noChangeArrowheads="1"/>
          </p:cNvSpPr>
          <p:nvPr/>
        </p:nvSpPr>
        <p:spPr bwMode="auto">
          <a:xfrm>
            <a:off x="8267700" y="5514975"/>
            <a:ext cx="539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Integer</a:t>
            </a:r>
            <a:endParaRPr lang="de-DE" altLang="fr-FR" sz="2000"/>
          </a:p>
        </p:txBody>
      </p:sp>
      <p:sp>
        <p:nvSpPr>
          <p:cNvPr id="66593" name="Freeform 33"/>
          <p:cNvSpPr>
            <a:spLocks/>
          </p:cNvSpPr>
          <p:nvPr/>
        </p:nvSpPr>
        <p:spPr bwMode="auto">
          <a:xfrm>
            <a:off x="7423150" y="4262438"/>
            <a:ext cx="1387475" cy="322262"/>
          </a:xfrm>
          <a:custGeom>
            <a:avLst/>
            <a:gdLst>
              <a:gd name="T0" fmla="*/ 0 w 947"/>
              <a:gd name="T1" fmla="*/ 0 h 203"/>
              <a:gd name="T2" fmla="*/ 0 w 947"/>
              <a:gd name="T3" fmla="*/ 511590131 h 203"/>
              <a:gd name="T4" fmla="*/ 2032826690 w 947"/>
              <a:gd name="T5" fmla="*/ 511590131 h 203"/>
              <a:gd name="T6" fmla="*/ 2032826690 w 947"/>
              <a:gd name="T7" fmla="*/ 0 h 203"/>
              <a:gd name="T8" fmla="*/ 0 w 947"/>
              <a:gd name="T9" fmla="*/ 0 h 203"/>
              <a:gd name="T10" fmla="*/ 0 w 947"/>
              <a:gd name="T11" fmla="*/ 0 h 2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7"/>
              <a:gd name="T19" fmla="*/ 0 h 203"/>
              <a:gd name="T20" fmla="*/ 947 w 947"/>
              <a:gd name="T21" fmla="*/ 203 h 2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7" h="203">
                <a:moveTo>
                  <a:pt x="0" y="0"/>
                </a:moveTo>
                <a:lnTo>
                  <a:pt x="0" y="203"/>
                </a:lnTo>
                <a:lnTo>
                  <a:pt x="947" y="203"/>
                </a:lnTo>
                <a:lnTo>
                  <a:pt x="9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94" name="Rectangle 34"/>
          <p:cNvSpPr>
            <a:spLocks noChangeArrowheads="1"/>
          </p:cNvSpPr>
          <p:nvPr/>
        </p:nvSpPr>
        <p:spPr bwMode="auto">
          <a:xfrm>
            <a:off x="7423150" y="4262438"/>
            <a:ext cx="1387475" cy="322262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95" name="Rectangle 35"/>
          <p:cNvSpPr>
            <a:spLocks noChangeArrowheads="1"/>
          </p:cNvSpPr>
          <p:nvPr/>
        </p:nvSpPr>
        <p:spPr bwMode="auto">
          <a:xfrm>
            <a:off x="7856538" y="4337050"/>
            <a:ext cx="804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>
                <a:solidFill>
                  <a:srgbClr val="000000"/>
                </a:solidFill>
                <a:latin typeface="Times New Roman" panose="02020603050405020304" pitchFamily="18" charset="0"/>
              </a:rPr>
              <a:t>Customer</a:t>
            </a:r>
            <a:endParaRPr lang="de-DE" altLang="fr-FR" sz="2000"/>
          </a:p>
        </p:txBody>
      </p:sp>
      <p:sp>
        <p:nvSpPr>
          <p:cNvPr id="66596" name="Line 36"/>
          <p:cNvSpPr>
            <a:spLocks noChangeShapeType="1"/>
          </p:cNvSpPr>
          <p:nvPr/>
        </p:nvSpPr>
        <p:spPr bwMode="auto">
          <a:xfrm flipV="1">
            <a:off x="1517650" y="4352925"/>
            <a:ext cx="2063750" cy="1293813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66597" name="Rectangle 37"/>
          <p:cNvSpPr>
            <a:spLocks noChangeArrowheads="1"/>
          </p:cNvSpPr>
          <p:nvPr/>
        </p:nvSpPr>
        <p:spPr bwMode="auto">
          <a:xfrm>
            <a:off x="1562100" y="5243513"/>
            <a:ext cx="280988" cy="2063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598" name="Rectangle 38"/>
          <p:cNvSpPr>
            <a:spLocks noChangeArrowheads="1"/>
          </p:cNvSpPr>
          <p:nvPr/>
        </p:nvSpPr>
        <p:spPr bwMode="auto">
          <a:xfrm>
            <a:off x="1563688" y="5257800"/>
            <a:ext cx="285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1..*</a:t>
            </a:r>
            <a:endParaRPr lang="de-DE" altLang="fr-FR" sz="2000"/>
          </a:p>
        </p:txBody>
      </p:sp>
      <p:sp>
        <p:nvSpPr>
          <p:cNvPr id="66599" name="Rectangle 39"/>
          <p:cNvSpPr>
            <a:spLocks noChangeArrowheads="1"/>
          </p:cNvSpPr>
          <p:nvPr/>
        </p:nvSpPr>
        <p:spPr bwMode="auto">
          <a:xfrm>
            <a:off x="3109913" y="4275138"/>
            <a:ext cx="280987" cy="2016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00" name="Rectangle 40"/>
          <p:cNvSpPr>
            <a:spLocks noChangeArrowheads="1"/>
          </p:cNvSpPr>
          <p:nvPr/>
        </p:nvSpPr>
        <p:spPr bwMode="auto">
          <a:xfrm>
            <a:off x="3111500" y="4289425"/>
            <a:ext cx="285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1..*</a:t>
            </a:r>
            <a:endParaRPr lang="de-DE" altLang="fr-FR" sz="2000"/>
          </a:p>
        </p:txBody>
      </p:sp>
      <p:sp>
        <p:nvSpPr>
          <p:cNvPr id="66601" name="Line 41"/>
          <p:cNvSpPr>
            <a:spLocks noChangeShapeType="1"/>
          </p:cNvSpPr>
          <p:nvPr/>
        </p:nvSpPr>
        <p:spPr bwMode="auto">
          <a:xfrm flipH="1" flipV="1">
            <a:off x="5297488" y="4352925"/>
            <a:ext cx="2125662" cy="1092200"/>
          </a:xfrm>
          <a:prstGeom prst="line">
            <a:avLst/>
          </a:prstGeom>
          <a:noFill/>
          <a:ln w="4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66602" name="Freeform 42"/>
          <p:cNvSpPr>
            <a:spLocks/>
          </p:cNvSpPr>
          <p:nvPr/>
        </p:nvSpPr>
        <p:spPr bwMode="auto">
          <a:xfrm>
            <a:off x="3581400" y="4241800"/>
            <a:ext cx="1716088" cy="274638"/>
          </a:xfrm>
          <a:custGeom>
            <a:avLst/>
            <a:gdLst>
              <a:gd name="T0" fmla="*/ 0 w 1171"/>
              <a:gd name="T1" fmla="*/ 0 h 173"/>
              <a:gd name="T2" fmla="*/ 0 w 1171"/>
              <a:gd name="T3" fmla="*/ 435988619 h 173"/>
              <a:gd name="T4" fmla="*/ 2147483647 w 1171"/>
              <a:gd name="T5" fmla="*/ 435988619 h 173"/>
              <a:gd name="T6" fmla="*/ 2147483647 w 1171"/>
              <a:gd name="T7" fmla="*/ 0 h 173"/>
              <a:gd name="T8" fmla="*/ 0 w 1171"/>
              <a:gd name="T9" fmla="*/ 0 h 173"/>
              <a:gd name="T10" fmla="*/ 0 w 1171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1"/>
              <a:gd name="T19" fmla="*/ 0 h 173"/>
              <a:gd name="T20" fmla="*/ 1171 w 1171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1" h="173">
                <a:moveTo>
                  <a:pt x="0" y="0"/>
                </a:moveTo>
                <a:lnTo>
                  <a:pt x="0" y="173"/>
                </a:lnTo>
                <a:lnTo>
                  <a:pt x="1171" y="173"/>
                </a:lnTo>
                <a:lnTo>
                  <a:pt x="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03" name="Freeform 43"/>
          <p:cNvSpPr>
            <a:spLocks/>
          </p:cNvSpPr>
          <p:nvPr/>
        </p:nvSpPr>
        <p:spPr bwMode="auto">
          <a:xfrm>
            <a:off x="3581400" y="4516438"/>
            <a:ext cx="1716088" cy="273050"/>
          </a:xfrm>
          <a:custGeom>
            <a:avLst/>
            <a:gdLst>
              <a:gd name="T0" fmla="*/ 0 w 1171"/>
              <a:gd name="T1" fmla="*/ 0 h 172"/>
              <a:gd name="T2" fmla="*/ 0 w 1171"/>
              <a:gd name="T3" fmla="*/ 433466875 h 172"/>
              <a:gd name="T4" fmla="*/ 2147483647 w 1171"/>
              <a:gd name="T5" fmla="*/ 433466875 h 172"/>
              <a:gd name="T6" fmla="*/ 2147483647 w 1171"/>
              <a:gd name="T7" fmla="*/ 0 h 172"/>
              <a:gd name="T8" fmla="*/ 0 w 1171"/>
              <a:gd name="T9" fmla="*/ 0 h 172"/>
              <a:gd name="T10" fmla="*/ 0 w 1171"/>
              <a:gd name="T11" fmla="*/ 0 h 1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1"/>
              <a:gd name="T19" fmla="*/ 0 h 172"/>
              <a:gd name="T20" fmla="*/ 1171 w 1171"/>
              <a:gd name="T21" fmla="*/ 172 h 1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1" h="172">
                <a:moveTo>
                  <a:pt x="0" y="0"/>
                </a:moveTo>
                <a:lnTo>
                  <a:pt x="0" y="172"/>
                </a:lnTo>
                <a:lnTo>
                  <a:pt x="1171" y="172"/>
                </a:lnTo>
                <a:lnTo>
                  <a:pt x="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04" name="Rectangle 44"/>
          <p:cNvSpPr>
            <a:spLocks noChangeArrowheads="1"/>
          </p:cNvSpPr>
          <p:nvPr/>
        </p:nvSpPr>
        <p:spPr bwMode="auto">
          <a:xfrm>
            <a:off x="3581400" y="4241800"/>
            <a:ext cx="1716088" cy="274638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05" name="Rectangle 45"/>
          <p:cNvSpPr>
            <a:spLocks noChangeArrowheads="1"/>
          </p:cNvSpPr>
          <p:nvPr/>
        </p:nvSpPr>
        <p:spPr bwMode="auto">
          <a:xfrm>
            <a:off x="3581400" y="4516438"/>
            <a:ext cx="1716088" cy="273050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06" name="Rectangle 46"/>
          <p:cNvSpPr>
            <a:spLocks noChangeArrowheads="1"/>
          </p:cNvSpPr>
          <p:nvPr/>
        </p:nvSpPr>
        <p:spPr bwMode="auto">
          <a:xfrm>
            <a:off x="3617913" y="4564063"/>
            <a:ext cx="7826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register(k:</a:t>
            </a:r>
            <a:endParaRPr lang="de-DE" altLang="fr-FR" sz="2000"/>
          </a:p>
        </p:txBody>
      </p:sp>
      <p:sp>
        <p:nvSpPr>
          <p:cNvPr id="66607" name="Rectangle 47"/>
          <p:cNvSpPr>
            <a:spLocks noChangeArrowheads="1"/>
          </p:cNvSpPr>
          <p:nvPr/>
        </p:nvSpPr>
        <p:spPr bwMode="auto">
          <a:xfrm>
            <a:off x="4438650" y="4564063"/>
            <a:ext cx="804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Customer)</a:t>
            </a:r>
            <a:endParaRPr lang="de-DE" altLang="fr-FR" sz="2000"/>
          </a:p>
        </p:txBody>
      </p:sp>
      <p:sp>
        <p:nvSpPr>
          <p:cNvPr id="66608" name="Freeform 48"/>
          <p:cNvSpPr>
            <a:spLocks/>
          </p:cNvSpPr>
          <p:nvPr/>
        </p:nvSpPr>
        <p:spPr bwMode="auto">
          <a:xfrm>
            <a:off x="3581400" y="3919538"/>
            <a:ext cx="1716088" cy="322262"/>
          </a:xfrm>
          <a:custGeom>
            <a:avLst/>
            <a:gdLst>
              <a:gd name="T0" fmla="*/ 0 w 1171"/>
              <a:gd name="T1" fmla="*/ 0 h 203"/>
              <a:gd name="T2" fmla="*/ 0 w 1171"/>
              <a:gd name="T3" fmla="*/ 511590131 h 203"/>
              <a:gd name="T4" fmla="*/ 2147483647 w 1171"/>
              <a:gd name="T5" fmla="*/ 511590131 h 203"/>
              <a:gd name="T6" fmla="*/ 2147483647 w 1171"/>
              <a:gd name="T7" fmla="*/ 0 h 203"/>
              <a:gd name="T8" fmla="*/ 0 w 1171"/>
              <a:gd name="T9" fmla="*/ 0 h 203"/>
              <a:gd name="T10" fmla="*/ 0 w 1171"/>
              <a:gd name="T11" fmla="*/ 0 h 2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71"/>
              <a:gd name="T19" fmla="*/ 0 h 203"/>
              <a:gd name="T20" fmla="*/ 1171 w 1171"/>
              <a:gd name="T21" fmla="*/ 203 h 2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71" h="203">
                <a:moveTo>
                  <a:pt x="0" y="0"/>
                </a:moveTo>
                <a:lnTo>
                  <a:pt x="0" y="203"/>
                </a:lnTo>
                <a:lnTo>
                  <a:pt x="1171" y="203"/>
                </a:lnTo>
                <a:lnTo>
                  <a:pt x="117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09" name="Rectangle 49"/>
          <p:cNvSpPr>
            <a:spLocks noChangeArrowheads="1"/>
          </p:cNvSpPr>
          <p:nvPr/>
        </p:nvSpPr>
        <p:spPr bwMode="auto">
          <a:xfrm>
            <a:off x="3581400" y="3919538"/>
            <a:ext cx="1716088" cy="322262"/>
          </a:xfrm>
          <a:prstGeom prst="rect">
            <a:avLst/>
          </a:prstGeom>
          <a:noFill/>
          <a:ln w="47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66610" name="Rectangle 50"/>
          <p:cNvSpPr>
            <a:spLocks noChangeArrowheads="1"/>
          </p:cNvSpPr>
          <p:nvPr/>
        </p:nvSpPr>
        <p:spPr bwMode="auto">
          <a:xfrm>
            <a:off x="3756025" y="3994150"/>
            <a:ext cx="12271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>
                <a:solidFill>
                  <a:srgbClr val="000000"/>
                </a:solidFill>
                <a:latin typeface="Times New Roman" panose="02020603050405020304" pitchFamily="18" charset="0"/>
              </a:rPr>
              <a:t>Bonusprogram</a:t>
            </a:r>
            <a:endParaRPr lang="de-DE" altLang="fr-FR" sz="2000"/>
          </a:p>
        </p:txBody>
      </p:sp>
      <p:sp>
        <p:nvSpPr>
          <p:cNvPr id="66611" name="Rectangle 51"/>
          <p:cNvSpPr>
            <a:spLocks noChangeArrowheads="1"/>
          </p:cNvSpPr>
          <p:nvPr/>
        </p:nvSpPr>
        <p:spPr bwMode="auto">
          <a:xfrm>
            <a:off x="5399088" y="4259263"/>
            <a:ext cx="6461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program</a:t>
            </a:r>
            <a:endParaRPr lang="de-DE" altLang="fr-FR" sz="2000"/>
          </a:p>
        </p:txBody>
      </p:sp>
      <p:sp>
        <p:nvSpPr>
          <p:cNvPr id="66612" name="Rectangle 52"/>
          <p:cNvSpPr>
            <a:spLocks noChangeArrowheads="1"/>
          </p:cNvSpPr>
          <p:nvPr/>
        </p:nvSpPr>
        <p:spPr bwMode="auto">
          <a:xfrm>
            <a:off x="5381625" y="4684713"/>
            <a:ext cx="238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  *</a:t>
            </a:r>
            <a:endParaRPr lang="de-DE" altLang="fr-FR" sz="2000"/>
          </a:p>
        </p:txBody>
      </p:sp>
      <p:sp>
        <p:nvSpPr>
          <p:cNvPr id="66613" name="Rectangle 53"/>
          <p:cNvSpPr>
            <a:spLocks noChangeArrowheads="1"/>
          </p:cNvSpPr>
          <p:nvPr/>
        </p:nvSpPr>
        <p:spPr bwMode="auto">
          <a:xfrm>
            <a:off x="7077075" y="5164138"/>
            <a:ext cx="285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de-DE" altLang="fr-FR" sz="1500" b="0">
                <a:solidFill>
                  <a:srgbClr val="000000"/>
                </a:solidFill>
                <a:latin typeface="Times New Roman" panose="02020603050405020304" pitchFamily="18" charset="0"/>
              </a:rPr>
              <a:t>   .*</a:t>
            </a:r>
            <a:endParaRPr lang="de-DE" altLang="fr-FR" sz="20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71227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7564" y="-171400"/>
            <a:ext cx="7772400" cy="1143000"/>
          </a:xfrm>
        </p:spPr>
        <p:txBody>
          <a:bodyPr/>
          <a:lstStyle/>
          <a:p>
            <a:r>
              <a:rPr lang="de-DE" altLang="fr-FR" dirty="0" err="1">
                <a:ea typeface="ＭＳ Ｐゴシック" panose="020B0600070205080204" pitchFamily="34" charset="-128"/>
              </a:rPr>
              <a:t>Operations</a:t>
            </a:r>
            <a:r>
              <a:rPr lang="de-DE" altLang="fr-FR" dirty="0">
                <a:ea typeface="ＭＳ Ｐゴシック" panose="020B0600070205080204" pitchFamily="34" charset="-128"/>
              </a:rPr>
              <a:t> on OCL-Type </a:t>
            </a:r>
            <a:r>
              <a:rPr lang="de-DE" altLang="fr-FR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Sequence</a:t>
            </a:r>
            <a:endParaRPr lang="de-DE" altLang="fr-FR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03300"/>
            <a:ext cx="8042275" cy="5562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de-DE" altLang="fr-FR">
                <a:ea typeface="ＭＳ Ｐゴシック" panose="020B0600070205080204" pitchFamily="34" charset="-128"/>
              </a:rPr>
              <a:t>first: T</a:t>
            </a:r>
            <a:br>
              <a:rPr lang="de-DE" altLang="fr-FR" sz="2000"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 The first element of a  sequence</a:t>
            </a:r>
          </a:p>
          <a:p>
            <a:pPr>
              <a:lnSpc>
                <a:spcPct val="10000"/>
              </a:lnSpc>
              <a:buFont typeface="Times" panose="02020603050405020304" pitchFamily="18" charset="0"/>
              <a:buNone/>
            </a:pPr>
            <a:endParaRPr lang="de-DE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>
                <a:ea typeface="ＭＳ Ｐゴシック" panose="020B0600070205080204" pitchFamily="34" charset="-128"/>
              </a:rPr>
              <a:t>last: T</a:t>
            </a:r>
            <a:br>
              <a:rPr lang="de-DE" altLang="fr-FR"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 The last element of a  sequence </a:t>
            </a:r>
          </a:p>
          <a:p>
            <a:pPr>
              <a:lnSpc>
                <a:spcPct val="10000"/>
              </a:lnSpc>
              <a:buFont typeface="Times" panose="02020603050405020304" pitchFamily="18" charset="0"/>
              <a:buNone/>
            </a:pPr>
            <a:endParaRPr lang="de-DE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>
                <a:ea typeface="ＭＳ Ｐゴシック" panose="020B0600070205080204" pitchFamily="34" charset="-128"/>
              </a:rPr>
              <a:t>at(index:Integer): T</a:t>
            </a:r>
            <a:br>
              <a:rPr lang="de-DE" altLang="fr-FR">
                <a:ea typeface="ＭＳ Ｐゴシック" panose="020B0600070205080204" pitchFamily="34" charset="-128"/>
              </a:rPr>
            </a:br>
            <a:r>
              <a:rPr lang="de-DE" altLang="fr-FR" sz="2000">
                <a:ea typeface="ＭＳ Ｐゴシック" panose="020B0600070205080204" pitchFamily="34" charset="-128"/>
              </a:rPr>
              <a:t>The element with index </a:t>
            </a:r>
            <a:r>
              <a:rPr lang="de-DE" altLang="fr-FR" sz="2000" b="1">
                <a:ea typeface="ＭＳ Ｐゴシック" panose="020B0600070205080204" pitchFamily="34" charset="-128"/>
              </a:rPr>
              <a:t>index</a:t>
            </a:r>
            <a:r>
              <a:rPr lang="de-DE" altLang="fr-FR" sz="2000">
                <a:ea typeface="ＭＳ Ｐゴシック" panose="020B0600070205080204" pitchFamily="34" charset="-128"/>
              </a:rPr>
              <a:t> in the sequence</a:t>
            </a:r>
          </a:p>
          <a:p>
            <a:pPr lvl="1">
              <a:lnSpc>
                <a:spcPct val="60000"/>
              </a:lnSpc>
              <a:buFont typeface="Times" panose="02020603050405020304" pitchFamily="18" charset="0"/>
              <a:buNone/>
            </a:pPr>
            <a:endParaRPr lang="de-DE" altLang="fr-FR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>
                <a:ea typeface="ＭＳ Ｐゴシック" panose="020B0600070205080204" pitchFamily="34" charset="-128"/>
              </a:rPr>
              <a:t>Example:</a:t>
            </a:r>
            <a:r>
              <a:rPr lang="de-DE" altLang="fr-FR" b="1">
                <a:ea typeface="ＭＳ Ｐゴシック" panose="020B0600070205080204" pitchFamily="34" charset="-128"/>
              </a:rPr>
              <a:t> </a:t>
            </a:r>
            <a:r>
              <a:rPr lang="de-DE" altLang="fr-FR">
                <a:ea typeface="ＭＳ Ｐゴシック" panose="020B0600070205080204" pitchFamily="34" charset="-128"/>
              </a:rPr>
              <a:t>„</a:t>
            </a:r>
            <a:r>
              <a:rPr lang="de-DE" altLang="fr-FR" i="1">
                <a:ea typeface="ＭＳ Ｐゴシック" panose="020B0600070205080204" pitchFamily="34" charset="-128"/>
              </a:rPr>
              <a:t>The first Level, you can reach in the  bonusprogram has the name 'Silber'."</a:t>
            </a:r>
            <a:endParaRPr lang="de-DE" altLang="fr-FR">
              <a:ea typeface="ＭＳ Ｐゴシック" panose="020B0600070205080204" pitchFamily="34" charset="-128"/>
            </a:endParaRPr>
          </a:p>
          <a:p>
            <a:pPr>
              <a:lnSpc>
                <a:spcPct val="60000"/>
              </a:lnSpc>
              <a:buFont typeface="Times" panose="02020603050405020304" pitchFamily="18" charset="0"/>
              <a:buNone/>
            </a:pPr>
            <a:endParaRPr lang="de-DE" altLang="fr-FR" b="1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de-DE" altLang="fr-FR">
                <a:ea typeface="ＭＳ Ｐゴシック" panose="020B0600070205080204" pitchFamily="34" charset="-128"/>
              </a:rPr>
              <a:t>OCL-Invariant: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sz="1800" b="1" u="sng">
                <a:latin typeface="Courier New" panose="02070309020205020404" pitchFamily="49" charset="0"/>
                <a:ea typeface="ＭＳ Ｐゴシック" panose="020B0600070205080204" pitchFamily="34" charset="-128"/>
              </a:rPr>
              <a:t>Bonusprogram:</a:t>
            </a:r>
            <a:r>
              <a:rPr lang="de-DE" altLang="fr-FR" sz="18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de-DE" altLang="fr-FR" sz="18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level-&gt;first.name = "Silber"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4362410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222250"/>
            <a:ext cx="8677275" cy="863600"/>
          </a:xfrm>
        </p:spPr>
        <p:txBody>
          <a:bodyPr>
            <a:normAutofit fontScale="90000"/>
          </a:bodyPr>
          <a:lstStyle/>
          <a:p>
            <a:r>
              <a:rPr lang="en-US" altLang="fr-FR" sz="3600" dirty="0">
                <a:ea typeface="ＭＳ Ｐゴシック" panose="020B0600070205080204" pitchFamily="34" charset="-128"/>
              </a:rPr>
              <a:t>Specifying the Model Constraints: Using </a:t>
            </a:r>
            <a:r>
              <a:rPr lang="en-US" altLang="fr-FR" sz="3600" dirty="0" err="1">
                <a:ea typeface="ＭＳ Ｐゴシック" panose="020B0600070205080204" pitchFamily="34" charset="-128"/>
              </a:rPr>
              <a:t>asSet</a:t>
            </a:r>
            <a:endParaRPr lang="en-US" altLang="fr-FR" sz="3600" dirty="0">
              <a:ea typeface="ＭＳ Ｐゴシック" panose="020B0600070205080204" pitchFamily="34" charset="-128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400" y="1198563"/>
            <a:ext cx="5894388" cy="492125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endParaRPr lang="en-US" altLang="fr-FR" sz="14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2000">
                <a:ea typeface="ＭＳ Ｐゴシック" panose="020B0600070205080204" pitchFamily="34" charset="-128"/>
              </a:rPr>
              <a:t>Local attribute navigation</a:t>
            </a:r>
            <a:endParaRPr lang="en-US" altLang="fr-FR" sz="2800">
              <a:ea typeface="ＭＳ Ｐゴシック" panose="020B0600070205080204" pitchFamily="34" charset="-128"/>
            </a:endParaRPr>
          </a:p>
          <a:p>
            <a:pPr marL="838200" lvl="1" indent="-3810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Tournament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inv:</a:t>
            </a:r>
          </a:p>
          <a:p>
            <a:pPr marL="838200" lvl="1" indent="-3810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end - start &lt;= Calendar.WEEK</a:t>
            </a:r>
          </a:p>
          <a:p>
            <a:pPr marL="838200" lvl="1" indent="-381000">
              <a:lnSpc>
                <a:spcPct val="80000"/>
              </a:lnSpc>
              <a:buFont typeface="Times" panose="02020603050405020304" pitchFamily="18" charset="0"/>
              <a:buNone/>
            </a:pPr>
            <a:endParaRPr lang="en-US" altLang="fr-FR" sz="1800" b="1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2000">
                <a:ea typeface="ＭＳ Ｐゴシック" panose="020B0600070205080204" pitchFamily="34" charset="-128"/>
              </a:rPr>
              <a:t>Directly related class navigation</a:t>
            </a:r>
            <a:endParaRPr lang="en-US" altLang="fr-FR" sz="1800">
              <a:ea typeface="ＭＳ Ｐゴシック" panose="020B0600070205080204" pitchFamily="34" charset="-128"/>
            </a:endParaRPr>
          </a:p>
          <a:p>
            <a:pPr marL="838200" lvl="1" indent="-3810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Tournament::acceptPlayer(p)</a:t>
            </a: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marL="838200" lvl="1" indent="-3810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pre:</a:t>
            </a:r>
          </a:p>
          <a:p>
            <a:pPr marL="838200" lvl="1" indent="-381000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league.players-&gt;includes(p)</a:t>
            </a:r>
          </a:p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endParaRPr lang="en-US" altLang="fr-FR" sz="1800" b="1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80000"/>
              </a:lnSpc>
              <a:buFont typeface="Times" panose="02020603050405020304" pitchFamily="18" charset="0"/>
              <a:buNone/>
            </a:pPr>
            <a:endParaRPr lang="en-US" altLang="fr-FR" sz="1800" b="1">
              <a:ea typeface="ＭＳ Ｐゴシック" panose="020B0600070205080204" pitchFamily="34" charset="-128"/>
            </a:endParaRPr>
          </a:p>
        </p:txBody>
      </p:sp>
      <p:grpSp>
        <p:nvGrpSpPr>
          <p:cNvPr id="70660" name="Group 4"/>
          <p:cNvGrpSpPr>
            <a:grpSpLocks/>
          </p:cNvGrpSpPr>
          <p:nvPr/>
        </p:nvGrpSpPr>
        <p:grpSpPr bwMode="auto">
          <a:xfrm>
            <a:off x="5410200" y="1247775"/>
            <a:ext cx="3759200" cy="4989513"/>
            <a:chOff x="1630" y="786"/>
            <a:chExt cx="2592" cy="3143"/>
          </a:xfrm>
        </p:grpSpPr>
        <p:sp>
          <p:nvSpPr>
            <p:cNvPr id="70676" name="Freeform 5"/>
            <p:cNvSpPr>
              <a:spLocks/>
            </p:cNvSpPr>
            <p:nvPr/>
          </p:nvSpPr>
          <p:spPr bwMode="auto">
            <a:xfrm>
              <a:off x="3142" y="1542"/>
              <a:ext cx="89" cy="193"/>
            </a:xfrm>
            <a:custGeom>
              <a:avLst/>
              <a:gdLst>
                <a:gd name="T0" fmla="*/ 0 w 89"/>
                <a:gd name="T1" fmla="*/ 89 h 193"/>
                <a:gd name="T2" fmla="*/ 45 w 89"/>
                <a:gd name="T3" fmla="*/ 0 h 193"/>
                <a:gd name="T4" fmla="*/ 89 w 89"/>
                <a:gd name="T5" fmla="*/ 89 h 193"/>
                <a:gd name="T6" fmla="*/ 45 w 89"/>
                <a:gd name="T7" fmla="*/ 193 h 193"/>
                <a:gd name="T8" fmla="*/ 0 w 89"/>
                <a:gd name="T9" fmla="*/ 89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193"/>
                <a:gd name="T17" fmla="*/ 89 w 89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193">
                  <a:moveTo>
                    <a:pt x="0" y="89"/>
                  </a:moveTo>
                  <a:lnTo>
                    <a:pt x="45" y="0"/>
                  </a:lnTo>
                  <a:lnTo>
                    <a:pt x="89" y="89"/>
                  </a:lnTo>
                  <a:lnTo>
                    <a:pt x="45" y="193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FFFFFF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70677" name="Line 6"/>
            <p:cNvSpPr>
              <a:spLocks noChangeShapeType="1"/>
            </p:cNvSpPr>
            <p:nvPr/>
          </p:nvSpPr>
          <p:spPr bwMode="auto">
            <a:xfrm flipV="1">
              <a:off x="3187" y="1721"/>
              <a:ext cx="1" cy="34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70678" name="Rectangle 7"/>
            <p:cNvSpPr>
              <a:spLocks noChangeArrowheads="1"/>
            </p:cNvSpPr>
            <p:nvPr/>
          </p:nvSpPr>
          <p:spPr bwMode="auto">
            <a:xfrm>
              <a:off x="1776" y="3312"/>
              <a:ext cx="55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79" name="Rectangle 8"/>
            <p:cNvSpPr>
              <a:spLocks noChangeArrowheads="1"/>
            </p:cNvSpPr>
            <p:nvPr/>
          </p:nvSpPr>
          <p:spPr bwMode="auto">
            <a:xfrm>
              <a:off x="3083" y="1950"/>
              <a:ext cx="7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80" name="Rectangle 9"/>
            <p:cNvSpPr>
              <a:spLocks noChangeArrowheads="1"/>
            </p:cNvSpPr>
            <p:nvPr/>
          </p:nvSpPr>
          <p:spPr bwMode="auto">
            <a:xfrm>
              <a:off x="3249" y="1950"/>
              <a:ext cx="8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tournaments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81" name="Rectangle 10"/>
            <p:cNvSpPr>
              <a:spLocks noChangeArrowheads="1"/>
            </p:cNvSpPr>
            <p:nvPr/>
          </p:nvSpPr>
          <p:spPr bwMode="auto">
            <a:xfrm>
              <a:off x="2514" y="1772"/>
              <a:ext cx="71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{ordered}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70682" name="Group 11"/>
            <p:cNvGrpSpPr>
              <a:grpSpLocks/>
            </p:cNvGrpSpPr>
            <p:nvPr/>
          </p:nvGrpSpPr>
          <p:grpSpPr bwMode="auto">
            <a:xfrm>
              <a:off x="2342" y="2076"/>
              <a:ext cx="1880" cy="742"/>
              <a:chOff x="2342" y="2076"/>
              <a:chExt cx="1880" cy="742"/>
            </a:xfrm>
          </p:grpSpPr>
          <p:grpSp>
            <p:nvGrpSpPr>
              <p:cNvPr id="70711" name="Group 12"/>
              <p:cNvGrpSpPr>
                <a:grpSpLocks/>
              </p:cNvGrpSpPr>
              <p:nvPr/>
            </p:nvGrpSpPr>
            <p:grpSpPr bwMode="auto">
              <a:xfrm>
                <a:off x="2342" y="2076"/>
                <a:ext cx="1690" cy="267"/>
                <a:chOff x="2342" y="2106"/>
                <a:chExt cx="1690" cy="267"/>
              </a:xfrm>
            </p:grpSpPr>
            <p:sp>
              <p:nvSpPr>
                <p:cNvPr id="70720" name="Rectangle 13"/>
                <p:cNvSpPr>
                  <a:spLocks noChangeArrowheads="1"/>
                </p:cNvSpPr>
                <p:nvPr/>
              </p:nvSpPr>
              <p:spPr bwMode="auto">
                <a:xfrm>
                  <a:off x="2342" y="2106"/>
                  <a:ext cx="1690" cy="267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70721" name="Rectangle 14"/>
                <p:cNvSpPr>
                  <a:spLocks noChangeArrowheads="1"/>
                </p:cNvSpPr>
                <p:nvPr/>
              </p:nvSpPr>
              <p:spPr bwMode="auto">
                <a:xfrm>
                  <a:off x="2823" y="2168"/>
                  <a:ext cx="791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Tournament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  <p:grpSp>
            <p:nvGrpSpPr>
              <p:cNvPr id="70712" name="Group 15"/>
              <p:cNvGrpSpPr>
                <a:grpSpLocks/>
              </p:cNvGrpSpPr>
              <p:nvPr/>
            </p:nvGrpSpPr>
            <p:grpSpPr bwMode="auto">
              <a:xfrm>
                <a:off x="2342" y="2342"/>
                <a:ext cx="1690" cy="281"/>
                <a:chOff x="2342" y="2360"/>
                <a:chExt cx="1690" cy="281"/>
              </a:xfrm>
            </p:grpSpPr>
            <p:sp>
              <p:nvSpPr>
                <p:cNvPr id="70716" name="Rectangle 16"/>
                <p:cNvSpPr>
                  <a:spLocks noChangeArrowheads="1"/>
                </p:cNvSpPr>
                <p:nvPr/>
              </p:nvSpPr>
              <p:spPr bwMode="auto">
                <a:xfrm>
                  <a:off x="2342" y="2360"/>
                  <a:ext cx="1690" cy="281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grpSp>
              <p:nvGrpSpPr>
                <p:cNvPr id="70717" name="Group 17"/>
                <p:cNvGrpSpPr>
                  <a:grpSpLocks/>
                </p:cNvGrpSpPr>
                <p:nvPr/>
              </p:nvGrpSpPr>
              <p:grpSpPr bwMode="auto">
                <a:xfrm>
                  <a:off x="2401" y="2370"/>
                  <a:ext cx="870" cy="263"/>
                  <a:chOff x="2401" y="2380"/>
                  <a:chExt cx="870" cy="263"/>
                </a:xfrm>
              </p:grpSpPr>
              <p:sp>
                <p:nvSpPr>
                  <p:cNvPr id="7071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401" y="2380"/>
                    <a:ext cx="870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+start:Date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  <p:sp>
                <p:nvSpPr>
                  <p:cNvPr id="7071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401" y="2499"/>
                    <a:ext cx="712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+end:Date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</p:grpSp>
          </p:grpSp>
          <p:grpSp>
            <p:nvGrpSpPr>
              <p:cNvPr id="70713" name="Group 20"/>
              <p:cNvGrpSpPr>
                <a:grpSpLocks/>
              </p:cNvGrpSpPr>
              <p:nvPr/>
            </p:nvGrpSpPr>
            <p:grpSpPr bwMode="auto">
              <a:xfrm>
                <a:off x="2342" y="2626"/>
                <a:ext cx="1880" cy="192"/>
                <a:chOff x="2342" y="2626"/>
                <a:chExt cx="1880" cy="192"/>
              </a:xfrm>
            </p:grpSpPr>
            <p:sp>
              <p:nvSpPr>
                <p:cNvPr id="70714" name="Rectangle 21"/>
                <p:cNvSpPr>
                  <a:spLocks noChangeArrowheads="1"/>
                </p:cNvSpPr>
                <p:nvPr/>
              </p:nvSpPr>
              <p:spPr bwMode="auto">
                <a:xfrm>
                  <a:off x="2342" y="2626"/>
                  <a:ext cx="1690" cy="19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70715" name="Rectangle 22"/>
                <p:cNvSpPr>
                  <a:spLocks noChangeArrowheads="1"/>
                </p:cNvSpPr>
                <p:nvPr/>
              </p:nvSpPr>
              <p:spPr bwMode="auto">
                <a:xfrm>
                  <a:off x="2402" y="2650"/>
                  <a:ext cx="182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+acceptPlayer(p:Player)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70683" name="Rectangle 23"/>
            <p:cNvSpPr>
              <a:spLocks noChangeArrowheads="1"/>
            </p:cNvSpPr>
            <p:nvPr/>
          </p:nvSpPr>
          <p:spPr bwMode="auto">
            <a:xfrm>
              <a:off x="2255" y="986"/>
              <a:ext cx="7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70684" name="Group 24"/>
            <p:cNvGrpSpPr>
              <a:grpSpLocks/>
            </p:cNvGrpSpPr>
            <p:nvPr/>
          </p:nvGrpSpPr>
          <p:grpSpPr bwMode="auto">
            <a:xfrm>
              <a:off x="2356" y="786"/>
              <a:ext cx="1691" cy="757"/>
              <a:chOff x="2356" y="786"/>
              <a:chExt cx="1691" cy="757"/>
            </a:xfrm>
          </p:grpSpPr>
          <p:grpSp>
            <p:nvGrpSpPr>
              <p:cNvPr id="70700" name="Group 25"/>
              <p:cNvGrpSpPr>
                <a:grpSpLocks/>
              </p:cNvGrpSpPr>
              <p:nvPr/>
            </p:nvGrpSpPr>
            <p:grpSpPr bwMode="auto">
              <a:xfrm>
                <a:off x="2356" y="786"/>
                <a:ext cx="1691" cy="282"/>
                <a:chOff x="2356" y="816"/>
                <a:chExt cx="1691" cy="282"/>
              </a:xfrm>
            </p:grpSpPr>
            <p:sp>
              <p:nvSpPr>
                <p:cNvPr id="70709" name="Rectangle 26"/>
                <p:cNvSpPr>
                  <a:spLocks noChangeArrowheads="1"/>
                </p:cNvSpPr>
                <p:nvPr/>
              </p:nvSpPr>
              <p:spPr bwMode="auto">
                <a:xfrm>
                  <a:off x="2356" y="816"/>
                  <a:ext cx="1691" cy="28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70710" name="Rectangle 27"/>
                <p:cNvSpPr>
                  <a:spLocks noChangeArrowheads="1"/>
                </p:cNvSpPr>
                <p:nvPr/>
              </p:nvSpPr>
              <p:spPr bwMode="auto">
                <a:xfrm>
                  <a:off x="2985" y="885"/>
                  <a:ext cx="475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League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  <p:grpSp>
            <p:nvGrpSpPr>
              <p:cNvPr id="70701" name="Group 28"/>
              <p:cNvGrpSpPr>
                <a:grpSpLocks/>
              </p:cNvGrpSpPr>
              <p:nvPr/>
            </p:nvGrpSpPr>
            <p:grpSpPr bwMode="auto">
              <a:xfrm>
                <a:off x="2356" y="1068"/>
                <a:ext cx="1691" cy="282"/>
                <a:chOff x="2356" y="1084"/>
                <a:chExt cx="1691" cy="282"/>
              </a:xfrm>
            </p:grpSpPr>
            <p:sp>
              <p:nvSpPr>
                <p:cNvPr id="70705" name="Rectangle 29"/>
                <p:cNvSpPr>
                  <a:spLocks noChangeArrowheads="1"/>
                </p:cNvSpPr>
                <p:nvPr/>
              </p:nvSpPr>
              <p:spPr bwMode="auto">
                <a:xfrm>
                  <a:off x="2356" y="1084"/>
                  <a:ext cx="1691" cy="282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grpSp>
              <p:nvGrpSpPr>
                <p:cNvPr id="70706" name="Group 30"/>
                <p:cNvGrpSpPr>
                  <a:grpSpLocks/>
                </p:cNvGrpSpPr>
                <p:nvPr/>
              </p:nvGrpSpPr>
              <p:grpSpPr bwMode="auto">
                <a:xfrm>
                  <a:off x="2408" y="1094"/>
                  <a:ext cx="870" cy="262"/>
                  <a:chOff x="2408" y="1105"/>
                  <a:chExt cx="870" cy="262"/>
                </a:xfrm>
              </p:grpSpPr>
              <p:sp>
                <p:nvSpPr>
                  <p:cNvPr id="70707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1105"/>
                    <a:ext cx="870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+start:Date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  <p:sp>
                <p:nvSpPr>
                  <p:cNvPr id="70708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1223"/>
                    <a:ext cx="713" cy="14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r>
                      <a:rPr lang="en-US" altLang="fr-FR" sz="1500" b="0">
                        <a:solidFill>
                          <a:srgbClr val="000000"/>
                        </a:solidFill>
                        <a:latin typeface="Lucida Sans Typewriter" panose="020B0509030504030204" pitchFamily="49" charset="0"/>
                      </a:rPr>
                      <a:t>+end:Date</a:t>
                    </a:r>
                    <a:endParaRPr lang="en-US" altLang="fr-FR" sz="1800" b="0">
                      <a:latin typeface="Lucida Sans Typewriter" panose="020B0509030504030204" pitchFamily="49" charset="0"/>
                    </a:endParaRPr>
                  </a:p>
                </p:txBody>
              </p:sp>
            </p:grpSp>
          </p:grpSp>
          <p:grpSp>
            <p:nvGrpSpPr>
              <p:cNvPr id="70702" name="Group 33"/>
              <p:cNvGrpSpPr>
                <a:grpSpLocks/>
              </p:cNvGrpSpPr>
              <p:nvPr/>
            </p:nvGrpSpPr>
            <p:grpSpPr bwMode="auto">
              <a:xfrm>
                <a:off x="2356" y="1350"/>
                <a:ext cx="1691" cy="193"/>
                <a:chOff x="2356" y="1350"/>
                <a:chExt cx="1691" cy="193"/>
              </a:xfrm>
            </p:grpSpPr>
            <p:sp>
              <p:nvSpPr>
                <p:cNvPr id="70703" name="Rectangle 34"/>
                <p:cNvSpPr>
                  <a:spLocks noChangeArrowheads="1"/>
                </p:cNvSpPr>
                <p:nvPr/>
              </p:nvSpPr>
              <p:spPr bwMode="auto">
                <a:xfrm>
                  <a:off x="2356" y="1350"/>
                  <a:ext cx="1691" cy="193"/>
                </a:xfrm>
                <a:prstGeom prst="rect">
                  <a:avLst/>
                </a:prstGeom>
                <a:noFill/>
                <a:ln w="23813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fr-FR" altLang="fr-FR" sz="1800"/>
                </a:p>
              </p:txBody>
            </p:sp>
            <p:sp>
              <p:nvSpPr>
                <p:cNvPr id="70704" name="Rectangle 35"/>
                <p:cNvSpPr>
                  <a:spLocks noChangeArrowheads="1"/>
                </p:cNvSpPr>
                <p:nvPr/>
              </p:nvSpPr>
              <p:spPr bwMode="auto">
                <a:xfrm>
                  <a:off x="2408" y="1374"/>
                  <a:ext cx="150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+getActivePlayers()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70685" name="Rectangle 36"/>
            <p:cNvSpPr>
              <a:spLocks noChangeArrowheads="1"/>
            </p:cNvSpPr>
            <p:nvPr/>
          </p:nvSpPr>
          <p:spPr bwMode="auto">
            <a:xfrm>
              <a:off x="2255" y="3537"/>
              <a:ext cx="7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grpSp>
          <p:nvGrpSpPr>
            <p:cNvPr id="70686" name="Group 37"/>
            <p:cNvGrpSpPr>
              <a:grpSpLocks/>
            </p:cNvGrpSpPr>
            <p:nvPr/>
          </p:nvGrpSpPr>
          <p:grpSpPr bwMode="auto">
            <a:xfrm>
              <a:off x="2342" y="3382"/>
              <a:ext cx="1690" cy="267"/>
              <a:chOff x="2342" y="3382"/>
              <a:chExt cx="1690" cy="267"/>
            </a:xfrm>
          </p:grpSpPr>
          <p:sp>
            <p:nvSpPr>
              <p:cNvPr id="70698" name="Rectangle 38"/>
              <p:cNvSpPr>
                <a:spLocks noChangeArrowheads="1"/>
              </p:cNvSpPr>
              <p:nvPr/>
            </p:nvSpPr>
            <p:spPr bwMode="auto">
              <a:xfrm>
                <a:off x="2342" y="3382"/>
                <a:ext cx="1690" cy="267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70699" name="Rectangle 39"/>
              <p:cNvSpPr>
                <a:spLocks noChangeArrowheads="1"/>
              </p:cNvSpPr>
              <p:nvPr/>
            </p:nvSpPr>
            <p:spPr bwMode="auto">
              <a:xfrm>
                <a:off x="2972" y="3444"/>
                <a:ext cx="475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Player</a:t>
                </a:r>
                <a:endParaRPr lang="en-US" altLang="fr-FR" sz="1800" b="0">
                  <a:latin typeface="Lucida Sans Typewriter" panose="020B0509030504030204" pitchFamily="49" charset="0"/>
                </a:endParaRPr>
              </a:p>
            </p:txBody>
          </p:sp>
        </p:grpSp>
        <p:grpSp>
          <p:nvGrpSpPr>
            <p:cNvPr id="70687" name="Group 40"/>
            <p:cNvGrpSpPr>
              <a:grpSpLocks/>
            </p:cNvGrpSpPr>
            <p:nvPr/>
          </p:nvGrpSpPr>
          <p:grpSpPr bwMode="auto">
            <a:xfrm>
              <a:off x="2342" y="3647"/>
              <a:ext cx="1690" cy="282"/>
              <a:chOff x="2342" y="3635"/>
              <a:chExt cx="1690" cy="282"/>
            </a:xfrm>
          </p:grpSpPr>
          <p:sp>
            <p:nvSpPr>
              <p:cNvPr id="70694" name="Rectangle 41"/>
              <p:cNvSpPr>
                <a:spLocks noChangeArrowheads="1"/>
              </p:cNvSpPr>
              <p:nvPr/>
            </p:nvSpPr>
            <p:spPr bwMode="auto">
              <a:xfrm>
                <a:off x="2342" y="3635"/>
                <a:ext cx="1690" cy="282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grpSp>
            <p:nvGrpSpPr>
              <p:cNvPr id="70695" name="Group 42"/>
              <p:cNvGrpSpPr>
                <a:grpSpLocks/>
              </p:cNvGrpSpPr>
              <p:nvPr/>
            </p:nvGrpSpPr>
            <p:grpSpPr bwMode="auto">
              <a:xfrm>
                <a:off x="2394" y="3645"/>
                <a:ext cx="1029" cy="262"/>
                <a:chOff x="2394" y="3656"/>
                <a:chExt cx="1029" cy="262"/>
              </a:xfrm>
            </p:grpSpPr>
            <p:sp>
              <p:nvSpPr>
                <p:cNvPr id="70696" name="Rectangle 43"/>
                <p:cNvSpPr>
                  <a:spLocks noChangeArrowheads="1"/>
                </p:cNvSpPr>
                <p:nvPr/>
              </p:nvSpPr>
              <p:spPr bwMode="auto">
                <a:xfrm>
                  <a:off x="2395" y="3656"/>
                  <a:ext cx="95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+name:String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70697" name="Rectangle 44"/>
                <p:cNvSpPr>
                  <a:spLocks noChangeArrowheads="1"/>
                </p:cNvSpPr>
                <p:nvPr/>
              </p:nvSpPr>
              <p:spPr bwMode="auto">
                <a:xfrm>
                  <a:off x="2394" y="3774"/>
                  <a:ext cx="1029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+email:String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  <p:sp>
          <p:nvSpPr>
            <p:cNvPr id="70688" name="Line 45"/>
            <p:cNvSpPr>
              <a:spLocks noChangeShapeType="1"/>
            </p:cNvSpPr>
            <p:nvPr/>
          </p:nvSpPr>
          <p:spPr bwMode="auto">
            <a:xfrm flipV="1">
              <a:off x="3187" y="2822"/>
              <a:ext cx="1" cy="56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70689" name="Rectangle 46"/>
            <p:cNvSpPr>
              <a:spLocks noChangeArrowheads="1"/>
            </p:cNvSpPr>
            <p:nvPr/>
          </p:nvSpPr>
          <p:spPr bwMode="auto">
            <a:xfrm>
              <a:off x="3083" y="3226"/>
              <a:ext cx="7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90" name="Rectangle 47"/>
            <p:cNvSpPr>
              <a:spLocks noChangeArrowheads="1"/>
            </p:cNvSpPr>
            <p:nvPr/>
          </p:nvSpPr>
          <p:spPr bwMode="auto">
            <a:xfrm>
              <a:off x="3249" y="3226"/>
              <a:ext cx="55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players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91" name="Rectangle 48"/>
            <p:cNvSpPr>
              <a:spLocks noChangeArrowheads="1"/>
            </p:cNvSpPr>
            <p:nvPr/>
          </p:nvSpPr>
          <p:spPr bwMode="auto">
            <a:xfrm>
              <a:off x="3249" y="2840"/>
              <a:ext cx="8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tournaments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92" name="Rectangle 49"/>
            <p:cNvSpPr>
              <a:spLocks noChangeArrowheads="1"/>
            </p:cNvSpPr>
            <p:nvPr/>
          </p:nvSpPr>
          <p:spPr bwMode="auto">
            <a:xfrm>
              <a:off x="3083" y="2840"/>
              <a:ext cx="7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fr-FR" sz="1500" b="0">
                  <a:solidFill>
                    <a:srgbClr val="000000"/>
                  </a:solidFill>
                  <a:latin typeface="Lucida Sans Typewriter" panose="020B0509030504030204" pitchFamily="49" charset="0"/>
                </a:rPr>
                <a:t>*</a:t>
              </a:r>
              <a:endParaRPr lang="en-US" altLang="fr-FR" sz="1800" b="0">
                <a:latin typeface="Lucida Sans Typewriter" panose="020B0509030504030204" pitchFamily="49" charset="0"/>
              </a:endParaRPr>
            </a:p>
          </p:txBody>
        </p:sp>
        <p:sp>
          <p:nvSpPr>
            <p:cNvPr id="70693" name="Freeform 50"/>
            <p:cNvSpPr>
              <a:spLocks/>
            </p:cNvSpPr>
            <p:nvPr/>
          </p:nvSpPr>
          <p:spPr bwMode="auto">
            <a:xfrm>
              <a:off x="1630" y="949"/>
              <a:ext cx="726" cy="2552"/>
            </a:xfrm>
            <a:custGeom>
              <a:avLst/>
              <a:gdLst>
                <a:gd name="T0" fmla="*/ 726 w 726"/>
                <a:gd name="T1" fmla="*/ 0 h 2552"/>
                <a:gd name="T2" fmla="*/ 0 w 726"/>
                <a:gd name="T3" fmla="*/ 0 h 2552"/>
                <a:gd name="T4" fmla="*/ 0 w 726"/>
                <a:gd name="T5" fmla="*/ 2552 h 2552"/>
                <a:gd name="T6" fmla="*/ 712 w 726"/>
                <a:gd name="T7" fmla="*/ 2552 h 25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2552"/>
                <a:gd name="T14" fmla="*/ 726 w 726"/>
                <a:gd name="T15" fmla="*/ 2552 h 25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2552">
                  <a:moveTo>
                    <a:pt x="726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712" y="2552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</p:grpSp>
      <p:sp>
        <p:nvSpPr>
          <p:cNvPr id="70661" name="Rectangle 55"/>
          <p:cNvSpPr>
            <a:spLocks noChangeArrowheads="1"/>
          </p:cNvSpPr>
          <p:nvPr/>
        </p:nvSpPr>
        <p:spPr bwMode="auto">
          <a:xfrm>
            <a:off x="5167313" y="30432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>
              <a:latin typeface="Palatino" charset="0"/>
            </a:endParaRPr>
          </a:p>
        </p:txBody>
      </p:sp>
      <p:sp>
        <p:nvSpPr>
          <p:cNvPr id="158776" name="Oval 56"/>
          <p:cNvSpPr>
            <a:spLocks noChangeArrowheads="1"/>
          </p:cNvSpPr>
          <p:nvPr/>
        </p:nvSpPr>
        <p:spPr bwMode="auto">
          <a:xfrm>
            <a:off x="7586663" y="4924425"/>
            <a:ext cx="1066800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58777" name="Oval 57"/>
          <p:cNvSpPr>
            <a:spLocks noChangeArrowheads="1"/>
          </p:cNvSpPr>
          <p:nvPr/>
        </p:nvSpPr>
        <p:spPr bwMode="auto">
          <a:xfrm>
            <a:off x="1638300" y="5519738"/>
            <a:ext cx="1654175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58779" name="Oval 59"/>
          <p:cNvSpPr>
            <a:spLocks noChangeArrowheads="1"/>
          </p:cNvSpPr>
          <p:nvPr/>
        </p:nvSpPr>
        <p:spPr bwMode="auto">
          <a:xfrm>
            <a:off x="7696200" y="2895600"/>
            <a:ext cx="1295400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58780" name="Oval 60"/>
          <p:cNvSpPr>
            <a:spLocks noChangeArrowheads="1"/>
          </p:cNvSpPr>
          <p:nvPr/>
        </p:nvSpPr>
        <p:spPr bwMode="auto">
          <a:xfrm>
            <a:off x="3263900" y="5532438"/>
            <a:ext cx="1030288" cy="609600"/>
          </a:xfrm>
          <a:prstGeom prst="ellipse">
            <a:avLst/>
          </a:prstGeom>
          <a:noFill/>
          <a:ln w="38100">
            <a:solidFill>
              <a:srgbClr val="0005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58781" name="Oval 61"/>
          <p:cNvSpPr>
            <a:spLocks noChangeArrowheads="1"/>
          </p:cNvSpPr>
          <p:nvPr/>
        </p:nvSpPr>
        <p:spPr bwMode="auto">
          <a:xfrm>
            <a:off x="4322763" y="5510213"/>
            <a:ext cx="1028700" cy="609600"/>
          </a:xfrm>
          <a:prstGeom prst="ellipse">
            <a:avLst/>
          </a:prstGeom>
          <a:noFill/>
          <a:ln w="38100">
            <a:solidFill>
              <a:srgbClr val="C02E0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grpSp>
        <p:nvGrpSpPr>
          <p:cNvPr id="16" name="Group 67"/>
          <p:cNvGrpSpPr>
            <a:grpSpLocks/>
          </p:cNvGrpSpPr>
          <p:nvPr/>
        </p:nvGrpSpPr>
        <p:grpSpPr bwMode="auto">
          <a:xfrm>
            <a:off x="7296150" y="2971800"/>
            <a:ext cx="533400" cy="1905000"/>
            <a:chOff x="4560" y="1872"/>
            <a:chExt cx="336" cy="1200"/>
          </a:xfrm>
        </p:grpSpPr>
        <p:sp>
          <p:nvSpPr>
            <p:cNvPr id="70674" name="Oval 62"/>
            <p:cNvSpPr>
              <a:spLocks noChangeArrowheads="1"/>
            </p:cNvSpPr>
            <p:nvPr/>
          </p:nvSpPr>
          <p:spPr bwMode="auto">
            <a:xfrm>
              <a:off x="4560" y="1872"/>
              <a:ext cx="288" cy="288"/>
            </a:xfrm>
            <a:prstGeom prst="ellipse">
              <a:avLst/>
            </a:prstGeom>
            <a:noFill/>
            <a:ln w="38100">
              <a:solidFill>
                <a:srgbClr val="C02E0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sp>
          <p:nvSpPr>
            <p:cNvPr id="70675" name="Oval 64"/>
            <p:cNvSpPr>
              <a:spLocks noChangeArrowheads="1"/>
            </p:cNvSpPr>
            <p:nvPr/>
          </p:nvSpPr>
          <p:spPr bwMode="auto">
            <a:xfrm>
              <a:off x="4608" y="2784"/>
              <a:ext cx="288" cy="288"/>
            </a:xfrm>
            <a:prstGeom prst="ellipse">
              <a:avLst/>
            </a:prstGeom>
            <a:noFill/>
            <a:ln w="38100">
              <a:solidFill>
                <a:srgbClr val="C02E0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</p:grpSp>
      <p:sp>
        <p:nvSpPr>
          <p:cNvPr id="158785" name="Rectangle 65"/>
          <p:cNvSpPr>
            <a:spLocks noChangeArrowheads="1"/>
          </p:cNvSpPr>
          <p:nvPr/>
        </p:nvSpPr>
        <p:spPr bwMode="auto">
          <a:xfrm>
            <a:off x="1638300" y="4876800"/>
            <a:ext cx="914400" cy="457200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58786" name="Rectangle 66"/>
          <p:cNvSpPr>
            <a:spLocks noChangeArrowheads="1"/>
          </p:cNvSpPr>
          <p:nvPr/>
        </p:nvSpPr>
        <p:spPr bwMode="auto">
          <a:xfrm>
            <a:off x="6477000" y="1219200"/>
            <a:ext cx="2133600" cy="457200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158788" name="Line 68"/>
          <p:cNvSpPr>
            <a:spLocks noChangeShapeType="1"/>
          </p:cNvSpPr>
          <p:nvPr/>
        </p:nvSpPr>
        <p:spPr bwMode="auto">
          <a:xfrm>
            <a:off x="8001000" y="1676400"/>
            <a:ext cx="152400" cy="1219200"/>
          </a:xfrm>
          <a:prstGeom prst="line">
            <a:avLst/>
          </a:prstGeom>
          <a:noFill/>
          <a:ln w="57150">
            <a:solidFill>
              <a:srgbClr val="0005C5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8789" name="Line 69"/>
          <p:cNvSpPr>
            <a:spLocks noChangeShapeType="1"/>
          </p:cNvSpPr>
          <p:nvPr/>
        </p:nvSpPr>
        <p:spPr bwMode="auto">
          <a:xfrm flipH="1">
            <a:off x="8077200" y="3505200"/>
            <a:ext cx="76200" cy="1371600"/>
          </a:xfrm>
          <a:prstGeom prst="line">
            <a:avLst/>
          </a:prstGeom>
          <a:noFill/>
          <a:ln w="57150">
            <a:solidFill>
              <a:srgbClr val="0005C5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A"/>
          </a:p>
        </p:txBody>
      </p:sp>
      <p:sp>
        <p:nvSpPr>
          <p:cNvPr id="158790" name="Rectangle 70"/>
          <p:cNvSpPr>
            <a:spLocks noChangeArrowheads="1"/>
          </p:cNvSpPr>
          <p:nvPr/>
        </p:nvSpPr>
        <p:spPr bwMode="auto">
          <a:xfrm>
            <a:off x="6350" y="4773699"/>
            <a:ext cx="5894388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457200" indent="-4572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838200" indent="-3810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2000" b="0" dirty="0"/>
              <a:t>Indirectly related class navigation</a:t>
            </a:r>
            <a:endParaRPr lang="en-US" altLang="fr-FR" sz="1800" b="0" dirty="0"/>
          </a:p>
          <a:p>
            <a:pPr lvl="1"/>
            <a:r>
              <a:rPr lang="en-US" altLang="fr-FR" sz="1800" b="0" dirty="0">
                <a:latin typeface="Lucida Sans Typewriter" panose="020B0509030504030204" pitchFamily="49" charset="0"/>
              </a:rPr>
              <a:t>context </a:t>
            </a:r>
            <a:r>
              <a:rPr lang="en-US" altLang="fr-FR" sz="1800" dirty="0">
                <a:latin typeface="Lucida Sans Typewriter" panose="020B0509030504030204" pitchFamily="49" charset="0"/>
              </a:rPr>
              <a:t>League::</a:t>
            </a:r>
            <a:r>
              <a:rPr lang="en-US" altLang="fr-FR" sz="1800" dirty="0" err="1">
                <a:latin typeface="Lucida Sans Typewriter" panose="020B0509030504030204" pitchFamily="49" charset="0"/>
              </a:rPr>
              <a:t>getActivePlayers</a:t>
            </a:r>
            <a:r>
              <a:rPr lang="en-US" altLang="fr-FR" sz="1800" b="0" dirty="0">
                <a:latin typeface="Lucida Sans Typewriter" panose="020B0509030504030204" pitchFamily="49" charset="0"/>
              </a:rPr>
              <a:t> </a:t>
            </a:r>
          </a:p>
          <a:p>
            <a:pPr lvl="1"/>
            <a:r>
              <a:rPr lang="en-US" altLang="fr-FR" sz="1800" b="0" dirty="0">
                <a:latin typeface="Lucida Sans Typewriter" panose="020B0509030504030204" pitchFamily="49" charset="0"/>
              </a:rPr>
              <a:t>post:</a:t>
            </a:r>
          </a:p>
          <a:p>
            <a:pPr lvl="1"/>
            <a:r>
              <a:rPr lang="en-US" altLang="fr-FR" sz="1800" dirty="0">
                <a:latin typeface="Lucida Sans Typewriter" panose="020B0509030504030204" pitchFamily="49" charset="0"/>
              </a:rPr>
              <a:t> result=</a:t>
            </a:r>
            <a:r>
              <a:rPr lang="en-US" altLang="fr-FR" sz="1800" dirty="0" err="1">
                <a:latin typeface="Lucida Sans Typewriter" panose="020B0509030504030204" pitchFamily="49" charset="0"/>
              </a:rPr>
              <a:t>tournaments.players</a:t>
            </a:r>
            <a:r>
              <a:rPr lang="en-US" altLang="fr-FR" sz="1800" dirty="0">
                <a:latin typeface="Lucida Sans Typewriter" panose="020B0509030504030204" pitchFamily="49" charset="0"/>
              </a:rPr>
              <a:t>-&gt;</a:t>
            </a:r>
            <a:r>
              <a:rPr lang="en-US" altLang="fr-FR" sz="1800" dirty="0" err="1">
                <a:latin typeface="Lucida Sans Typewriter" panose="020B0509030504030204" pitchFamily="49" charset="0"/>
              </a:rPr>
              <a:t>asSet</a:t>
            </a:r>
            <a:endParaRPr lang="en-US" altLang="fr-FR" sz="1800" dirty="0">
              <a:latin typeface="Lucida Sans Typewriter" panose="020B0509030504030204" pitchFamily="49" charset="0"/>
            </a:endParaRPr>
          </a:p>
        </p:txBody>
      </p:sp>
      <p:sp>
        <p:nvSpPr>
          <p:cNvPr id="158791" name="AutoShape 7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flipV="1">
            <a:off x="4651375" y="4651375"/>
            <a:ext cx="373063" cy="225425"/>
          </a:xfrm>
          <a:prstGeom prst="actionButtonForwardNext">
            <a:avLst/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640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76" grpId="0" animBg="1"/>
      <p:bldP spid="158777" grpId="0" animBg="1"/>
      <p:bldP spid="158779" grpId="0" animBg="1"/>
      <p:bldP spid="158780" grpId="0" animBg="1"/>
      <p:bldP spid="158781" grpId="0" animBg="1"/>
      <p:bldP spid="158785" grpId="0" animBg="1"/>
      <p:bldP spid="158786" grpId="0" animBg="1"/>
      <p:bldP spid="158790" grpId="0"/>
      <p:bldP spid="15879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4"/>
          <p:cNvSpPr>
            <a:spLocks noGrp="1" noChangeArrowheads="1"/>
          </p:cNvSpPr>
          <p:nvPr>
            <p:ph type="title"/>
          </p:nvPr>
        </p:nvSpPr>
        <p:spPr>
          <a:xfrm>
            <a:off x="611560" y="-135396"/>
            <a:ext cx="7772400" cy="1143000"/>
          </a:xfrm>
        </p:spPr>
        <p:txBody>
          <a:bodyPr/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Evaluating OCL Expressions</a:t>
            </a:r>
          </a:p>
        </p:txBody>
      </p:sp>
      <p:sp>
        <p:nvSpPr>
          <p:cNvPr id="2160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42888" y="1195388"/>
            <a:ext cx="8521700" cy="4800600"/>
          </a:xfrm>
        </p:spPr>
        <p:txBody>
          <a:bodyPr>
            <a:normAutofit lnSpcReduction="10000"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The value of an OCL expression is an object or a collection of objects. </a:t>
            </a:r>
          </a:p>
          <a:p>
            <a:pPr>
              <a:lnSpc>
                <a:spcPct val="10000"/>
              </a:lnSpc>
            </a:pPr>
            <a:endParaRPr lang="en-US" altLang="fr-FR">
              <a:ea typeface="ＭＳ Ｐゴシック" panose="020B0600070205080204" pitchFamily="34" charset="-128"/>
            </a:endParaRPr>
          </a:p>
          <a:p>
            <a:r>
              <a:rPr lang="en-US" altLang="fr-FR">
                <a:ea typeface="ＭＳ Ｐゴシック" panose="020B0600070205080204" pitchFamily="34" charset="-128"/>
              </a:rPr>
              <a:t>Multiplicity of the association-end is 1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The value of the OCL expression is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single object</a:t>
            </a:r>
            <a:endParaRPr lang="en-US" altLang="fr-FR">
              <a:ea typeface="ＭＳ Ｐゴシック" panose="020B0600070205080204" pitchFamily="34" charset="-128"/>
            </a:endParaRPr>
          </a:p>
          <a:p>
            <a:pPr>
              <a:lnSpc>
                <a:spcPct val="10000"/>
              </a:lnSpc>
            </a:pPr>
            <a:endParaRPr lang="en-US" altLang="fr-FR">
              <a:ea typeface="ＭＳ Ｐゴシック" panose="020B0600070205080204" pitchFamily="34" charset="-128"/>
            </a:endParaRPr>
          </a:p>
          <a:p>
            <a:r>
              <a:rPr lang="en-US" altLang="fr-FR">
                <a:ea typeface="ＭＳ Ｐゴシック" panose="020B0600070205080204" pitchFamily="34" charset="-128"/>
              </a:rPr>
              <a:t>Multiplicity is 0..1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The result is an empty set if there is no object, otherwise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single object</a:t>
            </a:r>
            <a:endParaRPr lang="en-US" altLang="fr-FR">
              <a:ea typeface="ＭＳ Ｐゴシック" panose="020B0600070205080204" pitchFamily="34" charset="-128"/>
            </a:endParaRPr>
          </a:p>
          <a:p>
            <a:pPr>
              <a:lnSpc>
                <a:spcPct val="0"/>
              </a:lnSpc>
            </a:pPr>
            <a:endParaRPr lang="en-US" altLang="fr-FR">
              <a:ea typeface="ＭＳ Ｐゴシック" panose="020B0600070205080204" pitchFamily="34" charset="-128"/>
            </a:endParaRPr>
          </a:p>
          <a:p>
            <a:r>
              <a:rPr lang="en-US" altLang="fr-FR">
                <a:ea typeface="ＭＳ Ｐゴシック" panose="020B0600070205080204" pitchFamily="34" charset="-128"/>
              </a:rPr>
              <a:t>Multiplicity of the association-end is *</a:t>
            </a:r>
          </a:p>
          <a:p>
            <a:pPr lvl="1"/>
            <a:r>
              <a:rPr lang="en-US" altLang="fr-FR">
                <a:ea typeface="ＭＳ Ｐゴシック" panose="020B0600070205080204" pitchFamily="34" charset="-128"/>
              </a:rPr>
              <a:t>The result is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collection of objects</a:t>
            </a:r>
            <a:endParaRPr lang="en-US" altLang="fr-FR">
              <a:ea typeface="ＭＳ Ｐゴシック" panose="020B0600070205080204" pitchFamily="34" charset="-128"/>
            </a:endParaRPr>
          </a:p>
          <a:p>
            <a:pPr lvl="2"/>
            <a:r>
              <a:rPr lang="en-US" altLang="fr-FR">
                <a:ea typeface="ＭＳ Ｐゴシック" panose="020B0600070205080204" pitchFamily="34" charset="-128"/>
              </a:rPr>
              <a:t>By default, the navigation result is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Set</a:t>
            </a:r>
            <a:r>
              <a:rPr lang="en-US" altLang="fr-FR">
                <a:ea typeface="ＭＳ Ｐゴシック" panose="020B0600070205080204" pitchFamily="34" charset="-128"/>
              </a:rPr>
              <a:t> </a:t>
            </a:r>
          </a:p>
          <a:p>
            <a:pPr lvl="2"/>
            <a:r>
              <a:rPr lang="en-US" altLang="fr-FR">
                <a:ea typeface="ＭＳ Ｐゴシック" panose="020B0600070205080204" pitchFamily="34" charset="-128"/>
              </a:rPr>
              <a:t>When the association is {ordered}, the navigation results in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Sequence</a:t>
            </a:r>
            <a:endParaRPr lang="en-US" altLang="fr-FR">
              <a:ea typeface="ＭＳ Ｐゴシック" panose="020B0600070205080204" pitchFamily="34" charset="-128"/>
            </a:endParaRPr>
          </a:p>
          <a:p>
            <a:pPr lvl="2"/>
            <a:r>
              <a:rPr lang="en-US" altLang="fr-FR">
                <a:ea typeface="ＭＳ Ｐゴシック" panose="020B0600070205080204" pitchFamily="34" charset="-128"/>
              </a:rPr>
              <a:t>Multiple “1-Many” associations result in a </a:t>
            </a:r>
            <a:r>
              <a:rPr lang="en-US" altLang="fr-FR">
                <a:solidFill>
                  <a:srgbClr val="0005C5"/>
                </a:solidFill>
                <a:ea typeface="ＭＳ Ｐゴシック" panose="020B0600070205080204" pitchFamily="34" charset="-128"/>
              </a:rPr>
              <a:t>Bag</a:t>
            </a:r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826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3"/>
          <p:cNvSpPr>
            <a:spLocks noGrp="1" noChangeArrowheads="1"/>
          </p:cNvSpPr>
          <p:nvPr>
            <p:ph type="title"/>
          </p:nvPr>
        </p:nvSpPr>
        <p:spPr>
          <a:xfrm>
            <a:off x="431540" y="-171400"/>
            <a:ext cx="7772400" cy="1143000"/>
          </a:xfrm>
        </p:spPr>
        <p:txBody>
          <a:bodyPr/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Additional Readings </a:t>
            </a:r>
          </a:p>
        </p:txBody>
      </p:sp>
      <p:sp>
        <p:nvSpPr>
          <p:cNvPr id="74755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19100" y="1081088"/>
            <a:ext cx="8358188" cy="4800600"/>
          </a:xfrm>
        </p:spPr>
        <p:txBody>
          <a:bodyPr>
            <a:normAutofit fontScale="92500" lnSpcReduction="1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J.B. Warmer, A.G. Kleppe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The Object Constraint Language: Getting your Models ready for MDA, Addison-Wesley,  2nd edition, 2003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B. Meyer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Object-Oriented Software Construction, 2nd edition, Prentice Hall, 1997. 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B. Meyer, 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Design by Contract: The Lesson of Ariane, Computer, IEEE, Vol. 30, No. 2, pp. 129-130, January 1997. </a:t>
            </a:r>
            <a:r>
              <a:rPr lang="en-US" altLang="fr-FR" sz="1800">
                <a:ea typeface="ＭＳ Ｐゴシック" panose="020B0600070205080204" pitchFamily="34" charset="-128"/>
                <a:hlinkClick r:id="rId3"/>
              </a:rPr>
              <a:t>http://archive.eiffel.com/doc/manuals/technology/contract/ariane/page.html</a:t>
            </a:r>
            <a:endParaRPr lang="en-US" altLang="fr-FR">
              <a:ea typeface="ＭＳ Ｐゴシック" panose="020B0600070205080204" pitchFamily="34" charset="-128"/>
            </a:endParaRPr>
          </a:p>
          <a:p>
            <a:r>
              <a:rPr lang="en-US" altLang="fr-FR">
                <a:ea typeface="ＭＳ Ｐゴシック" panose="020B0600070205080204" pitchFamily="34" charset="-128"/>
              </a:rPr>
              <a:t>C. A. R. Hoare, 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An axiomatic basis for computer programming. Communications of the ACM, 12(10):576-585, October 1969. (Good starting point for Hoare logic: </a:t>
            </a:r>
            <a:r>
              <a:rPr lang="en-US" altLang="fr-FR" sz="1800">
                <a:ea typeface="ＭＳ Ｐゴシック" panose="020B0600070205080204" pitchFamily="34" charset="-128"/>
              </a:rPr>
              <a:t>http://en.wikipedia.org/wiki/Hoare_logic)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4701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-135396"/>
            <a:ext cx="7772400" cy="1143000"/>
          </a:xfrm>
        </p:spPr>
        <p:txBody>
          <a:bodyPr/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0" y="1203325"/>
            <a:ext cx="8021638" cy="4914900"/>
          </a:xfrm>
        </p:spPr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Constraints are predicates (often boolean expressions) on UML model elements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Contracts are constraints on a class that enable class users, implementors and extenders to share the same assumption about the class (“Design by contract”)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OCL is the example of a formal language that allows us to express constraints on UML models </a:t>
            </a:r>
          </a:p>
          <a:p>
            <a:r>
              <a:rPr lang="en-US" altLang="fr-FR">
                <a:ea typeface="ＭＳ Ｐゴシック" panose="020B0600070205080204" pitchFamily="34" charset="-128"/>
              </a:rPr>
              <a:t>Complicated constrains involving more than one class, attribute or operation can be expressed with 3 basic navigation types.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5366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9BEA8-22C2-44BB-A2DB-C08F08EA1E83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GB" altLang="en-US" dirty="0">
                <a:cs typeface="Times New Roman" panose="02020603050405020304" pitchFamily="18" charset="0"/>
              </a:rPr>
              <a:t>An example: constraints on Polygons</a:t>
            </a:r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auto">
          <a:xfrm>
            <a:off x="3698875" y="2454275"/>
            <a:ext cx="1320800" cy="36353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17" name="Line 9"/>
          <p:cNvSpPr>
            <a:spLocks noChangeShapeType="1"/>
          </p:cNvSpPr>
          <p:nvPr/>
        </p:nvSpPr>
        <p:spPr bwMode="auto">
          <a:xfrm>
            <a:off x="7478713" y="2789238"/>
            <a:ext cx="1397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18" name="Rectangle 10"/>
          <p:cNvSpPr>
            <a:spLocks noChangeArrowheads="1"/>
          </p:cNvSpPr>
          <p:nvPr/>
        </p:nvSpPr>
        <p:spPr bwMode="auto">
          <a:xfrm>
            <a:off x="3803650" y="2501900"/>
            <a:ext cx="1143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b="1">
                <a:solidFill>
                  <a:srgbClr val="000000"/>
                </a:solidFill>
                <a:latin typeface="Arial" panose="020B0604020202020204" pitchFamily="34" charset="0"/>
              </a:rPr>
              <a:t>LinearShape</a:t>
            </a:r>
            <a:endParaRPr lang="en-CA" altLang="en-US"/>
          </a:p>
        </p:txBody>
      </p:sp>
      <p:sp>
        <p:nvSpPr>
          <p:cNvPr id="171019" name="Rectangle 11"/>
          <p:cNvSpPr>
            <a:spLocks noChangeArrowheads="1"/>
          </p:cNvSpPr>
          <p:nvPr/>
        </p:nvSpPr>
        <p:spPr bwMode="auto">
          <a:xfrm>
            <a:off x="7535863" y="2847975"/>
            <a:ext cx="125253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startPoint: Point</a:t>
            </a:r>
            <a:endParaRPr lang="en-CA" altLang="en-US"/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7115175" y="2617788"/>
            <a:ext cx="3635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1..*</a:t>
            </a:r>
            <a:endParaRPr lang="en-CA" altLang="en-US"/>
          </a:p>
        </p:txBody>
      </p:sp>
      <p:sp>
        <p:nvSpPr>
          <p:cNvPr id="171021" name="Line 13"/>
          <p:cNvSpPr>
            <a:spLocks noChangeShapeType="1"/>
          </p:cNvSpPr>
          <p:nvPr/>
        </p:nvSpPr>
        <p:spPr bwMode="auto">
          <a:xfrm>
            <a:off x="5010150" y="2617788"/>
            <a:ext cx="24495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7077075" y="2406650"/>
            <a:ext cx="4016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edge</a:t>
            </a:r>
            <a:endParaRPr lang="en-CA" altLang="en-US"/>
          </a:p>
        </p:txBody>
      </p:sp>
      <p:sp>
        <p:nvSpPr>
          <p:cNvPr id="171023" name="Line 15"/>
          <p:cNvSpPr>
            <a:spLocks noChangeShapeType="1"/>
          </p:cNvSpPr>
          <p:nvPr/>
        </p:nvSpPr>
        <p:spPr bwMode="auto">
          <a:xfrm>
            <a:off x="2981325" y="3228975"/>
            <a:ext cx="195103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24" name="Line 16"/>
          <p:cNvSpPr>
            <a:spLocks noChangeShapeType="1"/>
          </p:cNvSpPr>
          <p:nvPr/>
        </p:nvSpPr>
        <p:spPr bwMode="auto">
          <a:xfrm>
            <a:off x="3976688" y="3228975"/>
            <a:ext cx="1587" cy="249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25" name="Freeform 17"/>
          <p:cNvSpPr>
            <a:spLocks/>
          </p:cNvSpPr>
          <p:nvPr/>
        </p:nvSpPr>
        <p:spPr bwMode="auto">
          <a:xfrm>
            <a:off x="4913313" y="3822700"/>
            <a:ext cx="287337" cy="230188"/>
          </a:xfrm>
          <a:custGeom>
            <a:avLst/>
            <a:gdLst>
              <a:gd name="T0" fmla="*/ 97 w 181"/>
              <a:gd name="T1" fmla="*/ 0 h 145"/>
              <a:gd name="T2" fmla="*/ 181 w 181"/>
              <a:gd name="T3" fmla="*/ 145 h 145"/>
              <a:gd name="T4" fmla="*/ 0 w 181"/>
              <a:gd name="T5" fmla="*/ 145 h 145"/>
              <a:gd name="T6" fmla="*/ 97 w 181"/>
              <a:gd name="T7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1" h="145">
                <a:moveTo>
                  <a:pt x="97" y="0"/>
                </a:moveTo>
                <a:lnTo>
                  <a:pt x="181" y="145"/>
                </a:lnTo>
                <a:lnTo>
                  <a:pt x="0" y="145"/>
                </a:lnTo>
                <a:lnTo>
                  <a:pt x="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26" name="Freeform 18"/>
          <p:cNvSpPr>
            <a:spLocks/>
          </p:cNvSpPr>
          <p:nvPr/>
        </p:nvSpPr>
        <p:spPr bwMode="auto">
          <a:xfrm>
            <a:off x="4913313" y="3822700"/>
            <a:ext cx="287337" cy="230188"/>
          </a:xfrm>
          <a:custGeom>
            <a:avLst/>
            <a:gdLst>
              <a:gd name="T0" fmla="*/ 97 w 181"/>
              <a:gd name="T1" fmla="*/ 0 h 145"/>
              <a:gd name="T2" fmla="*/ 181 w 181"/>
              <a:gd name="T3" fmla="*/ 145 h 145"/>
              <a:gd name="T4" fmla="*/ 0 w 181"/>
              <a:gd name="T5" fmla="*/ 145 h 145"/>
              <a:gd name="T6" fmla="*/ 97 w 181"/>
              <a:gd name="T7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1" h="145">
                <a:moveTo>
                  <a:pt x="97" y="0"/>
                </a:moveTo>
                <a:lnTo>
                  <a:pt x="181" y="145"/>
                </a:lnTo>
                <a:lnTo>
                  <a:pt x="0" y="145"/>
                </a:lnTo>
                <a:lnTo>
                  <a:pt x="97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171027" name="Line 19"/>
          <p:cNvSpPr>
            <a:spLocks noChangeShapeType="1"/>
          </p:cNvSpPr>
          <p:nvPr/>
        </p:nvSpPr>
        <p:spPr bwMode="auto">
          <a:xfrm>
            <a:off x="2981325" y="3228975"/>
            <a:ext cx="1588" cy="249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28" name="Line 20"/>
          <p:cNvSpPr>
            <a:spLocks noChangeShapeType="1"/>
          </p:cNvSpPr>
          <p:nvPr/>
        </p:nvSpPr>
        <p:spPr bwMode="auto">
          <a:xfrm>
            <a:off x="5067300" y="4071938"/>
            <a:ext cx="1588" cy="4016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29" name="Rectangle 21"/>
          <p:cNvSpPr>
            <a:spLocks noChangeArrowheads="1"/>
          </p:cNvSpPr>
          <p:nvPr/>
        </p:nvSpPr>
        <p:spPr bwMode="auto">
          <a:xfrm>
            <a:off x="7469188" y="2454275"/>
            <a:ext cx="1416050" cy="1109663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30" name="Rectangle 22"/>
          <p:cNvSpPr>
            <a:spLocks noChangeArrowheads="1"/>
          </p:cNvSpPr>
          <p:nvPr/>
        </p:nvSpPr>
        <p:spPr bwMode="auto">
          <a:xfrm>
            <a:off x="7554913" y="2501900"/>
            <a:ext cx="1195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b="1">
                <a:solidFill>
                  <a:srgbClr val="000000"/>
                </a:solidFill>
                <a:latin typeface="Arial" panose="020B0604020202020204" pitchFamily="34" charset="0"/>
              </a:rPr>
              <a:t>LineSegment</a:t>
            </a:r>
            <a:endParaRPr lang="en-CA" altLang="en-US"/>
          </a:p>
        </p:txBody>
      </p:sp>
      <p:sp>
        <p:nvSpPr>
          <p:cNvPr id="171031" name="Rectangle 23"/>
          <p:cNvSpPr>
            <a:spLocks noChangeArrowheads="1"/>
          </p:cNvSpPr>
          <p:nvPr/>
        </p:nvSpPr>
        <p:spPr bwMode="auto">
          <a:xfrm>
            <a:off x="2703513" y="3487738"/>
            <a:ext cx="650875" cy="5937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32" name="Rectangle 24"/>
          <p:cNvSpPr>
            <a:spLocks noChangeArrowheads="1"/>
          </p:cNvSpPr>
          <p:nvPr/>
        </p:nvSpPr>
        <p:spPr bwMode="auto">
          <a:xfrm>
            <a:off x="2770188" y="3516313"/>
            <a:ext cx="412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b="1">
                <a:solidFill>
                  <a:srgbClr val="000000"/>
                </a:solidFill>
                <a:latin typeface="Arial" panose="020B0604020202020204" pitchFamily="34" charset="0"/>
              </a:rPr>
              <a:t>Path</a:t>
            </a:r>
            <a:endParaRPr lang="en-CA" altLang="en-US"/>
          </a:p>
        </p:txBody>
      </p:sp>
      <p:sp>
        <p:nvSpPr>
          <p:cNvPr id="171033" name="Rectangle 25"/>
          <p:cNvSpPr>
            <a:spLocks noChangeArrowheads="1"/>
          </p:cNvSpPr>
          <p:nvPr/>
        </p:nvSpPr>
        <p:spPr bwMode="auto">
          <a:xfrm>
            <a:off x="3660775" y="3487738"/>
            <a:ext cx="593725" cy="34448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34" name="Rectangle 26"/>
          <p:cNvSpPr>
            <a:spLocks noChangeArrowheads="1"/>
          </p:cNvSpPr>
          <p:nvPr/>
        </p:nvSpPr>
        <p:spPr bwMode="auto">
          <a:xfrm>
            <a:off x="3746500" y="3535363"/>
            <a:ext cx="3905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b="1">
                <a:solidFill>
                  <a:srgbClr val="000000"/>
                </a:solidFill>
                <a:latin typeface="Arial" panose="020B0604020202020204" pitchFamily="34" charset="0"/>
              </a:rPr>
              <a:t>Line</a:t>
            </a:r>
            <a:endParaRPr lang="en-CA" altLang="en-US"/>
          </a:p>
        </p:txBody>
      </p:sp>
      <p:sp>
        <p:nvSpPr>
          <p:cNvPr id="171035" name="Rectangle 27"/>
          <p:cNvSpPr>
            <a:spLocks noChangeArrowheads="1"/>
          </p:cNvSpPr>
          <p:nvPr/>
        </p:nvSpPr>
        <p:spPr bwMode="auto">
          <a:xfrm>
            <a:off x="4618038" y="3487738"/>
            <a:ext cx="955675" cy="34448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36" name="Rectangle 28"/>
          <p:cNvSpPr>
            <a:spLocks noChangeArrowheads="1"/>
          </p:cNvSpPr>
          <p:nvPr/>
        </p:nvSpPr>
        <p:spPr bwMode="auto">
          <a:xfrm>
            <a:off x="4684713" y="3535363"/>
            <a:ext cx="7493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b="1">
                <a:solidFill>
                  <a:srgbClr val="000000"/>
                </a:solidFill>
                <a:latin typeface="Arial" panose="020B0604020202020204" pitchFamily="34" charset="0"/>
              </a:rPr>
              <a:t>Polygon</a:t>
            </a:r>
            <a:endParaRPr lang="en-CA" altLang="en-US"/>
          </a:p>
        </p:txBody>
      </p:sp>
      <p:sp>
        <p:nvSpPr>
          <p:cNvPr id="171037" name="Rectangle 29"/>
          <p:cNvSpPr>
            <a:spLocks noChangeArrowheads="1"/>
          </p:cNvSpPr>
          <p:nvPr/>
        </p:nvSpPr>
        <p:spPr bwMode="auto">
          <a:xfrm>
            <a:off x="4578350" y="4483100"/>
            <a:ext cx="1703388" cy="34448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38" name="Rectangle 30"/>
          <p:cNvSpPr>
            <a:spLocks noChangeArrowheads="1"/>
          </p:cNvSpPr>
          <p:nvPr/>
        </p:nvSpPr>
        <p:spPr bwMode="auto">
          <a:xfrm>
            <a:off x="4665663" y="4511675"/>
            <a:ext cx="14589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b="1">
                <a:solidFill>
                  <a:srgbClr val="000000"/>
                </a:solidFill>
                <a:latin typeface="Arial" panose="020B0604020202020204" pitchFamily="34" charset="0"/>
              </a:rPr>
              <a:t>RegularPolygon</a:t>
            </a:r>
            <a:endParaRPr lang="en-CA" altLang="en-US"/>
          </a:p>
        </p:txBody>
      </p:sp>
      <p:sp>
        <p:nvSpPr>
          <p:cNvPr id="171039" name="Rectangle 31"/>
          <p:cNvSpPr>
            <a:spLocks noChangeArrowheads="1"/>
          </p:cNvSpPr>
          <p:nvPr/>
        </p:nvSpPr>
        <p:spPr bwMode="auto">
          <a:xfrm>
            <a:off x="7535863" y="3038475"/>
            <a:ext cx="12033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endPoint: Point</a:t>
            </a:r>
            <a:endParaRPr lang="en-CA" altLang="en-US"/>
          </a:p>
        </p:txBody>
      </p:sp>
      <p:sp>
        <p:nvSpPr>
          <p:cNvPr id="171040" name="Rectangle 32"/>
          <p:cNvSpPr>
            <a:spLocks noChangeArrowheads="1"/>
          </p:cNvSpPr>
          <p:nvPr/>
        </p:nvSpPr>
        <p:spPr bwMode="auto">
          <a:xfrm>
            <a:off x="7478713" y="3575050"/>
            <a:ext cx="16065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{startPoint &lt;&gt; endPoint}</a:t>
            </a:r>
            <a:endParaRPr lang="en-CA" altLang="en-US"/>
          </a:p>
        </p:txBody>
      </p:sp>
      <p:sp>
        <p:nvSpPr>
          <p:cNvPr id="171041" name="Rectangle 33"/>
          <p:cNvSpPr>
            <a:spLocks noChangeArrowheads="1"/>
          </p:cNvSpPr>
          <p:nvPr/>
        </p:nvSpPr>
        <p:spPr bwMode="auto">
          <a:xfrm>
            <a:off x="5870575" y="2387600"/>
            <a:ext cx="6889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{ordered}</a:t>
            </a:r>
            <a:endParaRPr lang="en-CA" altLang="en-US"/>
          </a:p>
        </p:txBody>
      </p:sp>
      <p:sp>
        <p:nvSpPr>
          <p:cNvPr id="171042" name="Rectangle 34"/>
          <p:cNvSpPr>
            <a:spLocks noChangeArrowheads="1"/>
          </p:cNvSpPr>
          <p:nvPr/>
        </p:nvSpPr>
        <p:spPr bwMode="auto">
          <a:xfrm>
            <a:off x="3497263" y="3862388"/>
            <a:ext cx="10207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{edge-&gt;size=1}</a:t>
            </a:r>
            <a:endParaRPr lang="en-CA" altLang="en-US"/>
          </a:p>
        </p:txBody>
      </p:sp>
      <p:sp>
        <p:nvSpPr>
          <p:cNvPr id="171043" name="Rectangle 35"/>
          <p:cNvSpPr>
            <a:spLocks noChangeArrowheads="1"/>
          </p:cNvSpPr>
          <p:nvPr/>
        </p:nvSpPr>
        <p:spPr bwMode="auto">
          <a:xfrm>
            <a:off x="5487988" y="4837113"/>
            <a:ext cx="13858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{edge-&gt;forAll(e1,e2 |</a:t>
            </a:r>
            <a:endParaRPr lang="en-CA" altLang="en-US"/>
          </a:p>
        </p:txBody>
      </p:sp>
      <p:sp>
        <p:nvSpPr>
          <p:cNvPr id="171044" name="Rectangle 36"/>
          <p:cNvSpPr>
            <a:spLocks noChangeArrowheads="1"/>
          </p:cNvSpPr>
          <p:nvPr/>
        </p:nvSpPr>
        <p:spPr bwMode="auto">
          <a:xfrm>
            <a:off x="5487988" y="5010150"/>
            <a:ext cx="16097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  e1.length = e2.length)}</a:t>
            </a:r>
            <a:endParaRPr lang="en-CA" altLang="en-US"/>
          </a:p>
        </p:txBody>
      </p:sp>
      <p:sp>
        <p:nvSpPr>
          <p:cNvPr id="171045" name="Freeform 37"/>
          <p:cNvSpPr>
            <a:spLocks/>
          </p:cNvSpPr>
          <p:nvPr/>
        </p:nvSpPr>
        <p:spPr bwMode="auto">
          <a:xfrm>
            <a:off x="4148138" y="2808288"/>
            <a:ext cx="287337" cy="230187"/>
          </a:xfrm>
          <a:custGeom>
            <a:avLst/>
            <a:gdLst>
              <a:gd name="T0" fmla="*/ 97 w 181"/>
              <a:gd name="T1" fmla="*/ 0 h 145"/>
              <a:gd name="T2" fmla="*/ 181 w 181"/>
              <a:gd name="T3" fmla="*/ 145 h 145"/>
              <a:gd name="T4" fmla="*/ 0 w 181"/>
              <a:gd name="T5" fmla="*/ 145 h 145"/>
              <a:gd name="T6" fmla="*/ 97 w 181"/>
              <a:gd name="T7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1" h="145">
                <a:moveTo>
                  <a:pt x="97" y="0"/>
                </a:moveTo>
                <a:lnTo>
                  <a:pt x="181" y="145"/>
                </a:lnTo>
                <a:lnTo>
                  <a:pt x="0" y="145"/>
                </a:lnTo>
                <a:lnTo>
                  <a:pt x="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46" name="Freeform 38"/>
          <p:cNvSpPr>
            <a:spLocks/>
          </p:cNvSpPr>
          <p:nvPr/>
        </p:nvSpPr>
        <p:spPr bwMode="auto">
          <a:xfrm>
            <a:off x="4148138" y="2808288"/>
            <a:ext cx="287337" cy="230187"/>
          </a:xfrm>
          <a:custGeom>
            <a:avLst/>
            <a:gdLst>
              <a:gd name="T0" fmla="*/ 97 w 181"/>
              <a:gd name="T1" fmla="*/ 0 h 145"/>
              <a:gd name="T2" fmla="*/ 181 w 181"/>
              <a:gd name="T3" fmla="*/ 145 h 145"/>
              <a:gd name="T4" fmla="*/ 0 w 181"/>
              <a:gd name="T5" fmla="*/ 145 h 145"/>
              <a:gd name="T6" fmla="*/ 97 w 181"/>
              <a:gd name="T7" fmla="*/ 0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1" h="145">
                <a:moveTo>
                  <a:pt x="97" y="0"/>
                </a:moveTo>
                <a:lnTo>
                  <a:pt x="181" y="145"/>
                </a:lnTo>
                <a:lnTo>
                  <a:pt x="0" y="145"/>
                </a:lnTo>
                <a:lnTo>
                  <a:pt x="97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171047" name="Line 39"/>
          <p:cNvSpPr>
            <a:spLocks noChangeShapeType="1"/>
          </p:cNvSpPr>
          <p:nvPr/>
        </p:nvSpPr>
        <p:spPr bwMode="auto">
          <a:xfrm>
            <a:off x="4302125" y="3038475"/>
            <a:ext cx="1588" cy="1905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48" name="Rectangle 40"/>
          <p:cNvSpPr>
            <a:spLocks noChangeArrowheads="1"/>
          </p:cNvSpPr>
          <p:nvPr/>
        </p:nvSpPr>
        <p:spPr bwMode="auto">
          <a:xfrm>
            <a:off x="3554413" y="1679575"/>
            <a:ext cx="13858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{edge-&gt;forAll(e1,e2 |</a:t>
            </a:r>
            <a:endParaRPr lang="en-CA" altLang="en-US"/>
          </a:p>
        </p:txBody>
      </p:sp>
      <p:sp>
        <p:nvSpPr>
          <p:cNvPr id="171049" name="Rectangle 41"/>
          <p:cNvSpPr>
            <a:spLocks noChangeArrowheads="1"/>
          </p:cNvSpPr>
          <p:nvPr/>
        </p:nvSpPr>
        <p:spPr bwMode="auto">
          <a:xfrm>
            <a:off x="3554413" y="1852613"/>
            <a:ext cx="84137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  e1 &lt;&gt; e2</a:t>
            </a:r>
            <a:endParaRPr lang="en-CA" altLang="en-US"/>
          </a:p>
        </p:txBody>
      </p:sp>
      <p:sp>
        <p:nvSpPr>
          <p:cNvPr id="171050" name="Rectangle 42"/>
          <p:cNvSpPr>
            <a:spLocks noChangeArrowheads="1"/>
          </p:cNvSpPr>
          <p:nvPr/>
        </p:nvSpPr>
        <p:spPr bwMode="auto">
          <a:xfrm>
            <a:off x="3554413" y="2024063"/>
            <a:ext cx="25542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  implies e1.startPoint &lt;&gt; e2.startpoint</a:t>
            </a:r>
            <a:endParaRPr lang="en-CA" altLang="en-US"/>
          </a:p>
        </p:txBody>
      </p:sp>
      <p:sp>
        <p:nvSpPr>
          <p:cNvPr id="171051" name="Rectangle 43"/>
          <p:cNvSpPr>
            <a:spLocks noChangeArrowheads="1"/>
          </p:cNvSpPr>
          <p:nvPr/>
        </p:nvSpPr>
        <p:spPr bwMode="auto">
          <a:xfrm>
            <a:off x="3554413" y="2197100"/>
            <a:ext cx="234791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  and e1.endPoint &lt;&gt; e2.endpoint)}</a:t>
            </a:r>
            <a:endParaRPr lang="en-CA" altLang="en-US"/>
          </a:p>
        </p:txBody>
      </p:sp>
      <p:sp>
        <p:nvSpPr>
          <p:cNvPr id="171052" name="Line 44"/>
          <p:cNvSpPr>
            <a:spLocks noChangeShapeType="1"/>
          </p:cNvSpPr>
          <p:nvPr/>
        </p:nvSpPr>
        <p:spPr bwMode="auto">
          <a:xfrm>
            <a:off x="7478713" y="3306763"/>
            <a:ext cx="1397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53" name="Rectangle 45"/>
          <p:cNvSpPr>
            <a:spLocks noChangeArrowheads="1"/>
          </p:cNvSpPr>
          <p:nvPr/>
        </p:nvSpPr>
        <p:spPr bwMode="auto">
          <a:xfrm>
            <a:off x="7535863" y="3306763"/>
            <a:ext cx="8175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length : int</a:t>
            </a:r>
            <a:endParaRPr lang="en-CA" altLang="en-US"/>
          </a:p>
        </p:txBody>
      </p:sp>
      <p:sp>
        <p:nvSpPr>
          <p:cNvPr id="171054" name="Line 46"/>
          <p:cNvSpPr>
            <a:spLocks noChangeShapeType="1"/>
          </p:cNvSpPr>
          <p:nvPr/>
        </p:nvSpPr>
        <p:spPr bwMode="auto">
          <a:xfrm>
            <a:off x="2693988" y="3803650"/>
            <a:ext cx="6318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55" name="Rectangle 47"/>
          <p:cNvSpPr>
            <a:spLocks noChangeArrowheads="1"/>
          </p:cNvSpPr>
          <p:nvPr/>
        </p:nvSpPr>
        <p:spPr bwMode="auto">
          <a:xfrm>
            <a:off x="2751138" y="3824288"/>
            <a:ext cx="4826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length</a:t>
            </a:r>
            <a:endParaRPr lang="en-CA" altLang="en-US"/>
          </a:p>
        </p:txBody>
      </p:sp>
      <p:sp>
        <p:nvSpPr>
          <p:cNvPr id="171056" name="Rectangle 48"/>
          <p:cNvSpPr>
            <a:spLocks noChangeArrowheads="1"/>
          </p:cNvSpPr>
          <p:nvPr/>
        </p:nvSpPr>
        <p:spPr bwMode="auto">
          <a:xfrm>
            <a:off x="2598738" y="4090988"/>
            <a:ext cx="6381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{length = </a:t>
            </a:r>
            <a:endParaRPr lang="en-CA" altLang="en-US"/>
          </a:p>
        </p:txBody>
      </p:sp>
      <p:sp>
        <p:nvSpPr>
          <p:cNvPr id="171057" name="Rectangle 49"/>
          <p:cNvSpPr>
            <a:spLocks noChangeArrowheads="1"/>
          </p:cNvSpPr>
          <p:nvPr/>
        </p:nvSpPr>
        <p:spPr bwMode="auto">
          <a:xfrm>
            <a:off x="2598738" y="4264025"/>
            <a:ext cx="1270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edge.length-&gt;sum}</a:t>
            </a:r>
            <a:endParaRPr lang="en-CA" altLang="en-US"/>
          </a:p>
        </p:txBody>
      </p:sp>
      <p:sp>
        <p:nvSpPr>
          <p:cNvPr id="171058" name="Line 50"/>
          <p:cNvSpPr>
            <a:spLocks noChangeShapeType="1"/>
          </p:cNvSpPr>
          <p:nvPr/>
        </p:nvSpPr>
        <p:spPr bwMode="auto">
          <a:xfrm>
            <a:off x="4932363" y="3228975"/>
            <a:ext cx="1587" cy="249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59" name="Rectangle 51"/>
          <p:cNvSpPr>
            <a:spLocks noChangeArrowheads="1"/>
          </p:cNvSpPr>
          <p:nvPr/>
        </p:nvSpPr>
        <p:spPr bwMode="auto">
          <a:xfrm>
            <a:off x="5238750" y="3843338"/>
            <a:ext cx="15906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{edge-&gt;first.startPoint =</a:t>
            </a:r>
            <a:endParaRPr lang="en-CA" altLang="en-US"/>
          </a:p>
        </p:txBody>
      </p:sp>
      <p:sp>
        <p:nvSpPr>
          <p:cNvPr id="171060" name="Rectangle 52"/>
          <p:cNvSpPr>
            <a:spLocks noChangeArrowheads="1"/>
          </p:cNvSpPr>
          <p:nvPr/>
        </p:nvSpPr>
        <p:spPr bwMode="auto">
          <a:xfrm>
            <a:off x="5238750" y="4014788"/>
            <a:ext cx="1490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  edge-&gt;last.endPoint}</a:t>
            </a:r>
            <a:endParaRPr lang="en-CA" altLang="en-US"/>
          </a:p>
        </p:txBody>
      </p:sp>
      <p:sp>
        <p:nvSpPr>
          <p:cNvPr id="171061" name="Rectangle 53"/>
          <p:cNvSpPr>
            <a:spLocks noChangeArrowheads="1"/>
          </p:cNvSpPr>
          <p:nvPr/>
        </p:nvSpPr>
        <p:spPr bwMode="auto">
          <a:xfrm>
            <a:off x="1143000" y="2205038"/>
            <a:ext cx="2392363" cy="84296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71062" name="Rectangle 54"/>
          <p:cNvSpPr>
            <a:spLocks noChangeArrowheads="1"/>
          </p:cNvSpPr>
          <p:nvPr/>
        </p:nvSpPr>
        <p:spPr bwMode="auto">
          <a:xfrm>
            <a:off x="1181100" y="2197100"/>
            <a:ext cx="22463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a LinearShape is any shape </a:t>
            </a:r>
            <a:endParaRPr lang="en-CA" altLang="en-US"/>
          </a:p>
        </p:txBody>
      </p:sp>
      <p:sp>
        <p:nvSpPr>
          <p:cNvPr id="171063" name="Rectangle 55"/>
          <p:cNvSpPr>
            <a:spLocks noChangeArrowheads="1"/>
          </p:cNvSpPr>
          <p:nvPr/>
        </p:nvSpPr>
        <p:spPr bwMode="auto">
          <a:xfrm>
            <a:off x="1181100" y="2387600"/>
            <a:ext cx="24130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that can be constructed of line </a:t>
            </a:r>
            <a:endParaRPr lang="en-CA" altLang="en-US"/>
          </a:p>
        </p:txBody>
      </p:sp>
      <p:sp>
        <p:nvSpPr>
          <p:cNvPr id="171064" name="Rectangle 56"/>
          <p:cNvSpPr>
            <a:spLocks noChangeArrowheads="1"/>
          </p:cNvSpPr>
          <p:nvPr/>
        </p:nvSpPr>
        <p:spPr bwMode="auto">
          <a:xfrm>
            <a:off x="1181100" y="2579688"/>
            <a:ext cx="21082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segments (in contrast with </a:t>
            </a:r>
            <a:endParaRPr lang="en-CA" altLang="en-US"/>
          </a:p>
        </p:txBody>
      </p:sp>
      <p:sp>
        <p:nvSpPr>
          <p:cNvPr id="171065" name="Rectangle 57"/>
          <p:cNvSpPr>
            <a:spLocks noChangeArrowheads="1"/>
          </p:cNvSpPr>
          <p:nvPr/>
        </p:nvSpPr>
        <p:spPr bwMode="auto">
          <a:xfrm>
            <a:off x="1181100" y="2770188"/>
            <a:ext cx="22161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>
                <a:solidFill>
                  <a:srgbClr val="000000"/>
                </a:solidFill>
                <a:latin typeface="Arial" panose="020B0604020202020204" pitchFamily="34" charset="0"/>
              </a:rPr>
              <a:t>shapes that contain curves).</a:t>
            </a:r>
            <a:endParaRPr lang="en-CA" altLang="en-US"/>
          </a:p>
        </p:txBody>
      </p:sp>
      <p:pic>
        <p:nvPicPr>
          <p:cNvPr id="171066" name="Picture 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2195513"/>
            <a:ext cx="1539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3098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F6BE1-8267-402E-A95A-622E75F25B12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Detailed Example: A Class Diagram for Genealogy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4941168"/>
            <a:ext cx="7543800" cy="1524000"/>
          </a:xfrm>
        </p:spPr>
        <p:txBody>
          <a:bodyPr/>
          <a:lstStyle/>
          <a:p>
            <a:pPr lvl="1" algn="just"/>
            <a:r>
              <a:rPr lang="en-GB" altLang="en-US" dirty="0">
                <a:cs typeface="Times New Roman" panose="02020603050405020304" pitchFamily="18" charset="0"/>
              </a:rPr>
              <a:t>Problems</a:t>
            </a:r>
          </a:p>
          <a:p>
            <a:pPr lvl="2" algn="just"/>
            <a:r>
              <a:rPr lang="en-GB" altLang="en-US" dirty="0">
                <a:cs typeface="Times New Roman" panose="02020603050405020304" pitchFamily="18" charset="0"/>
              </a:rPr>
              <a:t>A person must have two parents</a:t>
            </a:r>
          </a:p>
          <a:p>
            <a:pPr lvl="2" algn="just"/>
            <a:r>
              <a:rPr lang="en-GB" altLang="en-US" dirty="0">
                <a:cs typeface="Times New Roman" panose="02020603050405020304" pitchFamily="18" charset="0"/>
              </a:rPr>
              <a:t>Marriages not properly accounted for</a:t>
            </a:r>
          </a:p>
        </p:txBody>
      </p:sp>
      <p:pic>
        <p:nvPicPr>
          <p:cNvPr id="191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888" y="1484784"/>
            <a:ext cx="4724400" cy="377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021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3BAE3-8251-4FE2-9D73-B069A4234879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GB" altLang="en-US" dirty="0">
                <a:cs typeface="Times New Roman" panose="02020603050405020304" pitchFamily="18" charset="0"/>
              </a:rPr>
              <a:t>Genealogy example: Possible solutions</a:t>
            </a:r>
          </a:p>
        </p:txBody>
      </p:sp>
      <p:sp>
        <p:nvSpPr>
          <p:cNvPr id="193863" name="Rectangle 327"/>
          <p:cNvSpPr>
            <a:spLocks noChangeArrowheads="1"/>
          </p:cNvSpPr>
          <p:nvPr/>
        </p:nvSpPr>
        <p:spPr bwMode="auto">
          <a:xfrm>
            <a:off x="2147888" y="1619250"/>
            <a:ext cx="1184275" cy="1630363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64" name="Line 328"/>
          <p:cNvSpPr>
            <a:spLocks noChangeShapeType="1"/>
          </p:cNvSpPr>
          <p:nvPr/>
        </p:nvSpPr>
        <p:spPr bwMode="auto">
          <a:xfrm>
            <a:off x="2157413" y="1903413"/>
            <a:ext cx="1165225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65" name="Rectangle 329"/>
          <p:cNvSpPr>
            <a:spLocks noChangeArrowheads="1"/>
          </p:cNvSpPr>
          <p:nvPr/>
        </p:nvSpPr>
        <p:spPr bwMode="auto">
          <a:xfrm>
            <a:off x="2447925" y="1662113"/>
            <a:ext cx="6858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Person</a:t>
            </a:r>
            <a:endParaRPr lang="en-CA" altLang="en-US"/>
          </a:p>
        </p:txBody>
      </p:sp>
      <p:sp>
        <p:nvSpPr>
          <p:cNvPr id="193866" name="Rectangle 330"/>
          <p:cNvSpPr>
            <a:spLocks noChangeArrowheads="1"/>
          </p:cNvSpPr>
          <p:nvPr/>
        </p:nvSpPr>
        <p:spPr bwMode="auto">
          <a:xfrm>
            <a:off x="2293938" y="1989138"/>
            <a:ext cx="5318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name</a:t>
            </a:r>
            <a:endParaRPr lang="en-CA" altLang="en-US"/>
          </a:p>
        </p:txBody>
      </p:sp>
      <p:sp>
        <p:nvSpPr>
          <p:cNvPr id="193867" name="Rectangle 331"/>
          <p:cNvSpPr>
            <a:spLocks noChangeArrowheads="1"/>
          </p:cNvSpPr>
          <p:nvPr/>
        </p:nvSpPr>
        <p:spPr bwMode="auto">
          <a:xfrm>
            <a:off x="2293938" y="2400300"/>
            <a:ext cx="83661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placeOfBirth</a:t>
            </a:r>
            <a:endParaRPr lang="en-CA" altLang="en-US"/>
          </a:p>
        </p:txBody>
      </p:sp>
      <p:sp>
        <p:nvSpPr>
          <p:cNvPr id="193868" name="Rectangle 332"/>
          <p:cNvSpPr>
            <a:spLocks noChangeArrowheads="1"/>
          </p:cNvSpPr>
          <p:nvPr/>
        </p:nvSpPr>
        <p:spPr bwMode="auto">
          <a:xfrm>
            <a:off x="2293938" y="2606675"/>
            <a:ext cx="7699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dateOfBirth</a:t>
            </a:r>
            <a:endParaRPr lang="en-CA" altLang="en-US"/>
          </a:p>
        </p:txBody>
      </p:sp>
      <p:sp>
        <p:nvSpPr>
          <p:cNvPr id="193869" name="Rectangle 333"/>
          <p:cNvSpPr>
            <a:spLocks noChangeArrowheads="1"/>
          </p:cNvSpPr>
          <p:nvPr/>
        </p:nvSpPr>
        <p:spPr bwMode="auto">
          <a:xfrm>
            <a:off x="2293938" y="2811463"/>
            <a:ext cx="9286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placeOfDeath</a:t>
            </a:r>
            <a:endParaRPr lang="en-CA" altLang="en-US"/>
          </a:p>
        </p:txBody>
      </p:sp>
      <p:sp>
        <p:nvSpPr>
          <p:cNvPr id="193870" name="Rectangle 334"/>
          <p:cNvSpPr>
            <a:spLocks noChangeArrowheads="1"/>
          </p:cNvSpPr>
          <p:nvPr/>
        </p:nvSpPr>
        <p:spPr bwMode="auto">
          <a:xfrm>
            <a:off x="2293938" y="3017838"/>
            <a:ext cx="86201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dateOfDeath</a:t>
            </a:r>
            <a:endParaRPr lang="en-CA" altLang="en-US"/>
          </a:p>
        </p:txBody>
      </p:sp>
      <p:sp>
        <p:nvSpPr>
          <p:cNvPr id="193871" name="Rectangle 335"/>
          <p:cNvSpPr>
            <a:spLocks noChangeArrowheads="1"/>
          </p:cNvSpPr>
          <p:nvPr/>
        </p:nvSpPr>
        <p:spPr bwMode="auto">
          <a:xfrm>
            <a:off x="2095500" y="3900488"/>
            <a:ext cx="1374775" cy="104775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72" name="Line 336"/>
          <p:cNvSpPr>
            <a:spLocks noChangeShapeType="1"/>
          </p:cNvSpPr>
          <p:nvPr/>
        </p:nvSpPr>
        <p:spPr bwMode="auto">
          <a:xfrm>
            <a:off x="2105025" y="4217988"/>
            <a:ext cx="1355725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73" name="Rectangle 337"/>
          <p:cNvSpPr>
            <a:spLocks noChangeArrowheads="1"/>
          </p:cNvSpPr>
          <p:nvPr/>
        </p:nvSpPr>
        <p:spPr bwMode="auto">
          <a:xfrm>
            <a:off x="2551113" y="3978275"/>
            <a:ext cx="566737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Union</a:t>
            </a:r>
            <a:endParaRPr lang="en-CA" altLang="en-US" dirty="0"/>
          </a:p>
        </p:txBody>
      </p:sp>
      <p:sp>
        <p:nvSpPr>
          <p:cNvPr id="193874" name="Rectangle 338"/>
          <p:cNvSpPr>
            <a:spLocks noChangeArrowheads="1"/>
          </p:cNvSpPr>
          <p:nvPr/>
        </p:nvSpPr>
        <p:spPr bwMode="auto">
          <a:xfrm>
            <a:off x="2243138" y="4303713"/>
            <a:ext cx="11223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placeOfMarriage</a:t>
            </a:r>
            <a:endParaRPr lang="en-CA" altLang="en-US"/>
          </a:p>
        </p:txBody>
      </p:sp>
      <p:sp>
        <p:nvSpPr>
          <p:cNvPr id="193875" name="Rectangle 339"/>
          <p:cNvSpPr>
            <a:spLocks noChangeArrowheads="1"/>
          </p:cNvSpPr>
          <p:nvPr/>
        </p:nvSpPr>
        <p:spPr bwMode="auto">
          <a:xfrm>
            <a:off x="2243138" y="4510088"/>
            <a:ext cx="10556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dateOfMarriage</a:t>
            </a:r>
            <a:endParaRPr lang="en-CA" altLang="en-US"/>
          </a:p>
        </p:txBody>
      </p:sp>
      <p:sp>
        <p:nvSpPr>
          <p:cNvPr id="193876" name="Rectangle 340"/>
          <p:cNvSpPr>
            <a:spLocks noChangeArrowheads="1"/>
          </p:cNvSpPr>
          <p:nvPr/>
        </p:nvSpPr>
        <p:spPr bwMode="auto">
          <a:xfrm>
            <a:off x="2243138" y="4716463"/>
            <a:ext cx="9715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dateOfDivorce</a:t>
            </a:r>
            <a:endParaRPr lang="en-CA" altLang="en-US"/>
          </a:p>
        </p:txBody>
      </p:sp>
      <p:sp>
        <p:nvSpPr>
          <p:cNvPr id="193877" name="Line 341"/>
          <p:cNvSpPr>
            <a:spLocks noChangeShapeType="1"/>
          </p:cNvSpPr>
          <p:nvPr/>
        </p:nvSpPr>
        <p:spPr bwMode="auto">
          <a:xfrm>
            <a:off x="4678363" y="2982913"/>
            <a:ext cx="1587" cy="138906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78" name="Rectangle 342"/>
          <p:cNvSpPr>
            <a:spLocks noChangeArrowheads="1"/>
          </p:cNvSpPr>
          <p:nvPr/>
        </p:nvSpPr>
        <p:spPr bwMode="auto">
          <a:xfrm>
            <a:off x="3511550" y="4373563"/>
            <a:ext cx="496888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parents</a:t>
            </a:r>
            <a:endParaRPr lang="en-CA" altLang="en-US"/>
          </a:p>
        </p:txBody>
      </p:sp>
      <p:sp>
        <p:nvSpPr>
          <p:cNvPr id="193879" name="Rectangle 343"/>
          <p:cNvSpPr>
            <a:spLocks noChangeArrowheads="1"/>
          </p:cNvSpPr>
          <p:nvPr/>
        </p:nvSpPr>
        <p:spPr bwMode="auto">
          <a:xfrm>
            <a:off x="3511550" y="4149725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0..1</a:t>
            </a:r>
            <a:endParaRPr lang="en-CA" altLang="en-US"/>
          </a:p>
        </p:txBody>
      </p:sp>
      <p:sp>
        <p:nvSpPr>
          <p:cNvPr id="193880" name="Rectangle 344"/>
          <p:cNvSpPr>
            <a:spLocks noChangeArrowheads="1"/>
          </p:cNvSpPr>
          <p:nvPr/>
        </p:nvSpPr>
        <p:spPr bwMode="auto">
          <a:xfrm>
            <a:off x="3375025" y="2778125"/>
            <a:ext cx="342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child</a:t>
            </a:r>
            <a:endParaRPr lang="en-CA" altLang="en-US"/>
          </a:p>
        </p:txBody>
      </p:sp>
      <p:sp>
        <p:nvSpPr>
          <p:cNvPr id="193881" name="Rectangle 345"/>
          <p:cNvSpPr>
            <a:spLocks noChangeArrowheads="1"/>
          </p:cNvSpPr>
          <p:nvPr/>
        </p:nvSpPr>
        <p:spPr bwMode="auto">
          <a:xfrm>
            <a:off x="3357563" y="3000375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882" name="Rectangle 346"/>
          <p:cNvSpPr>
            <a:spLocks noChangeArrowheads="1"/>
          </p:cNvSpPr>
          <p:nvPr/>
        </p:nvSpPr>
        <p:spPr bwMode="auto">
          <a:xfrm>
            <a:off x="3032125" y="3275013"/>
            <a:ext cx="85725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83" name="Rectangle 347"/>
          <p:cNvSpPr>
            <a:spLocks noChangeArrowheads="1"/>
          </p:cNvSpPr>
          <p:nvPr/>
        </p:nvSpPr>
        <p:spPr bwMode="auto">
          <a:xfrm>
            <a:off x="3032125" y="3275013"/>
            <a:ext cx="1365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884" name="Rectangle 348"/>
          <p:cNvSpPr>
            <a:spLocks noChangeArrowheads="1"/>
          </p:cNvSpPr>
          <p:nvPr/>
        </p:nvSpPr>
        <p:spPr bwMode="auto">
          <a:xfrm>
            <a:off x="3032125" y="3275013"/>
            <a:ext cx="85725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85" name="Rectangle 349"/>
          <p:cNvSpPr>
            <a:spLocks noChangeArrowheads="1"/>
          </p:cNvSpPr>
          <p:nvPr/>
        </p:nvSpPr>
        <p:spPr bwMode="auto">
          <a:xfrm>
            <a:off x="3032125" y="3275013"/>
            <a:ext cx="1365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886" name="Rectangle 350"/>
          <p:cNvSpPr>
            <a:spLocks noChangeArrowheads="1"/>
          </p:cNvSpPr>
          <p:nvPr/>
        </p:nvSpPr>
        <p:spPr bwMode="auto">
          <a:xfrm>
            <a:off x="3032125" y="3275013"/>
            <a:ext cx="85725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87" name="Rectangle 351"/>
          <p:cNvSpPr>
            <a:spLocks noChangeArrowheads="1"/>
          </p:cNvSpPr>
          <p:nvPr/>
        </p:nvSpPr>
        <p:spPr bwMode="auto">
          <a:xfrm>
            <a:off x="3032125" y="3275013"/>
            <a:ext cx="1365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888" name="Rectangle 352"/>
          <p:cNvSpPr>
            <a:spLocks noChangeArrowheads="1"/>
          </p:cNvSpPr>
          <p:nvPr/>
        </p:nvSpPr>
        <p:spPr bwMode="auto">
          <a:xfrm>
            <a:off x="3032125" y="3275013"/>
            <a:ext cx="85725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89" name="Rectangle 353"/>
          <p:cNvSpPr>
            <a:spLocks noChangeArrowheads="1"/>
          </p:cNvSpPr>
          <p:nvPr/>
        </p:nvSpPr>
        <p:spPr bwMode="auto">
          <a:xfrm>
            <a:off x="3032125" y="3275013"/>
            <a:ext cx="1365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890" name="Rectangle 354"/>
          <p:cNvSpPr>
            <a:spLocks noChangeArrowheads="1"/>
          </p:cNvSpPr>
          <p:nvPr/>
        </p:nvSpPr>
        <p:spPr bwMode="auto">
          <a:xfrm>
            <a:off x="3032125" y="3275013"/>
            <a:ext cx="85725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91" name="Line 355"/>
          <p:cNvSpPr>
            <a:spLocks noChangeShapeType="1"/>
          </p:cNvSpPr>
          <p:nvPr/>
        </p:nvSpPr>
        <p:spPr bwMode="auto">
          <a:xfrm>
            <a:off x="3340100" y="2982913"/>
            <a:ext cx="1338263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92" name="Line 356"/>
          <p:cNvSpPr>
            <a:spLocks noChangeShapeType="1"/>
          </p:cNvSpPr>
          <p:nvPr/>
        </p:nvSpPr>
        <p:spPr bwMode="auto">
          <a:xfrm>
            <a:off x="3478213" y="4371975"/>
            <a:ext cx="1200150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93" name="Line 357"/>
          <p:cNvSpPr>
            <a:spLocks noChangeShapeType="1"/>
          </p:cNvSpPr>
          <p:nvPr/>
        </p:nvSpPr>
        <p:spPr bwMode="auto">
          <a:xfrm flipV="1">
            <a:off x="3186113" y="3257550"/>
            <a:ext cx="1587" cy="6350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94" name="Rectangle 358"/>
          <p:cNvSpPr>
            <a:spLocks noChangeArrowheads="1"/>
          </p:cNvSpPr>
          <p:nvPr/>
        </p:nvSpPr>
        <p:spPr bwMode="auto">
          <a:xfrm>
            <a:off x="3236913" y="367030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895" name="Rectangle 359"/>
          <p:cNvSpPr>
            <a:spLocks noChangeArrowheads="1"/>
          </p:cNvSpPr>
          <p:nvPr/>
        </p:nvSpPr>
        <p:spPr bwMode="auto">
          <a:xfrm>
            <a:off x="2689225" y="3275013"/>
            <a:ext cx="48101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partner</a:t>
            </a:r>
            <a:endParaRPr lang="en-CA" altLang="en-US"/>
          </a:p>
        </p:txBody>
      </p:sp>
      <p:sp>
        <p:nvSpPr>
          <p:cNvPr id="193896" name="Rectangle 360"/>
          <p:cNvSpPr>
            <a:spLocks noChangeArrowheads="1"/>
          </p:cNvSpPr>
          <p:nvPr/>
        </p:nvSpPr>
        <p:spPr bwMode="auto">
          <a:xfrm>
            <a:off x="3236913" y="3275013"/>
            <a:ext cx="377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0..2</a:t>
            </a:r>
            <a:endParaRPr lang="en-CA" altLang="en-US"/>
          </a:p>
        </p:txBody>
      </p:sp>
      <p:sp>
        <p:nvSpPr>
          <p:cNvPr id="193897" name="Rectangle 361"/>
          <p:cNvSpPr>
            <a:spLocks noChangeArrowheads="1"/>
          </p:cNvSpPr>
          <p:nvPr/>
        </p:nvSpPr>
        <p:spPr bwMode="auto">
          <a:xfrm>
            <a:off x="2293938" y="2195513"/>
            <a:ext cx="3254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sex</a:t>
            </a:r>
            <a:endParaRPr lang="en-CA" altLang="en-US"/>
          </a:p>
        </p:txBody>
      </p:sp>
      <p:sp>
        <p:nvSpPr>
          <p:cNvPr id="193898" name="Rectangle 362"/>
          <p:cNvSpPr>
            <a:spLocks noChangeArrowheads="1"/>
          </p:cNvSpPr>
          <p:nvPr/>
        </p:nvSpPr>
        <p:spPr bwMode="auto">
          <a:xfrm>
            <a:off x="6350682" y="1638300"/>
            <a:ext cx="1184275" cy="144145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899" name="Line 363"/>
          <p:cNvSpPr>
            <a:spLocks noChangeShapeType="1"/>
          </p:cNvSpPr>
          <p:nvPr/>
        </p:nvSpPr>
        <p:spPr bwMode="auto">
          <a:xfrm>
            <a:off x="6360207" y="1938338"/>
            <a:ext cx="1166813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00" name="Rectangle 364"/>
          <p:cNvSpPr>
            <a:spLocks noChangeArrowheads="1"/>
          </p:cNvSpPr>
          <p:nvPr/>
        </p:nvSpPr>
        <p:spPr bwMode="auto">
          <a:xfrm>
            <a:off x="6652307" y="1681163"/>
            <a:ext cx="6016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Person</a:t>
            </a:r>
            <a:endParaRPr lang="en-CA" altLang="en-US"/>
          </a:p>
        </p:txBody>
      </p:sp>
      <p:sp>
        <p:nvSpPr>
          <p:cNvPr id="193901" name="Rectangle 365"/>
          <p:cNvSpPr>
            <a:spLocks noChangeArrowheads="1"/>
          </p:cNvSpPr>
          <p:nvPr/>
        </p:nvSpPr>
        <p:spPr bwMode="auto">
          <a:xfrm>
            <a:off x="6496732" y="2008188"/>
            <a:ext cx="3794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name</a:t>
            </a:r>
            <a:endParaRPr lang="en-CA" altLang="en-US" dirty="0"/>
          </a:p>
        </p:txBody>
      </p:sp>
      <p:sp>
        <p:nvSpPr>
          <p:cNvPr id="193902" name="Rectangle 366"/>
          <p:cNvSpPr>
            <a:spLocks noChangeArrowheads="1"/>
          </p:cNvSpPr>
          <p:nvPr/>
        </p:nvSpPr>
        <p:spPr bwMode="auto">
          <a:xfrm>
            <a:off x="6496732" y="2214563"/>
            <a:ext cx="836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placeOfBirth</a:t>
            </a:r>
            <a:endParaRPr lang="en-CA" altLang="en-US"/>
          </a:p>
        </p:txBody>
      </p:sp>
      <p:sp>
        <p:nvSpPr>
          <p:cNvPr id="193903" name="Rectangle 367"/>
          <p:cNvSpPr>
            <a:spLocks noChangeArrowheads="1"/>
          </p:cNvSpPr>
          <p:nvPr/>
        </p:nvSpPr>
        <p:spPr bwMode="auto">
          <a:xfrm>
            <a:off x="6496732" y="2419350"/>
            <a:ext cx="7699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dateOfBirth</a:t>
            </a:r>
            <a:endParaRPr lang="en-CA" altLang="en-US"/>
          </a:p>
        </p:txBody>
      </p:sp>
      <p:sp>
        <p:nvSpPr>
          <p:cNvPr id="193904" name="Rectangle 368"/>
          <p:cNvSpPr>
            <a:spLocks noChangeArrowheads="1"/>
          </p:cNvSpPr>
          <p:nvPr/>
        </p:nvSpPr>
        <p:spPr bwMode="auto">
          <a:xfrm>
            <a:off x="6496732" y="2625725"/>
            <a:ext cx="9286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placeOfDeath</a:t>
            </a:r>
            <a:endParaRPr lang="en-CA" altLang="en-US"/>
          </a:p>
        </p:txBody>
      </p:sp>
      <p:sp>
        <p:nvSpPr>
          <p:cNvPr id="193905" name="Rectangle 369"/>
          <p:cNvSpPr>
            <a:spLocks noChangeArrowheads="1"/>
          </p:cNvSpPr>
          <p:nvPr/>
        </p:nvSpPr>
        <p:spPr bwMode="auto">
          <a:xfrm>
            <a:off x="6496732" y="2830513"/>
            <a:ext cx="8620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dateOfDeath</a:t>
            </a:r>
            <a:endParaRPr lang="en-CA" altLang="en-US"/>
          </a:p>
        </p:txBody>
      </p:sp>
      <p:sp>
        <p:nvSpPr>
          <p:cNvPr id="193906" name="Rectangle 370"/>
          <p:cNvSpPr>
            <a:spLocks noChangeArrowheads="1"/>
          </p:cNvSpPr>
          <p:nvPr/>
        </p:nvSpPr>
        <p:spPr bwMode="auto">
          <a:xfrm>
            <a:off x="6309407" y="4635500"/>
            <a:ext cx="1373188" cy="104775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07" name="Line 371"/>
          <p:cNvSpPr>
            <a:spLocks noChangeShapeType="1"/>
          </p:cNvSpPr>
          <p:nvPr/>
        </p:nvSpPr>
        <p:spPr bwMode="auto">
          <a:xfrm>
            <a:off x="6317345" y="4953000"/>
            <a:ext cx="1355725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08" name="Rectangle 372"/>
          <p:cNvSpPr>
            <a:spLocks noChangeArrowheads="1"/>
          </p:cNvSpPr>
          <p:nvPr/>
        </p:nvSpPr>
        <p:spPr bwMode="auto">
          <a:xfrm>
            <a:off x="6763432" y="4695825"/>
            <a:ext cx="5016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Union</a:t>
            </a:r>
            <a:endParaRPr lang="en-CA" altLang="en-US"/>
          </a:p>
        </p:txBody>
      </p:sp>
      <p:sp>
        <p:nvSpPr>
          <p:cNvPr id="193909" name="Rectangle 373"/>
          <p:cNvSpPr>
            <a:spLocks noChangeArrowheads="1"/>
          </p:cNvSpPr>
          <p:nvPr/>
        </p:nvSpPr>
        <p:spPr bwMode="auto">
          <a:xfrm>
            <a:off x="6455457" y="5022850"/>
            <a:ext cx="11223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placeOfMarriage</a:t>
            </a:r>
            <a:endParaRPr lang="en-CA" altLang="en-US"/>
          </a:p>
        </p:txBody>
      </p:sp>
      <p:sp>
        <p:nvSpPr>
          <p:cNvPr id="193910" name="Rectangle 374"/>
          <p:cNvSpPr>
            <a:spLocks noChangeArrowheads="1"/>
          </p:cNvSpPr>
          <p:nvPr/>
        </p:nvSpPr>
        <p:spPr bwMode="auto">
          <a:xfrm>
            <a:off x="6455457" y="5229225"/>
            <a:ext cx="10556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dateOfMarriage</a:t>
            </a:r>
            <a:endParaRPr lang="en-CA" altLang="en-US"/>
          </a:p>
        </p:txBody>
      </p:sp>
      <p:sp>
        <p:nvSpPr>
          <p:cNvPr id="193911" name="Rectangle 375"/>
          <p:cNvSpPr>
            <a:spLocks noChangeArrowheads="1"/>
          </p:cNvSpPr>
          <p:nvPr/>
        </p:nvSpPr>
        <p:spPr bwMode="auto">
          <a:xfrm>
            <a:off x="6455457" y="5434013"/>
            <a:ext cx="9715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dateOfDivorce</a:t>
            </a:r>
            <a:endParaRPr lang="en-CA" altLang="en-US"/>
          </a:p>
        </p:txBody>
      </p:sp>
      <p:sp>
        <p:nvSpPr>
          <p:cNvPr id="193912" name="Line 376"/>
          <p:cNvSpPr>
            <a:spLocks noChangeShapeType="1"/>
          </p:cNvSpPr>
          <p:nvPr/>
        </p:nvSpPr>
        <p:spPr bwMode="auto">
          <a:xfrm>
            <a:off x="8881157" y="2794000"/>
            <a:ext cx="1588" cy="23336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13" name="Rectangle 377"/>
          <p:cNvSpPr>
            <a:spLocks noChangeArrowheads="1"/>
          </p:cNvSpPr>
          <p:nvPr/>
        </p:nvSpPr>
        <p:spPr bwMode="auto">
          <a:xfrm>
            <a:off x="7714345" y="5127625"/>
            <a:ext cx="49688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parents</a:t>
            </a:r>
            <a:endParaRPr lang="en-CA" altLang="en-US"/>
          </a:p>
        </p:txBody>
      </p:sp>
      <p:sp>
        <p:nvSpPr>
          <p:cNvPr id="193914" name="Rectangle 378"/>
          <p:cNvSpPr>
            <a:spLocks noChangeArrowheads="1"/>
          </p:cNvSpPr>
          <p:nvPr/>
        </p:nvSpPr>
        <p:spPr bwMode="auto">
          <a:xfrm>
            <a:off x="7714345" y="4903788"/>
            <a:ext cx="377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0..1</a:t>
            </a:r>
            <a:endParaRPr lang="en-CA" altLang="en-US"/>
          </a:p>
        </p:txBody>
      </p:sp>
      <p:sp>
        <p:nvSpPr>
          <p:cNvPr id="193915" name="Rectangle 379"/>
          <p:cNvSpPr>
            <a:spLocks noChangeArrowheads="1"/>
          </p:cNvSpPr>
          <p:nvPr/>
        </p:nvSpPr>
        <p:spPr bwMode="auto">
          <a:xfrm>
            <a:off x="7577820" y="2589213"/>
            <a:ext cx="342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child</a:t>
            </a:r>
            <a:endParaRPr lang="en-CA" altLang="en-US"/>
          </a:p>
        </p:txBody>
      </p:sp>
      <p:sp>
        <p:nvSpPr>
          <p:cNvPr id="193916" name="Rectangle 380"/>
          <p:cNvSpPr>
            <a:spLocks noChangeArrowheads="1"/>
          </p:cNvSpPr>
          <p:nvPr/>
        </p:nvSpPr>
        <p:spPr bwMode="auto">
          <a:xfrm>
            <a:off x="7560357" y="2795588"/>
            <a:ext cx="1365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17" name="Rectangle 381"/>
          <p:cNvSpPr>
            <a:spLocks noChangeArrowheads="1"/>
          </p:cNvSpPr>
          <p:nvPr/>
        </p:nvSpPr>
        <p:spPr bwMode="auto">
          <a:xfrm>
            <a:off x="6685645" y="4406900"/>
            <a:ext cx="292100" cy="222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18" name="Rectangle 382"/>
          <p:cNvSpPr>
            <a:spLocks noChangeArrowheads="1"/>
          </p:cNvSpPr>
          <p:nvPr/>
        </p:nvSpPr>
        <p:spPr bwMode="auto">
          <a:xfrm>
            <a:off x="7131732" y="4011613"/>
            <a:ext cx="292100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19" name="Rectangle 383"/>
          <p:cNvSpPr>
            <a:spLocks noChangeArrowheads="1"/>
          </p:cNvSpPr>
          <p:nvPr/>
        </p:nvSpPr>
        <p:spPr bwMode="auto">
          <a:xfrm>
            <a:off x="7131732" y="4030663"/>
            <a:ext cx="342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child</a:t>
            </a:r>
            <a:endParaRPr lang="en-CA" altLang="en-US"/>
          </a:p>
        </p:txBody>
      </p:sp>
      <p:sp>
        <p:nvSpPr>
          <p:cNvPr id="193920" name="Rectangle 384"/>
          <p:cNvSpPr>
            <a:spLocks noChangeArrowheads="1"/>
          </p:cNvSpPr>
          <p:nvPr/>
        </p:nvSpPr>
        <p:spPr bwMode="auto">
          <a:xfrm>
            <a:off x="6892020" y="4011613"/>
            <a:ext cx="85725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21" name="Rectangle 385"/>
          <p:cNvSpPr>
            <a:spLocks noChangeArrowheads="1"/>
          </p:cNvSpPr>
          <p:nvPr/>
        </p:nvSpPr>
        <p:spPr bwMode="auto">
          <a:xfrm>
            <a:off x="6892020" y="401320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22" name="Rectangle 386"/>
          <p:cNvSpPr>
            <a:spLocks noChangeArrowheads="1"/>
          </p:cNvSpPr>
          <p:nvPr/>
        </p:nvSpPr>
        <p:spPr bwMode="auto">
          <a:xfrm>
            <a:off x="6892020" y="4011613"/>
            <a:ext cx="85725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23" name="Rectangle 387"/>
          <p:cNvSpPr>
            <a:spLocks noChangeArrowheads="1"/>
          </p:cNvSpPr>
          <p:nvPr/>
        </p:nvSpPr>
        <p:spPr bwMode="auto">
          <a:xfrm>
            <a:off x="6892020" y="401320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24" name="Rectangle 388"/>
          <p:cNvSpPr>
            <a:spLocks noChangeArrowheads="1"/>
          </p:cNvSpPr>
          <p:nvPr/>
        </p:nvSpPr>
        <p:spPr bwMode="auto">
          <a:xfrm>
            <a:off x="6892020" y="4011613"/>
            <a:ext cx="85725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25" name="Rectangle 389"/>
          <p:cNvSpPr>
            <a:spLocks noChangeArrowheads="1"/>
          </p:cNvSpPr>
          <p:nvPr/>
        </p:nvSpPr>
        <p:spPr bwMode="auto">
          <a:xfrm>
            <a:off x="6892020" y="401320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26" name="Rectangle 390"/>
          <p:cNvSpPr>
            <a:spLocks noChangeArrowheads="1"/>
          </p:cNvSpPr>
          <p:nvPr/>
        </p:nvSpPr>
        <p:spPr bwMode="auto">
          <a:xfrm>
            <a:off x="7131732" y="4011613"/>
            <a:ext cx="292100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27" name="Rectangle 391"/>
          <p:cNvSpPr>
            <a:spLocks noChangeArrowheads="1"/>
          </p:cNvSpPr>
          <p:nvPr/>
        </p:nvSpPr>
        <p:spPr bwMode="auto">
          <a:xfrm>
            <a:off x="7355570" y="4013200"/>
            <a:ext cx="760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malePartner</a:t>
            </a:r>
            <a:endParaRPr lang="en-CA" altLang="en-US"/>
          </a:p>
        </p:txBody>
      </p:sp>
      <p:sp>
        <p:nvSpPr>
          <p:cNvPr id="193928" name="Rectangle 392"/>
          <p:cNvSpPr>
            <a:spLocks noChangeArrowheads="1"/>
          </p:cNvSpPr>
          <p:nvPr/>
        </p:nvSpPr>
        <p:spPr bwMode="auto">
          <a:xfrm>
            <a:off x="6892020" y="4011613"/>
            <a:ext cx="85725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29" name="Rectangle 393"/>
          <p:cNvSpPr>
            <a:spLocks noChangeArrowheads="1"/>
          </p:cNvSpPr>
          <p:nvPr/>
        </p:nvSpPr>
        <p:spPr bwMode="auto">
          <a:xfrm>
            <a:off x="6892020" y="4013200"/>
            <a:ext cx="1365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30" name="Rectangle 394"/>
          <p:cNvSpPr>
            <a:spLocks noChangeArrowheads="1"/>
          </p:cNvSpPr>
          <p:nvPr/>
        </p:nvSpPr>
        <p:spPr bwMode="auto">
          <a:xfrm>
            <a:off x="6892020" y="4011613"/>
            <a:ext cx="85725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31" name="Rectangle 395"/>
          <p:cNvSpPr>
            <a:spLocks noChangeArrowheads="1"/>
          </p:cNvSpPr>
          <p:nvPr/>
        </p:nvSpPr>
        <p:spPr bwMode="auto">
          <a:xfrm>
            <a:off x="7011082" y="4013200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0..1</a:t>
            </a:r>
            <a:endParaRPr lang="en-CA" altLang="en-US"/>
          </a:p>
        </p:txBody>
      </p:sp>
      <p:sp>
        <p:nvSpPr>
          <p:cNvPr id="193932" name="Rectangle 396"/>
          <p:cNvSpPr>
            <a:spLocks noChangeArrowheads="1"/>
          </p:cNvSpPr>
          <p:nvPr/>
        </p:nvSpPr>
        <p:spPr bwMode="auto">
          <a:xfrm>
            <a:off x="5760132" y="4011613"/>
            <a:ext cx="290513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33" name="Rectangle 397"/>
          <p:cNvSpPr>
            <a:spLocks noChangeArrowheads="1"/>
          </p:cNvSpPr>
          <p:nvPr/>
        </p:nvSpPr>
        <p:spPr bwMode="auto">
          <a:xfrm>
            <a:off x="5760132" y="4030663"/>
            <a:ext cx="342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child</a:t>
            </a:r>
            <a:endParaRPr lang="en-CA" altLang="en-US"/>
          </a:p>
        </p:txBody>
      </p:sp>
      <p:sp>
        <p:nvSpPr>
          <p:cNvPr id="193934" name="Rectangle 398"/>
          <p:cNvSpPr>
            <a:spLocks noChangeArrowheads="1"/>
          </p:cNvSpPr>
          <p:nvPr/>
        </p:nvSpPr>
        <p:spPr bwMode="auto">
          <a:xfrm>
            <a:off x="5760132" y="4011613"/>
            <a:ext cx="290513" cy="223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35" name="Rectangle 399"/>
          <p:cNvSpPr>
            <a:spLocks noChangeArrowheads="1"/>
          </p:cNvSpPr>
          <p:nvPr/>
        </p:nvSpPr>
        <p:spPr bwMode="auto">
          <a:xfrm>
            <a:off x="7209520" y="4414838"/>
            <a:ext cx="587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36" name="Line 400"/>
          <p:cNvSpPr>
            <a:spLocks noChangeShapeType="1"/>
          </p:cNvSpPr>
          <p:nvPr/>
        </p:nvSpPr>
        <p:spPr bwMode="auto">
          <a:xfrm>
            <a:off x="7542895" y="2794000"/>
            <a:ext cx="1338262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37" name="Line 401"/>
          <p:cNvSpPr>
            <a:spLocks noChangeShapeType="1"/>
          </p:cNvSpPr>
          <p:nvPr/>
        </p:nvSpPr>
        <p:spPr bwMode="auto">
          <a:xfrm flipH="1">
            <a:off x="7698470" y="5127625"/>
            <a:ext cx="1182687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38" name="Line 402"/>
          <p:cNvSpPr>
            <a:spLocks noChangeShapeType="1"/>
          </p:cNvSpPr>
          <p:nvPr/>
        </p:nvSpPr>
        <p:spPr bwMode="auto">
          <a:xfrm flipV="1">
            <a:off x="6531657" y="3995738"/>
            <a:ext cx="1588" cy="63341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39" name="Rectangle 403"/>
          <p:cNvSpPr>
            <a:spLocks noChangeArrowheads="1"/>
          </p:cNvSpPr>
          <p:nvPr/>
        </p:nvSpPr>
        <p:spPr bwMode="auto">
          <a:xfrm>
            <a:off x="6591982" y="4414838"/>
            <a:ext cx="587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en-US"/>
          </a:p>
        </p:txBody>
      </p:sp>
      <p:sp>
        <p:nvSpPr>
          <p:cNvPr id="193940" name="Rectangle 404"/>
          <p:cNvSpPr>
            <a:spLocks noChangeArrowheads="1"/>
          </p:cNvSpPr>
          <p:nvPr/>
        </p:nvSpPr>
        <p:spPr bwMode="auto">
          <a:xfrm>
            <a:off x="5776913" y="4013200"/>
            <a:ext cx="8763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femalePartner</a:t>
            </a:r>
            <a:endParaRPr lang="en-CA" altLang="en-US"/>
          </a:p>
        </p:txBody>
      </p:sp>
      <p:sp>
        <p:nvSpPr>
          <p:cNvPr id="193941" name="Line 405"/>
          <p:cNvSpPr>
            <a:spLocks noChangeShapeType="1"/>
          </p:cNvSpPr>
          <p:nvPr/>
        </p:nvSpPr>
        <p:spPr bwMode="auto">
          <a:xfrm flipV="1">
            <a:off x="7303182" y="3995738"/>
            <a:ext cx="1588" cy="63341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42" name="Rectangle 406"/>
          <p:cNvSpPr>
            <a:spLocks noChangeArrowheads="1"/>
          </p:cNvSpPr>
          <p:nvPr/>
        </p:nvSpPr>
        <p:spPr bwMode="auto">
          <a:xfrm>
            <a:off x="6582457" y="4013200"/>
            <a:ext cx="37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0..1</a:t>
            </a:r>
            <a:endParaRPr lang="en-CA" altLang="en-US"/>
          </a:p>
        </p:txBody>
      </p:sp>
      <p:sp>
        <p:nvSpPr>
          <p:cNvPr id="193943" name="Line 407"/>
          <p:cNvSpPr>
            <a:spLocks noChangeShapeType="1"/>
          </p:cNvSpPr>
          <p:nvPr/>
        </p:nvSpPr>
        <p:spPr bwMode="auto">
          <a:xfrm flipH="1">
            <a:off x="6428470" y="3446463"/>
            <a:ext cx="1063625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44" name="Line 408"/>
          <p:cNvSpPr>
            <a:spLocks noChangeShapeType="1"/>
          </p:cNvSpPr>
          <p:nvPr/>
        </p:nvSpPr>
        <p:spPr bwMode="auto">
          <a:xfrm>
            <a:off x="7509557" y="3446463"/>
            <a:ext cx="1588" cy="22225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45" name="Freeform 409"/>
          <p:cNvSpPr>
            <a:spLocks/>
          </p:cNvSpPr>
          <p:nvPr/>
        </p:nvSpPr>
        <p:spPr bwMode="auto">
          <a:xfrm>
            <a:off x="6857095" y="3070225"/>
            <a:ext cx="257175" cy="206375"/>
          </a:xfrm>
          <a:custGeom>
            <a:avLst/>
            <a:gdLst>
              <a:gd name="T0" fmla="*/ 87 w 162"/>
              <a:gd name="T1" fmla="*/ 0 h 130"/>
              <a:gd name="T2" fmla="*/ 162 w 162"/>
              <a:gd name="T3" fmla="*/ 130 h 130"/>
              <a:gd name="T4" fmla="*/ 0 w 162"/>
              <a:gd name="T5" fmla="*/ 130 h 130"/>
              <a:gd name="T6" fmla="*/ 87 w 162"/>
              <a:gd name="T7" fmla="*/ 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2" h="130">
                <a:moveTo>
                  <a:pt x="87" y="0"/>
                </a:moveTo>
                <a:lnTo>
                  <a:pt x="162" y="130"/>
                </a:lnTo>
                <a:lnTo>
                  <a:pt x="0" y="130"/>
                </a:lnTo>
                <a:lnTo>
                  <a:pt x="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46" name="Freeform 410"/>
          <p:cNvSpPr>
            <a:spLocks/>
          </p:cNvSpPr>
          <p:nvPr/>
        </p:nvSpPr>
        <p:spPr bwMode="auto">
          <a:xfrm>
            <a:off x="6857095" y="3070225"/>
            <a:ext cx="257175" cy="206375"/>
          </a:xfrm>
          <a:custGeom>
            <a:avLst/>
            <a:gdLst>
              <a:gd name="T0" fmla="*/ 87 w 162"/>
              <a:gd name="T1" fmla="*/ 0 h 130"/>
              <a:gd name="T2" fmla="*/ 162 w 162"/>
              <a:gd name="T3" fmla="*/ 130 h 130"/>
              <a:gd name="T4" fmla="*/ 0 w 162"/>
              <a:gd name="T5" fmla="*/ 130 h 130"/>
              <a:gd name="T6" fmla="*/ 87 w 162"/>
              <a:gd name="T7" fmla="*/ 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2" h="130">
                <a:moveTo>
                  <a:pt x="87" y="0"/>
                </a:moveTo>
                <a:lnTo>
                  <a:pt x="162" y="130"/>
                </a:lnTo>
                <a:lnTo>
                  <a:pt x="0" y="130"/>
                </a:lnTo>
                <a:lnTo>
                  <a:pt x="87" y="0"/>
                </a:lnTo>
                <a:close/>
              </a:path>
            </a:pathLst>
          </a:custGeom>
          <a:solidFill>
            <a:srgbClr val="FFFFFF"/>
          </a:solidFill>
          <a:ln w="174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193947" name="Line 411"/>
          <p:cNvSpPr>
            <a:spLocks noChangeShapeType="1"/>
          </p:cNvSpPr>
          <p:nvPr/>
        </p:nvSpPr>
        <p:spPr bwMode="auto">
          <a:xfrm>
            <a:off x="6428470" y="3446463"/>
            <a:ext cx="1587" cy="22225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48" name="Line 412"/>
          <p:cNvSpPr>
            <a:spLocks noChangeShapeType="1"/>
          </p:cNvSpPr>
          <p:nvPr/>
        </p:nvSpPr>
        <p:spPr bwMode="auto">
          <a:xfrm>
            <a:off x="6995207" y="3284538"/>
            <a:ext cx="1588" cy="1539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49" name="Rectangle 413"/>
          <p:cNvSpPr>
            <a:spLocks noChangeArrowheads="1"/>
          </p:cNvSpPr>
          <p:nvPr/>
        </p:nvSpPr>
        <p:spPr bwMode="auto">
          <a:xfrm>
            <a:off x="5801407" y="3676650"/>
            <a:ext cx="1185863" cy="31115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50" name="Rectangle 414"/>
          <p:cNvSpPr>
            <a:spLocks noChangeArrowheads="1"/>
          </p:cNvSpPr>
          <p:nvPr/>
        </p:nvSpPr>
        <p:spPr bwMode="auto">
          <a:xfrm>
            <a:off x="6103032" y="3721100"/>
            <a:ext cx="70326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Woman</a:t>
            </a:r>
            <a:endParaRPr lang="en-CA" altLang="en-US"/>
          </a:p>
        </p:txBody>
      </p:sp>
      <p:sp>
        <p:nvSpPr>
          <p:cNvPr id="193951" name="Rectangle 415"/>
          <p:cNvSpPr>
            <a:spLocks noChangeArrowheads="1"/>
          </p:cNvSpPr>
          <p:nvPr/>
        </p:nvSpPr>
        <p:spPr bwMode="auto">
          <a:xfrm>
            <a:off x="7053945" y="3676650"/>
            <a:ext cx="927100" cy="311150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193952" name="Rectangle 416"/>
          <p:cNvSpPr>
            <a:spLocks noChangeArrowheads="1"/>
          </p:cNvSpPr>
          <p:nvPr/>
        </p:nvSpPr>
        <p:spPr bwMode="auto">
          <a:xfrm>
            <a:off x="7355570" y="3721100"/>
            <a:ext cx="446087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Man</a:t>
            </a:r>
            <a:endParaRPr lang="en-CA" altLang="en-US"/>
          </a:p>
        </p:txBody>
      </p:sp>
      <p:sp>
        <p:nvSpPr>
          <p:cNvPr id="193953" name="Rectangle 417"/>
          <p:cNvSpPr>
            <a:spLocks noChangeArrowheads="1"/>
          </p:cNvSpPr>
          <p:nvPr/>
        </p:nvSpPr>
        <p:spPr bwMode="auto">
          <a:xfrm>
            <a:off x="1008063" y="3327400"/>
            <a:ext cx="14033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{partner-&gt;forAll(p1,p2 |</a:t>
            </a:r>
            <a:endParaRPr lang="en-CA" altLang="en-US"/>
          </a:p>
        </p:txBody>
      </p:sp>
      <p:sp>
        <p:nvSpPr>
          <p:cNvPr id="193954" name="Rectangle 418"/>
          <p:cNvSpPr>
            <a:spLocks noChangeArrowheads="1"/>
          </p:cNvSpPr>
          <p:nvPr/>
        </p:nvSpPr>
        <p:spPr bwMode="auto">
          <a:xfrm>
            <a:off x="1008063" y="3481388"/>
            <a:ext cx="754062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  p1 &lt;&gt; p2</a:t>
            </a:r>
            <a:endParaRPr lang="en-CA" altLang="en-US"/>
          </a:p>
        </p:txBody>
      </p:sp>
      <p:sp>
        <p:nvSpPr>
          <p:cNvPr id="193955" name="Rectangle 419"/>
          <p:cNvSpPr>
            <a:spLocks noChangeArrowheads="1"/>
          </p:cNvSpPr>
          <p:nvPr/>
        </p:nvSpPr>
        <p:spPr bwMode="auto">
          <a:xfrm>
            <a:off x="1008063" y="3635375"/>
            <a:ext cx="164623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100">
                <a:solidFill>
                  <a:srgbClr val="000000"/>
                </a:solidFill>
                <a:latin typeface="Arial" panose="020B0604020202020204" pitchFamily="34" charset="0"/>
              </a:rPr>
              <a:t>  implies p1.sex &lt;&gt; p2.sex)}</a:t>
            </a:r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53965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Additional Constraints on this Model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A Tournament’s planned duration must be under one week.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Players can be accepted in a Tournament only if they are already registered with the corresponding League.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The number of active Players in a League are those that have taken part in at least one Tournament of the League.</a:t>
            </a:r>
          </a:p>
          <a:p>
            <a:pPr marL="457200" indent="-457200"/>
            <a:endParaRPr lang="en-US" altLang="fr-FR">
              <a:ea typeface="ＭＳ Ｐゴシック" panose="020B0600070205080204" pitchFamily="34" charset="-128"/>
            </a:endParaRPr>
          </a:p>
          <a:p>
            <a:pPr marL="457200" indent="-457200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184150" y="1270000"/>
            <a:ext cx="850900" cy="501650"/>
          </a:xfrm>
          <a:prstGeom prst="rightArrow">
            <a:avLst>
              <a:gd name="adj1" fmla="val 50000"/>
              <a:gd name="adj2" fmla="val 42405"/>
            </a:avLst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80901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23200" y="6484938"/>
            <a:ext cx="257175" cy="149225"/>
          </a:xfrm>
          <a:prstGeom prst="actionButtonReturn">
            <a:avLst/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49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317529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Additional Constraints on this Model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A Tournament’s planned duration must be under one week.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Players can be accepted in a Tournament only if they are already registered with the corresponding League.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The number of active Players in a League are those that have taken part in at least one Tournament of the League.</a:t>
            </a:r>
          </a:p>
          <a:p>
            <a:pPr marL="457200" indent="-457200"/>
            <a:endParaRPr lang="en-US" altLang="fr-FR">
              <a:ea typeface="ＭＳ Ｐゴシック" panose="020B0600070205080204" pitchFamily="34" charset="-128"/>
            </a:endParaRPr>
          </a:p>
          <a:p>
            <a:pPr marL="457200" indent="-457200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8294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23200" y="6484938"/>
            <a:ext cx="257175" cy="149225"/>
          </a:xfrm>
          <a:prstGeom prst="actionButtonReturn">
            <a:avLst/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82949" name="AutoShape 6"/>
          <p:cNvSpPr>
            <a:spLocks noChangeArrowheads="1"/>
          </p:cNvSpPr>
          <p:nvPr/>
        </p:nvSpPr>
        <p:spPr bwMode="auto">
          <a:xfrm>
            <a:off x="184150" y="2012950"/>
            <a:ext cx="850900" cy="501650"/>
          </a:xfrm>
          <a:prstGeom prst="rightArrow">
            <a:avLst>
              <a:gd name="adj1" fmla="val 50000"/>
              <a:gd name="adj2" fmla="val 42405"/>
            </a:avLst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50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672363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>
                <a:ea typeface="ＭＳ Ｐゴシック" panose="020B0600070205080204" pitchFamily="34" charset="-128"/>
              </a:rPr>
              <a:t>Additional Constraints on this Model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A Tournament’s planned duration must be under one week.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Players can be accepted in a Tournament only if they are already registered with the corresponding League.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fr-FR">
                <a:ea typeface="ＭＳ Ｐゴシック" panose="020B0600070205080204" pitchFamily="34" charset="-128"/>
              </a:rPr>
              <a:t>The number of active Players in a League are those that have taken part in at least one Tournament of the League.</a:t>
            </a:r>
          </a:p>
          <a:p>
            <a:pPr marL="457200" indent="-457200"/>
            <a:endParaRPr lang="en-US" altLang="fr-FR">
              <a:ea typeface="ＭＳ Ｐゴシック" panose="020B0600070205080204" pitchFamily="34" charset="-128"/>
            </a:endParaRPr>
          </a:p>
          <a:p>
            <a:pPr marL="457200" indent="-457200">
              <a:buFont typeface="Times" panose="02020603050405020304" pitchFamily="18" charset="0"/>
              <a:buNone/>
            </a:pPr>
            <a:endParaRPr lang="en-US" altLang="fr-FR">
              <a:ea typeface="ＭＳ Ｐゴシック" panose="020B0600070205080204" pitchFamily="34" charset="-128"/>
            </a:endParaRPr>
          </a:p>
        </p:txBody>
      </p:sp>
      <p:sp>
        <p:nvSpPr>
          <p:cNvPr id="84996" name="AutoShape 5"/>
          <p:cNvSpPr>
            <a:spLocks noChangeArrowheads="1"/>
          </p:cNvSpPr>
          <p:nvPr/>
        </p:nvSpPr>
        <p:spPr bwMode="auto">
          <a:xfrm>
            <a:off x="184150" y="3141663"/>
            <a:ext cx="850900" cy="501650"/>
          </a:xfrm>
          <a:prstGeom prst="rightArrow">
            <a:avLst>
              <a:gd name="adj1" fmla="val 50000"/>
              <a:gd name="adj2" fmla="val 42405"/>
            </a:avLst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84997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23200" y="6484938"/>
            <a:ext cx="257175" cy="149225"/>
          </a:xfrm>
          <a:prstGeom prst="actionButtonReturn">
            <a:avLst/>
          </a:prstGeom>
          <a:solidFill>
            <a:srgbClr val="C02E0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51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653596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OCL supports Quantification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OCL forall quantifier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/* All Matches in a Tournament occur within the Tournament’s time frame */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matches-&gt;forAll(m:Match |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m.start.after(t.start) and m.end.before(t.end))</a:t>
            </a:r>
          </a:p>
          <a:p>
            <a:pPr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100000"/>
              </a:lnSpc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OCL exists quantifier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/* Each Tournament conducts at least one Match on the first day of the Tournament */</a:t>
            </a:r>
          </a:p>
          <a:p>
            <a:pPr>
              <a:lnSpc>
                <a:spcPct val="100000"/>
              </a:lnSpc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matches-&gt;exists(m:Match | m.start.equals(start))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52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69267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22250"/>
            <a:ext cx="4305300" cy="1377950"/>
          </a:xfrm>
        </p:spPr>
        <p:txBody>
          <a:bodyPr>
            <a:normAutofit fontScale="90000"/>
          </a:bodyPr>
          <a:lstStyle/>
          <a:p>
            <a:r>
              <a:rPr lang="en-US" altLang="fr-FR" sz="3200" dirty="0">
                <a:ea typeface="ＭＳ Ｐゴシック" panose="020B0600070205080204" pitchFamily="34" charset="-128"/>
              </a:rPr>
              <a:t>Pre- and post-conditions for ordering operations on </a:t>
            </a:r>
            <a:r>
              <a:rPr lang="en-US" altLang="fr-FR" sz="3200" dirty="0" err="1">
                <a:ea typeface="ＭＳ Ｐゴシック" panose="020B0600070205080204" pitchFamily="34" charset="-128"/>
              </a:rPr>
              <a:t>TournamentControl</a:t>
            </a:r>
            <a:endParaRPr lang="en-US" altLang="fr-FR" sz="3200" dirty="0">
              <a:ea typeface="ＭＳ Ｐゴシック" panose="020B0600070205080204" pitchFamily="34" charset="-128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2124075"/>
            <a:ext cx="8593138" cy="423545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TournamentControl::selectSponsors(advertisers) </a:t>
            </a: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 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interestedSponsors-&gt;notEmpty and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tournament.sponsors-&gt;isEmpty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TournamentControl::selectSponsors(advertisers) </a:t>
            </a: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tournament.sponsors.equals(advertisers)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TournamentControl::advertiseTournament() </a:t>
            </a: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tournament.sponsors-&gt;isEmpty and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not tournament.advertised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TournamentControl::advertiseTournament() </a:t>
            </a: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tournament.advertised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TournamentControl::acceptPlayer(p) </a:t>
            </a: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pre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tournament.advertised and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interestedPlayers-&gt;includes(p) and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	not isPlayerOverbooked(p)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TournamentControl::acceptPlayer(p) </a:t>
            </a:r>
            <a:r>
              <a:rPr lang="en-US" altLang="fr-FR" sz="16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post</a:t>
            </a: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fr-FR" sz="16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tournament.players-&gt;includes(p)</a:t>
            </a:r>
          </a:p>
        </p:txBody>
      </p:sp>
      <p:grpSp>
        <p:nvGrpSpPr>
          <p:cNvPr id="89092" name="Group 4"/>
          <p:cNvGrpSpPr>
            <a:grpSpLocks/>
          </p:cNvGrpSpPr>
          <p:nvPr/>
        </p:nvGrpSpPr>
        <p:grpSpPr bwMode="auto">
          <a:xfrm>
            <a:off x="4953000" y="152400"/>
            <a:ext cx="4003675" cy="1706563"/>
            <a:chOff x="3039" y="623"/>
            <a:chExt cx="2522" cy="1075"/>
          </a:xfrm>
        </p:grpSpPr>
        <p:grpSp>
          <p:nvGrpSpPr>
            <p:cNvPr id="89093" name="Group 5"/>
            <p:cNvGrpSpPr>
              <a:grpSpLocks/>
            </p:cNvGrpSpPr>
            <p:nvPr/>
          </p:nvGrpSpPr>
          <p:grpSpPr bwMode="auto">
            <a:xfrm>
              <a:off x="3039" y="623"/>
              <a:ext cx="2522" cy="268"/>
              <a:chOff x="3039" y="623"/>
              <a:chExt cx="2522" cy="268"/>
            </a:xfrm>
          </p:grpSpPr>
          <p:sp>
            <p:nvSpPr>
              <p:cNvPr id="89103" name="Rectangle 6"/>
              <p:cNvSpPr>
                <a:spLocks noChangeArrowheads="1"/>
              </p:cNvSpPr>
              <p:nvPr/>
            </p:nvSpPr>
            <p:spPr bwMode="auto">
              <a:xfrm>
                <a:off x="3039" y="623"/>
                <a:ext cx="2522" cy="268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sp>
            <p:nvSpPr>
              <p:cNvPr id="89104" name="Rectangle 7"/>
              <p:cNvSpPr>
                <a:spLocks noChangeArrowheads="1"/>
              </p:cNvSpPr>
              <p:nvPr/>
            </p:nvSpPr>
            <p:spPr bwMode="auto">
              <a:xfrm>
                <a:off x="3688" y="685"/>
                <a:ext cx="1229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fr-FR" sz="1500" b="0">
                    <a:solidFill>
                      <a:srgbClr val="000000"/>
                    </a:solidFill>
                    <a:latin typeface="Lucida Sans Typewriter" panose="020B0509030504030204" pitchFamily="49" charset="0"/>
                  </a:rPr>
                  <a:t>TournamentControl</a:t>
                </a:r>
                <a:endParaRPr lang="en-US" altLang="fr-FR" sz="1800" b="0">
                  <a:latin typeface="Lucida Sans Typewriter" panose="020B0509030504030204" pitchFamily="49" charset="0"/>
                </a:endParaRPr>
              </a:p>
            </p:txBody>
          </p:sp>
        </p:grpSp>
        <p:sp>
          <p:nvSpPr>
            <p:cNvPr id="89094" name="Rectangle 8"/>
            <p:cNvSpPr>
              <a:spLocks noChangeArrowheads="1"/>
            </p:cNvSpPr>
            <p:nvPr/>
          </p:nvSpPr>
          <p:spPr bwMode="auto">
            <a:xfrm>
              <a:off x="3039" y="888"/>
              <a:ext cx="2522" cy="15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fr-FR" altLang="fr-FR" sz="1800"/>
            </a:p>
          </p:txBody>
        </p:sp>
        <p:grpSp>
          <p:nvGrpSpPr>
            <p:cNvPr id="89095" name="Group 9"/>
            <p:cNvGrpSpPr>
              <a:grpSpLocks/>
            </p:cNvGrpSpPr>
            <p:nvPr/>
          </p:nvGrpSpPr>
          <p:grpSpPr bwMode="auto">
            <a:xfrm>
              <a:off x="3039" y="1042"/>
              <a:ext cx="2522" cy="656"/>
              <a:chOff x="3039" y="1011"/>
              <a:chExt cx="2522" cy="656"/>
            </a:xfrm>
          </p:grpSpPr>
          <p:sp>
            <p:nvSpPr>
              <p:cNvPr id="89096" name="Rectangle 10"/>
              <p:cNvSpPr>
                <a:spLocks noChangeArrowheads="1"/>
              </p:cNvSpPr>
              <p:nvPr/>
            </p:nvSpPr>
            <p:spPr bwMode="auto">
              <a:xfrm>
                <a:off x="3039" y="1011"/>
                <a:ext cx="2522" cy="656"/>
              </a:xfrm>
              <a:prstGeom prst="rect">
                <a:avLst/>
              </a:prstGeom>
              <a:noFill/>
              <a:ln w="2381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fr-FR" altLang="fr-FR" sz="1800"/>
              </a:p>
            </p:txBody>
          </p:sp>
          <p:grpSp>
            <p:nvGrpSpPr>
              <p:cNvPr id="89097" name="Group 11"/>
              <p:cNvGrpSpPr>
                <a:grpSpLocks/>
              </p:cNvGrpSpPr>
              <p:nvPr/>
            </p:nvGrpSpPr>
            <p:grpSpPr bwMode="auto">
              <a:xfrm>
                <a:off x="3090" y="1029"/>
                <a:ext cx="2386" cy="621"/>
                <a:chOff x="3090" y="1033"/>
                <a:chExt cx="2386" cy="621"/>
              </a:xfrm>
            </p:grpSpPr>
            <p:sp>
              <p:nvSpPr>
                <p:cNvPr id="89098" name="Rectangle 12"/>
                <p:cNvSpPr>
                  <a:spLocks noChangeArrowheads="1"/>
                </p:cNvSpPr>
                <p:nvPr/>
              </p:nvSpPr>
              <p:spPr bwMode="auto">
                <a:xfrm>
                  <a:off x="3090" y="1033"/>
                  <a:ext cx="238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+selectSponsors(advertisers):List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89099" name="Rectangle 13"/>
                <p:cNvSpPr>
                  <a:spLocks noChangeArrowheads="1"/>
                </p:cNvSpPr>
                <p:nvPr/>
              </p:nvSpPr>
              <p:spPr bwMode="auto">
                <a:xfrm>
                  <a:off x="3090" y="1152"/>
                  <a:ext cx="1591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+advertizeTournament()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89100" name="Rectangle 14"/>
                <p:cNvSpPr>
                  <a:spLocks noChangeArrowheads="1"/>
                </p:cNvSpPr>
                <p:nvPr/>
              </p:nvSpPr>
              <p:spPr bwMode="auto">
                <a:xfrm>
                  <a:off x="3090" y="1272"/>
                  <a:ext cx="115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+acceptPlayer(p)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8910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90" y="1391"/>
                  <a:ext cx="1518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+announceTournament()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  <p:sp>
              <p:nvSpPr>
                <p:cNvPr id="89102" name="Rectangle 16"/>
                <p:cNvSpPr>
                  <a:spLocks noChangeArrowheads="1"/>
                </p:cNvSpPr>
                <p:nvPr/>
              </p:nvSpPr>
              <p:spPr bwMode="auto">
                <a:xfrm>
                  <a:off x="3090" y="1510"/>
                  <a:ext cx="2097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Times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fr-FR" sz="1500" b="0">
                      <a:solidFill>
                        <a:srgbClr val="000000"/>
                      </a:solidFill>
                      <a:latin typeface="Lucida Sans Typewriter" panose="020B0509030504030204" pitchFamily="49" charset="0"/>
                    </a:rPr>
                    <a:t>+isPlayerOverbooked():boolean</a:t>
                  </a:r>
                  <a:endParaRPr lang="en-US" altLang="fr-FR" sz="1800" b="0">
                    <a:latin typeface="Lucida Sans Typewriter" panose="020B0509030504030204" pitchFamily="49" charset="0"/>
                  </a:endParaRPr>
                </a:p>
              </p:txBody>
            </p:sp>
          </p:grp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53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55548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fr-FR" dirty="0">
                <a:ea typeface="ＭＳ Ｐゴシック" panose="020B0600070205080204" pitchFamily="34" charset="-128"/>
              </a:rPr>
              <a:t>Specifying invariants on Tournament and Tournament Control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defTabSz="452438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English: “All Matches of in a Tournament must occur within the time frame of the Tournament”</a:t>
            </a:r>
          </a:p>
          <a:p>
            <a:pPr defTabSz="452438">
              <a:buFont typeface="Times" panose="02020603050405020304" pitchFamily="18" charset="0"/>
              <a:buNone/>
            </a:pPr>
            <a:endParaRPr lang="en-US" altLang="fr-FR" sz="1800" b="1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defTabSz="452438"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matches-&gt;forAll(m|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m.start.after(start) and m.start.before(end))</a:t>
            </a:r>
          </a:p>
          <a:p>
            <a:pPr defTabSz="452438">
              <a:buFont typeface="Times" panose="02020603050405020304" pitchFamily="18" charset="0"/>
              <a:buNone/>
            </a:pPr>
            <a:endParaRPr lang="en-US" altLang="fr-FR" sz="1800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defTabSz="452438"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English: “No Player can take part in two or more Tournaments that overlap”</a:t>
            </a:r>
          </a:p>
          <a:p>
            <a:pPr defTabSz="452438">
              <a:buFont typeface="Times" panose="02020603050405020304" pitchFamily="18" charset="0"/>
              <a:buNone/>
            </a:pPr>
            <a:endParaRPr lang="en-US" altLang="fr-FR" sz="1800" b="1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  <a:p>
            <a:pPr defTabSz="452438"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TournamentControl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tournament.players-&gt;forAll(p|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p.tournaments-&gt;forAll(t|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	t &lt;&gt; tournament implies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		not t.overlap(tournament)))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8B6A1-9034-4521-A2C5-EF04A59F3523}" type="slidenum">
              <a:rPr lang="fr-CA" smtClean="0"/>
              <a:t>54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166763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ea typeface="ＭＳ Ｐゴシック" panose="020B0600070205080204" pitchFamily="34" charset="-128"/>
              </a:rPr>
              <a:t>Specifying invariants on Match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3498850"/>
            <a:ext cx="8001000" cy="2325688"/>
          </a:xfrm>
        </p:spPr>
        <p:txBody>
          <a:bodyPr>
            <a:normAutofit fontScale="85000" lnSpcReduction="20000"/>
          </a:bodyPr>
          <a:lstStyle/>
          <a:p>
            <a:pPr>
              <a:buFont typeface="Times" panose="02020603050405020304" pitchFamily="18" charset="0"/>
              <a:buNone/>
            </a:pPr>
            <a:r>
              <a:rPr lang="en-US" altLang="fr-FR">
                <a:ea typeface="ＭＳ Ｐゴシック" panose="020B0600070205080204" pitchFamily="34" charset="-128"/>
              </a:rPr>
              <a:t>English: “A match can only involve players who are accepted in the tournament”</a:t>
            </a:r>
            <a:endParaRPr lang="en-US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endParaRPr lang="en-US" altLang="fr-FR" sz="2000">
              <a:ea typeface="ＭＳ Ｐゴシック" panose="020B0600070205080204" pitchFamily="34" charset="-128"/>
            </a:endParaRP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Match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players-&gt;forAll(p|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p.tournaments-&gt;exists(t| 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		t.matches-&gt;includes(self)))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context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Match </a:t>
            </a:r>
            <a:r>
              <a:rPr lang="en-US" altLang="fr-FR" sz="1800" b="1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inv</a:t>
            </a: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  <a:b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</a:br>
            <a:r>
              <a:rPr lang="en-US" altLang="fr-FR" sz="180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players.tournaments.matches.includes(self)</a:t>
            </a: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1408113" y="1720850"/>
            <a:ext cx="8270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Player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89" name="Freeform 5"/>
          <p:cNvSpPr>
            <a:spLocks/>
          </p:cNvSpPr>
          <p:nvPr/>
        </p:nvSpPr>
        <p:spPr bwMode="auto">
          <a:xfrm>
            <a:off x="3140075" y="2030413"/>
            <a:ext cx="4041775" cy="763587"/>
          </a:xfrm>
          <a:custGeom>
            <a:avLst/>
            <a:gdLst>
              <a:gd name="T0" fmla="*/ 0 w 2546"/>
              <a:gd name="T1" fmla="*/ 1212193569 h 481"/>
              <a:gd name="T2" fmla="*/ 2147483647 w 2546"/>
              <a:gd name="T3" fmla="*/ 1212193569 h 481"/>
              <a:gd name="T4" fmla="*/ 2147483647 w 2546"/>
              <a:gd name="T5" fmla="*/ 0 h 481"/>
              <a:gd name="T6" fmla="*/ 0 60000 65536"/>
              <a:gd name="T7" fmla="*/ 0 60000 65536"/>
              <a:gd name="T8" fmla="*/ 0 60000 65536"/>
              <a:gd name="T9" fmla="*/ 0 w 2546"/>
              <a:gd name="T10" fmla="*/ 0 h 481"/>
              <a:gd name="T11" fmla="*/ 2546 w 2546"/>
              <a:gd name="T12" fmla="*/ 481 h 4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46" h="481">
                <a:moveTo>
                  <a:pt x="0" y="481"/>
                </a:moveTo>
                <a:lnTo>
                  <a:pt x="2546" y="481"/>
                </a:lnTo>
                <a:lnTo>
                  <a:pt x="2546" y="0"/>
                </a:lnTo>
              </a:path>
            </a:pathLst>
          </a:cu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93190" name="Freeform 6"/>
          <p:cNvSpPr>
            <a:spLocks/>
          </p:cNvSpPr>
          <p:nvPr/>
        </p:nvSpPr>
        <p:spPr bwMode="auto">
          <a:xfrm>
            <a:off x="7107238" y="2030413"/>
            <a:ext cx="147637" cy="320675"/>
          </a:xfrm>
          <a:custGeom>
            <a:avLst/>
            <a:gdLst>
              <a:gd name="T0" fmla="*/ 0 w 93"/>
              <a:gd name="T1" fmla="*/ 234375325 h 202"/>
              <a:gd name="T2" fmla="*/ 118446149 w 93"/>
              <a:gd name="T3" fmla="*/ 0 h 202"/>
              <a:gd name="T4" fmla="*/ 234372944 w 93"/>
              <a:gd name="T5" fmla="*/ 234375325 h 202"/>
              <a:gd name="T6" fmla="*/ 118446149 w 93"/>
              <a:gd name="T7" fmla="*/ 509071563 h 202"/>
              <a:gd name="T8" fmla="*/ 0 w 93"/>
              <a:gd name="T9" fmla="*/ 234375325 h 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202"/>
              <a:gd name="T17" fmla="*/ 93 w 93"/>
              <a:gd name="T18" fmla="*/ 202 h 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202">
                <a:moveTo>
                  <a:pt x="0" y="93"/>
                </a:moveTo>
                <a:lnTo>
                  <a:pt x="47" y="0"/>
                </a:lnTo>
                <a:lnTo>
                  <a:pt x="93" y="93"/>
                </a:lnTo>
                <a:lnTo>
                  <a:pt x="47" y="202"/>
                </a:lnTo>
                <a:lnTo>
                  <a:pt x="0" y="93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3278188" y="1519238"/>
            <a:ext cx="963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players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3368675" y="1844675"/>
            <a:ext cx="1381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*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3" name="Rectangle 9"/>
          <p:cNvSpPr>
            <a:spLocks noChangeArrowheads="1"/>
          </p:cNvSpPr>
          <p:nvPr/>
        </p:nvSpPr>
        <p:spPr bwMode="auto">
          <a:xfrm>
            <a:off x="6596063" y="1720850"/>
            <a:ext cx="1377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Tournament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4" name="Rectangle 10"/>
          <p:cNvSpPr>
            <a:spLocks noChangeArrowheads="1"/>
          </p:cNvSpPr>
          <p:nvPr/>
        </p:nvSpPr>
        <p:spPr bwMode="auto">
          <a:xfrm>
            <a:off x="1466850" y="2706688"/>
            <a:ext cx="6889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Match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5" name="Rectangle 11"/>
          <p:cNvSpPr>
            <a:spLocks noChangeArrowheads="1"/>
          </p:cNvSpPr>
          <p:nvPr/>
        </p:nvSpPr>
        <p:spPr bwMode="auto">
          <a:xfrm>
            <a:off x="3270250" y="2505075"/>
            <a:ext cx="9636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matches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6" name="Rectangle 12"/>
          <p:cNvSpPr>
            <a:spLocks noChangeArrowheads="1"/>
          </p:cNvSpPr>
          <p:nvPr/>
        </p:nvSpPr>
        <p:spPr bwMode="auto">
          <a:xfrm>
            <a:off x="3224213" y="2878138"/>
            <a:ext cx="1381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*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7" name="Rectangle 13"/>
          <p:cNvSpPr>
            <a:spLocks noChangeArrowheads="1"/>
          </p:cNvSpPr>
          <p:nvPr/>
        </p:nvSpPr>
        <p:spPr bwMode="auto">
          <a:xfrm>
            <a:off x="5576888" y="1597025"/>
            <a:ext cx="1381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*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8" name="Rectangle 14"/>
          <p:cNvSpPr>
            <a:spLocks noChangeArrowheads="1"/>
          </p:cNvSpPr>
          <p:nvPr/>
        </p:nvSpPr>
        <p:spPr bwMode="auto">
          <a:xfrm>
            <a:off x="4222750" y="1882775"/>
            <a:ext cx="15144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tournaments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199" name="Line 15"/>
          <p:cNvSpPr>
            <a:spLocks noChangeShapeType="1"/>
          </p:cNvSpPr>
          <p:nvPr/>
        </p:nvSpPr>
        <p:spPr bwMode="auto">
          <a:xfrm flipV="1">
            <a:off x="1760538" y="2030413"/>
            <a:ext cx="1587" cy="5413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93200" name="Rectangle 16"/>
          <p:cNvSpPr>
            <a:spLocks noChangeArrowheads="1"/>
          </p:cNvSpPr>
          <p:nvPr/>
        </p:nvSpPr>
        <p:spPr bwMode="auto">
          <a:xfrm>
            <a:off x="746125" y="2289175"/>
            <a:ext cx="9636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players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201" name="Rectangle 17"/>
          <p:cNvSpPr>
            <a:spLocks noChangeArrowheads="1"/>
          </p:cNvSpPr>
          <p:nvPr/>
        </p:nvSpPr>
        <p:spPr bwMode="auto">
          <a:xfrm>
            <a:off x="1836738" y="2343150"/>
            <a:ext cx="1381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sz="1800" b="0">
                <a:solidFill>
                  <a:srgbClr val="000000"/>
                </a:solidFill>
                <a:latin typeface="Lucida Sans Typewriter" panose="020B0509030504030204" pitchFamily="49" charset="0"/>
              </a:rPr>
              <a:t>*</a:t>
            </a:r>
            <a:endParaRPr lang="en-US" altLang="fr-FR" sz="2000" b="0">
              <a:latin typeface="Lucida Sans Typewriter" panose="020B0509030504030204" pitchFamily="49" charset="0"/>
            </a:endParaRPr>
          </a:p>
        </p:txBody>
      </p:sp>
      <p:sp>
        <p:nvSpPr>
          <p:cNvPr id="93202" name="Rectangle 18"/>
          <p:cNvSpPr>
            <a:spLocks noChangeArrowheads="1"/>
          </p:cNvSpPr>
          <p:nvPr/>
        </p:nvSpPr>
        <p:spPr bwMode="auto">
          <a:xfrm>
            <a:off x="355600" y="1587500"/>
            <a:ext cx="2809875" cy="466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93203" name="Rectangle 19"/>
          <p:cNvSpPr>
            <a:spLocks noChangeArrowheads="1"/>
          </p:cNvSpPr>
          <p:nvPr/>
        </p:nvSpPr>
        <p:spPr bwMode="auto">
          <a:xfrm>
            <a:off x="355600" y="2571750"/>
            <a:ext cx="2809875" cy="4683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93204" name="Rectangle 20"/>
          <p:cNvSpPr>
            <a:spLocks noChangeArrowheads="1"/>
          </p:cNvSpPr>
          <p:nvPr/>
        </p:nvSpPr>
        <p:spPr bwMode="auto">
          <a:xfrm>
            <a:off x="5776913" y="1587500"/>
            <a:ext cx="2808287" cy="466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fr-FR" altLang="fr-FR" sz="1800"/>
          </a:p>
        </p:txBody>
      </p:sp>
      <p:sp>
        <p:nvSpPr>
          <p:cNvPr id="93205" name="Line 21"/>
          <p:cNvSpPr>
            <a:spLocks noChangeShapeType="1"/>
          </p:cNvSpPr>
          <p:nvPr/>
        </p:nvSpPr>
        <p:spPr bwMode="auto">
          <a:xfrm flipH="1">
            <a:off x="3140075" y="1808163"/>
            <a:ext cx="2636838" cy="15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47030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18527</TotalTime>
  <Words>3373</Words>
  <Application>Microsoft Office PowerPoint</Application>
  <PresentationFormat>Affichage à l'écran (4:3)</PresentationFormat>
  <Paragraphs>843</Paragraphs>
  <Slides>55</Slides>
  <Notes>45</Notes>
  <HiddenSlides>1</HiddenSlides>
  <MMClips>0</MMClips>
  <ScaleCrop>false</ScaleCrop>
  <HeadingPairs>
    <vt:vector size="6" baseType="variant">
      <vt:variant>
        <vt:lpstr>Polices utilisées</vt:lpstr>
      </vt:variant>
      <vt:variant>
        <vt:i4>19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75" baseType="lpstr">
      <vt:lpstr>American Typewriter</vt:lpstr>
      <vt:lpstr>Arial</vt:lpstr>
      <vt:lpstr>Calibri</vt:lpstr>
      <vt:lpstr>Century Gothic</vt:lpstr>
      <vt:lpstr>Comic Sans MS</vt:lpstr>
      <vt:lpstr>Courier</vt:lpstr>
      <vt:lpstr>Courier New</vt:lpstr>
      <vt:lpstr>Franklin Gothic Book</vt:lpstr>
      <vt:lpstr>Garamond</vt:lpstr>
      <vt:lpstr>Lucida Sans Typewriter</vt:lpstr>
      <vt:lpstr>Monotype Sorts</vt:lpstr>
      <vt:lpstr>Palatino</vt:lpstr>
      <vt:lpstr>Perpetua</vt:lpstr>
      <vt:lpstr>Times</vt:lpstr>
      <vt:lpstr>Times New Roman</vt:lpstr>
      <vt:lpstr>Verdana</vt:lpstr>
      <vt:lpstr>Wingdings</vt:lpstr>
      <vt:lpstr>Wingdings 2</vt:lpstr>
      <vt:lpstr>ヒラギノ角ゴ Pro W3</vt:lpstr>
      <vt:lpstr>Capitaux</vt:lpstr>
      <vt:lpstr>OCL – The Object Constraint Language in UML</vt:lpstr>
      <vt:lpstr>Outline of the Lecture</vt:lpstr>
      <vt:lpstr>History </vt:lpstr>
      <vt:lpstr>UML Diagrams are NOT Enough!</vt:lpstr>
      <vt:lpstr>Présentation PowerPoint</vt:lpstr>
      <vt:lpstr>Présentation PowerPoint</vt:lpstr>
      <vt:lpstr>Where to use OCL?</vt:lpstr>
      <vt:lpstr>OCL Basic Concepts</vt:lpstr>
      <vt:lpstr>OCL Simple Predicates</vt:lpstr>
      <vt:lpstr>More Constraints Examples</vt:lpstr>
      <vt:lpstr>Constraints</vt:lpstr>
      <vt:lpstr>Constraint (a)</vt:lpstr>
      <vt:lpstr>Constraint (b)</vt:lpstr>
      <vt:lpstr>Constraint (c)</vt:lpstr>
      <vt:lpstr>Constraint (d)</vt:lpstr>
      <vt:lpstr>Constraint (e)</vt:lpstr>
      <vt:lpstr>Constraint (f)</vt:lpstr>
      <vt:lpstr>OCL Preconditions</vt:lpstr>
      <vt:lpstr>OCL Postconditions</vt:lpstr>
      <vt:lpstr>OCL Contract for acceptPlayer() in  Tournament</vt:lpstr>
      <vt:lpstr>OCL Contract for removePlayer()  in Tournament</vt:lpstr>
      <vt:lpstr>Java Implementation of  Tournament class (Contract as a set of JavaDoc comments)</vt:lpstr>
      <vt:lpstr>Constraints can involve more than one class</vt:lpstr>
      <vt:lpstr>Example from ARENA:  League, Tournament and Player</vt:lpstr>
      <vt:lpstr>Instance Diagram: 2 Leagues</vt:lpstr>
      <vt:lpstr>3 Types of Navigation through a Class Diagram</vt:lpstr>
      <vt:lpstr>Specifying the Model Constraints in OCL</vt:lpstr>
      <vt:lpstr>OCL Sets, Bags and Sequences</vt:lpstr>
      <vt:lpstr>Collection Operations</vt:lpstr>
      <vt:lpstr>Collections cont.</vt:lpstr>
      <vt:lpstr>Changing the context</vt:lpstr>
      <vt:lpstr>OCL-Collection</vt:lpstr>
      <vt:lpstr>OCL-Operations for OCL-Collections (1)</vt:lpstr>
      <vt:lpstr>OCL-Operations for OCL-Collections(2)</vt:lpstr>
      <vt:lpstr>How do we get  OCL-Collections? </vt:lpstr>
      <vt:lpstr>Navigation through a 1:n-Association</vt:lpstr>
      <vt:lpstr>Navigation through several 1:n-Associations</vt:lpstr>
      <vt:lpstr>Navigation through a constrained Association</vt:lpstr>
      <vt:lpstr>Conversion between OCL-Collections</vt:lpstr>
      <vt:lpstr>Example of a Conversion</vt:lpstr>
      <vt:lpstr>Operations on OCL-Type Sequence</vt:lpstr>
      <vt:lpstr>Specifying the Model Constraints: Using asSet</vt:lpstr>
      <vt:lpstr>Evaluating OCL Expressions</vt:lpstr>
      <vt:lpstr>Additional Readings </vt:lpstr>
      <vt:lpstr>Summary</vt:lpstr>
      <vt:lpstr>An example: constraints on Polygons</vt:lpstr>
      <vt:lpstr>Detailed Example: A Class Diagram for Genealogy </vt:lpstr>
      <vt:lpstr>Genealogy example: Possible solutions</vt:lpstr>
      <vt:lpstr>Additional Constraints on this Model</vt:lpstr>
      <vt:lpstr>Additional Constraints on this Model</vt:lpstr>
      <vt:lpstr>Additional Constraints on this Model</vt:lpstr>
      <vt:lpstr>OCL supports Quantification</vt:lpstr>
      <vt:lpstr>Pre- and post-conditions for ordering operations on TournamentControl</vt:lpstr>
      <vt:lpstr>Specifying invariants on Tournament and Tournament Control</vt:lpstr>
      <vt:lpstr>Specifying invariants on Match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Pattern Recognition</dc:title>
  <dc:creator>Mohammed Ayoub Alaoui Mhamdi</dc:creator>
  <cp:lastModifiedBy>User</cp:lastModifiedBy>
  <cp:revision>166</cp:revision>
  <dcterms:created xsi:type="dcterms:W3CDTF">2018-08-29T20:07:11Z</dcterms:created>
  <dcterms:modified xsi:type="dcterms:W3CDTF">2020-02-19T13:21:09Z</dcterms:modified>
</cp:coreProperties>
</file>