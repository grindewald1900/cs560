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51"/>
  </p:notesMasterIdLst>
  <p:handoutMasterIdLst>
    <p:handoutMasterId r:id="rId52"/>
  </p:handoutMasterIdLst>
  <p:sldIdLst>
    <p:sldId id="624" r:id="rId2"/>
    <p:sldId id="625" r:id="rId3"/>
    <p:sldId id="626" r:id="rId4"/>
    <p:sldId id="627" r:id="rId5"/>
    <p:sldId id="628" r:id="rId6"/>
    <p:sldId id="629" r:id="rId7"/>
    <p:sldId id="630" r:id="rId8"/>
    <p:sldId id="631" r:id="rId9"/>
    <p:sldId id="632" r:id="rId10"/>
    <p:sldId id="633" r:id="rId11"/>
    <p:sldId id="635" r:id="rId12"/>
    <p:sldId id="634" r:id="rId13"/>
    <p:sldId id="636" r:id="rId14"/>
    <p:sldId id="637" r:id="rId15"/>
    <p:sldId id="638" r:id="rId16"/>
    <p:sldId id="639" r:id="rId17"/>
    <p:sldId id="640" r:id="rId18"/>
    <p:sldId id="641" r:id="rId19"/>
    <p:sldId id="642" r:id="rId20"/>
    <p:sldId id="643" r:id="rId21"/>
    <p:sldId id="644" r:id="rId22"/>
    <p:sldId id="645" r:id="rId23"/>
    <p:sldId id="646" r:id="rId24"/>
    <p:sldId id="647" r:id="rId25"/>
    <p:sldId id="648" r:id="rId26"/>
    <p:sldId id="649" r:id="rId27"/>
    <p:sldId id="650" r:id="rId28"/>
    <p:sldId id="651" r:id="rId29"/>
    <p:sldId id="652" r:id="rId30"/>
    <p:sldId id="653" r:id="rId31"/>
    <p:sldId id="654" r:id="rId32"/>
    <p:sldId id="655" r:id="rId33"/>
    <p:sldId id="656" r:id="rId34"/>
    <p:sldId id="657" r:id="rId35"/>
    <p:sldId id="658" r:id="rId36"/>
    <p:sldId id="659" r:id="rId37"/>
    <p:sldId id="660" r:id="rId38"/>
    <p:sldId id="661" r:id="rId39"/>
    <p:sldId id="662" r:id="rId40"/>
    <p:sldId id="663" r:id="rId41"/>
    <p:sldId id="664" r:id="rId42"/>
    <p:sldId id="665" r:id="rId43"/>
    <p:sldId id="666" r:id="rId44"/>
    <p:sldId id="667" r:id="rId45"/>
    <p:sldId id="668" r:id="rId46"/>
    <p:sldId id="669" r:id="rId47"/>
    <p:sldId id="670" r:id="rId48"/>
    <p:sldId id="671" r:id="rId49"/>
    <p:sldId id="672" r:id="rId50"/>
  </p:sldIdLst>
  <p:sldSz cx="9144000" cy="6858000" type="screen4x3"/>
  <p:notesSz cx="7315200" cy="96012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8D15"/>
    <a:srgbClr val="EDB34B"/>
    <a:srgbClr val="F8ECCC"/>
    <a:srgbClr val="F5E3B1"/>
    <a:srgbClr val="F3DEA1"/>
    <a:srgbClr val="3399FF"/>
    <a:srgbClr val="40B4E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8627" autoAdjust="0"/>
  </p:normalViewPr>
  <p:slideViewPr>
    <p:cSldViewPr>
      <p:cViewPr varScale="1">
        <p:scale>
          <a:sx n="78" d="100"/>
          <a:sy n="78" d="100"/>
        </p:scale>
        <p:origin x="257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52"/>
    </p:cViewPr>
  </p:sorterViewPr>
  <p:notesViewPr>
    <p:cSldViewPr>
      <p:cViewPr varScale="1">
        <p:scale>
          <a:sx n="59" d="100"/>
          <a:sy n="59" d="100"/>
        </p:scale>
        <p:origin x="-1122" y="-78"/>
      </p:cViewPr>
      <p:guideLst>
        <p:guide orient="horz" pos="3024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fld id="{AAAB952B-4AA2-41DB-8720-802B8DC2A23A}" type="datetime1">
              <a:rPr lang="en-GB" altLang="fr-FR"/>
              <a:pPr>
                <a:defRPr/>
              </a:pPr>
              <a:t>25/02/2020</a:t>
            </a:fld>
            <a:endParaRPr lang="nl-NL" altLang="fr-F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fld id="{CD048CC6-69A8-4D18-A4CC-FC240C3E956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fld id="{4EA6A4B5-F10A-4FF3-962E-DD536875A402}" type="datetime1">
              <a:rPr lang="en-GB" altLang="fr-FR"/>
              <a:pPr>
                <a:defRPr/>
              </a:pPr>
              <a:t>25/02/2020</a:t>
            </a:fld>
            <a:endParaRPr lang="nl-NL" alt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fr-FR" noProof="0"/>
              <a:t>Klik om de opmaakprofielen van de modeltekst te bewerken</a:t>
            </a:r>
          </a:p>
          <a:p>
            <a:pPr lvl="1"/>
            <a:r>
              <a:rPr lang="nl-NL" altLang="fr-FR" noProof="0"/>
              <a:t>Tweede niveau</a:t>
            </a:r>
          </a:p>
          <a:p>
            <a:pPr lvl="2"/>
            <a:r>
              <a:rPr lang="nl-NL" altLang="fr-FR" noProof="0"/>
              <a:t>Derde niveau</a:t>
            </a:r>
          </a:p>
          <a:p>
            <a:pPr lvl="3"/>
            <a:r>
              <a:rPr lang="nl-NL" altLang="fr-FR" noProof="0"/>
              <a:t>Vierde niveau</a:t>
            </a:r>
          </a:p>
          <a:p>
            <a:pPr lvl="4"/>
            <a:r>
              <a:rPr lang="nl-NL" altLang="fr-FR" noProof="0"/>
              <a:t>Vijfde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300" b="1">
                <a:solidFill>
                  <a:srgbClr val="000066"/>
                </a:solidFill>
              </a:defRPr>
            </a:lvl1pPr>
          </a:lstStyle>
          <a:p>
            <a:pPr>
              <a:defRPr/>
            </a:pPr>
            <a:fld id="{5609351D-5557-4953-B5A1-FEF9540C8C9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nl-NL" altLang="fr-FR" sz="1300">
                <a:solidFill>
                  <a:srgbClr val="000066"/>
                </a:solidFill>
                <a:latin typeface="Arial" panose="020B0604020202020204" pitchFamily="34" charset="0"/>
              </a:rPr>
              <a:t>© SE, Introduction, Hans van Vliet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fld id="{C3E6677F-9968-40A1-8335-C21E9E736394}" type="slidenum">
              <a:rPr lang="nl-NL" altLang="fr-FR" sz="1300" smtClean="0">
                <a:solidFill>
                  <a:srgbClr val="000066"/>
                </a:solidFill>
                <a:latin typeface="Arial" panose="020B0604020202020204" pitchFamily="34" charset="0"/>
              </a:rPr>
              <a:pPr>
                <a:spcBef>
                  <a:spcPct val="20000"/>
                </a:spcBef>
              </a:pPr>
              <a:t>1</a:t>
            </a:fld>
            <a:endParaRPr lang="nl-NL" altLang="fr-FR" sz="13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noFill/>
        </p:spPr>
        <p:txBody>
          <a:bodyPr/>
          <a:lstStyle/>
          <a:p>
            <a:pPr eaLnBrk="1" hangingPunct="1"/>
            <a:endParaRPr lang="en-US" altLang="fr-FR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5" name="Rectangle à coins arrondis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1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AEDEC-7D88-495B-99BC-94D62728D393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8864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91078-A665-44A8-AEC5-AB21379DB9B9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20337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5" name="Rectangle à coins arrondis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134A43-76E6-4F43-8196-B5FD92ED331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511700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7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23EFD9-29A2-4998-A685-6FB698B90E94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34488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3ADED-0286-43AD-9919-52A3D6F1101D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6635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E62C-9CD2-477B-B472-E1C0D19F910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54952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C6410-4567-429B-AFB5-45A4FF22535A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8962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6" name="Rectangle à coins arrondis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F06B3-025A-4241-8361-464F71108C73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04328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 dirty="0"/>
          </a:p>
        </p:txBody>
      </p:sp>
      <p:sp>
        <p:nvSpPr>
          <p:cNvPr id="8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10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3FB21-48A4-4723-868A-FC62BC48890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28117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15707-373A-496F-B2E8-E757F7E0EFBB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09545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421D-6BBA-4764-8561-5FA0F2112A4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21216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28" name="Espace réservé du titre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  <a:endParaRPr lang="en-US" altLang="fr-FR"/>
          </a:p>
        </p:txBody>
      </p:sp>
      <p:sp>
        <p:nvSpPr>
          <p:cNvPr id="1029" name="Espace réservé du texte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  <a:endParaRPr lang="en-US" altLang="fr-FR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2C3C389A-3834-4B73-842F-2FB304E1A7B3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1" r:id="rId2"/>
    <p:sldLayoutId id="2147483759" r:id="rId3"/>
    <p:sldLayoutId id="2147483752" r:id="rId4"/>
    <p:sldLayoutId id="2147483753" r:id="rId5"/>
    <p:sldLayoutId id="2147483754" r:id="rId6"/>
    <p:sldLayoutId id="2147483755" r:id="rId7"/>
    <p:sldLayoutId id="2147483760" r:id="rId8"/>
    <p:sldLayoutId id="2147483761" r:id="rId9"/>
    <p:sldLayoutId id="2147483756" r:id="rId10"/>
    <p:sldLayoutId id="214748375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6525" y="38862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>
                <a:solidFill>
                  <a:schemeClr val="tx1"/>
                </a:solidFill>
              </a:rPr>
              <a:t>Dr. Mohammed Ayoub Alaoui Mhamdi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fr-FR" dirty="0">
                <a:solidFill>
                  <a:schemeClr val="tx1"/>
                </a:solidFill>
              </a:rPr>
              <a:t>Bishop's University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err="1">
                <a:solidFill>
                  <a:schemeClr val="tx1"/>
                </a:solidFill>
              </a:rPr>
              <a:t>Sherbrooke</a:t>
            </a:r>
            <a:r>
              <a:rPr lang="en-US" altLang="fr-FR" dirty="0">
                <a:solidFill>
                  <a:schemeClr val="tx1"/>
                </a:solidFill>
              </a:rPr>
              <a:t>, Qc, Canada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>
                <a:solidFill>
                  <a:schemeClr val="tx1"/>
                </a:solidFill>
              </a:rPr>
              <a:t>malaoui@ubishops.ca</a:t>
            </a:r>
          </a:p>
        </p:txBody>
      </p:sp>
      <p:sp>
        <p:nvSpPr>
          <p:cNvPr id="8195" name="ZoneTexte 1"/>
          <p:cNvSpPr txBox="1">
            <a:spLocks noChangeArrowheads="1"/>
          </p:cNvSpPr>
          <p:nvPr/>
        </p:nvSpPr>
        <p:spPr bwMode="auto">
          <a:xfrm>
            <a:off x="484187" y="1653307"/>
            <a:ext cx="824547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en-US" altLang="fr-FR" sz="4000" dirty="0">
                <a:solidFill>
                  <a:schemeClr val="bg1"/>
                </a:solidFill>
                <a:latin typeface="Arial" panose="020B0604020202020204" pitchFamily="34" charset="0"/>
              </a:rPr>
              <a:t>Modelling Interactions and </a:t>
            </a:r>
            <a:r>
              <a:rPr lang="en-US" altLang="fr-FR" sz="4000" dirty="0" err="1">
                <a:solidFill>
                  <a:schemeClr val="bg1"/>
                </a:solidFill>
                <a:latin typeface="Arial" panose="020B0604020202020204" pitchFamily="34" charset="0"/>
              </a:rPr>
              <a:t>Behaviour</a:t>
            </a:r>
            <a:endParaRPr lang="en-US" altLang="fr-FR" sz="4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BC8F170-DE71-4549-B250-16ED5F64F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2160588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1">
            <a:extLst>
              <a:ext uri="{FF2B5EF4-FFF2-40B4-BE49-F238E27FC236}">
                <a16:creationId xmlns:a16="http://schemas.microsoft.com/office/drawing/2014/main" id="{838DAEF3-8EDB-47A4-8578-7819388B0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476672"/>
            <a:ext cx="8245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fr-CA" altLang="fr-FR" sz="2800" dirty="0">
                <a:latin typeface="Arial" panose="020B0604020202020204" pitchFamily="34" charset="0"/>
              </a:rPr>
              <a:t>CS 410 / CS560 : Internet of </a:t>
            </a:r>
            <a:r>
              <a:rPr lang="fr-CA" altLang="fr-FR" sz="2800" dirty="0" err="1">
                <a:latin typeface="Arial" panose="020B0604020202020204" pitchFamily="34" charset="0"/>
              </a:rPr>
              <a:t>Things</a:t>
            </a:r>
            <a:endParaRPr lang="fr-CA" altLang="fr-FR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915C-2245-4A51-B33F-A1A814F646B5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Interaction Diagrams</a:t>
            </a:r>
            <a:r>
              <a:rPr lang="en-US" altLang="en-US" dirty="0"/>
              <a:t> 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Interaction diagrams are used to model the dynamic aspects of a software system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They help you to visualize how the system runs</a:t>
            </a:r>
            <a:r>
              <a:rPr lang="en-US" altLang="en-US"/>
              <a:t>.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interaction diagram is often built from a use case and a class diagram.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objective is to show how a set of objects accomplish the required interactions with an actor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110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879B-6DFE-46EF-A624-10383386E47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41984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Interactions and messages</a:t>
            </a:r>
          </a:p>
        </p:txBody>
      </p:sp>
      <p:sp>
        <p:nvSpPr>
          <p:cNvPr id="419843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Interaction diagrams show how a set of actors and objects communicate with each other to perform: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steps of a use case, or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steps of some other piece of functionality. </a:t>
            </a:r>
          </a:p>
          <a:p>
            <a:pPr lvl="1"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set of steps, taken together, is called an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interaction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1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Interaction diagrams can show several different types of communication.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E.g. method calls, messages send over the network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These are all referred to as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messages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713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4AD76-03BB-4FE4-9C84-E3C47BF5A34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983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Elements found in interaction diagrams</a:t>
            </a:r>
          </a:p>
        </p:txBody>
      </p:sp>
      <p:sp>
        <p:nvSpPr>
          <p:cNvPr id="3983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Instances of classes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Shown as boxes with the class and object identifier underlined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Actors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Use the stick-person symbol as in use case diagrams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Messages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Shown as arrows from actor to object, or from object to object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202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7ECC4-AE66-4E48-9E4A-0EC8107A163B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791580" y="-9317"/>
            <a:ext cx="7772400" cy="1143000"/>
          </a:xfrm>
        </p:spPr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Creating instances diagrams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You should develop a class diagram and a use case model before starting to create an interaction diagram.</a:t>
            </a:r>
          </a:p>
          <a:p>
            <a:pPr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There are two kinds of interaction diagrams: </a:t>
            </a:r>
          </a:p>
          <a:p>
            <a:pPr lvl="2"/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Sequence diagrams</a:t>
            </a:r>
          </a:p>
          <a:p>
            <a:pPr lvl="2"/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Collaboration diagrams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41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A8959-7C02-486A-924D-948CB401F31A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575556" y="-207404"/>
            <a:ext cx="7772400" cy="1143000"/>
          </a:xfrm>
        </p:spPr>
        <p:txBody>
          <a:bodyPr/>
          <a:lstStyle/>
          <a:p>
            <a:pPr algn="just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Sequence diagrams – an example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EF046A60-C89B-48DF-BDE9-B2BE3E8E0AE5}"/>
              </a:ext>
            </a:extLst>
          </p:cNvPr>
          <p:cNvGrpSpPr/>
          <p:nvPr/>
        </p:nvGrpSpPr>
        <p:grpSpPr>
          <a:xfrm>
            <a:off x="827584" y="1849438"/>
            <a:ext cx="7761288" cy="3962400"/>
            <a:chOff x="1371600" y="1849438"/>
            <a:chExt cx="7761288" cy="3962400"/>
          </a:xfrm>
        </p:grpSpPr>
        <p:sp>
          <p:nvSpPr>
            <p:cNvPr id="363532" name="Line 12"/>
            <p:cNvSpPr>
              <a:spLocks noChangeShapeType="1"/>
            </p:cNvSpPr>
            <p:nvPr/>
          </p:nvSpPr>
          <p:spPr bwMode="auto">
            <a:xfrm>
              <a:off x="1560513" y="2570163"/>
              <a:ext cx="1587" cy="1630362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33" name="Line 13"/>
            <p:cNvSpPr>
              <a:spLocks noChangeShapeType="1"/>
            </p:cNvSpPr>
            <p:nvPr/>
          </p:nvSpPr>
          <p:spPr bwMode="auto">
            <a:xfrm>
              <a:off x="8482013" y="2570163"/>
              <a:ext cx="1587" cy="160655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34" name="Line 14"/>
            <p:cNvSpPr>
              <a:spLocks noChangeShapeType="1"/>
            </p:cNvSpPr>
            <p:nvPr/>
          </p:nvSpPr>
          <p:spPr bwMode="auto">
            <a:xfrm flipV="1">
              <a:off x="6380163" y="3184525"/>
              <a:ext cx="1587" cy="9921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35" name="Line 15"/>
            <p:cNvSpPr>
              <a:spLocks noChangeShapeType="1"/>
            </p:cNvSpPr>
            <p:nvPr/>
          </p:nvSpPr>
          <p:spPr bwMode="auto">
            <a:xfrm>
              <a:off x="3946525" y="2570163"/>
              <a:ext cx="1588" cy="1630362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36" name="Line 16"/>
            <p:cNvSpPr>
              <a:spLocks noChangeShapeType="1"/>
            </p:cNvSpPr>
            <p:nvPr/>
          </p:nvSpPr>
          <p:spPr bwMode="auto">
            <a:xfrm>
              <a:off x="1701800" y="2971800"/>
              <a:ext cx="2127250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37" name="Rectangle 17"/>
            <p:cNvSpPr>
              <a:spLocks noChangeArrowheads="1"/>
            </p:cNvSpPr>
            <p:nvPr/>
          </p:nvSpPr>
          <p:spPr bwMode="auto">
            <a:xfrm>
              <a:off x="2033588" y="2713038"/>
              <a:ext cx="1181100" cy="2587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38" name="Rectangle 18"/>
            <p:cNvSpPr>
              <a:spLocks noChangeArrowheads="1"/>
            </p:cNvSpPr>
            <p:nvPr/>
          </p:nvSpPr>
          <p:spPr bwMode="auto">
            <a:xfrm>
              <a:off x="1868488" y="2713038"/>
              <a:ext cx="1779587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requestToRegister</a:t>
              </a:r>
              <a:endParaRPr lang="en-US" altLang="en-US"/>
            </a:p>
          </p:txBody>
        </p:sp>
        <p:sp>
          <p:nvSpPr>
            <p:cNvPr id="363539" name="Rectangle 19"/>
            <p:cNvSpPr>
              <a:spLocks noChangeArrowheads="1"/>
            </p:cNvSpPr>
            <p:nvPr/>
          </p:nvSpPr>
          <p:spPr bwMode="auto">
            <a:xfrm>
              <a:off x="6569075" y="3303588"/>
              <a:ext cx="1181100" cy="2587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40" name="Rectangle 20"/>
            <p:cNvSpPr>
              <a:spLocks noChangeArrowheads="1"/>
            </p:cNvSpPr>
            <p:nvPr/>
          </p:nvSpPr>
          <p:spPr bwMode="auto">
            <a:xfrm>
              <a:off x="6616700" y="3184525"/>
              <a:ext cx="15176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addToSchedule</a:t>
              </a:r>
              <a:endParaRPr lang="en-US" altLang="en-US"/>
            </a:p>
          </p:txBody>
        </p:sp>
        <p:sp>
          <p:nvSpPr>
            <p:cNvPr id="363541" name="Line 21"/>
            <p:cNvSpPr>
              <a:spLocks noChangeShapeType="1"/>
            </p:cNvSpPr>
            <p:nvPr/>
          </p:nvSpPr>
          <p:spPr bwMode="auto">
            <a:xfrm>
              <a:off x="4041775" y="3184525"/>
              <a:ext cx="1652588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42" name="Rectangle 22"/>
            <p:cNvSpPr>
              <a:spLocks noChangeArrowheads="1"/>
            </p:cNvSpPr>
            <p:nvPr/>
          </p:nvSpPr>
          <p:spPr bwMode="auto">
            <a:xfrm>
              <a:off x="4111625" y="2924175"/>
              <a:ext cx="1103313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&lt;&lt;create&gt;&gt;</a:t>
              </a:r>
              <a:endParaRPr lang="en-US" altLang="en-US"/>
            </a:p>
          </p:txBody>
        </p:sp>
        <p:sp>
          <p:nvSpPr>
            <p:cNvPr id="363543" name="Rectangle 23"/>
            <p:cNvSpPr>
              <a:spLocks noChangeArrowheads="1"/>
            </p:cNvSpPr>
            <p:nvPr/>
          </p:nvSpPr>
          <p:spPr bwMode="auto">
            <a:xfrm>
              <a:off x="8010525" y="2027238"/>
              <a:ext cx="920750" cy="35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 u="sng" dirty="0">
                  <a:solidFill>
                    <a:srgbClr val="000000"/>
                  </a:solidFill>
                  <a:latin typeface="Arial" panose="020B0604020202020204" pitchFamily="34" charset="0"/>
                </a:rPr>
                <a:t>:Student</a:t>
              </a:r>
              <a:endParaRPr lang="en-US" altLang="en-US" dirty="0"/>
            </a:p>
          </p:txBody>
        </p:sp>
        <p:sp>
          <p:nvSpPr>
            <p:cNvPr id="363544" name="Rectangle 24"/>
            <p:cNvSpPr>
              <a:spLocks noChangeArrowheads="1"/>
            </p:cNvSpPr>
            <p:nvPr/>
          </p:nvSpPr>
          <p:spPr bwMode="auto">
            <a:xfrm>
              <a:off x="7785100" y="1873250"/>
              <a:ext cx="1347788" cy="685800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45" name="Rectangle 25"/>
            <p:cNvSpPr>
              <a:spLocks noChangeArrowheads="1"/>
            </p:cNvSpPr>
            <p:nvPr/>
          </p:nvSpPr>
          <p:spPr bwMode="auto">
            <a:xfrm>
              <a:off x="5907088" y="2641600"/>
              <a:ext cx="898525" cy="260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46" name="Rectangle 26"/>
            <p:cNvSpPr>
              <a:spLocks noChangeArrowheads="1"/>
            </p:cNvSpPr>
            <p:nvPr/>
          </p:nvSpPr>
          <p:spPr bwMode="auto">
            <a:xfrm>
              <a:off x="5765800" y="2641600"/>
              <a:ext cx="1346200" cy="354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 u="sng">
                  <a:solidFill>
                    <a:srgbClr val="000000"/>
                  </a:solidFill>
                  <a:latin typeface="Arial" panose="020B0604020202020204" pitchFamily="34" charset="0"/>
                </a:rPr>
                <a:t>:Registration</a:t>
              </a:r>
              <a:endParaRPr lang="en-US" altLang="en-US"/>
            </a:p>
          </p:txBody>
        </p:sp>
        <p:sp>
          <p:nvSpPr>
            <p:cNvPr id="363547" name="Rectangle 27"/>
            <p:cNvSpPr>
              <a:spLocks noChangeArrowheads="1"/>
            </p:cNvSpPr>
            <p:nvPr/>
          </p:nvSpPr>
          <p:spPr bwMode="auto">
            <a:xfrm>
              <a:off x="5705475" y="2511425"/>
              <a:ext cx="1301750" cy="685800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48" name="Rectangle 28"/>
            <p:cNvSpPr>
              <a:spLocks noChangeArrowheads="1"/>
            </p:cNvSpPr>
            <p:nvPr/>
          </p:nvSpPr>
          <p:spPr bwMode="auto">
            <a:xfrm>
              <a:off x="3190875" y="2003425"/>
              <a:ext cx="1417638" cy="260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49" name="Rectangle 29"/>
            <p:cNvSpPr>
              <a:spLocks noChangeArrowheads="1"/>
            </p:cNvSpPr>
            <p:nvPr/>
          </p:nvSpPr>
          <p:spPr bwMode="auto">
            <a:xfrm>
              <a:off x="3167063" y="2003425"/>
              <a:ext cx="1479550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 u="sng">
                  <a:solidFill>
                    <a:srgbClr val="000000"/>
                  </a:solidFill>
                  <a:latin typeface="Arial" panose="020B0604020202020204" pitchFamily="34" charset="0"/>
                </a:rPr>
                <a:t>:CourseSection</a:t>
              </a:r>
              <a:endParaRPr lang="en-US" altLang="en-US"/>
            </a:p>
          </p:txBody>
        </p:sp>
        <p:sp>
          <p:nvSpPr>
            <p:cNvPr id="363550" name="Rectangle 30"/>
            <p:cNvSpPr>
              <a:spLocks noChangeArrowheads="1"/>
            </p:cNvSpPr>
            <p:nvPr/>
          </p:nvSpPr>
          <p:spPr bwMode="auto">
            <a:xfrm>
              <a:off x="2989263" y="1873250"/>
              <a:ext cx="1820862" cy="685800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51" name="Rectangle 31"/>
            <p:cNvSpPr>
              <a:spLocks noChangeArrowheads="1"/>
            </p:cNvSpPr>
            <p:nvPr/>
          </p:nvSpPr>
          <p:spPr bwMode="auto">
            <a:xfrm>
              <a:off x="6296025" y="3195638"/>
              <a:ext cx="190500" cy="733425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52" name="Line 32"/>
            <p:cNvSpPr>
              <a:spLocks noChangeShapeType="1"/>
            </p:cNvSpPr>
            <p:nvPr/>
          </p:nvSpPr>
          <p:spPr bwMode="auto">
            <a:xfrm>
              <a:off x="6497638" y="3444875"/>
              <a:ext cx="1843087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53" name="Rectangle 33"/>
            <p:cNvSpPr>
              <a:spLocks noChangeArrowheads="1"/>
            </p:cNvSpPr>
            <p:nvPr/>
          </p:nvSpPr>
          <p:spPr bwMode="auto">
            <a:xfrm>
              <a:off x="1500188" y="2841625"/>
              <a:ext cx="190500" cy="1254125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grpSp>
          <p:nvGrpSpPr>
            <p:cNvPr id="363560" name="Group 40"/>
            <p:cNvGrpSpPr>
              <a:grpSpLocks/>
            </p:cNvGrpSpPr>
            <p:nvPr/>
          </p:nvGrpSpPr>
          <p:grpSpPr bwMode="auto">
            <a:xfrm>
              <a:off x="1371600" y="1849438"/>
              <a:ext cx="354013" cy="720725"/>
              <a:chOff x="864" y="1165"/>
              <a:chExt cx="223" cy="454"/>
            </a:xfrm>
          </p:grpSpPr>
          <p:sp>
            <p:nvSpPr>
              <p:cNvPr id="363554" name="Oval 34"/>
              <p:cNvSpPr>
                <a:spLocks noChangeArrowheads="1"/>
              </p:cNvSpPr>
              <p:nvPr/>
            </p:nvSpPr>
            <p:spPr bwMode="auto">
              <a:xfrm>
                <a:off x="916" y="1165"/>
                <a:ext cx="134" cy="150"/>
              </a:xfrm>
              <a:prstGeom prst="ellips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55" name="Line 35"/>
              <p:cNvSpPr>
                <a:spLocks noChangeShapeType="1"/>
              </p:cNvSpPr>
              <p:nvPr/>
            </p:nvSpPr>
            <p:spPr bwMode="auto">
              <a:xfrm>
                <a:off x="983" y="1307"/>
                <a:ext cx="1" cy="238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56" name="Line 36"/>
              <p:cNvSpPr>
                <a:spLocks noChangeShapeType="1"/>
              </p:cNvSpPr>
              <p:nvPr/>
            </p:nvSpPr>
            <p:spPr bwMode="auto">
              <a:xfrm>
                <a:off x="983" y="1545"/>
                <a:ext cx="104" cy="74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57" name="Line 37"/>
              <p:cNvSpPr>
                <a:spLocks noChangeShapeType="1"/>
              </p:cNvSpPr>
              <p:nvPr/>
            </p:nvSpPr>
            <p:spPr bwMode="auto">
              <a:xfrm flipH="1">
                <a:off x="864" y="1545"/>
                <a:ext cx="119" cy="74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58" name="Line 38"/>
              <p:cNvSpPr>
                <a:spLocks noChangeShapeType="1"/>
              </p:cNvSpPr>
              <p:nvPr/>
            </p:nvSpPr>
            <p:spPr bwMode="auto">
              <a:xfrm flipV="1">
                <a:off x="864" y="1396"/>
                <a:ext cx="119" cy="30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59" name="Line 39"/>
              <p:cNvSpPr>
                <a:spLocks noChangeShapeType="1"/>
              </p:cNvSpPr>
              <p:nvPr/>
            </p:nvSpPr>
            <p:spPr bwMode="auto">
              <a:xfrm>
                <a:off x="983" y="1396"/>
                <a:ext cx="104" cy="30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363561" name="Rectangle 41"/>
            <p:cNvSpPr>
              <a:spLocks noChangeArrowheads="1"/>
            </p:cNvSpPr>
            <p:nvPr/>
          </p:nvSpPr>
          <p:spPr bwMode="auto">
            <a:xfrm>
              <a:off x="3910013" y="2628900"/>
              <a:ext cx="73025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62" name="Rectangle 42"/>
            <p:cNvSpPr>
              <a:spLocks noChangeArrowheads="1"/>
            </p:cNvSpPr>
            <p:nvPr/>
          </p:nvSpPr>
          <p:spPr bwMode="auto">
            <a:xfrm>
              <a:off x="3910013" y="2865438"/>
              <a:ext cx="73025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63" name="Rectangle 43"/>
            <p:cNvSpPr>
              <a:spLocks noChangeArrowheads="1"/>
            </p:cNvSpPr>
            <p:nvPr/>
          </p:nvSpPr>
          <p:spPr bwMode="auto">
            <a:xfrm>
              <a:off x="3910013" y="4046538"/>
              <a:ext cx="73025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64" name="Rectangle 44"/>
            <p:cNvSpPr>
              <a:spLocks noChangeArrowheads="1"/>
            </p:cNvSpPr>
            <p:nvPr/>
          </p:nvSpPr>
          <p:spPr bwMode="auto">
            <a:xfrm>
              <a:off x="3863975" y="2913063"/>
              <a:ext cx="188913" cy="1135062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65" name="Rectangle 45"/>
            <p:cNvSpPr>
              <a:spLocks noChangeArrowheads="1"/>
            </p:cNvSpPr>
            <p:nvPr/>
          </p:nvSpPr>
          <p:spPr bwMode="auto">
            <a:xfrm>
              <a:off x="6343650" y="4046538"/>
              <a:ext cx="96838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66" name="Rectangle 46"/>
            <p:cNvSpPr>
              <a:spLocks noChangeArrowheads="1"/>
            </p:cNvSpPr>
            <p:nvPr/>
          </p:nvSpPr>
          <p:spPr bwMode="auto">
            <a:xfrm>
              <a:off x="8447088" y="4046538"/>
              <a:ext cx="71437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67" name="Rectangle 47"/>
            <p:cNvSpPr>
              <a:spLocks noChangeArrowheads="1"/>
            </p:cNvSpPr>
            <p:nvPr/>
          </p:nvSpPr>
          <p:spPr bwMode="auto">
            <a:xfrm>
              <a:off x="8447088" y="3810000"/>
              <a:ext cx="71437" cy="96838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68" name="Rectangle 48"/>
            <p:cNvSpPr>
              <a:spLocks noChangeArrowheads="1"/>
            </p:cNvSpPr>
            <p:nvPr/>
          </p:nvSpPr>
          <p:spPr bwMode="auto">
            <a:xfrm>
              <a:off x="8447088" y="3338513"/>
              <a:ext cx="71437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69" name="Rectangle 49"/>
            <p:cNvSpPr>
              <a:spLocks noChangeArrowheads="1"/>
            </p:cNvSpPr>
            <p:nvPr/>
          </p:nvSpPr>
          <p:spPr bwMode="auto">
            <a:xfrm>
              <a:off x="8447088" y="2865438"/>
              <a:ext cx="71437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70" name="Rectangle 50"/>
            <p:cNvSpPr>
              <a:spLocks noChangeArrowheads="1"/>
            </p:cNvSpPr>
            <p:nvPr/>
          </p:nvSpPr>
          <p:spPr bwMode="auto">
            <a:xfrm>
              <a:off x="8447088" y="3101975"/>
              <a:ext cx="71437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71" name="Rectangle 51"/>
            <p:cNvSpPr>
              <a:spLocks noChangeArrowheads="1"/>
            </p:cNvSpPr>
            <p:nvPr/>
          </p:nvSpPr>
          <p:spPr bwMode="auto">
            <a:xfrm>
              <a:off x="8447088" y="2628900"/>
              <a:ext cx="71437" cy="95250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72" name="Rectangle 52"/>
            <p:cNvSpPr>
              <a:spLocks noChangeArrowheads="1"/>
            </p:cNvSpPr>
            <p:nvPr/>
          </p:nvSpPr>
          <p:spPr bwMode="auto">
            <a:xfrm>
              <a:off x="8375650" y="3384550"/>
              <a:ext cx="190500" cy="474663"/>
            </a:xfrm>
            <a:prstGeom prst="rect">
              <a:avLst/>
            </a:prstGeom>
            <a:solidFill>
              <a:srgbClr val="FFFFFF"/>
            </a:solidFill>
            <a:ln w="238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3573" name="Rectangle 53"/>
            <p:cNvSpPr>
              <a:spLocks noChangeArrowheads="1"/>
            </p:cNvSpPr>
            <p:nvPr/>
          </p:nvSpPr>
          <p:spPr bwMode="auto">
            <a:xfrm>
              <a:off x="4183063" y="3514725"/>
              <a:ext cx="210502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addToRegistrationList</a:t>
              </a:r>
              <a:endParaRPr lang="en-US" altLang="en-US"/>
            </a:p>
          </p:txBody>
        </p:sp>
        <p:sp>
          <p:nvSpPr>
            <p:cNvPr id="363574" name="Line 54"/>
            <p:cNvSpPr>
              <a:spLocks noChangeShapeType="1"/>
            </p:cNvSpPr>
            <p:nvPr/>
          </p:nvSpPr>
          <p:spPr bwMode="auto">
            <a:xfrm flipH="1">
              <a:off x="4068763" y="3798888"/>
              <a:ext cx="2217737" cy="1587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363577" name="Group 57"/>
            <p:cNvGrpSpPr>
              <a:grpSpLocks/>
            </p:cNvGrpSpPr>
            <p:nvPr/>
          </p:nvGrpSpPr>
          <p:grpSpPr bwMode="auto">
            <a:xfrm>
              <a:off x="4038600" y="3727450"/>
              <a:ext cx="141288" cy="142875"/>
              <a:chOff x="2546" y="2348"/>
              <a:chExt cx="89" cy="90"/>
            </a:xfrm>
          </p:grpSpPr>
          <p:sp>
            <p:nvSpPr>
              <p:cNvPr id="363575" name="Line 55"/>
              <p:cNvSpPr>
                <a:spLocks noChangeShapeType="1"/>
              </p:cNvSpPr>
              <p:nvPr/>
            </p:nvSpPr>
            <p:spPr bwMode="auto">
              <a:xfrm flipH="1" flipV="1">
                <a:off x="2546" y="2393"/>
                <a:ext cx="89" cy="45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76" name="Line 56"/>
              <p:cNvSpPr>
                <a:spLocks noChangeShapeType="1"/>
              </p:cNvSpPr>
              <p:nvPr/>
            </p:nvSpPr>
            <p:spPr bwMode="auto">
              <a:xfrm flipH="1">
                <a:off x="2546" y="2348"/>
                <a:ext cx="89" cy="45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363580" name="Group 60"/>
            <p:cNvGrpSpPr>
              <a:grpSpLocks/>
            </p:cNvGrpSpPr>
            <p:nvPr/>
          </p:nvGrpSpPr>
          <p:grpSpPr bwMode="auto">
            <a:xfrm>
              <a:off x="5553075" y="3114675"/>
              <a:ext cx="141288" cy="165100"/>
              <a:chOff x="3498" y="1962"/>
              <a:chExt cx="89" cy="104"/>
            </a:xfrm>
          </p:grpSpPr>
          <p:sp>
            <p:nvSpPr>
              <p:cNvPr id="363578" name="Line 58"/>
              <p:cNvSpPr>
                <a:spLocks noChangeShapeType="1"/>
              </p:cNvSpPr>
              <p:nvPr/>
            </p:nvSpPr>
            <p:spPr bwMode="auto">
              <a:xfrm flipV="1">
                <a:off x="3498" y="2021"/>
                <a:ext cx="89" cy="45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79" name="Line 59"/>
              <p:cNvSpPr>
                <a:spLocks noChangeShapeType="1"/>
              </p:cNvSpPr>
              <p:nvPr/>
            </p:nvSpPr>
            <p:spPr bwMode="auto">
              <a:xfrm>
                <a:off x="3498" y="1962"/>
                <a:ext cx="89" cy="44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363583" name="Group 63"/>
            <p:cNvGrpSpPr>
              <a:grpSpLocks/>
            </p:cNvGrpSpPr>
            <p:nvPr/>
          </p:nvGrpSpPr>
          <p:grpSpPr bwMode="auto">
            <a:xfrm>
              <a:off x="3686175" y="2901950"/>
              <a:ext cx="142875" cy="141288"/>
              <a:chOff x="2322" y="1828"/>
              <a:chExt cx="90" cy="89"/>
            </a:xfrm>
          </p:grpSpPr>
          <p:sp>
            <p:nvSpPr>
              <p:cNvPr id="363581" name="Line 61"/>
              <p:cNvSpPr>
                <a:spLocks noChangeShapeType="1"/>
              </p:cNvSpPr>
              <p:nvPr/>
            </p:nvSpPr>
            <p:spPr bwMode="auto">
              <a:xfrm flipV="1">
                <a:off x="2322" y="1872"/>
                <a:ext cx="90" cy="45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82" name="Line 62"/>
              <p:cNvSpPr>
                <a:spLocks noChangeShapeType="1"/>
              </p:cNvSpPr>
              <p:nvPr/>
            </p:nvSpPr>
            <p:spPr bwMode="auto">
              <a:xfrm>
                <a:off x="2322" y="1828"/>
                <a:ext cx="90" cy="44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363586" name="Group 66"/>
            <p:cNvGrpSpPr>
              <a:grpSpLocks/>
            </p:cNvGrpSpPr>
            <p:nvPr/>
          </p:nvGrpSpPr>
          <p:grpSpPr bwMode="auto">
            <a:xfrm>
              <a:off x="8199438" y="3373438"/>
              <a:ext cx="141287" cy="142875"/>
              <a:chOff x="5165" y="2125"/>
              <a:chExt cx="89" cy="90"/>
            </a:xfrm>
          </p:grpSpPr>
          <p:sp>
            <p:nvSpPr>
              <p:cNvPr id="363584" name="Line 64"/>
              <p:cNvSpPr>
                <a:spLocks noChangeShapeType="1"/>
              </p:cNvSpPr>
              <p:nvPr/>
            </p:nvSpPr>
            <p:spPr bwMode="auto">
              <a:xfrm flipV="1">
                <a:off x="5165" y="2170"/>
                <a:ext cx="89" cy="45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3585" name="Line 65"/>
              <p:cNvSpPr>
                <a:spLocks noChangeShapeType="1"/>
              </p:cNvSpPr>
              <p:nvPr/>
            </p:nvSpPr>
            <p:spPr bwMode="auto">
              <a:xfrm>
                <a:off x="5165" y="2125"/>
                <a:ext cx="89" cy="45"/>
              </a:xfrm>
              <a:prstGeom prst="line">
                <a:avLst/>
              </a:prstGeom>
              <a:noFill/>
              <a:ln w="238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363587" name="Line 67"/>
            <p:cNvSpPr>
              <a:spLocks noChangeShapeType="1"/>
            </p:cNvSpPr>
            <p:nvPr/>
          </p:nvSpPr>
          <p:spPr bwMode="auto">
            <a:xfrm>
              <a:off x="2946400" y="5184775"/>
              <a:ext cx="3746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589" name="Rectangle 69"/>
            <p:cNvSpPr>
              <a:spLocks noChangeArrowheads="1"/>
            </p:cNvSpPr>
            <p:nvPr/>
          </p:nvSpPr>
          <p:spPr bwMode="auto">
            <a:xfrm>
              <a:off x="3208338" y="4941888"/>
              <a:ext cx="149225" cy="280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591" name="Rectangle 71"/>
            <p:cNvSpPr>
              <a:spLocks noChangeArrowheads="1"/>
            </p:cNvSpPr>
            <p:nvPr/>
          </p:nvSpPr>
          <p:spPr bwMode="auto">
            <a:xfrm>
              <a:off x="3208338" y="4941888"/>
              <a:ext cx="149225" cy="280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593" name="Rectangle 73"/>
            <p:cNvSpPr>
              <a:spLocks noChangeArrowheads="1"/>
            </p:cNvSpPr>
            <p:nvPr/>
          </p:nvSpPr>
          <p:spPr bwMode="auto">
            <a:xfrm>
              <a:off x="3208338" y="4941888"/>
              <a:ext cx="149225" cy="280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595" name="Rectangle 75"/>
            <p:cNvSpPr>
              <a:spLocks noChangeArrowheads="1"/>
            </p:cNvSpPr>
            <p:nvPr/>
          </p:nvSpPr>
          <p:spPr bwMode="auto">
            <a:xfrm>
              <a:off x="3208338" y="4941888"/>
              <a:ext cx="149225" cy="280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597" name="Rectangle 77"/>
            <p:cNvSpPr>
              <a:spLocks noChangeArrowheads="1"/>
            </p:cNvSpPr>
            <p:nvPr/>
          </p:nvSpPr>
          <p:spPr bwMode="auto">
            <a:xfrm>
              <a:off x="3208338" y="4941888"/>
              <a:ext cx="149225" cy="280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600" name="Line 80"/>
            <p:cNvSpPr>
              <a:spLocks noChangeShapeType="1"/>
            </p:cNvSpPr>
            <p:nvPr/>
          </p:nvSpPr>
          <p:spPr bwMode="auto">
            <a:xfrm flipH="1">
              <a:off x="5194300" y="5129213"/>
              <a:ext cx="4111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02" name="Rectangle 82"/>
            <p:cNvSpPr>
              <a:spLocks noChangeArrowheads="1"/>
            </p:cNvSpPr>
            <p:nvPr/>
          </p:nvSpPr>
          <p:spPr bwMode="auto">
            <a:xfrm>
              <a:off x="5437188" y="4886325"/>
              <a:ext cx="1492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604" name="Rectangle 84"/>
            <p:cNvSpPr>
              <a:spLocks noChangeArrowheads="1"/>
            </p:cNvSpPr>
            <p:nvPr/>
          </p:nvSpPr>
          <p:spPr bwMode="auto">
            <a:xfrm>
              <a:off x="5437188" y="4886325"/>
              <a:ext cx="1492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606" name="Rectangle 86"/>
            <p:cNvSpPr>
              <a:spLocks noChangeArrowheads="1"/>
            </p:cNvSpPr>
            <p:nvPr/>
          </p:nvSpPr>
          <p:spPr bwMode="auto">
            <a:xfrm>
              <a:off x="5437188" y="4886325"/>
              <a:ext cx="1492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608" name="Rectangle 88"/>
            <p:cNvSpPr>
              <a:spLocks noChangeArrowheads="1"/>
            </p:cNvSpPr>
            <p:nvPr/>
          </p:nvSpPr>
          <p:spPr bwMode="auto">
            <a:xfrm>
              <a:off x="5437188" y="4886325"/>
              <a:ext cx="1492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610" name="Rectangle 90"/>
            <p:cNvSpPr>
              <a:spLocks noChangeArrowheads="1"/>
            </p:cNvSpPr>
            <p:nvPr/>
          </p:nvSpPr>
          <p:spPr bwMode="auto">
            <a:xfrm>
              <a:off x="5437188" y="4886325"/>
              <a:ext cx="1492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612" name="Rectangle 92"/>
            <p:cNvSpPr>
              <a:spLocks noChangeArrowheads="1"/>
            </p:cNvSpPr>
            <p:nvPr/>
          </p:nvSpPr>
          <p:spPr bwMode="auto">
            <a:xfrm>
              <a:off x="5437188" y="4886325"/>
              <a:ext cx="149225" cy="280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613" name="Line 93"/>
            <p:cNvSpPr>
              <a:spLocks noChangeShapeType="1"/>
            </p:cNvSpPr>
            <p:nvPr/>
          </p:nvSpPr>
          <p:spPr bwMode="auto">
            <a:xfrm>
              <a:off x="6823075" y="5146675"/>
              <a:ext cx="430213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15" name="Rectangle 95"/>
            <p:cNvSpPr>
              <a:spLocks noChangeArrowheads="1"/>
            </p:cNvSpPr>
            <p:nvPr/>
          </p:nvSpPr>
          <p:spPr bwMode="auto">
            <a:xfrm>
              <a:off x="6916738" y="4903788"/>
              <a:ext cx="149225" cy="280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*</a:t>
              </a:r>
              <a:endParaRPr lang="en-CA" altLang="fr-FR"/>
            </a:p>
          </p:txBody>
        </p:sp>
        <p:sp>
          <p:nvSpPr>
            <p:cNvPr id="363616" name="Rectangle 96"/>
            <p:cNvSpPr>
              <a:spLocks noChangeArrowheads="1"/>
            </p:cNvSpPr>
            <p:nvPr/>
          </p:nvSpPr>
          <p:spPr bwMode="auto">
            <a:xfrm>
              <a:off x="3330575" y="4838700"/>
              <a:ext cx="1854200" cy="91757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17" name="Line 97"/>
            <p:cNvSpPr>
              <a:spLocks noChangeShapeType="1"/>
            </p:cNvSpPr>
            <p:nvPr/>
          </p:nvSpPr>
          <p:spPr bwMode="auto">
            <a:xfrm>
              <a:off x="3340100" y="5222875"/>
              <a:ext cx="18351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18" name="Rectangle 98"/>
            <p:cNvSpPr>
              <a:spLocks noChangeArrowheads="1"/>
            </p:cNvSpPr>
            <p:nvPr/>
          </p:nvSpPr>
          <p:spPr bwMode="auto">
            <a:xfrm>
              <a:off x="3489325" y="4922838"/>
              <a:ext cx="13446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500" b="1">
                  <a:solidFill>
                    <a:srgbClr val="000000"/>
                  </a:solidFill>
                  <a:latin typeface="Arial" panose="020B0604020202020204" pitchFamily="34" charset="0"/>
                </a:rPr>
                <a:t>CourseSection</a:t>
              </a:r>
              <a:endParaRPr lang="en-CA" altLang="fr-FR"/>
            </a:p>
          </p:txBody>
        </p:sp>
        <p:sp>
          <p:nvSpPr>
            <p:cNvPr id="363619" name="Rectangle 99"/>
            <p:cNvSpPr>
              <a:spLocks noChangeArrowheads="1"/>
            </p:cNvSpPr>
            <p:nvPr/>
          </p:nvSpPr>
          <p:spPr bwMode="auto">
            <a:xfrm>
              <a:off x="3489325" y="5278438"/>
              <a:ext cx="1362075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requestToRegister</a:t>
              </a:r>
              <a:endParaRPr lang="en-CA" altLang="fr-FR"/>
            </a:p>
          </p:txBody>
        </p:sp>
        <p:sp>
          <p:nvSpPr>
            <p:cNvPr id="363620" name="Rectangle 100"/>
            <p:cNvSpPr>
              <a:spLocks noChangeArrowheads="1"/>
            </p:cNvSpPr>
            <p:nvPr/>
          </p:nvSpPr>
          <p:spPr bwMode="auto">
            <a:xfrm>
              <a:off x="5614988" y="4857750"/>
              <a:ext cx="1198562" cy="54292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21" name="Rectangle 101"/>
            <p:cNvSpPr>
              <a:spLocks noChangeArrowheads="1"/>
            </p:cNvSpPr>
            <p:nvPr/>
          </p:nvSpPr>
          <p:spPr bwMode="auto">
            <a:xfrm>
              <a:off x="5680075" y="4941888"/>
              <a:ext cx="1198563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500" b="1">
                  <a:solidFill>
                    <a:srgbClr val="000000"/>
                  </a:solidFill>
                  <a:latin typeface="Arial" panose="020B0604020202020204" pitchFamily="34" charset="0"/>
                </a:rPr>
                <a:t>Registration</a:t>
              </a:r>
              <a:endParaRPr lang="en-CA" altLang="fr-FR"/>
            </a:p>
          </p:txBody>
        </p:sp>
        <p:sp>
          <p:nvSpPr>
            <p:cNvPr id="363622" name="Rectangle 102"/>
            <p:cNvSpPr>
              <a:spLocks noChangeArrowheads="1"/>
            </p:cNvSpPr>
            <p:nvPr/>
          </p:nvSpPr>
          <p:spPr bwMode="auto">
            <a:xfrm>
              <a:off x="1533525" y="4838700"/>
              <a:ext cx="1403350" cy="69215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23" name="Line 103"/>
            <p:cNvSpPr>
              <a:spLocks noChangeShapeType="1"/>
            </p:cNvSpPr>
            <p:nvPr/>
          </p:nvSpPr>
          <p:spPr bwMode="auto">
            <a:xfrm>
              <a:off x="1543050" y="5222875"/>
              <a:ext cx="1385888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24" name="Rectangle 104"/>
            <p:cNvSpPr>
              <a:spLocks noChangeArrowheads="1"/>
            </p:cNvSpPr>
            <p:nvPr/>
          </p:nvSpPr>
          <p:spPr bwMode="auto">
            <a:xfrm>
              <a:off x="1917700" y="4922838"/>
              <a:ext cx="749300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500" b="1">
                  <a:solidFill>
                    <a:srgbClr val="000000"/>
                  </a:solidFill>
                  <a:latin typeface="Arial" panose="020B0604020202020204" pitchFamily="34" charset="0"/>
                </a:rPr>
                <a:t>Course</a:t>
              </a:r>
              <a:endParaRPr lang="en-CA" altLang="fr-FR"/>
            </a:p>
          </p:txBody>
        </p:sp>
        <p:sp>
          <p:nvSpPr>
            <p:cNvPr id="363625" name="Rectangle 105"/>
            <p:cNvSpPr>
              <a:spLocks noChangeArrowheads="1"/>
            </p:cNvSpPr>
            <p:nvPr/>
          </p:nvSpPr>
          <p:spPr bwMode="auto">
            <a:xfrm>
              <a:off x="1692275" y="5278438"/>
              <a:ext cx="1112838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getPrerequisite</a:t>
              </a:r>
              <a:endParaRPr lang="en-CA" altLang="fr-FR"/>
            </a:p>
          </p:txBody>
        </p:sp>
        <p:sp>
          <p:nvSpPr>
            <p:cNvPr id="363626" name="Rectangle 106"/>
            <p:cNvSpPr>
              <a:spLocks noChangeArrowheads="1"/>
            </p:cNvSpPr>
            <p:nvPr/>
          </p:nvSpPr>
          <p:spPr bwMode="auto">
            <a:xfrm>
              <a:off x="7262813" y="4894263"/>
              <a:ext cx="1609725" cy="91757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27" name="Line 107"/>
            <p:cNvSpPr>
              <a:spLocks noChangeShapeType="1"/>
            </p:cNvSpPr>
            <p:nvPr/>
          </p:nvSpPr>
          <p:spPr bwMode="auto">
            <a:xfrm>
              <a:off x="7272338" y="5278438"/>
              <a:ext cx="159067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3628" name="Rectangle 108"/>
            <p:cNvSpPr>
              <a:spLocks noChangeArrowheads="1"/>
            </p:cNvSpPr>
            <p:nvPr/>
          </p:nvSpPr>
          <p:spPr bwMode="auto">
            <a:xfrm>
              <a:off x="7702550" y="4978400"/>
              <a:ext cx="78581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500" b="1">
                  <a:solidFill>
                    <a:srgbClr val="000000"/>
                  </a:solidFill>
                  <a:latin typeface="Arial" panose="020B0604020202020204" pitchFamily="34" charset="0"/>
                </a:rPr>
                <a:t>Student</a:t>
              </a:r>
              <a:endParaRPr lang="en-CA" altLang="fr-FR"/>
            </a:p>
          </p:txBody>
        </p:sp>
        <p:sp>
          <p:nvSpPr>
            <p:cNvPr id="363629" name="Rectangle 109"/>
            <p:cNvSpPr>
              <a:spLocks noChangeArrowheads="1"/>
            </p:cNvSpPr>
            <p:nvPr/>
          </p:nvSpPr>
          <p:spPr bwMode="auto">
            <a:xfrm>
              <a:off x="7421563" y="5335588"/>
              <a:ext cx="1158875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addToSchedule</a:t>
              </a:r>
              <a:endParaRPr lang="en-CA" altLang="fr-FR"/>
            </a:p>
          </p:txBody>
        </p:sp>
        <p:sp>
          <p:nvSpPr>
            <p:cNvPr id="363630" name="Rectangle 110"/>
            <p:cNvSpPr>
              <a:spLocks noChangeArrowheads="1"/>
            </p:cNvSpPr>
            <p:nvPr/>
          </p:nvSpPr>
          <p:spPr bwMode="auto">
            <a:xfrm>
              <a:off x="7421563" y="5559425"/>
              <a:ext cx="1350962" cy="198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hasPassedCourse</a:t>
              </a:r>
              <a:endParaRPr lang="en-CA" altLang="fr-FR"/>
            </a:p>
          </p:txBody>
        </p:sp>
        <p:sp>
          <p:nvSpPr>
            <p:cNvPr id="363631" name="Rectangle 111"/>
            <p:cNvSpPr>
              <a:spLocks noChangeArrowheads="1"/>
            </p:cNvSpPr>
            <p:nvPr/>
          </p:nvSpPr>
          <p:spPr bwMode="auto">
            <a:xfrm>
              <a:off x="3489325" y="5503863"/>
              <a:ext cx="1609725" cy="198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addToRegistrationList</a:t>
              </a:r>
              <a:endParaRPr lang="en-CA" altLang="fr-FR"/>
            </a:p>
          </p:txBody>
        </p:sp>
      </p:grpSp>
    </p:spTree>
    <p:extLst>
      <p:ext uri="{BB962C8B-B14F-4D97-AF65-F5344CB8AC3E}">
        <p14:creationId xmlns:p14="http://schemas.microsoft.com/office/powerpoint/2010/main" val="154511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AEC75-7162-49A4-865D-E2BDA1ACEA63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Sequence diagrams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>
                <a:ea typeface="Times" panose="02020603050405020304" pitchFamily="18" charset="0"/>
                <a:cs typeface="Times" panose="02020603050405020304" pitchFamily="18" charset="0"/>
              </a:rPr>
              <a:t>A sequence diagram shows the sequence of messages exchanged by the set of objects performing a certain task </a:t>
            </a:r>
          </a:p>
          <a:p>
            <a:pPr lvl="1" algn="just"/>
            <a:r>
              <a:rPr lang="en-US" altLang="en-US" sz="2000">
                <a:ea typeface="Times" panose="02020603050405020304" pitchFamily="18" charset="0"/>
                <a:cs typeface="Times" panose="02020603050405020304" pitchFamily="18" charset="0"/>
              </a:rPr>
              <a:t>The objects are arranged horizontally across the diagram.</a:t>
            </a:r>
          </a:p>
          <a:p>
            <a:pPr lvl="1" algn="just"/>
            <a:r>
              <a:rPr lang="en-US" altLang="en-US" sz="2000">
                <a:ea typeface="Times" panose="02020603050405020304" pitchFamily="18" charset="0"/>
                <a:cs typeface="Times" panose="02020603050405020304" pitchFamily="18" charset="0"/>
              </a:rPr>
              <a:t>An actor that initiates the interaction is often shown on the left. </a:t>
            </a:r>
          </a:p>
          <a:p>
            <a:pPr lvl="1" algn="just"/>
            <a:r>
              <a:rPr lang="en-US" altLang="en-US" sz="2000">
                <a:ea typeface="Times" panose="02020603050405020304" pitchFamily="18" charset="0"/>
                <a:cs typeface="Times" panose="02020603050405020304" pitchFamily="18" charset="0"/>
              </a:rPr>
              <a:t>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he vertical dimension represents time. </a:t>
            </a:r>
          </a:p>
          <a:p>
            <a:pPr lvl="1"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A vertical line, called a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lifeline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, is attached to each object or actor. </a:t>
            </a:r>
          </a:p>
          <a:p>
            <a:pPr lvl="1"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The lifeline becomes a broad box, called an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activation box 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during the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 live activation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period.</a:t>
            </a:r>
          </a:p>
          <a:p>
            <a:pPr lvl="1"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A message is represented as an arrow between activation boxes of the sender and receiver. </a:t>
            </a:r>
          </a:p>
          <a:p>
            <a:pPr lvl="2"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A message is labelled and can have an argument list and a return value.</a:t>
            </a:r>
          </a:p>
        </p:txBody>
      </p:sp>
    </p:spTree>
    <p:extLst>
      <p:ext uri="{BB962C8B-B14F-4D97-AF65-F5344CB8AC3E}">
        <p14:creationId xmlns:p14="http://schemas.microsoft.com/office/powerpoint/2010/main" val="286579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CAAC-6F07-4855-BB3A-1496CE065EDA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003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Sequence diagrams – </a:t>
            </a:r>
            <a:b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</a:b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 same example, more details</a:t>
            </a:r>
            <a:endParaRPr lang="en-US" altLang="en-US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38548333-1A3D-4783-B202-43DA9E7E4BD0}"/>
              </a:ext>
            </a:extLst>
          </p:cNvPr>
          <p:cNvGrpSpPr/>
          <p:nvPr/>
        </p:nvGrpSpPr>
        <p:grpSpPr>
          <a:xfrm>
            <a:off x="611560" y="2168860"/>
            <a:ext cx="7924800" cy="2617787"/>
            <a:chOff x="1066800" y="2065338"/>
            <a:chExt cx="7924800" cy="2617787"/>
          </a:xfrm>
        </p:grpSpPr>
        <p:sp>
          <p:nvSpPr>
            <p:cNvPr id="400390" name="Line 1030"/>
            <p:cNvSpPr>
              <a:spLocks noChangeShapeType="1"/>
            </p:cNvSpPr>
            <p:nvPr/>
          </p:nvSpPr>
          <p:spPr bwMode="auto">
            <a:xfrm>
              <a:off x="1204913" y="2592388"/>
              <a:ext cx="1587" cy="209073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391" name="Line 1031"/>
            <p:cNvSpPr>
              <a:spLocks noChangeShapeType="1"/>
            </p:cNvSpPr>
            <p:nvPr/>
          </p:nvSpPr>
          <p:spPr bwMode="auto">
            <a:xfrm>
              <a:off x="7302500" y="2592388"/>
              <a:ext cx="1588" cy="20732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392" name="Line 1032"/>
            <p:cNvSpPr>
              <a:spLocks noChangeShapeType="1"/>
            </p:cNvSpPr>
            <p:nvPr/>
          </p:nvSpPr>
          <p:spPr bwMode="auto">
            <a:xfrm flipV="1">
              <a:off x="6092825" y="4354513"/>
              <a:ext cx="1588" cy="31115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393" name="Line 1033"/>
            <p:cNvSpPr>
              <a:spLocks noChangeShapeType="1"/>
            </p:cNvSpPr>
            <p:nvPr/>
          </p:nvSpPr>
          <p:spPr bwMode="auto">
            <a:xfrm>
              <a:off x="4365625" y="2592388"/>
              <a:ext cx="1588" cy="20732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394" name="Line 1034"/>
            <p:cNvSpPr>
              <a:spLocks noChangeShapeType="1"/>
            </p:cNvSpPr>
            <p:nvPr/>
          </p:nvSpPr>
          <p:spPr bwMode="auto">
            <a:xfrm flipH="1">
              <a:off x="2725738" y="2973388"/>
              <a:ext cx="1466850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395" name="Line 1035"/>
            <p:cNvSpPr>
              <a:spLocks noChangeShapeType="1"/>
            </p:cNvSpPr>
            <p:nvPr/>
          </p:nvSpPr>
          <p:spPr bwMode="auto">
            <a:xfrm>
              <a:off x="4210050" y="2973388"/>
              <a:ext cx="87313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396" name="Rectangle 1036"/>
            <p:cNvSpPr>
              <a:spLocks noChangeArrowheads="1"/>
            </p:cNvSpPr>
            <p:nvPr/>
          </p:nvSpPr>
          <p:spPr bwMode="auto">
            <a:xfrm>
              <a:off x="2967038" y="2782888"/>
              <a:ext cx="8636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397" name="Rectangle 1037"/>
            <p:cNvSpPr>
              <a:spLocks noChangeArrowheads="1"/>
            </p:cNvSpPr>
            <p:nvPr/>
          </p:nvSpPr>
          <p:spPr bwMode="auto">
            <a:xfrm>
              <a:off x="2863850" y="2782888"/>
              <a:ext cx="1249363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requestToRegister</a:t>
              </a:r>
              <a:endParaRPr lang="en-US" altLang="en-US"/>
            </a:p>
          </p:txBody>
        </p:sp>
        <p:sp>
          <p:nvSpPr>
            <p:cNvPr id="400398" name="Rectangle 1038"/>
            <p:cNvSpPr>
              <a:spLocks noChangeArrowheads="1"/>
            </p:cNvSpPr>
            <p:nvPr/>
          </p:nvSpPr>
          <p:spPr bwMode="auto">
            <a:xfrm>
              <a:off x="2863850" y="2955925"/>
              <a:ext cx="70961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(aStudent)</a:t>
              </a:r>
              <a:endParaRPr lang="en-US" altLang="en-US"/>
            </a:p>
          </p:txBody>
        </p:sp>
        <p:sp>
          <p:nvSpPr>
            <p:cNvPr id="400399" name="Rectangle 1039"/>
            <p:cNvSpPr>
              <a:spLocks noChangeArrowheads="1"/>
            </p:cNvSpPr>
            <p:nvPr/>
          </p:nvSpPr>
          <p:spPr bwMode="auto">
            <a:xfrm>
              <a:off x="6197600" y="4043363"/>
              <a:ext cx="106203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addToSchedule</a:t>
              </a:r>
              <a:endParaRPr lang="en-US" altLang="en-US"/>
            </a:p>
          </p:txBody>
        </p:sp>
        <p:sp>
          <p:nvSpPr>
            <p:cNvPr id="400400" name="Rectangle 1040"/>
            <p:cNvSpPr>
              <a:spLocks noChangeArrowheads="1"/>
            </p:cNvSpPr>
            <p:nvPr/>
          </p:nvSpPr>
          <p:spPr bwMode="auto">
            <a:xfrm>
              <a:off x="6629400" y="2178050"/>
              <a:ext cx="11049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01" name="Rectangle 1041"/>
            <p:cNvSpPr>
              <a:spLocks noChangeArrowheads="1"/>
            </p:cNvSpPr>
            <p:nvPr/>
          </p:nvSpPr>
          <p:spPr bwMode="auto">
            <a:xfrm>
              <a:off x="7008813" y="2195513"/>
              <a:ext cx="6508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u="sng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aStudent</a:t>
              </a:r>
              <a:r>
                <a:rPr lang="en-US" altLang="en-US" sz="1200" u="sng" dirty="0">
                  <a:solidFill>
                    <a:srgbClr val="000000"/>
                  </a:solidFill>
                  <a:latin typeface="Arial" panose="020B0604020202020204" pitchFamily="34" charset="0"/>
                </a:rPr>
                <a:t>:</a:t>
              </a:r>
              <a:endParaRPr lang="en-US" altLang="en-US" dirty="0"/>
            </a:p>
          </p:txBody>
        </p:sp>
        <p:sp>
          <p:nvSpPr>
            <p:cNvPr id="400402" name="Rectangle 1042"/>
            <p:cNvSpPr>
              <a:spLocks noChangeArrowheads="1"/>
            </p:cNvSpPr>
            <p:nvPr/>
          </p:nvSpPr>
          <p:spPr bwMode="auto">
            <a:xfrm>
              <a:off x="7077075" y="2368550"/>
              <a:ext cx="5238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u="sng">
                  <a:solidFill>
                    <a:srgbClr val="000000"/>
                  </a:solidFill>
                  <a:latin typeface="Arial" panose="020B0604020202020204" pitchFamily="34" charset="0"/>
                </a:rPr>
                <a:t>Student</a:t>
              </a:r>
              <a:endParaRPr lang="en-US" altLang="en-US"/>
            </a:p>
          </p:txBody>
        </p:sp>
        <p:sp>
          <p:nvSpPr>
            <p:cNvPr id="400403" name="Rectangle 1043"/>
            <p:cNvSpPr>
              <a:spLocks noChangeArrowheads="1"/>
            </p:cNvSpPr>
            <p:nvPr/>
          </p:nvSpPr>
          <p:spPr bwMode="auto">
            <a:xfrm>
              <a:off x="6843713" y="2082800"/>
              <a:ext cx="985837" cy="501650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04" name="Rectangle 1044"/>
            <p:cNvSpPr>
              <a:spLocks noChangeArrowheads="1"/>
            </p:cNvSpPr>
            <p:nvPr/>
          </p:nvSpPr>
          <p:spPr bwMode="auto">
            <a:xfrm>
              <a:off x="5454650" y="2178050"/>
              <a:ext cx="655638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0407" name="Group 1047"/>
            <p:cNvGrpSpPr>
              <a:grpSpLocks/>
            </p:cNvGrpSpPr>
            <p:nvPr/>
          </p:nvGrpSpPr>
          <p:grpSpPr bwMode="auto">
            <a:xfrm>
              <a:off x="5876925" y="3551238"/>
              <a:ext cx="950913" cy="501650"/>
              <a:chOff x="3750" y="2237"/>
              <a:chExt cx="599" cy="316"/>
            </a:xfrm>
          </p:grpSpPr>
          <p:sp>
            <p:nvSpPr>
              <p:cNvPr id="400405" name="Rectangle 1045"/>
              <p:cNvSpPr>
                <a:spLocks noChangeArrowheads="1"/>
              </p:cNvSpPr>
              <p:nvPr/>
            </p:nvSpPr>
            <p:spPr bwMode="auto">
              <a:xfrm>
                <a:off x="3777" y="2286"/>
                <a:ext cx="537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200" u="sng">
                    <a:solidFill>
                      <a:srgbClr val="000000"/>
                    </a:solidFill>
                    <a:latin typeface="Arial" panose="020B0604020202020204" pitchFamily="34" charset="0"/>
                  </a:rPr>
                  <a:t>:Registration</a:t>
                </a:r>
                <a:endParaRPr lang="en-US" altLang="en-US"/>
              </a:p>
            </p:txBody>
          </p:sp>
          <p:sp>
            <p:nvSpPr>
              <p:cNvPr id="400406" name="Rectangle 1046"/>
              <p:cNvSpPr>
                <a:spLocks noChangeArrowheads="1"/>
              </p:cNvSpPr>
              <p:nvPr/>
            </p:nvSpPr>
            <p:spPr bwMode="auto">
              <a:xfrm>
                <a:off x="3750" y="2237"/>
                <a:ext cx="599" cy="316"/>
              </a:xfrm>
              <a:prstGeom prst="rect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400408" name="Rectangle 1048"/>
            <p:cNvSpPr>
              <a:spLocks noChangeArrowheads="1"/>
            </p:cNvSpPr>
            <p:nvPr/>
          </p:nvSpPr>
          <p:spPr bwMode="auto">
            <a:xfrm>
              <a:off x="3986213" y="2178050"/>
              <a:ext cx="1036637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09" name="Rectangle 1049"/>
            <p:cNvSpPr>
              <a:spLocks noChangeArrowheads="1"/>
            </p:cNvSpPr>
            <p:nvPr/>
          </p:nvSpPr>
          <p:spPr bwMode="auto">
            <a:xfrm>
              <a:off x="3795713" y="2178050"/>
              <a:ext cx="103822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u="sng">
                  <a:solidFill>
                    <a:srgbClr val="000000"/>
                  </a:solidFill>
                  <a:latin typeface="Arial" panose="020B0604020202020204" pitchFamily="34" charset="0"/>
                </a:rPr>
                <a:t>:CourseSection</a:t>
              </a:r>
              <a:endParaRPr lang="en-US" altLang="en-US"/>
            </a:p>
          </p:txBody>
        </p:sp>
        <p:sp>
          <p:nvSpPr>
            <p:cNvPr id="400410" name="Rectangle 1050"/>
            <p:cNvSpPr>
              <a:spLocks noChangeArrowheads="1"/>
            </p:cNvSpPr>
            <p:nvPr/>
          </p:nvSpPr>
          <p:spPr bwMode="auto">
            <a:xfrm>
              <a:off x="3683000" y="2082800"/>
              <a:ext cx="1331913" cy="501650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11" name="Line 1051"/>
            <p:cNvSpPr>
              <a:spLocks noChangeShapeType="1"/>
            </p:cNvSpPr>
            <p:nvPr/>
          </p:nvSpPr>
          <p:spPr bwMode="auto">
            <a:xfrm flipH="1">
              <a:off x="6092825" y="4268788"/>
              <a:ext cx="1174750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0418" name="Group 1058"/>
            <p:cNvGrpSpPr>
              <a:grpSpLocks/>
            </p:cNvGrpSpPr>
            <p:nvPr/>
          </p:nvGrpSpPr>
          <p:grpSpPr bwMode="auto">
            <a:xfrm>
              <a:off x="1066800" y="2065338"/>
              <a:ext cx="258763" cy="527050"/>
              <a:chOff x="720" y="1301"/>
              <a:chExt cx="163" cy="332"/>
            </a:xfrm>
          </p:grpSpPr>
          <p:sp>
            <p:nvSpPr>
              <p:cNvPr id="400412" name="Oval 1052"/>
              <p:cNvSpPr>
                <a:spLocks noChangeArrowheads="1"/>
              </p:cNvSpPr>
              <p:nvPr/>
            </p:nvSpPr>
            <p:spPr bwMode="auto">
              <a:xfrm>
                <a:off x="758" y="1301"/>
                <a:ext cx="98" cy="110"/>
              </a:xfrm>
              <a:prstGeom prst="ellips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413" name="Line 1053"/>
              <p:cNvSpPr>
                <a:spLocks noChangeShapeType="1"/>
              </p:cNvSpPr>
              <p:nvPr/>
            </p:nvSpPr>
            <p:spPr bwMode="auto">
              <a:xfrm>
                <a:off x="807" y="1405"/>
                <a:ext cx="1" cy="17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414" name="Line 1054"/>
              <p:cNvSpPr>
                <a:spLocks noChangeShapeType="1"/>
              </p:cNvSpPr>
              <p:nvPr/>
            </p:nvSpPr>
            <p:spPr bwMode="auto">
              <a:xfrm>
                <a:off x="807" y="1579"/>
                <a:ext cx="76" cy="5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415" name="Line 1055"/>
              <p:cNvSpPr>
                <a:spLocks noChangeShapeType="1"/>
              </p:cNvSpPr>
              <p:nvPr/>
            </p:nvSpPr>
            <p:spPr bwMode="auto">
              <a:xfrm flipH="1">
                <a:off x="720" y="1579"/>
                <a:ext cx="87" cy="5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416" name="Line 1056"/>
              <p:cNvSpPr>
                <a:spLocks noChangeShapeType="1"/>
              </p:cNvSpPr>
              <p:nvPr/>
            </p:nvSpPr>
            <p:spPr bwMode="auto">
              <a:xfrm flipV="1">
                <a:off x="720" y="1470"/>
                <a:ext cx="87" cy="2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417" name="Line 1057"/>
              <p:cNvSpPr>
                <a:spLocks noChangeShapeType="1"/>
              </p:cNvSpPr>
              <p:nvPr/>
            </p:nvSpPr>
            <p:spPr bwMode="auto">
              <a:xfrm>
                <a:off x="807" y="1470"/>
                <a:ext cx="76" cy="2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400419" name="Rectangle 1059"/>
            <p:cNvSpPr>
              <a:spLocks noChangeArrowheads="1"/>
            </p:cNvSpPr>
            <p:nvPr/>
          </p:nvSpPr>
          <p:spPr bwMode="auto">
            <a:xfrm>
              <a:off x="2482850" y="2178050"/>
              <a:ext cx="2714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GUI</a:t>
              </a:r>
              <a:endParaRPr lang="en-US" altLang="en-US"/>
            </a:p>
          </p:txBody>
        </p:sp>
        <p:sp>
          <p:nvSpPr>
            <p:cNvPr id="400420" name="Rectangle 1060"/>
            <p:cNvSpPr>
              <a:spLocks noChangeArrowheads="1"/>
            </p:cNvSpPr>
            <p:nvPr/>
          </p:nvSpPr>
          <p:spPr bwMode="auto">
            <a:xfrm>
              <a:off x="2370138" y="2082800"/>
              <a:ext cx="623887" cy="501650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21" name="Rectangle 1061"/>
            <p:cNvSpPr>
              <a:spLocks noChangeArrowheads="1"/>
            </p:cNvSpPr>
            <p:nvPr/>
          </p:nvSpPr>
          <p:spPr bwMode="auto">
            <a:xfrm>
              <a:off x="1257300" y="2697163"/>
              <a:ext cx="1249363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requestToRegister</a:t>
              </a:r>
              <a:endParaRPr lang="en-US" altLang="en-US"/>
            </a:p>
          </p:txBody>
        </p:sp>
        <p:sp>
          <p:nvSpPr>
            <p:cNvPr id="400422" name="Line 1062"/>
            <p:cNvSpPr>
              <a:spLocks noChangeShapeType="1"/>
            </p:cNvSpPr>
            <p:nvPr/>
          </p:nvSpPr>
          <p:spPr bwMode="auto">
            <a:xfrm>
              <a:off x="1204913" y="2886075"/>
              <a:ext cx="14160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23" name="Line 1063"/>
            <p:cNvSpPr>
              <a:spLocks noChangeShapeType="1"/>
            </p:cNvSpPr>
            <p:nvPr/>
          </p:nvSpPr>
          <p:spPr bwMode="auto">
            <a:xfrm>
              <a:off x="2708275" y="2592388"/>
              <a:ext cx="1588" cy="20732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24" name="Rectangle 1064"/>
            <p:cNvSpPr>
              <a:spLocks noChangeArrowheads="1"/>
            </p:cNvSpPr>
            <p:nvPr/>
          </p:nvSpPr>
          <p:spPr bwMode="auto">
            <a:xfrm>
              <a:off x="8174038" y="2082800"/>
              <a:ext cx="817562" cy="501650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25" name="Rectangle 1065"/>
            <p:cNvSpPr>
              <a:spLocks noChangeArrowheads="1"/>
            </p:cNvSpPr>
            <p:nvPr/>
          </p:nvSpPr>
          <p:spPr bwMode="auto">
            <a:xfrm>
              <a:off x="8304213" y="2195513"/>
              <a:ext cx="531812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 u="sng">
                  <a:solidFill>
                    <a:srgbClr val="000000"/>
                  </a:solidFill>
                  <a:latin typeface="Arial" panose="020B0604020202020204" pitchFamily="34" charset="0"/>
                </a:rPr>
                <a:t>:Course</a:t>
              </a:r>
              <a:endParaRPr lang="en-US" altLang="en-US"/>
            </a:p>
          </p:txBody>
        </p:sp>
        <p:sp>
          <p:nvSpPr>
            <p:cNvPr id="400426" name="Line 1066"/>
            <p:cNvSpPr>
              <a:spLocks noChangeShapeType="1"/>
            </p:cNvSpPr>
            <p:nvPr/>
          </p:nvSpPr>
          <p:spPr bwMode="auto">
            <a:xfrm flipH="1">
              <a:off x="4435475" y="3663950"/>
              <a:ext cx="14160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27" name="Rectangle 1067"/>
            <p:cNvSpPr>
              <a:spLocks noChangeArrowheads="1"/>
            </p:cNvSpPr>
            <p:nvPr/>
          </p:nvSpPr>
          <p:spPr bwMode="auto">
            <a:xfrm>
              <a:off x="4503738" y="3473450"/>
              <a:ext cx="113982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[hasPrerequisite]</a:t>
              </a:r>
              <a:endParaRPr lang="en-US" altLang="en-US"/>
            </a:p>
          </p:txBody>
        </p:sp>
        <p:sp>
          <p:nvSpPr>
            <p:cNvPr id="400428" name="Rectangle 1068"/>
            <p:cNvSpPr>
              <a:spLocks noChangeArrowheads="1"/>
            </p:cNvSpPr>
            <p:nvPr/>
          </p:nvSpPr>
          <p:spPr bwMode="auto">
            <a:xfrm>
              <a:off x="4503738" y="3646488"/>
              <a:ext cx="7778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&lt;&lt;create&gt;&gt;</a:t>
              </a:r>
              <a:endParaRPr lang="en-US" altLang="en-US"/>
            </a:p>
          </p:txBody>
        </p:sp>
        <p:sp>
          <p:nvSpPr>
            <p:cNvPr id="400429" name="Line 1069"/>
            <p:cNvSpPr>
              <a:spLocks noChangeShapeType="1"/>
            </p:cNvSpPr>
            <p:nvPr/>
          </p:nvSpPr>
          <p:spPr bwMode="auto">
            <a:xfrm>
              <a:off x="8562975" y="2592388"/>
              <a:ext cx="1588" cy="20732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30" name="Line 1070"/>
            <p:cNvSpPr>
              <a:spLocks noChangeShapeType="1"/>
            </p:cNvSpPr>
            <p:nvPr/>
          </p:nvSpPr>
          <p:spPr bwMode="auto">
            <a:xfrm>
              <a:off x="2776538" y="4389438"/>
              <a:ext cx="1503362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31" name="Rectangle 1071"/>
            <p:cNvSpPr>
              <a:spLocks noChangeArrowheads="1"/>
            </p:cNvSpPr>
            <p:nvPr/>
          </p:nvSpPr>
          <p:spPr bwMode="auto">
            <a:xfrm>
              <a:off x="3130550" y="4362450"/>
              <a:ext cx="69850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32" name="Rectangle 1072"/>
            <p:cNvSpPr>
              <a:spLocks noChangeArrowheads="1"/>
            </p:cNvSpPr>
            <p:nvPr/>
          </p:nvSpPr>
          <p:spPr bwMode="auto">
            <a:xfrm>
              <a:off x="3303588" y="4362450"/>
              <a:ext cx="69850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33" name="Rectangle 1073"/>
            <p:cNvSpPr>
              <a:spLocks noChangeArrowheads="1"/>
            </p:cNvSpPr>
            <p:nvPr/>
          </p:nvSpPr>
          <p:spPr bwMode="auto">
            <a:xfrm>
              <a:off x="3475038" y="4362450"/>
              <a:ext cx="71437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34" name="Rectangle 1074"/>
            <p:cNvSpPr>
              <a:spLocks noChangeArrowheads="1"/>
            </p:cNvSpPr>
            <p:nvPr/>
          </p:nvSpPr>
          <p:spPr bwMode="auto">
            <a:xfrm>
              <a:off x="3648075" y="4362450"/>
              <a:ext cx="71438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35" name="Rectangle 1075"/>
            <p:cNvSpPr>
              <a:spLocks noChangeArrowheads="1"/>
            </p:cNvSpPr>
            <p:nvPr/>
          </p:nvSpPr>
          <p:spPr bwMode="auto">
            <a:xfrm>
              <a:off x="3821113" y="4362450"/>
              <a:ext cx="69850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36" name="Rectangle 1076"/>
            <p:cNvSpPr>
              <a:spLocks noChangeArrowheads="1"/>
            </p:cNvSpPr>
            <p:nvPr/>
          </p:nvSpPr>
          <p:spPr bwMode="auto">
            <a:xfrm>
              <a:off x="3994150" y="4362450"/>
              <a:ext cx="69850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37" name="Rectangle 1077"/>
            <p:cNvSpPr>
              <a:spLocks noChangeArrowheads="1"/>
            </p:cNvSpPr>
            <p:nvPr/>
          </p:nvSpPr>
          <p:spPr bwMode="auto">
            <a:xfrm>
              <a:off x="4167188" y="4362450"/>
              <a:ext cx="69850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38" name="Rectangle 1078"/>
            <p:cNvSpPr>
              <a:spLocks noChangeArrowheads="1"/>
            </p:cNvSpPr>
            <p:nvPr/>
          </p:nvSpPr>
          <p:spPr bwMode="auto">
            <a:xfrm>
              <a:off x="4338638" y="4362450"/>
              <a:ext cx="71437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39" name="Line 1079"/>
            <p:cNvSpPr>
              <a:spLocks noChangeShapeType="1"/>
            </p:cNvSpPr>
            <p:nvPr/>
          </p:nvSpPr>
          <p:spPr bwMode="auto">
            <a:xfrm>
              <a:off x="1222375" y="4562475"/>
              <a:ext cx="14160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40" name="Rectangle 1080"/>
            <p:cNvSpPr>
              <a:spLocks noChangeArrowheads="1"/>
            </p:cNvSpPr>
            <p:nvPr/>
          </p:nvSpPr>
          <p:spPr bwMode="auto">
            <a:xfrm>
              <a:off x="2508250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41" name="Rectangle 1081"/>
            <p:cNvSpPr>
              <a:spLocks noChangeArrowheads="1"/>
            </p:cNvSpPr>
            <p:nvPr/>
          </p:nvSpPr>
          <p:spPr bwMode="auto">
            <a:xfrm>
              <a:off x="2335213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42" name="Rectangle 1082"/>
            <p:cNvSpPr>
              <a:spLocks noChangeArrowheads="1"/>
            </p:cNvSpPr>
            <p:nvPr/>
          </p:nvSpPr>
          <p:spPr bwMode="auto">
            <a:xfrm>
              <a:off x="2162175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43" name="Rectangle 1083"/>
            <p:cNvSpPr>
              <a:spLocks noChangeArrowheads="1"/>
            </p:cNvSpPr>
            <p:nvPr/>
          </p:nvSpPr>
          <p:spPr bwMode="auto">
            <a:xfrm>
              <a:off x="1990725" y="4535488"/>
              <a:ext cx="52388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44" name="Rectangle 1084"/>
            <p:cNvSpPr>
              <a:spLocks noChangeArrowheads="1"/>
            </p:cNvSpPr>
            <p:nvPr/>
          </p:nvSpPr>
          <p:spPr bwMode="auto">
            <a:xfrm>
              <a:off x="1817688" y="4535488"/>
              <a:ext cx="52387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45" name="Rectangle 1085"/>
            <p:cNvSpPr>
              <a:spLocks noChangeArrowheads="1"/>
            </p:cNvSpPr>
            <p:nvPr/>
          </p:nvSpPr>
          <p:spPr bwMode="auto">
            <a:xfrm>
              <a:off x="1644650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46" name="Rectangle 1086"/>
            <p:cNvSpPr>
              <a:spLocks noChangeArrowheads="1"/>
            </p:cNvSpPr>
            <p:nvPr/>
          </p:nvSpPr>
          <p:spPr bwMode="auto">
            <a:xfrm>
              <a:off x="1471613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47" name="Rectangle 1087"/>
            <p:cNvSpPr>
              <a:spLocks noChangeArrowheads="1"/>
            </p:cNvSpPr>
            <p:nvPr/>
          </p:nvSpPr>
          <p:spPr bwMode="auto">
            <a:xfrm>
              <a:off x="1298575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48" name="Line 1088"/>
            <p:cNvSpPr>
              <a:spLocks noChangeShapeType="1"/>
            </p:cNvSpPr>
            <p:nvPr/>
          </p:nvSpPr>
          <p:spPr bwMode="auto">
            <a:xfrm flipH="1">
              <a:off x="1204913" y="4562475"/>
              <a:ext cx="85725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49" name="Rectangle 1089"/>
            <p:cNvSpPr>
              <a:spLocks noChangeArrowheads="1"/>
            </p:cNvSpPr>
            <p:nvPr/>
          </p:nvSpPr>
          <p:spPr bwMode="auto">
            <a:xfrm>
              <a:off x="2681288" y="2635250"/>
              <a:ext cx="52387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0" name="Rectangle 1090"/>
            <p:cNvSpPr>
              <a:spLocks noChangeArrowheads="1"/>
            </p:cNvSpPr>
            <p:nvPr/>
          </p:nvSpPr>
          <p:spPr bwMode="auto">
            <a:xfrm>
              <a:off x="2681288" y="2808288"/>
              <a:ext cx="52387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1" name="Rectangle 1091"/>
            <p:cNvSpPr>
              <a:spLocks noChangeArrowheads="1"/>
            </p:cNvSpPr>
            <p:nvPr/>
          </p:nvSpPr>
          <p:spPr bwMode="auto">
            <a:xfrm>
              <a:off x="4338638" y="2808288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2" name="Rectangle 1092"/>
            <p:cNvSpPr>
              <a:spLocks noChangeArrowheads="1"/>
            </p:cNvSpPr>
            <p:nvPr/>
          </p:nvSpPr>
          <p:spPr bwMode="auto">
            <a:xfrm>
              <a:off x="4338638" y="2635250"/>
              <a:ext cx="53975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3" name="Rectangle 1093"/>
            <p:cNvSpPr>
              <a:spLocks noChangeArrowheads="1"/>
            </p:cNvSpPr>
            <p:nvPr/>
          </p:nvSpPr>
          <p:spPr bwMode="auto">
            <a:xfrm>
              <a:off x="6065838" y="4362450"/>
              <a:ext cx="53975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4" name="Rectangle 1094"/>
            <p:cNvSpPr>
              <a:spLocks noChangeArrowheads="1"/>
            </p:cNvSpPr>
            <p:nvPr/>
          </p:nvSpPr>
          <p:spPr bwMode="auto">
            <a:xfrm>
              <a:off x="6065838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5" name="Rectangle 1095"/>
            <p:cNvSpPr>
              <a:spLocks noChangeArrowheads="1"/>
            </p:cNvSpPr>
            <p:nvPr/>
          </p:nvSpPr>
          <p:spPr bwMode="auto">
            <a:xfrm>
              <a:off x="6032500" y="4051300"/>
              <a:ext cx="139700" cy="3127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6" name="Rectangle 1096"/>
            <p:cNvSpPr>
              <a:spLocks noChangeArrowheads="1"/>
            </p:cNvSpPr>
            <p:nvPr/>
          </p:nvSpPr>
          <p:spPr bwMode="auto">
            <a:xfrm>
              <a:off x="4322763" y="4535488"/>
              <a:ext cx="69850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7" name="Rectangle 1097"/>
            <p:cNvSpPr>
              <a:spLocks noChangeArrowheads="1"/>
            </p:cNvSpPr>
            <p:nvPr/>
          </p:nvSpPr>
          <p:spPr bwMode="auto">
            <a:xfrm>
              <a:off x="4287838" y="2981325"/>
              <a:ext cx="139700" cy="143510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8" name="Rectangle 1098"/>
            <p:cNvSpPr>
              <a:spLocks noChangeArrowheads="1"/>
            </p:cNvSpPr>
            <p:nvPr/>
          </p:nvSpPr>
          <p:spPr bwMode="auto">
            <a:xfrm>
              <a:off x="7275513" y="2635250"/>
              <a:ext cx="53975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59" name="Rectangle 1099"/>
            <p:cNvSpPr>
              <a:spLocks noChangeArrowheads="1"/>
            </p:cNvSpPr>
            <p:nvPr/>
          </p:nvSpPr>
          <p:spPr bwMode="auto">
            <a:xfrm>
              <a:off x="7275513" y="2808288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0" name="Rectangle 1100"/>
            <p:cNvSpPr>
              <a:spLocks noChangeArrowheads="1"/>
            </p:cNvSpPr>
            <p:nvPr/>
          </p:nvSpPr>
          <p:spPr bwMode="auto">
            <a:xfrm>
              <a:off x="7275513" y="2981325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1" name="Rectangle 1101"/>
            <p:cNvSpPr>
              <a:spLocks noChangeArrowheads="1"/>
            </p:cNvSpPr>
            <p:nvPr/>
          </p:nvSpPr>
          <p:spPr bwMode="auto">
            <a:xfrm>
              <a:off x="7275513" y="3154363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2" name="Rectangle 1102"/>
            <p:cNvSpPr>
              <a:spLocks noChangeArrowheads="1"/>
            </p:cNvSpPr>
            <p:nvPr/>
          </p:nvSpPr>
          <p:spPr bwMode="auto">
            <a:xfrm>
              <a:off x="7275513" y="3325813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3" name="Rectangle 1103"/>
            <p:cNvSpPr>
              <a:spLocks noChangeArrowheads="1"/>
            </p:cNvSpPr>
            <p:nvPr/>
          </p:nvSpPr>
          <p:spPr bwMode="auto">
            <a:xfrm>
              <a:off x="7275513" y="3671888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4" name="Rectangle 1104"/>
            <p:cNvSpPr>
              <a:spLocks noChangeArrowheads="1"/>
            </p:cNvSpPr>
            <p:nvPr/>
          </p:nvSpPr>
          <p:spPr bwMode="auto">
            <a:xfrm>
              <a:off x="7275513" y="4191000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5" name="Rectangle 1105"/>
            <p:cNvSpPr>
              <a:spLocks noChangeArrowheads="1"/>
            </p:cNvSpPr>
            <p:nvPr/>
          </p:nvSpPr>
          <p:spPr bwMode="auto">
            <a:xfrm>
              <a:off x="7275513" y="3844925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6" name="Rectangle 1106"/>
            <p:cNvSpPr>
              <a:spLocks noChangeArrowheads="1"/>
            </p:cNvSpPr>
            <p:nvPr/>
          </p:nvSpPr>
          <p:spPr bwMode="auto">
            <a:xfrm>
              <a:off x="7275513" y="4017963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7" name="Rectangle 1107"/>
            <p:cNvSpPr>
              <a:spLocks noChangeArrowheads="1"/>
            </p:cNvSpPr>
            <p:nvPr/>
          </p:nvSpPr>
          <p:spPr bwMode="auto">
            <a:xfrm>
              <a:off x="7275513" y="4362450"/>
              <a:ext cx="53975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8" name="Rectangle 1108"/>
            <p:cNvSpPr>
              <a:spLocks noChangeArrowheads="1"/>
            </p:cNvSpPr>
            <p:nvPr/>
          </p:nvSpPr>
          <p:spPr bwMode="auto">
            <a:xfrm>
              <a:off x="7275513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69" name="Rectangle 1109"/>
            <p:cNvSpPr>
              <a:spLocks noChangeArrowheads="1"/>
            </p:cNvSpPr>
            <p:nvPr/>
          </p:nvSpPr>
          <p:spPr bwMode="auto">
            <a:xfrm>
              <a:off x="7240588" y="4241800"/>
              <a:ext cx="139700" cy="1222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0" name="Rectangle 1110"/>
            <p:cNvSpPr>
              <a:spLocks noChangeArrowheads="1"/>
            </p:cNvSpPr>
            <p:nvPr/>
          </p:nvSpPr>
          <p:spPr bwMode="auto">
            <a:xfrm>
              <a:off x="1177925" y="2635250"/>
              <a:ext cx="53975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1" name="Rectangle 1111"/>
            <p:cNvSpPr>
              <a:spLocks noChangeArrowheads="1"/>
            </p:cNvSpPr>
            <p:nvPr/>
          </p:nvSpPr>
          <p:spPr bwMode="auto">
            <a:xfrm>
              <a:off x="1177925" y="2808288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2" name="Rectangle 1112"/>
            <p:cNvSpPr>
              <a:spLocks noChangeArrowheads="1"/>
            </p:cNvSpPr>
            <p:nvPr/>
          </p:nvSpPr>
          <p:spPr bwMode="auto">
            <a:xfrm>
              <a:off x="1177925" y="2981325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3" name="Rectangle 1113"/>
            <p:cNvSpPr>
              <a:spLocks noChangeArrowheads="1"/>
            </p:cNvSpPr>
            <p:nvPr/>
          </p:nvSpPr>
          <p:spPr bwMode="auto">
            <a:xfrm>
              <a:off x="1177925" y="3154363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4" name="Rectangle 1114"/>
            <p:cNvSpPr>
              <a:spLocks noChangeArrowheads="1"/>
            </p:cNvSpPr>
            <p:nvPr/>
          </p:nvSpPr>
          <p:spPr bwMode="auto">
            <a:xfrm>
              <a:off x="1177925" y="3325813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5" name="Rectangle 1115"/>
            <p:cNvSpPr>
              <a:spLocks noChangeArrowheads="1"/>
            </p:cNvSpPr>
            <p:nvPr/>
          </p:nvSpPr>
          <p:spPr bwMode="auto">
            <a:xfrm>
              <a:off x="1177925" y="3498850"/>
              <a:ext cx="53975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6" name="Rectangle 1116"/>
            <p:cNvSpPr>
              <a:spLocks noChangeArrowheads="1"/>
            </p:cNvSpPr>
            <p:nvPr/>
          </p:nvSpPr>
          <p:spPr bwMode="auto">
            <a:xfrm>
              <a:off x="1177925" y="3671888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7" name="Rectangle 1117"/>
            <p:cNvSpPr>
              <a:spLocks noChangeArrowheads="1"/>
            </p:cNvSpPr>
            <p:nvPr/>
          </p:nvSpPr>
          <p:spPr bwMode="auto">
            <a:xfrm>
              <a:off x="1177925" y="3844925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8" name="Rectangle 1118"/>
            <p:cNvSpPr>
              <a:spLocks noChangeArrowheads="1"/>
            </p:cNvSpPr>
            <p:nvPr/>
          </p:nvSpPr>
          <p:spPr bwMode="auto">
            <a:xfrm>
              <a:off x="1177925" y="4017963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79" name="Rectangle 1119"/>
            <p:cNvSpPr>
              <a:spLocks noChangeArrowheads="1"/>
            </p:cNvSpPr>
            <p:nvPr/>
          </p:nvSpPr>
          <p:spPr bwMode="auto">
            <a:xfrm>
              <a:off x="1177925" y="4191000"/>
              <a:ext cx="53975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0" name="Rectangle 1120"/>
            <p:cNvSpPr>
              <a:spLocks noChangeArrowheads="1"/>
            </p:cNvSpPr>
            <p:nvPr/>
          </p:nvSpPr>
          <p:spPr bwMode="auto">
            <a:xfrm>
              <a:off x="1177925" y="4362450"/>
              <a:ext cx="53975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1" name="Rectangle 1121"/>
            <p:cNvSpPr>
              <a:spLocks noChangeArrowheads="1"/>
            </p:cNvSpPr>
            <p:nvPr/>
          </p:nvSpPr>
          <p:spPr bwMode="auto">
            <a:xfrm>
              <a:off x="1177925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2" name="Rectangle 1122"/>
            <p:cNvSpPr>
              <a:spLocks noChangeArrowheads="1"/>
            </p:cNvSpPr>
            <p:nvPr/>
          </p:nvSpPr>
          <p:spPr bwMode="auto">
            <a:xfrm>
              <a:off x="8535988" y="2635250"/>
              <a:ext cx="71437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3" name="Rectangle 1123"/>
            <p:cNvSpPr>
              <a:spLocks noChangeArrowheads="1"/>
            </p:cNvSpPr>
            <p:nvPr/>
          </p:nvSpPr>
          <p:spPr bwMode="auto">
            <a:xfrm>
              <a:off x="8535988" y="2808288"/>
              <a:ext cx="71437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4" name="Rectangle 1124"/>
            <p:cNvSpPr>
              <a:spLocks noChangeArrowheads="1"/>
            </p:cNvSpPr>
            <p:nvPr/>
          </p:nvSpPr>
          <p:spPr bwMode="auto">
            <a:xfrm>
              <a:off x="8535988" y="2981325"/>
              <a:ext cx="71437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5" name="Rectangle 1125"/>
            <p:cNvSpPr>
              <a:spLocks noChangeArrowheads="1"/>
            </p:cNvSpPr>
            <p:nvPr/>
          </p:nvSpPr>
          <p:spPr bwMode="auto">
            <a:xfrm>
              <a:off x="8535988" y="3325813"/>
              <a:ext cx="71437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6" name="Rectangle 1126"/>
            <p:cNvSpPr>
              <a:spLocks noChangeArrowheads="1"/>
            </p:cNvSpPr>
            <p:nvPr/>
          </p:nvSpPr>
          <p:spPr bwMode="auto">
            <a:xfrm>
              <a:off x="8535988" y="3671888"/>
              <a:ext cx="71437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7" name="Rectangle 1127"/>
            <p:cNvSpPr>
              <a:spLocks noChangeArrowheads="1"/>
            </p:cNvSpPr>
            <p:nvPr/>
          </p:nvSpPr>
          <p:spPr bwMode="auto">
            <a:xfrm>
              <a:off x="8535988" y="4017963"/>
              <a:ext cx="71437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8" name="Rectangle 1128"/>
            <p:cNvSpPr>
              <a:spLocks noChangeArrowheads="1"/>
            </p:cNvSpPr>
            <p:nvPr/>
          </p:nvSpPr>
          <p:spPr bwMode="auto">
            <a:xfrm>
              <a:off x="8535988" y="4191000"/>
              <a:ext cx="71437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89" name="Rectangle 1129"/>
            <p:cNvSpPr>
              <a:spLocks noChangeArrowheads="1"/>
            </p:cNvSpPr>
            <p:nvPr/>
          </p:nvSpPr>
          <p:spPr bwMode="auto">
            <a:xfrm>
              <a:off x="8535988" y="4362450"/>
              <a:ext cx="71437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90" name="Rectangle 1130"/>
            <p:cNvSpPr>
              <a:spLocks noChangeArrowheads="1"/>
            </p:cNvSpPr>
            <p:nvPr/>
          </p:nvSpPr>
          <p:spPr bwMode="auto">
            <a:xfrm>
              <a:off x="8553450" y="4535488"/>
              <a:ext cx="53975" cy="71437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91" name="Rectangle 1131"/>
            <p:cNvSpPr>
              <a:spLocks noChangeArrowheads="1"/>
            </p:cNvSpPr>
            <p:nvPr/>
          </p:nvSpPr>
          <p:spPr bwMode="auto">
            <a:xfrm>
              <a:off x="8535988" y="3844925"/>
              <a:ext cx="71437" cy="69850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92" name="Rectangle 1132"/>
            <p:cNvSpPr>
              <a:spLocks noChangeArrowheads="1"/>
            </p:cNvSpPr>
            <p:nvPr/>
          </p:nvSpPr>
          <p:spPr bwMode="auto">
            <a:xfrm>
              <a:off x="8535988" y="3498850"/>
              <a:ext cx="71437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93" name="Rectangle 1133"/>
            <p:cNvSpPr>
              <a:spLocks noChangeArrowheads="1"/>
            </p:cNvSpPr>
            <p:nvPr/>
          </p:nvSpPr>
          <p:spPr bwMode="auto">
            <a:xfrm>
              <a:off x="7337425" y="2868613"/>
              <a:ext cx="6127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prereq :=</a:t>
              </a:r>
              <a:endParaRPr lang="en-US" altLang="en-US"/>
            </a:p>
          </p:txBody>
        </p:sp>
        <p:sp>
          <p:nvSpPr>
            <p:cNvPr id="400494" name="Rectangle 1134"/>
            <p:cNvSpPr>
              <a:spLocks noChangeArrowheads="1"/>
            </p:cNvSpPr>
            <p:nvPr/>
          </p:nvSpPr>
          <p:spPr bwMode="auto">
            <a:xfrm>
              <a:off x="7337425" y="3041650"/>
              <a:ext cx="1020763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getPrerequisite</a:t>
              </a:r>
              <a:endParaRPr lang="en-US" altLang="en-US"/>
            </a:p>
          </p:txBody>
        </p:sp>
        <p:sp>
          <p:nvSpPr>
            <p:cNvPr id="400495" name="Rectangle 1135"/>
            <p:cNvSpPr>
              <a:spLocks noChangeArrowheads="1"/>
            </p:cNvSpPr>
            <p:nvPr/>
          </p:nvSpPr>
          <p:spPr bwMode="auto">
            <a:xfrm>
              <a:off x="8502650" y="3049588"/>
              <a:ext cx="139700" cy="174625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96" name="Line 1136"/>
            <p:cNvSpPr>
              <a:spLocks noChangeShapeType="1"/>
            </p:cNvSpPr>
            <p:nvPr/>
          </p:nvSpPr>
          <p:spPr bwMode="auto">
            <a:xfrm flipH="1">
              <a:off x="4435475" y="3076575"/>
              <a:ext cx="4041775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497" name="Rectangle 1137"/>
            <p:cNvSpPr>
              <a:spLocks noChangeArrowheads="1"/>
            </p:cNvSpPr>
            <p:nvPr/>
          </p:nvSpPr>
          <p:spPr bwMode="auto">
            <a:xfrm>
              <a:off x="7275513" y="3498850"/>
              <a:ext cx="53975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498" name="Rectangle 1138"/>
            <p:cNvSpPr>
              <a:spLocks noChangeArrowheads="1"/>
            </p:cNvSpPr>
            <p:nvPr/>
          </p:nvSpPr>
          <p:spPr bwMode="auto">
            <a:xfrm>
              <a:off x="5073650" y="3111500"/>
              <a:ext cx="122872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hasPrerequisite :=</a:t>
              </a:r>
              <a:endParaRPr lang="en-US" altLang="en-US"/>
            </a:p>
          </p:txBody>
        </p:sp>
        <p:sp>
          <p:nvSpPr>
            <p:cNvPr id="400499" name="Rectangle 1139"/>
            <p:cNvSpPr>
              <a:spLocks noChangeArrowheads="1"/>
            </p:cNvSpPr>
            <p:nvPr/>
          </p:nvSpPr>
          <p:spPr bwMode="auto">
            <a:xfrm>
              <a:off x="5073650" y="3284538"/>
              <a:ext cx="177958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hasPassedCourse(prereq)</a:t>
              </a:r>
              <a:endParaRPr lang="en-US" altLang="en-US"/>
            </a:p>
          </p:txBody>
        </p:sp>
        <p:sp>
          <p:nvSpPr>
            <p:cNvPr id="400500" name="Line 1140"/>
            <p:cNvSpPr>
              <a:spLocks noChangeShapeType="1"/>
            </p:cNvSpPr>
            <p:nvPr/>
          </p:nvSpPr>
          <p:spPr bwMode="auto">
            <a:xfrm flipH="1">
              <a:off x="4435475" y="3302000"/>
              <a:ext cx="2779713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501" name="Rectangle 1141"/>
            <p:cNvSpPr>
              <a:spLocks noChangeArrowheads="1"/>
            </p:cNvSpPr>
            <p:nvPr/>
          </p:nvSpPr>
          <p:spPr bwMode="auto">
            <a:xfrm>
              <a:off x="7240588" y="3292475"/>
              <a:ext cx="139700" cy="1730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0504" name="Group 1144"/>
            <p:cNvGrpSpPr>
              <a:grpSpLocks/>
            </p:cNvGrpSpPr>
            <p:nvPr/>
          </p:nvGrpSpPr>
          <p:grpSpPr bwMode="auto">
            <a:xfrm>
              <a:off x="4435475" y="4268788"/>
              <a:ext cx="103188" cy="120650"/>
              <a:chOff x="2842" y="2689"/>
              <a:chExt cx="65" cy="76"/>
            </a:xfrm>
          </p:grpSpPr>
          <p:sp>
            <p:nvSpPr>
              <p:cNvPr id="400502" name="Line 1142"/>
              <p:cNvSpPr>
                <a:spLocks noChangeShapeType="1"/>
              </p:cNvSpPr>
              <p:nvPr/>
            </p:nvSpPr>
            <p:spPr bwMode="auto">
              <a:xfrm flipH="1" flipV="1">
                <a:off x="2842" y="2732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03" name="Line 1143"/>
              <p:cNvSpPr>
                <a:spLocks noChangeShapeType="1"/>
              </p:cNvSpPr>
              <p:nvPr/>
            </p:nvSpPr>
            <p:spPr bwMode="auto">
              <a:xfrm flipH="1">
                <a:off x="2842" y="2689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400507" name="Group 1147"/>
            <p:cNvGrpSpPr>
              <a:grpSpLocks/>
            </p:cNvGrpSpPr>
            <p:nvPr/>
          </p:nvGrpSpPr>
          <p:grpSpPr bwMode="auto">
            <a:xfrm>
              <a:off x="7112000" y="4198938"/>
              <a:ext cx="103188" cy="122237"/>
              <a:chOff x="4528" y="2645"/>
              <a:chExt cx="65" cy="77"/>
            </a:xfrm>
          </p:grpSpPr>
          <p:sp>
            <p:nvSpPr>
              <p:cNvPr id="400505" name="Line 1145"/>
              <p:cNvSpPr>
                <a:spLocks noChangeShapeType="1"/>
              </p:cNvSpPr>
              <p:nvPr/>
            </p:nvSpPr>
            <p:spPr bwMode="auto">
              <a:xfrm flipV="1">
                <a:off x="4528" y="2689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06" name="Line 1146"/>
              <p:cNvSpPr>
                <a:spLocks noChangeShapeType="1"/>
              </p:cNvSpPr>
              <p:nvPr/>
            </p:nvSpPr>
            <p:spPr bwMode="auto">
              <a:xfrm>
                <a:off x="4528" y="2645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400510" name="Group 1150"/>
            <p:cNvGrpSpPr>
              <a:grpSpLocks/>
            </p:cNvGrpSpPr>
            <p:nvPr/>
          </p:nvGrpSpPr>
          <p:grpSpPr bwMode="auto">
            <a:xfrm>
              <a:off x="7112000" y="3249613"/>
              <a:ext cx="103188" cy="103187"/>
              <a:chOff x="4528" y="2047"/>
              <a:chExt cx="65" cy="65"/>
            </a:xfrm>
          </p:grpSpPr>
          <p:sp>
            <p:nvSpPr>
              <p:cNvPr id="400508" name="Line 1148"/>
              <p:cNvSpPr>
                <a:spLocks noChangeShapeType="1"/>
              </p:cNvSpPr>
              <p:nvPr/>
            </p:nvSpPr>
            <p:spPr bwMode="auto">
              <a:xfrm flipV="1">
                <a:off x="4528" y="2080"/>
                <a:ext cx="65" cy="3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09" name="Line 1149"/>
              <p:cNvSpPr>
                <a:spLocks noChangeShapeType="1"/>
              </p:cNvSpPr>
              <p:nvPr/>
            </p:nvSpPr>
            <p:spPr bwMode="auto">
              <a:xfrm>
                <a:off x="4528" y="2047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400513" name="Group 1153"/>
            <p:cNvGrpSpPr>
              <a:grpSpLocks/>
            </p:cNvGrpSpPr>
            <p:nvPr/>
          </p:nvGrpSpPr>
          <p:grpSpPr bwMode="auto">
            <a:xfrm>
              <a:off x="8356600" y="3008313"/>
              <a:ext cx="103188" cy="120650"/>
              <a:chOff x="5312" y="1895"/>
              <a:chExt cx="65" cy="76"/>
            </a:xfrm>
          </p:grpSpPr>
          <p:sp>
            <p:nvSpPr>
              <p:cNvPr id="400511" name="Line 1151"/>
              <p:cNvSpPr>
                <a:spLocks noChangeShapeType="1"/>
              </p:cNvSpPr>
              <p:nvPr/>
            </p:nvSpPr>
            <p:spPr bwMode="auto">
              <a:xfrm flipV="1">
                <a:off x="5312" y="1938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12" name="Line 1152"/>
              <p:cNvSpPr>
                <a:spLocks noChangeShapeType="1"/>
              </p:cNvSpPr>
              <p:nvPr/>
            </p:nvSpPr>
            <p:spPr bwMode="auto">
              <a:xfrm>
                <a:off x="5312" y="1895"/>
                <a:ext cx="65" cy="3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400514" name="Rectangle 1154"/>
            <p:cNvSpPr>
              <a:spLocks noChangeArrowheads="1"/>
            </p:cNvSpPr>
            <p:nvPr/>
          </p:nvSpPr>
          <p:spPr bwMode="auto">
            <a:xfrm>
              <a:off x="4468813" y="4113213"/>
              <a:ext cx="14763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addToRegistrationList</a:t>
              </a:r>
              <a:endParaRPr lang="en-US" altLang="en-US"/>
            </a:p>
          </p:txBody>
        </p:sp>
        <p:grpSp>
          <p:nvGrpSpPr>
            <p:cNvPr id="400517" name="Group 1157"/>
            <p:cNvGrpSpPr>
              <a:grpSpLocks/>
            </p:cNvGrpSpPr>
            <p:nvPr/>
          </p:nvGrpSpPr>
          <p:grpSpPr bwMode="auto">
            <a:xfrm>
              <a:off x="5765800" y="3611563"/>
              <a:ext cx="103188" cy="104775"/>
              <a:chOff x="3680" y="2275"/>
              <a:chExt cx="65" cy="66"/>
            </a:xfrm>
          </p:grpSpPr>
          <p:sp>
            <p:nvSpPr>
              <p:cNvPr id="400515" name="Line 1155"/>
              <p:cNvSpPr>
                <a:spLocks noChangeShapeType="1"/>
              </p:cNvSpPr>
              <p:nvPr/>
            </p:nvSpPr>
            <p:spPr bwMode="auto">
              <a:xfrm flipV="1">
                <a:off x="3680" y="2308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16" name="Line 1156"/>
              <p:cNvSpPr>
                <a:spLocks noChangeShapeType="1"/>
              </p:cNvSpPr>
              <p:nvPr/>
            </p:nvSpPr>
            <p:spPr bwMode="auto">
              <a:xfrm>
                <a:off x="3680" y="2275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400520" name="Group 1160"/>
            <p:cNvGrpSpPr>
              <a:grpSpLocks/>
            </p:cNvGrpSpPr>
            <p:nvPr/>
          </p:nvGrpSpPr>
          <p:grpSpPr bwMode="auto">
            <a:xfrm>
              <a:off x="4176713" y="2921000"/>
              <a:ext cx="103187" cy="103188"/>
              <a:chOff x="2679" y="1840"/>
              <a:chExt cx="65" cy="65"/>
            </a:xfrm>
          </p:grpSpPr>
          <p:sp>
            <p:nvSpPr>
              <p:cNvPr id="400518" name="Line 1158"/>
              <p:cNvSpPr>
                <a:spLocks noChangeShapeType="1"/>
              </p:cNvSpPr>
              <p:nvPr/>
            </p:nvSpPr>
            <p:spPr bwMode="auto">
              <a:xfrm flipV="1">
                <a:off x="2679" y="1873"/>
                <a:ext cx="65" cy="3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19" name="Line 1159"/>
              <p:cNvSpPr>
                <a:spLocks noChangeShapeType="1"/>
              </p:cNvSpPr>
              <p:nvPr/>
            </p:nvSpPr>
            <p:spPr bwMode="auto">
              <a:xfrm>
                <a:off x="2679" y="1840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400521" name="Line 1161"/>
            <p:cNvSpPr>
              <a:spLocks noChangeShapeType="1"/>
            </p:cNvSpPr>
            <p:nvPr/>
          </p:nvSpPr>
          <p:spPr bwMode="auto">
            <a:xfrm flipH="1">
              <a:off x="4452938" y="4337050"/>
              <a:ext cx="1571625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0522" name="Rectangle 1162"/>
            <p:cNvSpPr>
              <a:spLocks noChangeArrowheads="1"/>
            </p:cNvSpPr>
            <p:nvPr/>
          </p:nvSpPr>
          <p:spPr bwMode="auto">
            <a:xfrm>
              <a:off x="2957513" y="4362450"/>
              <a:ext cx="69850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523" name="Rectangle 1163"/>
            <p:cNvSpPr>
              <a:spLocks noChangeArrowheads="1"/>
            </p:cNvSpPr>
            <p:nvPr/>
          </p:nvSpPr>
          <p:spPr bwMode="auto">
            <a:xfrm>
              <a:off x="2784475" y="4362450"/>
              <a:ext cx="71438" cy="7143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00524" name="Rectangle 1164"/>
            <p:cNvSpPr>
              <a:spLocks noChangeArrowheads="1"/>
            </p:cNvSpPr>
            <p:nvPr/>
          </p:nvSpPr>
          <p:spPr bwMode="auto">
            <a:xfrm>
              <a:off x="2646363" y="2911475"/>
              <a:ext cx="139700" cy="1677988"/>
            </a:xfrm>
            <a:prstGeom prst="rect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0527" name="Group 1167"/>
            <p:cNvGrpSpPr>
              <a:grpSpLocks/>
            </p:cNvGrpSpPr>
            <p:nvPr/>
          </p:nvGrpSpPr>
          <p:grpSpPr bwMode="auto">
            <a:xfrm>
              <a:off x="2776538" y="4321175"/>
              <a:ext cx="103187" cy="120650"/>
              <a:chOff x="1797" y="2722"/>
              <a:chExt cx="65" cy="76"/>
            </a:xfrm>
          </p:grpSpPr>
          <p:sp>
            <p:nvSpPr>
              <p:cNvPr id="400525" name="Line 1165"/>
              <p:cNvSpPr>
                <a:spLocks noChangeShapeType="1"/>
              </p:cNvSpPr>
              <p:nvPr/>
            </p:nvSpPr>
            <p:spPr bwMode="auto">
              <a:xfrm flipH="1" flipV="1">
                <a:off x="1797" y="2765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26" name="Line 1166"/>
              <p:cNvSpPr>
                <a:spLocks noChangeShapeType="1"/>
              </p:cNvSpPr>
              <p:nvPr/>
            </p:nvSpPr>
            <p:spPr bwMode="auto">
              <a:xfrm flipH="1">
                <a:off x="1797" y="2722"/>
                <a:ext cx="65" cy="3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400530" name="Group 1170"/>
            <p:cNvGrpSpPr>
              <a:grpSpLocks/>
            </p:cNvGrpSpPr>
            <p:nvPr/>
          </p:nvGrpSpPr>
          <p:grpSpPr bwMode="auto">
            <a:xfrm>
              <a:off x="1204913" y="4510088"/>
              <a:ext cx="103187" cy="104775"/>
              <a:chOff x="807" y="2841"/>
              <a:chExt cx="65" cy="66"/>
            </a:xfrm>
          </p:grpSpPr>
          <p:sp>
            <p:nvSpPr>
              <p:cNvPr id="400528" name="Line 1168"/>
              <p:cNvSpPr>
                <a:spLocks noChangeShapeType="1"/>
              </p:cNvSpPr>
              <p:nvPr/>
            </p:nvSpPr>
            <p:spPr bwMode="auto">
              <a:xfrm flipH="1" flipV="1">
                <a:off x="807" y="2874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29" name="Line 1169"/>
              <p:cNvSpPr>
                <a:spLocks noChangeShapeType="1"/>
              </p:cNvSpPr>
              <p:nvPr/>
            </p:nvSpPr>
            <p:spPr bwMode="auto">
              <a:xfrm flipH="1">
                <a:off x="807" y="2841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400533" name="Group 1173"/>
            <p:cNvGrpSpPr>
              <a:grpSpLocks/>
            </p:cNvGrpSpPr>
            <p:nvPr/>
          </p:nvGrpSpPr>
          <p:grpSpPr bwMode="auto">
            <a:xfrm>
              <a:off x="2517775" y="2835275"/>
              <a:ext cx="103188" cy="103188"/>
              <a:chOff x="1634" y="1786"/>
              <a:chExt cx="65" cy="65"/>
            </a:xfrm>
          </p:grpSpPr>
          <p:sp>
            <p:nvSpPr>
              <p:cNvPr id="400531" name="Line 1171"/>
              <p:cNvSpPr>
                <a:spLocks noChangeShapeType="1"/>
              </p:cNvSpPr>
              <p:nvPr/>
            </p:nvSpPr>
            <p:spPr bwMode="auto">
              <a:xfrm flipV="1">
                <a:off x="1634" y="1818"/>
                <a:ext cx="65" cy="33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0532" name="Line 1172"/>
              <p:cNvSpPr>
                <a:spLocks noChangeShapeType="1"/>
              </p:cNvSpPr>
              <p:nvPr/>
            </p:nvSpPr>
            <p:spPr bwMode="auto">
              <a:xfrm>
                <a:off x="1634" y="1786"/>
                <a:ext cx="65" cy="32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4644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EF443-D61E-437F-AC1A-3611E604F7E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iteration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over objects is indicated by an asterisk preceding the message name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645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133975"/>
            <a:ext cx="3729038" cy="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45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362200"/>
            <a:ext cx="5857875" cy="266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4555" name="Rectangle 11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 fontScale="90000"/>
          </a:bodyPr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Sequence diagrams – </a:t>
            </a:r>
            <a:b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</a:b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  an example with replicated messages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3985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52EA-F5FE-43C0-A3C1-E66D2C4EEE2B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401410" name="Rectangle 102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If an object’s life ends, this is shown with an X at the end of the lifeline</a:t>
            </a:r>
          </a:p>
        </p:txBody>
      </p:sp>
      <p:sp>
        <p:nvSpPr>
          <p:cNvPr id="401416" name="Rectangle 10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Sequence diagrams – </a:t>
            </a:r>
            <a:b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</a:b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 an example with object deletion</a:t>
            </a:r>
            <a:endParaRPr lang="en-US" altLang="en-US"/>
          </a:p>
        </p:txBody>
      </p:sp>
      <p:pic>
        <p:nvPicPr>
          <p:cNvPr id="401417" name="Picture 10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667000"/>
            <a:ext cx="7848600" cy="208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10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5034-088D-4D8F-9133-AA2DAE0C60AE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Collaboration diagrams</a:t>
            </a:r>
            <a:r>
              <a:rPr lang="en-US" altLang="en-US"/>
              <a:t> 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Collaboration diagrams emphasise how the objects collaborate in order to realize an interaction</a:t>
            </a:r>
            <a:r>
              <a:rPr lang="en-US" altLang="en-US"/>
              <a:t> 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collaboration diagram is a graph with the objects as the vertices.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Communication links are added between objects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Messages are attached to these links. 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Shown as arrows labelled with the message name 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Time ordering is indicated by prefixing the message with some numbering scheme.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93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9153B-14C7-4F46-9480-B0C4B4918B75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686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Collaboration diagrams – an example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84A1CB50-A28F-4CD7-98DE-D7C7B8C6BF9D}"/>
              </a:ext>
            </a:extLst>
          </p:cNvPr>
          <p:cNvGrpSpPr/>
          <p:nvPr/>
        </p:nvGrpSpPr>
        <p:grpSpPr>
          <a:xfrm>
            <a:off x="719572" y="2960948"/>
            <a:ext cx="8077200" cy="881062"/>
            <a:chOff x="990600" y="2722563"/>
            <a:chExt cx="8077200" cy="881062"/>
          </a:xfrm>
        </p:grpSpPr>
        <p:sp>
          <p:nvSpPr>
            <p:cNvPr id="368651" name="Rectangle 1035"/>
            <p:cNvSpPr>
              <a:spLocks noChangeArrowheads="1"/>
            </p:cNvSpPr>
            <p:nvPr/>
          </p:nvSpPr>
          <p:spPr bwMode="auto">
            <a:xfrm>
              <a:off x="6284913" y="2722563"/>
              <a:ext cx="1549400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2: addToSchedule</a:t>
              </a:r>
              <a:endParaRPr lang="en-US" altLang="en-US"/>
            </a:p>
          </p:txBody>
        </p:sp>
        <p:sp>
          <p:nvSpPr>
            <p:cNvPr id="368652" name="Line 1036"/>
            <p:cNvSpPr>
              <a:spLocks noChangeShapeType="1"/>
            </p:cNvSpPr>
            <p:nvPr/>
          </p:nvSpPr>
          <p:spPr bwMode="auto">
            <a:xfrm>
              <a:off x="2654300" y="3200400"/>
              <a:ext cx="22828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8653" name="Rectangle 1037"/>
            <p:cNvSpPr>
              <a:spLocks noChangeArrowheads="1"/>
            </p:cNvSpPr>
            <p:nvPr/>
          </p:nvSpPr>
          <p:spPr bwMode="auto">
            <a:xfrm>
              <a:off x="3262313" y="2722563"/>
              <a:ext cx="11858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1: &lt;&lt;create&gt;&gt;</a:t>
              </a:r>
              <a:endParaRPr lang="en-US" altLang="en-US"/>
            </a:p>
          </p:txBody>
        </p:sp>
        <p:grpSp>
          <p:nvGrpSpPr>
            <p:cNvPr id="368656" name="Group 1040"/>
            <p:cNvGrpSpPr>
              <a:grpSpLocks/>
            </p:cNvGrpSpPr>
            <p:nvPr/>
          </p:nvGrpSpPr>
          <p:grpSpPr bwMode="auto">
            <a:xfrm>
              <a:off x="8035925" y="2884488"/>
              <a:ext cx="1031875" cy="630237"/>
              <a:chOff x="5117" y="1817"/>
              <a:chExt cx="780" cy="397"/>
            </a:xfrm>
          </p:grpSpPr>
          <p:sp>
            <p:nvSpPr>
              <p:cNvPr id="368654" name="Rectangle 1038"/>
              <p:cNvSpPr>
                <a:spLocks noChangeArrowheads="1"/>
              </p:cNvSpPr>
              <p:nvPr/>
            </p:nvSpPr>
            <p:spPr bwMode="auto">
              <a:xfrm>
                <a:off x="5247" y="1907"/>
                <a:ext cx="536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500" u="sng">
                    <a:solidFill>
                      <a:srgbClr val="000000"/>
                    </a:solidFill>
                    <a:latin typeface="Arial" panose="020B0604020202020204" pitchFamily="34" charset="0"/>
                  </a:rPr>
                  <a:t>:Student</a:t>
                </a:r>
                <a:endParaRPr lang="en-US" altLang="en-US"/>
              </a:p>
            </p:txBody>
          </p:sp>
          <p:sp>
            <p:nvSpPr>
              <p:cNvPr id="368655" name="Rectangle 1039"/>
              <p:cNvSpPr>
                <a:spLocks noChangeArrowheads="1"/>
              </p:cNvSpPr>
              <p:nvPr/>
            </p:nvSpPr>
            <p:spPr bwMode="auto">
              <a:xfrm>
                <a:off x="5117" y="1817"/>
                <a:ext cx="780" cy="397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368660" name="Group 1044"/>
            <p:cNvGrpSpPr>
              <a:grpSpLocks/>
            </p:cNvGrpSpPr>
            <p:nvPr/>
          </p:nvGrpSpPr>
          <p:grpSpPr bwMode="auto">
            <a:xfrm>
              <a:off x="4968875" y="2884488"/>
              <a:ext cx="1195388" cy="630237"/>
              <a:chOff x="3185" y="1817"/>
              <a:chExt cx="753" cy="397"/>
            </a:xfrm>
          </p:grpSpPr>
          <p:sp>
            <p:nvSpPr>
              <p:cNvPr id="368657" name="Rectangle 1041"/>
              <p:cNvSpPr>
                <a:spLocks noChangeArrowheads="1"/>
              </p:cNvSpPr>
              <p:nvPr/>
            </p:nvSpPr>
            <p:spPr bwMode="auto">
              <a:xfrm>
                <a:off x="3288" y="1892"/>
                <a:ext cx="520" cy="15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8658" name="Rectangle 1042"/>
              <p:cNvSpPr>
                <a:spLocks noChangeArrowheads="1"/>
              </p:cNvSpPr>
              <p:nvPr/>
            </p:nvSpPr>
            <p:spPr bwMode="auto">
              <a:xfrm>
                <a:off x="3206" y="1893"/>
                <a:ext cx="675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500" u="sng">
                    <a:solidFill>
                      <a:srgbClr val="000000"/>
                    </a:solidFill>
                    <a:latin typeface="Arial" panose="020B0604020202020204" pitchFamily="34" charset="0"/>
                  </a:rPr>
                  <a:t>:Registration</a:t>
                </a:r>
                <a:endParaRPr lang="en-US" altLang="en-US"/>
              </a:p>
            </p:txBody>
          </p:sp>
          <p:sp>
            <p:nvSpPr>
              <p:cNvPr id="368659" name="Rectangle 1043"/>
              <p:cNvSpPr>
                <a:spLocks noChangeArrowheads="1"/>
              </p:cNvSpPr>
              <p:nvPr/>
            </p:nvSpPr>
            <p:spPr bwMode="auto">
              <a:xfrm>
                <a:off x="3185" y="1817"/>
                <a:ext cx="753" cy="397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368664" name="Group 1048"/>
            <p:cNvGrpSpPr>
              <a:grpSpLocks/>
            </p:cNvGrpSpPr>
            <p:nvPr/>
          </p:nvGrpSpPr>
          <p:grpSpPr bwMode="auto">
            <a:xfrm>
              <a:off x="990600" y="2906713"/>
              <a:ext cx="1673225" cy="630237"/>
              <a:chOff x="679" y="1831"/>
              <a:chExt cx="1054" cy="397"/>
            </a:xfrm>
          </p:grpSpPr>
          <p:sp>
            <p:nvSpPr>
              <p:cNvPr id="368661" name="Rectangle 1045"/>
              <p:cNvSpPr>
                <a:spLocks noChangeArrowheads="1"/>
              </p:cNvSpPr>
              <p:nvPr/>
            </p:nvSpPr>
            <p:spPr bwMode="auto">
              <a:xfrm>
                <a:off x="795" y="1892"/>
                <a:ext cx="822" cy="15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8662" name="Rectangle 1046"/>
              <p:cNvSpPr>
                <a:spLocks noChangeArrowheads="1"/>
              </p:cNvSpPr>
              <p:nvPr/>
            </p:nvSpPr>
            <p:spPr bwMode="auto">
              <a:xfrm>
                <a:off x="782" y="1893"/>
                <a:ext cx="822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500" u="sng">
                    <a:solidFill>
                      <a:srgbClr val="000000"/>
                    </a:solidFill>
                    <a:latin typeface="Arial" panose="020B0604020202020204" pitchFamily="34" charset="0"/>
                  </a:rPr>
                  <a:t>:CourseSection</a:t>
                </a:r>
                <a:endParaRPr lang="en-US" altLang="en-US"/>
              </a:p>
            </p:txBody>
          </p:sp>
          <p:sp>
            <p:nvSpPr>
              <p:cNvPr id="368663" name="Rectangle 1047"/>
              <p:cNvSpPr>
                <a:spLocks noChangeArrowheads="1"/>
              </p:cNvSpPr>
              <p:nvPr/>
            </p:nvSpPr>
            <p:spPr bwMode="auto">
              <a:xfrm>
                <a:off x="679" y="1831"/>
                <a:ext cx="1054" cy="397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368665" name="Line 1049"/>
            <p:cNvSpPr>
              <a:spLocks noChangeShapeType="1"/>
            </p:cNvSpPr>
            <p:nvPr/>
          </p:nvSpPr>
          <p:spPr bwMode="auto">
            <a:xfrm flipH="1">
              <a:off x="6154738" y="3200400"/>
              <a:ext cx="187007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68666" name="Line 1050"/>
            <p:cNvSpPr>
              <a:spLocks noChangeShapeType="1"/>
            </p:cNvSpPr>
            <p:nvPr/>
          </p:nvSpPr>
          <p:spPr bwMode="auto">
            <a:xfrm flipH="1">
              <a:off x="3544888" y="3048000"/>
              <a:ext cx="392112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368669" name="Group 1053"/>
            <p:cNvGrpSpPr>
              <a:grpSpLocks/>
            </p:cNvGrpSpPr>
            <p:nvPr/>
          </p:nvGrpSpPr>
          <p:grpSpPr bwMode="auto">
            <a:xfrm>
              <a:off x="3871913" y="2982913"/>
              <a:ext cx="85725" cy="152400"/>
              <a:chOff x="2494" y="1879"/>
              <a:chExt cx="54" cy="96"/>
            </a:xfrm>
          </p:grpSpPr>
          <p:sp>
            <p:nvSpPr>
              <p:cNvPr id="368667" name="Line 1051"/>
              <p:cNvSpPr>
                <a:spLocks noChangeShapeType="1"/>
              </p:cNvSpPr>
              <p:nvPr/>
            </p:nvSpPr>
            <p:spPr bwMode="auto">
              <a:xfrm>
                <a:off x="2494" y="1879"/>
                <a:ext cx="54" cy="4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8668" name="Line 1052"/>
              <p:cNvSpPr>
                <a:spLocks noChangeShapeType="1"/>
              </p:cNvSpPr>
              <p:nvPr/>
            </p:nvSpPr>
            <p:spPr bwMode="auto">
              <a:xfrm flipV="1">
                <a:off x="2494" y="1920"/>
                <a:ext cx="54" cy="55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368670" name="Line 1054"/>
            <p:cNvSpPr>
              <a:spLocks noChangeShapeType="1"/>
            </p:cNvSpPr>
            <p:nvPr/>
          </p:nvSpPr>
          <p:spPr bwMode="auto">
            <a:xfrm flipH="1">
              <a:off x="7002463" y="3048000"/>
              <a:ext cx="3905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368673" name="Group 1057"/>
            <p:cNvGrpSpPr>
              <a:grpSpLocks/>
            </p:cNvGrpSpPr>
            <p:nvPr/>
          </p:nvGrpSpPr>
          <p:grpSpPr bwMode="auto">
            <a:xfrm>
              <a:off x="7327900" y="2982913"/>
              <a:ext cx="87313" cy="152400"/>
              <a:chOff x="4671" y="1879"/>
              <a:chExt cx="55" cy="96"/>
            </a:xfrm>
          </p:grpSpPr>
          <p:sp>
            <p:nvSpPr>
              <p:cNvPr id="368671" name="Line 1055"/>
              <p:cNvSpPr>
                <a:spLocks noChangeShapeType="1"/>
              </p:cNvSpPr>
              <p:nvPr/>
            </p:nvSpPr>
            <p:spPr bwMode="auto">
              <a:xfrm>
                <a:off x="4671" y="1879"/>
                <a:ext cx="55" cy="4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8672" name="Line 1056"/>
              <p:cNvSpPr>
                <a:spLocks noChangeShapeType="1"/>
              </p:cNvSpPr>
              <p:nvPr/>
            </p:nvSpPr>
            <p:spPr bwMode="auto">
              <a:xfrm flipV="1">
                <a:off x="4671" y="1920"/>
                <a:ext cx="55" cy="55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368674" name="Line 1058"/>
            <p:cNvSpPr>
              <a:spLocks noChangeShapeType="1"/>
            </p:cNvSpPr>
            <p:nvPr/>
          </p:nvSpPr>
          <p:spPr bwMode="auto">
            <a:xfrm>
              <a:off x="3522663" y="3330575"/>
              <a:ext cx="392112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368677" name="Group 1061"/>
            <p:cNvGrpSpPr>
              <a:grpSpLocks/>
            </p:cNvGrpSpPr>
            <p:nvPr/>
          </p:nvGrpSpPr>
          <p:grpSpPr bwMode="auto">
            <a:xfrm>
              <a:off x="3522663" y="3243263"/>
              <a:ext cx="66675" cy="152400"/>
              <a:chOff x="2274" y="2043"/>
              <a:chExt cx="42" cy="96"/>
            </a:xfrm>
          </p:grpSpPr>
          <p:sp>
            <p:nvSpPr>
              <p:cNvPr id="368675" name="Line 1059"/>
              <p:cNvSpPr>
                <a:spLocks noChangeShapeType="1"/>
              </p:cNvSpPr>
              <p:nvPr/>
            </p:nvSpPr>
            <p:spPr bwMode="auto">
              <a:xfrm flipH="1">
                <a:off x="2274" y="2043"/>
                <a:ext cx="42" cy="55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368676" name="Line 1060"/>
              <p:cNvSpPr>
                <a:spLocks noChangeShapeType="1"/>
              </p:cNvSpPr>
              <p:nvPr/>
            </p:nvSpPr>
            <p:spPr bwMode="auto">
              <a:xfrm flipH="1" flipV="1">
                <a:off x="2274" y="2098"/>
                <a:ext cx="42" cy="4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368678" name="Rectangle 1062"/>
            <p:cNvSpPr>
              <a:spLocks noChangeArrowheads="1"/>
            </p:cNvSpPr>
            <p:nvPr/>
          </p:nvSpPr>
          <p:spPr bwMode="auto">
            <a:xfrm>
              <a:off x="2762250" y="3375025"/>
              <a:ext cx="206851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500">
                  <a:solidFill>
                    <a:srgbClr val="000000"/>
                  </a:solidFill>
                  <a:latin typeface="Arial" panose="020B0604020202020204" pitchFamily="34" charset="0"/>
                </a:rPr>
                <a:t>3: addToRegistrationList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6584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F949E-E6B9-4667-AB6A-C8389A55531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02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Collaboration 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diagrams – </a:t>
            </a:r>
            <a:b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</a:b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 same example, more details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02437" name="Line 1029"/>
          <p:cNvSpPr>
            <a:spLocks noChangeShapeType="1"/>
          </p:cNvSpPr>
          <p:nvPr/>
        </p:nvSpPr>
        <p:spPr bwMode="auto">
          <a:xfrm flipH="1">
            <a:off x="1760538" y="3027363"/>
            <a:ext cx="309245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2438" name="Rectangle 1030"/>
          <p:cNvSpPr>
            <a:spLocks noChangeArrowheads="1"/>
          </p:cNvSpPr>
          <p:nvPr/>
        </p:nvSpPr>
        <p:spPr bwMode="auto">
          <a:xfrm>
            <a:off x="2152650" y="2439988"/>
            <a:ext cx="231933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1: requestToRegister(aStudent)</a:t>
            </a:r>
            <a:endParaRPr lang="en-US" altLang="en-US"/>
          </a:p>
        </p:txBody>
      </p:sp>
      <p:sp>
        <p:nvSpPr>
          <p:cNvPr id="402439" name="Rectangle 1031"/>
          <p:cNvSpPr>
            <a:spLocks noChangeArrowheads="1"/>
          </p:cNvSpPr>
          <p:nvPr/>
        </p:nvSpPr>
        <p:spPr bwMode="auto">
          <a:xfrm>
            <a:off x="3055938" y="2624138"/>
            <a:ext cx="727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&lt;&lt;local&gt;&gt;</a:t>
            </a:r>
            <a:endParaRPr lang="en-US" altLang="en-US"/>
          </a:p>
        </p:txBody>
      </p:sp>
      <p:sp>
        <p:nvSpPr>
          <p:cNvPr id="402440" name="Rectangle 1032"/>
          <p:cNvSpPr>
            <a:spLocks noChangeArrowheads="1"/>
          </p:cNvSpPr>
          <p:nvPr/>
        </p:nvSpPr>
        <p:spPr bwMode="auto">
          <a:xfrm>
            <a:off x="4159250" y="4243388"/>
            <a:ext cx="13430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5: addToSchedule</a:t>
            </a:r>
            <a:endParaRPr lang="en-US" altLang="en-US"/>
          </a:p>
        </p:txBody>
      </p:sp>
      <p:sp>
        <p:nvSpPr>
          <p:cNvPr id="402441" name="Rectangle 1033"/>
          <p:cNvSpPr>
            <a:spLocks noChangeArrowheads="1"/>
          </p:cNvSpPr>
          <p:nvPr/>
        </p:nvSpPr>
        <p:spPr bwMode="auto">
          <a:xfrm>
            <a:off x="4362450" y="4427538"/>
            <a:ext cx="11430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&lt;&lt;parameter&gt;&gt;</a:t>
            </a:r>
            <a:endParaRPr lang="en-US" altLang="en-US"/>
          </a:p>
        </p:txBody>
      </p:sp>
      <p:sp>
        <p:nvSpPr>
          <p:cNvPr id="402442" name="Rectangle 1034"/>
          <p:cNvSpPr>
            <a:spLocks noChangeArrowheads="1"/>
          </p:cNvSpPr>
          <p:nvPr/>
        </p:nvSpPr>
        <p:spPr bwMode="auto">
          <a:xfrm>
            <a:off x="2724150" y="3986213"/>
            <a:ext cx="7080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 u="sng">
                <a:solidFill>
                  <a:srgbClr val="000000"/>
                </a:solidFill>
                <a:latin typeface="Arial" panose="020B0604020202020204" pitchFamily="34" charset="0"/>
              </a:rPr>
              <a:t>aStudent:</a:t>
            </a:r>
            <a:endParaRPr lang="en-US" altLang="en-US"/>
          </a:p>
        </p:txBody>
      </p:sp>
      <p:sp>
        <p:nvSpPr>
          <p:cNvPr id="402443" name="Rectangle 1035"/>
          <p:cNvSpPr>
            <a:spLocks noChangeArrowheads="1"/>
          </p:cNvSpPr>
          <p:nvPr/>
        </p:nvSpPr>
        <p:spPr bwMode="auto">
          <a:xfrm>
            <a:off x="2797175" y="4170363"/>
            <a:ext cx="663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 u="sng">
                <a:solidFill>
                  <a:srgbClr val="000000"/>
                </a:solidFill>
                <a:latin typeface="Arial" panose="020B0604020202020204" pitchFamily="34" charset="0"/>
              </a:rPr>
              <a:t>Student</a:t>
            </a:r>
            <a:endParaRPr lang="en-US" altLang="en-US"/>
          </a:p>
        </p:txBody>
      </p:sp>
      <p:sp>
        <p:nvSpPr>
          <p:cNvPr id="402444" name="Rectangle 1036"/>
          <p:cNvSpPr>
            <a:spLocks noChangeArrowheads="1"/>
          </p:cNvSpPr>
          <p:nvPr/>
        </p:nvSpPr>
        <p:spPr bwMode="auto">
          <a:xfrm>
            <a:off x="2549525" y="3865563"/>
            <a:ext cx="1047750" cy="62547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02447" name="Group 1039"/>
          <p:cNvGrpSpPr>
            <a:grpSpLocks/>
          </p:cNvGrpSpPr>
          <p:nvPr/>
        </p:nvGrpSpPr>
        <p:grpSpPr bwMode="auto">
          <a:xfrm>
            <a:off x="6046788" y="3810000"/>
            <a:ext cx="1095375" cy="533400"/>
            <a:chOff x="3809" y="2400"/>
            <a:chExt cx="690" cy="336"/>
          </a:xfrm>
        </p:grpSpPr>
        <p:sp>
          <p:nvSpPr>
            <p:cNvPr id="402445" name="Rectangle 1037"/>
            <p:cNvSpPr>
              <a:spLocks noChangeArrowheads="1"/>
            </p:cNvSpPr>
            <p:nvPr/>
          </p:nvSpPr>
          <p:spPr bwMode="auto">
            <a:xfrm>
              <a:off x="3838" y="2464"/>
              <a:ext cx="66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300" u="sng">
                  <a:solidFill>
                    <a:srgbClr val="000000"/>
                  </a:solidFill>
                  <a:latin typeface="Arial" panose="020B0604020202020204" pitchFamily="34" charset="0"/>
                </a:rPr>
                <a:t>:Registration</a:t>
              </a:r>
              <a:endParaRPr lang="en-US" altLang="en-US"/>
            </a:p>
          </p:txBody>
        </p:sp>
        <p:sp>
          <p:nvSpPr>
            <p:cNvPr id="402446" name="Rectangle 1038"/>
            <p:cNvSpPr>
              <a:spLocks noChangeArrowheads="1"/>
            </p:cNvSpPr>
            <p:nvPr/>
          </p:nvSpPr>
          <p:spPr bwMode="auto">
            <a:xfrm>
              <a:off x="3809" y="2400"/>
              <a:ext cx="638" cy="33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02451" name="Group 1043"/>
          <p:cNvGrpSpPr>
            <a:grpSpLocks/>
          </p:cNvGrpSpPr>
          <p:nvPr/>
        </p:nvGrpSpPr>
        <p:grpSpPr bwMode="auto">
          <a:xfrm>
            <a:off x="4868863" y="2706688"/>
            <a:ext cx="1417637" cy="533400"/>
            <a:chOff x="3067" y="1705"/>
            <a:chExt cx="893" cy="336"/>
          </a:xfrm>
        </p:grpSpPr>
        <p:sp>
          <p:nvSpPr>
            <p:cNvPr id="402448" name="Rectangle 1040"/>
            <p:cNvSpPr>
              <a:spLocks noChangeArrowheads="1"/>
            </p:cNvSpPr>
            <p:nvPr/>
          </p:nvSpPr>
          <p:spPr bwMode="auto">
            <a:xfrm>
              <a:off x="3154" y="1757"/>
              <a:ext cx="696" cy="1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2449" name="Rectangle 1041"/>
            <p:cNvSpPr>
              <a:spLocks noChangeArrowheads="1"/>
            </p:cNvSpPr>
            <p:nvPr/>
          </p:nvSpPr>
          <p:spPr bwMode="auto">
            <a:xfrm>
              <a:off x="3142" y="1757"/>
              <a:ext cx="71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300" u="sng">
                  <a:solidFill>
                    <a:srgbClr val="000000"/>
                  </a:solidFill>
                  <a:latin typeface="Arial" panose="020B0604020202020204" pitchFamily="34" charset="0"/>
                </a:rPr>
                <a:t>:CourseSection</a:t>
              </a:r>
              <a:endParaRPr lang="en-US" altLang="en-US"/>
            </a:p>
          </p:txBody>
        </p:sp>
        <p:sp>
          <p:nvSpPr>
            <p:cNvPr id="402450" name="Rectangle 1042"/>
            <p:cNvSpPr>
              <a:spLocks noChangeArrowheads="1"/>
            </p:cNvSpPr>
            <p:nvPr/>
          </p:nvSpPr>
          <p:spPr bwMode="auto">
            <a:xfrm>
              <a:off x="3067" y="1705"/>
              <a:ext cx="893" cy="33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02454" name="Group 1046"/>
          <p:cNvGrpSpPr>
            <a:grpSpLocks/>
          </p:cNvGrpSpPr>
          <p:nvPr/>
        </p:nvGrpSpPr>
        <p:grpSpPr bwMode="auto">
          <a:xfrm>
            <a:off x="1076325" y="2743200"/>
            <a:ext cx="681038" cy="533400"/>
            <a:chOff x="678" y="1728"/>
            <a:chExt cx="429" cy="336"/>
          </a:xfrm>
        </p:grpSpPr>
        <p:sp>
          <p:nvSpPr>
            <p:cNvPr id="402452" name="Rectangle 1044"/>
            <p:cNvSpPr>
              <a:spLocks noChangeArrowheads="1"/>
            </p:cNvSpPr>
            <p:nvPr/>
          </p:nvSpPr>
          <p:spPr bwMode="auto">
            <a:xfrm>
              <a:off x="765" y="1780"/>
              <a:ext cx="24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300">
                  <a:solidFill>
                    <a:srgbClr val="000000"/>
                  </a:solidFill>
                  <a:latin typeface="Arial" panose="020B0604020202020204" pitchFamily="34" charset="0"/>
                </a:rPr>
                <a:t>GUI</a:t>
              </a:r>
              <a:endParaRPr lang="en-US" altLang="en-US"/>
            </a:p>
          </p:txBody>
        </p:sp>
        <p:sp>
          <p:nvSpPr>
            <p:cNvPr id="402453" name="Rectangle 1045"/>
            <p:cNvSpPr>
              <a:spLocks noChangeArrowheads="1"/>
            </p:cNvSpPr>
            <p:nvPr/>
          </p:nvSpPr>
          <p:spPr bwMode="auto">
            <a:xfrm>
              <a:off x="678" y="1728"/>
              <a:ext cx="429" cy="33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02457" name="Group 1049"/>
          <p:cNvGrpSpPr>
            <a:grpSpLocks/>
          </p:cNvGrpSpPr>
          <p:nvPr/>
        </p:nvGrpSpPr>
        <p:grpSpPr bwMode="auto">
          <a:xfrm>
            <a:off x="8237538" y="2706688"/>
            <a:ext cx="754062" cy="533400"/>
            <a:chOff x="5189" y="1705"/>
            <a:chExt cx="661" cy="336"/>
          </a:xfrm>
        </p:grpSpPr>
        <p:sp>
          <p:nvSpPr>
            <p:cNvPr id="402455" name="Rectangle 1047"/>
            <p:cNvSpPr>
              <a:spLocks noChangeArrowheads="1"/>
            </p:cNvSpPr>
            <p:nvPr/>
          </p:nvSpPr>
          <p:spPr bwMode="auto">
            <a:xfrm>
              <a:off x="5189" y="1705"/>
              <a:ext cx="661" cy="33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2456" name="Rectangle 1048"/>
            <p:cNvSpPr>
              <a:spLocks noChangeArrowheads="1"/>
            </p:cNvSpPr>
            <p:nvPr/>
          </p:nvSpPr>
          <p:spPr bwMode="auto">
            <a:xfrm>
              <a:off x="5218" y="1769"/>
              <a:ext cx="50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300" u="sng">
                  <a:solidFill>
                    <a:srgbClr val="000000"/>
                  </a:solidFill>
                  <a:latin typeface="Arial" panose="020B0604020202020204" pitchFamily="34" charset="0"/>
                </a:rPr>
                <a:t>:Course</a:t>
              </a:r>
              <a:endParaRPr lang="en-US" altLang="en-US"/>
            </a:p>
          </p:txBody>
        </p:sp>
      </p:grpSp>
      <p:sp>
        <p:nvSpPr>
          <p:cNvPr id="402458" name="Rectangle 1050"/>
          <p:cNvSpPr>
            <a:spLocks noChangeArrowheads="1"/>
          </p:cNvSpPr>
          <p:nvPr/>
        </p:nvSpPr>
        <p:spPr bwMode="auto">
          <a:xfrm>
            <a:off x="4822825" y="3414713"/>
            <a:ext cx="15176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4: [hasPrerequisite]  </a:t>
            </a:r>
            <a:endParaRPr lang="en-US" altLang="en-US"/>
          </a:p>
        </p:txBody>
      </p:sp>
      <p:sp>
        <p:nvSpPr>
          <p:cNvPr id="402459" name="Rectangle 1051"/>
          <p:cNvSpPr>
            <a:spLocks noChangeArrowheads="1"/>
          </p:cNvSpPr>
          <p:nvPr/>
        </p:nvSpPr>
        <p:spPr bwMode="auto">
          <a:xfrm>
            <a:off x="5246688" y="3598863"/>
            <a:ext cx="8477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&lt;&lt;create&gt;&gt;</a:t>
            </a:r>
            <a:endParaRPr lang="en-US" altLang="en-US"/>
          </a:p>
        </p:txBody>
      </p:sp>
      <p:sp>
        <p:nvSpPr>
          <p:cNvPr id="402460" name="Rectangle 1052"/>
          <p:cNvSpPr>
            <a:spLocks noChangeArrowheads="1"/>
          </p:cNvSpPr>
          <p:nvPr/>
        </p:nvSpPr>
        <p:spPr bwMode="auto">
          <a:xfrm>
            <a:off x="6240463" y="2384425"/>
            <a:ext cx="20113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2: prereq := getPrerequisite</a:t>
            </a:r>
            <a:endParaRPr lang="en-US" altLang="en-US"/>
          </a:p>
        </p:txBody>
      </p:sp>
      <p:sp>
        <p:nvSpPr>
          <p:cNvPr id="402461" name="Rectangle 1053"/>
          <p:cNvSpPr>
            <a:spLocks noChangeArrowheads="1"/>
          </p:cNvSpPr>
          <p:nvPr/>
        </p:nvSpPr>
        <p:spPr bwMode="auto">
          <a:xfrm>
            <a:off x="2171700" y="3194050"/>
            <a:ext cx="152241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3: hasPrerequisite :=</a:t>
            </a:r>
            <a:endParaRPr lang="en-US" altLang="en-US"/>
          </a:p>
        </p:txBody>
      </p:sp>
      <p:sp>
        <p:nvSpPr>
          <p:cNvPr id="402462" name="Rectangle 1054"/>
          <p:cNvSpPr>
            <a:spLocks noChangeArrowheads="1"/>
          </p:cNvSpPr>
          <p:nvPr/>
        </p:nvSpPr>
        <p:spPr bwMode="auto">
          <a:xfrm>
            <a:off x="1951038" y="3378200"/>
            <a:ext cx="194151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hasPassedCourse(prereq)</a:t>
            </a:r>
            <a:endParaRPr lang="en-US" altLang="en-US"/>
          </a:p>
        </p:txBody>
      </p:sp>
      <p:sp>
        <p:nvSpPr>
          <p:cNvPr id="402463" name="Rectangle 1055"/>
          <p:cNvSpPr>
            <a:spLocks noChangeArrowheads="1"/>
          </p:cNvSpPr>
          <p:nvPr/>
        </p:nvSpPr>
        <p:spPr bwMode="auto">
          <a:xfrm>
            <a:off x="2447925" y="3562350"/>
            <a:ext cx="1143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&lt;&lt;parameter&gt;&gt;</a:t>
            </a:r>
            <a:endParaRPr lang="en-US" altLang="en-US"/>
          </a:p>
        </p:txBody>
      </p:sp>
      <p:sp>
        <p:nvSpPr>
          <p:cNvPr id="402464" name="Line 1056"/>
          <p:cNvSpPr>
            <a:spLocks noChangeShapeType="1"/>
          </p:cNvSpPr>
          <p:nvPr/>
        </p:nvSpPr>
        <p:spPr bwMode="auto">
          <a:xfrm flipH="1">
            <a:off x="3619500" y="3162300"/>
            <a:ext cx="1233488" cy="7175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2465" name="Line 1057"/>
          <p:cNvSpPr>
            <a:spLocks noChangeShapeType="1"/>
          </p:cNvSpPr>
          <p:nvPr/>
        </p:nvSpPr>
        <p:spPr bwMode="auto">
          <a:xfrm>
            <a:off x="3606800" y="4076700"/>
            <a:ext cx="243046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2466" name="Line 1058"/>
          <p:cNvSpPr>
            <a:spLocks noChangeShapeType="1"/>
          </p:cNvSpPr>
          <p:nvPr/>
        </p:nvSpPr>
        <p:spPr bwMode="auto">
          <a:xfrm>
            <a:off x="6257925" y="3230563"/>
            <a:ext cx="387350" cy="5699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02471" name="Group 1063"/>
          <p:cNvGrpSpPr>
            <a:grpSpLocks/>
          </p:cNvGrpSpPr>
          <p:nvPr/>
        </p:nvGrpSpPr>
        <p:grpSpPr bwMode="auto">
          <a:xfrm>
            <a:off x="3073400" y="2843213"/>
            <a:ext cx="331788" cy="147637"/>
            <a:chOff x="1936" y="1791"/>
            <a:chExt cx="209" cy="93"/>
          </a:xfrm>
        </p:grpSpPr>
        <p:sp>
          <p:nvSpPr>
            <p:cNvPr id="402467" name="Line 1059"/>
            <p:cNvSpPr>
              <a:spLocks noChangeShapeType="1"/>
            </p:cNvSpPr>
            <p:nvPr/>
          </p:nvSpPr>
          <p:spPr bwMode="auto">
            <a:xfrm flipH="1">
              <a:off x="1936" y="1838"/>
              <a:ext cx="20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2470" name="Group 1062"/>
            <p:cNvGrpSpPr>
              <a:grpSpLocks/>
            </p:cNvGrpSpPr>
            <p:nvPr/>
          </p:nvGrpSpPr>
          <p:grpSpPr bwMode="auto">
            <a:xfrm>
              <a:off x="2110" y="1791"/>
              <a:ext cx="35" cy="93"/>
              <a:chOff x="2110" y="1791"/>
              <a:chExt cx="35" cy="93"/>
            </a:xfrm>
          </p:grpSpPr>
          <p:sp>
            <p:nvSpPr>
              <p:cNvPr id="402468" name="Line 1060"/>
              <p:cNvSpPr>
                <a:spLocks noChangeShapeType="1"/>
              </p:cNvSpPr>
              <p:nvPr/>
            </p:nvSpPr>
            <p:spPr bwMode="auto">
              <a:xfrm>
                <a:off x="2110" y="1791"/>
                <a:ext cx="35" cy="4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2469" name="Line 1061"/>
              <p:cNvSpPr>
                <a:spLocks noChangeShapeType="1"/>
              </p:cNvSpPr>
              <p:nvPr/>
            </p:nvSpPr>
            <p:spPr bwMode="auto">
              <a:xfrm flipV="1">
                <a:off x="2110" y="1838"/>
                <a:ext cx="3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</p:grpSp>
      <p:grpSp>
        <p:nvGrpSpPr>
          <p:cNvPr id="402476" name="Group 1068"/>
          <p:cNvGrpSpPr>
            <a:grpSpLocks/>
          </p:cNvGrpSpPr>
          <p:nvPr/>
        </p:nvGrpSpPr>
        <p:grpSpPr bwMode="auto">
          <a:xfrm>
            <a:off x="4711700" y="4114800"/>
            <a:ext cx="350838" cy="146050"/>
            <a:chOff x="2968" y="2592"/>
            <a:chExt cx="221" cy="92"/>
          </a:xfrm>
        </p:grpSpPr>
        <p:sp>
          <p:nvSpPr>
            <p:cNvPr id="402472" name="Line 1064"/>
            <p:cNvSpPr>
              <a:spLocks noChangeShapeType="1"/>
            </p:cNvSpPr>
            <p:nvPr/>
          </p:nvSpPr>
          <p:spPr bwMode="auto">
            <a:xfrm>
              <a:off x="2980" y="2638"/>
              <a:ext cx="20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2475" name="Group 1067"/>
            <p:cNvGrpSpPr>
              <a:grpSpLocks/>
            </p:cNvGrpSpPr>
            <p:nvPr/>
          </p:nvGrpSpPr>
          <p:grpSpPr bwMode="auto">
            <a:xfrm>
              <a:off x="2968" y="2592"/>
              <a:ext cx="47" cy="92"/>
              <a:chOff x="2968" y="2592"/>
              <a:chExt cx="47" cy="92"/>
            </a:xfrm>
          </p:grpSpPr>
          <p:sp>
            <p:nvSpPr>
              <p:cNvPr id="402473" name="Line 1065"/>
              <p:cNvSpPr>
                <a:spLocks noChangeShapeType="1"/>
              </p:cNvSpPr>
              <p:nvPr/>
            </p:nvSpPr>
            <p:spPr bwMode="auto">
              <a:xfrm flipH="1">
                <a:off x="2968" y="2592"/>
                <a:ext cx="47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2474" name="Line 1066"/>
              <p:cNvSpPr>
                <a:spLocks noChangeShapeType="1"/>
              </p:cNvSpPr>
              <p:nvPr/>
            </p:nvSpPr>
            <p:spPr bwMode="auto">
              <a:xfrm flipH="1" flipV="1">
                <a:off x="2968" y="2638"/>
                <a:ext cx="47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</p:grpSp>
      <p:grpSp>
        <p:nvGrpSpPr>
          <p:cNvPr id="402481" name="Group 1073"/>
          <p:cNvGrpSpPr>
            <a:grpSpLocks/>
          </p:cNvGrpSpPr>
          <p:nvPr/>
        </p:nvGrpSpPr>
        <p:grpSpPr bwMode="auto">
          <a:xfrm>
            <a:off x="3662363" y="3543300"/>
            <a:ext cx="312737" cy="184150"/>
            <a:chOff x="2307" y="2232"/>
            <a:chExt cx="197" cy="116"/>
          </a:xfrm>
        </p:grpSpPr>
        <p:sp>
          <p:nvSpPr>
            <p:cNvPr id="402477" name="Line 1069"/>
            <p:cNvSpPr>
              <a:spLocks noChangeShapeType="1"/>
            </p:cNvSpPr>
            <p:nvPr/>
          </p:nvSpPr>
          <p:spPr bwMode="auto">
            <a:xfrm flipV="1">
              <a:off x="2319" y="2232"/>
              <a:ext cx="185" cy="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2480" name="Group 1072"/>
            <p:cNvGrpSpPr>
              <a:grpSpLocks/>
            </p:cNvGrpSpPr>
            <p:nvPr/>
          </p:nvGrpSpPr>
          <p:grpSpPr bwMode="auto">
            <a:xfrm>
              <a:off x="2307" y="2278"/>
              <a:ext cx="58" cy="70"/>
              <a:chOff x="2307" y="2278"/>
              <a:chExt cx="58" cy="70"/>
            </a:xfrm>
          </p:grpSpPr>
          <p:sp>
            <p:nvSpPr>
              <p:cNvPr id="402478" name="Line 1070"/>
              <p:cNvSpPr>
                <a:spLocks noChangeShapeType="1"/>
              </p:cNvSpPr>
              <p:nvPr/>
            </p:nvSpPr>
            <p:spPr bwMode="auto">
              <a:xfrm flipH="1">
                <a:off x="2307" y="2278"/>
                <a:ext cx="23" cy="4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2479" name="Line 1071"/>
              <p:cNvSpPr>
                <a:spLocks noChangeShapeType="1"/>
              </p:cNvSpPr>
              <p:nvPr/>
            </p:nvSpPr>
            <p:spPr bwMode="auto">
              <a:xfrm flipH="1" flipV="1">
                <a:off x="2307" y="2325"/>
                <a:ext cx="58" cy="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</p:grpSp>
      <p:grpSp>
        <p:nvGrpSpPr>
          <p:cNvPr id="402486" name="Group 1078"/>
          <p:cNvGrpSpPr>
            <a:grpSpLocks/>
          </p:cNvGrpSpPr>
          <p:nvPr/>
        </p:nvGrpSpPr>
        <p:grpSpPr bwMode="auto">
          <a:xfrm>
            <a:off x="6221413" y="3378200"/>
            <a:ext cx="220662" cy="293688"/>
            <a:chOff x="3919" y="2128"/>
            <a:chExt cx="139" cy="185"/>
          </a:xfrm>
        </p:grpSpPr>
        <p:sp>
          <p:nvSpPr>
            <p:cNvPr id="402482" name="Line 1074"/>
            <p:cNvSpPr>
              <a:spLocks noChangeShapeType="1"/>
            </p:cNvSpPr>
            <p:nvPr/>
          </p:nvSpPr>
          <p:spPr bwMode="auto">
            <a:xfrm flipH="1" flipV="1">
              <a:off x="3919" y="2128"/>
              <a:ext cx="116" cy="1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2485" name="Group 1077"/>
            <p:cNvGrpSpPr>
              <a:grpSpLocks/>
            </p:cNvGrpSpPr>
            <p:nvPr/>
          </p:nvGrpSpPr>
          <p:grpSpPr bwMode="auto">
            <a:xfrm>
              <a:off x="3977" y="2255"/>
              <a:ext cx="81" cy="58"/>
              <a:chOff x="3977" y="2255"/>
              <a:chExt cx="81" cy="58"/>
            </a:xfrm>
          </p:grpSpPr>
          <p:sp>
            <p:nvSpPr>
              <p:cNvPr id="402483" name="Line 1075"/>
              <p:cNvSpPr>
                <a:spLocks noChangeShapeType="1"/>
              </p:cNvSpPr>
              <p:nvPr/>
            </p:nvSpPr>
            <p:spPr bwMode="auto">
              <a:xfrm flipH="1">
                <a:off x="4047" y="2255"/>
                <a:ext cx="11" cy="5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2484" name="Line 1076"/>
              <p:cNvSpPr>
                <a:spLocks noChangeShapeType="1"/>
              </p:cNvSpPr>
              <p:nvPr/>
            </p:nvSpPr>
            <p:spPr bwMode="auto">
              <a:xfrm>
                <a:off x="3977" y="2302"/>
                <a:ext cx="70" cy="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</p:grpSp>
      <p:grpSp>
        <p:nvGrpSpPr>
          <p:cNvPr id="402491" name="Group 1083"/>
          <p:cNvGrpSpPr>
            <a:grpSpLocks/>
          </p:cNvGrpSpPr>
          <p:nvPr/>
        </p:nvGrpSpPr>
        <p:grpSpPr bwMode="auto">
          <a:xfrm>
            <a:off x="6405563" y="3286125"/>
            <a:ext cx="220662" cy="293688"/>
            <a:chOff x="4035" y="2070"/>
            <a:chExt cx="139" cy="185"/>
          </a:xfrm>
        </p:grpSpPr>
        <p:sp>
          <p:nvSpPr>
            <p:cNvPr id="402487" name="Line 1079"/>
            <p:cNvSpPr>
              <a:spLocks noChangeShapeType="1"/>
            </p:cNvSpPr>
            <p:nvPr/>
          </p:nvSpPr>
          <p:spPr bwMode="auto">
            <a:xfrm>
              <a:off x="4058" y="2081"/>
              <a:ext cx="116" cy="1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2490" name="Group 1082"/>
            <p:cNvGrpSpPr>
              <a:grpSpLocks/>
            </p:cNvGrpSpPr>
            <p:nvPr/>
          </p:nvGrpSpPr>
          <p:grpSpPr bwMode="auto">
            <a:xfrm>
              <a:off x="4035" y="2070"/>
              <a:ext cx="81" cy="58"/>
              <a:chOff x="4035" y="2070"/>
              <a:chExt cx="81" cy="58"/>
            </a:xfrm>
          </p:grpSpPr>
          <p:sp>
            <p:nvSpPr>
              <p:cNvPr id="402488" name="Line 1080"/>
              <p:cNvSpPr>
                <a:spLocks noChangeShapeType="1"/>
              </p:cNvSpPr>
              <p:nvPr/>
            </p:nvSpPr>
            <p:spPr bwMode="auto">
              <a:xfrm flipV="1">
                <a:off x="4035" y="2070"/>
                <a:ext cx="23" cy="5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2489" name="Line 1081"/>
              <p:cNvSpPr>
                <a:spLocks noChangeShapeType="1"/>
              </p:cNvSpPr>
              <p:nvPr/>
            </p:nvSpPr>
            <p:spPr bwMode="auto">
              <a:xfrm flipH="1" flipV="1">
                <a:off x="4058" y="2070"/>
                <a:ext cx="58" cy="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</p:grpSp>
      <p:sp>
        <p:nvSpPr>
          <p:cNvPr id="402492" name="Rectangle 1084"/>
          <p:cNvSpPr>
            <a:spLocks noChangeArrowheads="1"/>
          </p:cNvSpPr>
          <p:nvPr/>
        </p:nvSpPr>
        <p:spPr bwMode="auto">
          <a:xfrm>
            <a:off x="6572250" y="3268663"/>
            <a:ext cx="1793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5: addToRegistrationList</a:t>
            </a:r>
            <a:endParaRPr lang="en-US" altLang="en-US"/>
          </a:p>
        </p:txBody>
      </p:sp>
      <p:sp>
        <p:nvSpPr>
          <p:cNvPr id="402493" name="Rectangle 1085"/>
          <p:cNvSpPr>
            <a:spLocks noChangeArrowheads="1"/>
          </p:cNvSpPr>
          <p:nvPr/>
        </p:nvSpPr>
        <p:spPr bwMode="auto">
          <a:xfrm>
            <a:off x="6994525" y="3451225"/>
            <a:ext cx="1143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Arial" panose="020B0604020202020204" pitchFamily="34" charset="0"/>
              </a:rPr>
              <a:t>&lt;&lt;parameter&gt;&gt;</a:t>
            </a:r>
            <a:endParaRPr lang="en-US" altLang="en-US"/>
          </a:p>
        </p:txBody>
      </p:sp>
      <p:grpSp>
        <p:nvGrpSpPr>
          <p:cNvPr id="402498" name="Group 1090"/>
          <p:cNvGrpSpPr>
            <a:grpSpLocks/>
          </p:cNvGrpSpPr>
          <p:nvPr/>
        </p:nvGrpSpPr>
        <p:grpSpPr bwMode="auto">
          <a:xfrm>
            <a:off x="6940550" y="2622550"/>
            <a:ext cx="330200" cy="128588"/>
            <a:chOff x="4372" y="1652"/>
            <a:chExt cx="208" cy="81"/>
          </a:xfrm>
        </p:grpSpPr>
        <p:sp>
          <p:nvSpPr>
            <p:cNvPr id="402494" name="Line 1086"/>
            <p:cNvSpPr>
              <a:spLocks noChangeShapeType="1"/>
            </p:cNvSpPr>
            <p:nvPr/>
          </p:nvSpPr>
          <p:spPr bwMode="auto">
            <a:xfrm flipH="1">
              <a:off x="4372" y="1687"/>
              <a:ext cx="20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grpSp>
          <p:nvGrpSpPr>
            <p:cNvPr id="402497" name="Group 1089"/>
            <p:cNvGrpSpPr>
              <a:grpSpLocks/>
            </p:cNvGrpSpPr>
            <p:nvPr/>
          </p:nvGrpSpPr>
          <p:grpSpPr bwMode="auto">
            <a:xfrm>
              <a:off x="4546" y="1652"/>
              <a:ext cx="34" cy="81"/>
              <a:chOff x="4546" y="1652"/>
              <a:chExt cx="34" cy="81"/>
            </a:xfrm>
          </p:grpSpPr>
          <p:sp>
            <p:nvSpPr>
              <p:cNvPr id="402495" name="Line 1087"/>
              <p:cNvSpPr>
                <a:spLocks noChangeShapeType="1"/>
              </p:cNvSpPr>
              <p:nvPr/>
            </p:nvSpPr>
            <p:spPr bwMode="auto">
              <a:xfrm>
                <a:off x="4546" y="1652"/>
                <a:ext cx="34" cy="3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02496" name="Line 1088"/>
              <p:cNvSpPr>
                <a:spLocks noChangeShapeType="1"/>
              </p:cNvSpPr>
              <p:nvPr/>
            </p:nvSpPr>
            <p:spPr bwMode="auto">
              <a:xfrm flipV="1">
                <a:off x="4546" y="1687"/>
                <a:ext cx="34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</p:grpSp>
      </p:grpSp>
      <p:sp>
        <p:nvSpPr>
          <p:cNvPr id="402499" name="Line 1091"/>
          <p:cNvSpPr>
            <a:spLocks noChangeShapeType="1"/>
          </p:cNvSpPr>
          <p:nvPr/>
        </p:nvSpPr>
        <p:spPr bwMode="auto">
          <a:xfrm>
            <a:off x="6289675" y="2770188"/>
            <a:ext cx="19335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8544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3DC23-16E0-4E6D-91BF-2B5C374FC2B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Communication links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communication link can exist between two objects whenever it is possible for one object to send a message to the other one.</a:t>
            </a:r>
            <a:r>
              <a:rPr lang="en-US" altLang="en-US"/>
              <a:t> </a:t>
            </a:r>
          </a:p>
          <a:p>
            <a:pPr lvl="1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Several situations can make this message exchange possible:</a:t>
            </a:r>
          </a:p>
          <a:p>
            <a:pPr lvl="2">
              <a:buFontTx/>
              <a:buNone/>
            </a:pP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1. The classes of the two objects have an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association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between them. </a:t>
            </a:r>
          </a:p>
          <a:p>
            <a:pPr lvl="3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This is the most common case.</a:t>
            </a:r>
          </a:p>
          <a:p>
            <a:pPr lvl="3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If all messages are sent in the same direction, then probably the association can be made unidirectional.</a:t>
            </a:r>
          </a:p>
        </p:txBody>
      </p:sp>
    </p:spTree>
    <p:extLst>
      <p:ext uri="{BB962C8B-B14F-4D97-AF65-F5344CB8AC3E}">
        <p14:creationId xmlns:p14="http://schemas.microsoft.com/office/powerpoint/2010/main" val="4098198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63C62-9555-4FA5-9306-24F66B9DE39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-171400"/>
            <a:ext cx="7772400" cy="1143000"/>
          </a:xfrm>
        </p:spPr>
        <p:txBody>
          <a:bodyPr/>
          <a:lstStyle/>
          <a:p>
            <a:r>
              <a:rPr lang="en-US" altLang="en-US" dirty="0">
                <a:ea typeface="Times" panose="02020603050405020304" pitchFamily="18" charset="0"/>
                <a:cs typeface="Times" panose="02020603050405020304" pitchFamily="18" charset="0"/>
              </a:rPr>
              <a:t>Other communication links </a:t>
            </a:r>
            <a:endParaRPr lang="en-GB" altLang="en-US" dirty="0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47800"/>
            <a:ext cx="8219256" cy="4897524"/>
          </a:xfrm>
        </p:spPr>
        <p:txBody>
          <a:bodyPr/>
          <a:lstStyle/>
          <a:p>
            <a:pPr lvl="2">
              <a:buFontTx/>
              <a:buNone/>
            </a:pPr>
            <a:endParaRPr lang="en-GB" altLang="en-US" dirty="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>
              <a:buFontTx/>
              <a:buNone/>
            </a:pPr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2. The receiving object is stored in a </a:t>
            </a:r>
            <a:r>
              <a:rPr lang="en-GB" altLang="en-US" sz="2400" i="1" dirty="0">
                <a:ea typeface="Times" panose="02020603050405020304" pitchFamily="18" charset="0"/>
                <a:cs typeface="Times" panose="02020603050405020304" pitchFamily="18" charset="0"/>
              </a:rPr>
              <a:t>local</a:t>
            </a:r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 variable of the sending method</a:t>
            </a:r>
            <a:r>
              <a:rPr lang="en-US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GB" altLang="en-US" sz="2400" dirty="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3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This often happens when the object is created in the sending method or when some computation returns an object</a:t>
            </a:r>
            <a:r>
              <a:rPr lang="en-US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lvl="3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The stereotype to be used is «local» or [L].</a:t>
            </a:r>
          </a:p>
          <a:p>
            <a:pPr lvl="3"/>
            <a:endParaRPr lang="en-GB" altLang="en-US" sz="2400" dirty="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>
              <a:buFontTx/>
              <a:buNone/>
            </a:pPr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3. A reference to the receiving object has been received as a </a:t>
            </a:r>
            <a:r>
              <a:rPr lang="en-GB" altLang="en-US" sz="2400" i="1" dirty="0">
                <a:ea typeface="Times" panose="02020603050405020304" pitchFamily="18" charset="0"/>
                <a:cs typeface="Times" panose="02020603050405020304" pitchFamily="18" charset="0"/>
              </a:rPr>
              <a:t>parameter</a:t>
            </a:r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 of the sending method. </a:t>
            </a:r>
          </a:p>
          <a:p>
            <a:pPr lvl="3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The stereotype is «parameter» or [P].</a:t>
            </a:r>
          </a:p>
        </p:txBody>
      </p:sp>
    </p:spTree>
    <p:extLst>
      <p:ext uri="{BB962C8B-B14F-4D97-AF65-F5344CB8AC3E}">
        <p14:creationId xmlns:p14="http://schemas.microsoft.com/office/powerpoint/2010/main" val="2458791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E82FD-CB8D-43BB-BE97-C0F525BAFFF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218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Other communication links</a:t>
            </a:r>
          </a:p>
        </p:txBody>
      </p:sp>
      <p:sp>
        <p:nvSpPr>
          <p:cNvPr id="4218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2">
              <a:buFontTx/>
              <a:buNone/>
            </a:pP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4. The receiving object is global. </a:t>
            </a:r>
          </a:p>
          <a:p>
            <a:pPr lvl="3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This is the case when a reference to an object can be obtained using a static method. </a:t>
            </a:r>
          </a:p>
          <a:p>
            <a:pPr lvl="3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stereotype «global», or a [G] symbol is used in this case.</a:t>
            </a:r>
          </a:p>
          <a:p>
            <a:pPr lvl="2" algn="just">
              <a:buFontTx/>
              <a:buNone/>
            </a:pP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5. The objects communicate over a network. </a:t>
            </a:r>
          </a:p>
          <a:p>
            <a:pPr lvl="3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We suggest to write «network».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741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54745-78B8-4236-B7EA-62E16E6BBC42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How to choose between using a sequence or collaboration diagram</a:t>
            </a:r>
            <a:r>
              <a:rPr lang="en-US" altLang="en-US"/>
              <a:t> </a:t>
            </a: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Sequence diagrams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Make explicit the time ordering of the interaction.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Use cases make time ordering explicit too 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So sequence diagrams are a natural choice when you build an interaction model from a use case.</a:t>
            </a:r>
          </a:p>
          <a:p>
            <a:pPr lvl="1"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Make it easy to add details to messages.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Collaboration diagrams have less space for this</a:t>
            </a:r>
          </a:p>
        </p:txBody>
      </p:sp>
    </p:spTree>
    <p:extLst>
      <p:ext uri="{BB962C8B-B14F-4D97-AF65-F5344CB8AC3E}">
        <p14:creationId xmlns:p14="http://schemas.microsoft.com/office/powerpoint/2010/main" val="3716363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576C7-8DED-4974-982A-69C7190B3830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229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How to choose between using a sequence or collaboration diagram</a:t>
            </a:r>
          </a:p>
        </p:txBody>
      </p:sp>
      <p:sp>
        <p:nvSpPr>
          <p:cNvPr id="42291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Collaboration diagrams 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Can be seen as a projection of the class diagram 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Might be preferred when you are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deriving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an interaction diagram from a class diagram. 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Are also useful for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validating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class diagrams.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475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B366F-0B24-47CC-89D4-0F5076F6DF7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>
                <a:cs typeface="Times New Roman" panose="02020603050405020304" pitchFamily="18" charset="0"/>
              </a:rPr>
              <a:t>Collaboration diagrams and patterns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b="0">
                <a:ea typeface="Times" panose="02020603050405020304" pitchFamily="18" charset="0"/>
                <a:cs typeface="Times" panose="02020603050405020304" pitchFamily="18" charset="0"/>
              </a:rPr>
              <a:t>A collaboration diagram can be used to represent aspects of a </a:t>
            </a:r>
            <a:r>
              <a:rPr lang="en-GB" altLang="en-US" b="0" i="1">
                <a:ea typeface="Times" panose="02020603050405020304" pitchFamily="18" charset="0"/>
                <a:cs typeface="Times" panose="02020603050405020304" pitchFamily="18" charset="0"/>
              </a:rPr>
              <a:t>design pattern</a:t>
            </a:r>
            <a:r>
              <a:rPr lang="en-US" altLang="en-US" b="0">
                <a:cs typeface="Times New Roman" panose="02020603050405020304" pitchFamily="18" charset="0"/>
              </a:rPr>
              <a:t> </a:t>
            </a:r>
            <a:endParaRPr lang="en-US" altLang="en-US"/>
          </a:p>
        </p:txBody>
      </p:sp>
      <p:pic>
        <p:nvPicPr>
          <p:cNvPr id="404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438400"/>
            <a:ext cx="6934200" cy="36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287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A1737-5504-4D77-A4F2-AF4C02058E2F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State Diagrams</a:t>
            </a:r>
            <a:r>
              <a:rPr lang="en-US" altLang="en-US" dirty="0"/>
              <a:t> 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state diagram describes the behaviour of 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system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, some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part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of a system, or an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individual object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At any given point in time, the system or object is in a certain state. 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Being in a state means that it is will behave in 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specific way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in response to any events that occur. 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Some events will cause the system to change state.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In the new state, the system will behave in a different way to events.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state diagram is a directed graph where the nodes are states and the arcs are transitions.</a:t>
            </a:r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3945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AAA3-2077-4868-BC98-856BFF6081A3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3788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/>
              <a:t>State diagrams – an example</a:t>
            </a:r>
          </a:p>
        </p:txBody>
      </p:sp>
      <p:sp>
        <p:nvSpPr>
          <p:cNvPr id="3788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tic-tac-toe game</a:t>
            </a:r>
            <a:endParaRPr lang="en-US" altLang="en-US"/>
          </a:p>
        </p:txBody>
      </p:sp>
      <p:sp>
        <p:nvSpPr>
          <p:cNvPr id="378887" name="AutoShape 1031"/>
          <p:cNvSpPr>
            <a:spLocks noChangeArrowheads="1"/>
          </p:cNvSpPr>
          <p:nvPr/>
        </p:nvSpPr>
        <p:spPr bwMode="auto">
          <a:xfrm>
            <a:off x="3081338" y="4799013"/>
            <a:ext cx="1406525" cy="763587"/>
          </a:xfrm>
          <a:prstGeom prst="roundRect">
            <a:avLst>
              <a:gd name="adj" fmla="val 30042"/>
            </a:avLst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888" name="Rectangle 1032"/>
          <p:cNvSpPr>
            <a:spLocks noChangeArrowheads="1"/>
          </p:cNvSpPr>
          <p:nvPr/>
        </p:nvSpPr>
        <p:spPr bwMode="auto">
          <a:xfrm>
            <a:off x="3370263" y="4965700"/>
            <a:ext cx="1008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500">
                <a:solidFill>
                  <a:srgbClr val="000000"/>
                </a:solidFill>
                <a:latin typeface="Arial" panose="020B0604020202020204" pitchFamily="34" charset="0"/>
              </a:rPr>
              <a:t>OTurn</a:t>
            </a:r>
            <a:endParaRPr lang="en-US" altLang="en-US"/>
          </a:p>
        </p:txBody>
      </p:sp>
      <p:sp>
        <p:nvSpPr>
          <p:cNvPr id="378889" name="Rectangle 1033"/>
          <p:cNvSpPr>
            <a:spLocks noChangeArrowheads="1"/>
          </p:cNvSpPr>
          <p:nvPr/>
        </p:nvSpPr>
        <p:spPr bwMode="auto">
          <a:xfrm>
            <a:off x="3402013" y="2552700"/>
            <a:ext cx="977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500">
                <a:solidFill>
                  <a:srgbClr val="000000"/>
                </a:solidFill>
                <a:latin typeface="Arial" panose="020B0604020202020204" pitchFamily="34" charset="0"/>
              </a:rPr>
              <a:t>XTurn</a:t>
            </a:r>
            <a:endParaRPr lang="en-US" altLang="en-US"/>
          </a:p>
        </p:txBody>
      </p:sp>
      <p:sp>
        <p:nvSpPr>
          <p:cNvPr id="378890" name="AutoShape 1034"/>
          <p:cNvSpPr>
            <a:spLocks noChangeArrowheads="1"/>
          </p:cNvSpPr>
          <p:nvPr/>
        </p:nvSpPr>
        <p:spPr bwMode="auto">
          <a:xfrm>
            <a:off x="3081338" y="2384425"/>
            <a:ext cx="1406525" cy="763588"/>
          </a:xfrm>
          <a:prstGeom prst="roundRect">
            <a:avLst>
              <a:gd name="adj" fmla="val 30042"/>
            </a:avLst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891" name="Line 1035"/>
          <p:cNvSpPr>
            <a:spLocks noChangeShapeType="1"/>
          </p:cNvSpPr>
          <p:nvPr/>
        </p:nvSpPr>
        <p:spPr bwMode="auto">
          <a:xfrm>
            <a:off x="4181475" y="3143250"/>
            <a:ext cx="1588" cy="1651000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892" name="Line 1036"/>
          <p:cNvSpPr>
            <a:spLocks noChangeShapeType="1"/>
          </p:cNvSpPr>
          <p:nvPr/>
        </p:nvSpPr>
        <p:spPr bwMode="auto">
          <a:xfrm>
            <a:off x="3478213" y="3143250"/>
            <a:ext cx="1587" cy="1651000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893" name="Rectangle 1037"/>
          <p:cNvSpPr>
            <a:spLocks noChangeArrowheads="1"/>
          </p:cNvSpPr>
          <p:nvPr/>
        </p:nvSpPr>
        <p:spPr bwMode="auto">
          <a:xfrm>
            <a:off x="7037388" y="3346450"/>
            <a:ext cx="4889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</a:rPr>
              <a:t>Tie</a:t>
            </a:r>
            <a:endParaRPr lang="en-US" altLang="en-US"/>
          </a:p>
        </p:txBody>
      </p:sp>
      <p:sp>
        <p:nvSpPr>
          <p:cNvPr id="378894" name="Rectangle 1038"/>
          <p:cNvSpPr>
            <a:spLocks noChangeArrowheads="1"/>
          </p:cNvSpPr>
          <p:nvPr/>
        </p:nvSpPr>
        <p:spPr bwMode="auto">
          <a:xfrm>
            <a:off x="6932613" y="4921250"/>
            <a:ext cx="763587" cy="336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895" name="Rectangle 1039"/>
          <p:cNvSpPr>
            <a:spLocks noChangeArrowheads="1"/>
          </p:cNvSpPr>
          <p:nvPr/>
        </p:nvSpPr>
        <p:spPr bwMode="auto">
          <a:xfrm>
            <a:off x="6977063" y="4629150"/>
            <a:ext cx="7953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</a:rPr>
              <a:t>OWin</a:t>
            </a:r>
            <a:endParaRPr lang="en-US" altLang="en-US"/>
          </a:p>
        </p:txBody>
      </p:sp>
      <p:sp>
        <p:nvSpPr>
          <p:cNvPr id="378896" name="Rectangle 1040"/>
          <p:cNvSpPr>
            <a:spLocks noChangeArrowheads="1"/>
          </p:cNvSpPr>
          <p:nvPr/>
        </p:nvSpPr>
        <p:spPr bwMode="auto">
          <a:xfrm>
            <a:off x="6946900" y="2124075"/>
            <a:ext cx="7635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200">
                <a:solidFill>
                  <a:srgbClr val="000000"/>
                </a:solidFill>
                <a:latin typeface="Arial" panose="020B0604020202020204" pitchFamily="34" charset="0"/>
              </a:rPr>
              <a:t>XWin</a:t>
            </a:r>
            <a:endParaRPr lang="en-US" altLang="en-US"/>
          </a:p>
        </p:txBody>
      </p:sp>
      <p:sp>
        <p:nvSpPr>
          <p:cNvPr id="378897" name="Rectangle 1041"/>
          <p:cNvSpPr>
            <a:spLocks noChangeArrowheads="1"/>
          </p:cNvSpPr>
          <p:nvPr/>
        </p:nvSpPr>
        <p:spPr bwMode="auto">
          <a:xfrm>
            <a:off x="7085013" y="2109788"/>
            <a:ext cx="60325" cy="301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898" name="Line 1042"/>
          <p:cNvSpPr>
            <a:spLocks noChangeShapeType="1"/>
          </p:cNvSpPr>
          <p:nvPr/>
        </p:nvSpPr>
        <p:spPr bwMode="auto">
          <a:xfrm flipV="1">
            <a:off x="4468813" y="4022725"/>
            <a:ext cx="2598737" cy="915988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899" name="Line 1043"/>
          <p:cNvSpPr>
            <a:spLocks noChangeShapeType="1"/>
          </p:cNvSpPr>
          <p:nvPr/>
        </p:nvSpPr>
        <p:spPr bwMode="auto">
          <a:xfrm>
            <a:off x="4468813" y="2978150"/>
            <a:ext cx="2598737" cy="915988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900" name="Line 1044"/>
          <p:cNvSpPr>
            <a:spLocks noChangeShapeType="1"/>
          </p:cNvSpPr>
          <p:nvPr/>
        </p:nvSpPr>
        <p:spPr bwMode="auto">
          <a:xfrm flipH="1">
            <a:off x="4481513" y="5165725"/>
            <a:ext cx="2598737" cy="1588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901" name="Line 1045"/>
          <p:cNvSpPr>
            <a:spLocks noChangeShapeType="1"/>
          </p:cNvSpPr>
          <p:nvPr/>
        </p:nvSpPr>
        <p:spPr bwMode="auto">
          <a:xfrm flipH="1">
            <a:off x="4481513" y="2690813"/>
            <a:ext cx="2566987" cy="1587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902" name="Line 1046"/>
          <p:cNvSpPr>
            <a:spLocks noChangeShapeType="1"/>
          </p:cNvSpPr>
          <p:nvPr/>
        </p:nvSpPr>
        <p:spPr bwMode="auto">
          <a:xfrm>
            <a:off x="2255838" y="2751138"/>
            <a:ext cx="795337" cy="1587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378905" name="Group 1049"/>
          <p:cNvGrpSpPr>
            <a:grpSpLocks/>
          </p:cNvGrpSpPr>
          <p:nvPr/>
        </p:nvGrpSpPr>
        <p:grpSpPr bwMode="auto">
          <a:xfrm>
            <a:off x="7054850" y="4921250"/>
            <a:ext cx="427038" cy="458788"/>
            <a:chOff x="4444" y="3100"/>
            <a:chExt cx="269" cy="289"/>
          </a:xfrm>
        </p:grpSpPr>
        <p:sp>
          <p:nvSpPr>
            <p:cNvPr id="378903" name="Oval 1047"/>
            <p:cNvSpPr>
              <a:spLocks noChangeArrowheads="1"/>
            </p:cNvSpPr>
            <p:nvPr/>
          </p:nvSpPr>
          <p:spPr bwMode="auto">
            <a:xfrm>
              <a:off x="4444" y="3100"/>
              <a:ext cx="269" cy="289"/>
            </a:xfrm>
            <a:prstGeom prst="ellips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78904" name="Oval 1048"/>
            <p:cNvSpPr>
              <a:spLocks noChangeArrowheads="1"/>
            </p:cNvSpPr>
            <p:nvPr/>
          </p:nvSpPr>
          <p:spPr bwMode="auto">
            <a:xfrm>
              <a:off x="4501" y="3158"/>
              <a:ext cx="154" cy="17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78906" name="Oval 1050"/>
          <p:cNvSpPr>
            <a:spLocks noChangeArrowheads="1"/>
          </p:cNvSpPr>
          <p:nvPr/>
        </p:nvSpPr>
        <p:spPr bwMode="auto">
          <a:xfrm>
            <a:off x="1981200" y="2536825"/>
            <a:ext cx="396875" cy="39846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378909" name="Group 1053"/>
          <p:cNvGrpSpPr>
            <a:grpSpLocks/>
          </p:cNvGrpSpPr>
          <p:nvPr/>
        </p:nvGrpSpPr>
        <p:grpSpPr bwMode="auto">
          <a:xfrm>
            <a:off x="6983413" y="5043488"/>
            <a:ext cx="90487" cy="214312"/>
            <a:chOff x="4367" y="3177"/>
            <a:chExt cx="57" cy="135"/>
          </a:xfrm>
        </p:grpSpPr>
        <p:sp>
          <p:nvSpPr>
            <p:cNvPr id="378907" name="Line 1051"/>
            <p:cNvSpPr>
              <a:spLocks noChangeShapeType="1"/>
            </p:cNvSpPr>
            <p:nvPr/>
          </p:nvSpPr>
          <p:spPr bwMode="auto">
            <a:xfrm>
              <a:off x="4367" y="3177"/>
              <a:ext cx="57" cy="77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78908" name="Line 1052"/>
            <p:cNvSpPr>
              <a:spLocks noChangeShapeType="1"/>
            </p:cNvSpPr>
            <p:nvPr/>
          </p:nvSpPr>
          <p:spPr bwMode="auto">
            <a:xfrm flipV="1">
              <a:off x="4367" y="3254"/>
              <a:ext cx="57" cy="58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78912" name="Group 1056"/>
          <p:cNvGrpSpPr>
            <a:grpSpLocks/>
          </p:cNvGrpSpPr>
          <p:nvPr/>
        </p:nvGrpSpPr>
        <p:grpSpPr bwMode="auto">
          <a:xfrm>
            <a:off x="6958013" y="2598738"/>
            <a:ext cx="90487" cy="214312"/>
            <a:chOff x="4367" y="1637"/>
            <a:chExt cx="57" cy="135"/>
          </a:xfrm>
        </p:grpSpPr>
        <p:sp>
          <p:nvSpPr>
            <p:cNvPr id="378910" name="Line 1054"/>
            <p:cNvSpPr>
              <a:spLocks noChangeShapeType="1"/>
            </p:cNvSpPr>
            <p:nvPr/>
          </p:nvSpPr>
          <p:spPr bwMode="auto">
            <a:xfrm>
              <a:off x="4367" y="1637"/>
              <a:ext cx="57" cy="58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78911" name="Line 1055"/>
            <p:cNvSpPr>
              <a:spLocks noChangeShapeType="1"/>
            </p:cNvSpPr>
            <p:nvPr/>
          </p:nvSpPr>
          <p:spPr bwMode="auto">
            <a:xfrm flipV="1">
              <a:off x="4367" y="1695"/>
              <a:ext cx="57" cy="77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78915" name="Group 1059"/>
          <p:cNvGrpSpPr>
            <a:grpSpLocks/>
          </p:cNvGrpSpPr>
          <p:nvPr/>
        </p:nvGrpSpPr>
        <p:grpSpPr bwMode="auto">
          <a:xfrm>
            <a:off x="3355975" y="4702175"/>
            <a:ext cx="244475" cy="92075"/>
            <a:chOff x="2114" y="2946"/>
            <a:chExt cx="154" cy="58"/>
          </a:xfrm>
        </p:grpSpPr>
        <p:sp>
          <p:nvSpPr>
            <p:cNvPr id="378913" name="Line 1057"/>
            <p:cNvSpPr>
              <a:spLocks noChangeShapeType="1"/>
            </p:cNvSpPr>
            <p:nvPr/>
          </p:nvSpPr>
          <p:spPr bwMode="auto">
            <a:xfrm flipH="1">
              <a:off x="2191" y="2946"/>
              <a:ext cx="77" cy="58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78914" name="Line 1058"/>
            <p:cNvSpPr>
              <a:spLocks noChangeShapeType="1"/>
            </p:cNvSpPr>
            <p:nvPr/>
          </p:nvSpPr>
          <p:spPr bwMode="auto">
            <a:xfrm>
              <a:off x="2114" y="2946"/>
              <a:ext cx="77" cy="58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78918" name="Group 1062"/>
          <p:cNvGrpSpPr>
            <a:grpSpLocks/>
          </p:cNvGrpSpPr>
          <p:nvPr/>
        </p:nvGrpSpPr>
        <p:grpSpPr bwMode="auto">
          <a:xfrm>
            <a:off x="4059238" y="3143250"/>
            <a:ext cx="244475" cy="122238"/>
            <a:chOff x="2557" y="1964"/>
            <a:chExt cx="154" cy="77"/>
          </a:xfrm>
        </p:grpSpPr>
        <p:sp>
          <p:nvSpPr>
            <p:cNvPr id="378916" name="Line 1060"/>
            <p:cNvSpPr>
              <a:spLocks noChangeShapeType="1"/>
            </p:cNvSpPr>
            <p:nvPr/>
          </p:nvSpPr>
          <p:spPr bwMode="auto">
            <a:xfrm flipH="1" flipV="1">
              <a:off x="2634" y="1964"/>
              <a:ext cx="77" cy="77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78917" name="Line 1061"/>
            <p:cNvSpPr>
              <a:spLocks noChangeShapeType="1"/>
            </p:cNvSpPr>
            <p:nvPr/>
          </p:nvSpPr>
          <p:spPr bwMode="auto">
            <a:xfrm flipV="1">
              <a:off x="2557" y="1964"/>
              <a:ext cx="77" cy="77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78919" name="Line 1063"/>
          <p:cNvSpPr>
            <a:spLocks noChangeShapeType="1"/>
          </p:cNvSpPr>
          <p:nvPr/>
        </p:nvSpPr>
        <p:spPr bwMode="auto">
          <a:xfrm>
            <a:off x="6975475" y="3767138"/>
            <a:ext cx="60325" cy="122237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8920" name="Line 1064"/>
          <p:cNvSpPr>
            <a:spLocks noChangeShapeType="1"/>
          </p:cNvSpPr>
          <p:nvPr/>
        </p:nvSpPr>
        <p:spPr bwMode="auto">
          <a:xfrm flipV="1">
            <a:off x="6926263" y="3870325"/>
            <a:ext cx="122237" cy="92075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378924" name="Group 1068"/>
          <p:cNvGrpSpPr>
            <a:grpSpLocks/>
          </p:cNvGrpSpPr>
          <p:nvPr/>
        </p:nvGrpSpPr>
        <p:grpSpPr bwMode="auto">
          <a:xfrm>
            <a:off x="6913563" y="3960813"/>
            <a:ext cx="153987" cy="214312"/>
            <a:chOff x="4347" y="2503"/>
            <a:chExt cx="97" cy="135"/>
          </a:xfrm>
        </p:grpSpPr>
        <p:sp>
          <p:nvSpPr>
            <p:cNvPr id="378922" name="Line 1066"/>
            <p:cNvSpPr>
              <a:spLocks noChangeShapeType="1"/>
            </p:cNvSpPr>
            <p:nvPr/>
          </p:nvSpPr>
          <p:spPr bwMode="auto">
            <a:xfrm>
              <a:off x="4347" y="2503"/>
              <a:ext cx="97" cy="39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78923" name="Line 1067"/>
            <p:cNvSpPr>
              <a:spLocks noChangeShapeType="1"/>
            </p:cNvSpPr>
            <p:nvPr/>
          </p:nvSpPr>
          <p:spPr bwMode="auto">
            <a:xfrm flipV="1">
              <a:off x="4424" y="2542"/>
              <a:ext cx="20" cy="96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78927" name="Group 1071"/>
          <p:cNvGrpSpPr>
            <a:grpSpLocks/>
          </p:cNvGrpSpPr>
          <p:nvPr/>
        </p:nvGrpSpPr>
        <p:grpSpPr bwMode="auto">
          <a:xfrm>
            <a:off x="7054850" y="3698875"/>
            <a:ext cx="427038" cy="458788"/>
            <a:chOff x="4444" y="2330"/>
            <a:chExt cx="269" cy="289"/>
          </a:xfrm>
        </p:grpSpPr>
        <p:sp>
          <p:nvSpPr>
            <p:cNvPr id="378925" name="Oval 1069"/>
            <p:cNvSpPr>
              <a:spLocks noChangeArrowheads="1"/>
            </p:cNvSpPr>
            <p:nvPr/>
          </p:nvSpPr>
          <p:spPr bwMode="auto">
            <a:xfrm>
              <a:off x="4444" y="2330"/>
              <a:ext cx="269" cy="289"/>
            </a:xfrm>
            <a:prstGeom prst="ellips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78926" name="Oval 1070"/>
            <p:cNvSpPr>
              <a:spLocks noChangeArrowheads="1"/>
            </p:cNvSpPr>
            <p:nvPr/>
          </p:nvSpPr>
          <p:spPr bwMode="auto">
            <a:xfrm>
              <a:off x="4501" y="2388"/>
              <a:ext cx="154" cy="17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78930" name="Group 1074"/>
          <p:cNvGrpSpPr>
            <a:grpSpLocks/>
          </p:cNvGrpSpPr>
          <p:nvPr/>
        </p:nvGrpSpPr>
        <p:grpSpPr bwMode="auto">
          <a:xfrm>
            <a:off x="7054850" y="2476500"/>
            <a:ext cx="427038" cy="458788"/>
            <a:chOff x="4444" y="1560"/>
            <a:chExt cx="269" cy="289"/>
          </a:xfrm>
        </p:grpSpPr>
        <p:sp>
          <p:nvSpPr>
            <p:cNvPr id="378928" name="Oval 1072"/>
            <p:cNvSpPr>
              <a:spLocks noChangeArrowheads="1"/>
            </p:cNvSpPr>
            <p:nvPr/>
          </p:nvSpPr>
          <p:spPr bwMode="auto">
            <a:xfrm>
              <a:off x="4444" y="1560"/>
              <a:ext cx="269" cy="289"/>
            </a:xfrm>
            <a:prstGeom prst="ellips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78929" name="Oval 1073"/>
            <p:cNvSpPr>
              <a:spLocks noChangeArrowheads="1"/>
            </p:cNvSpPr>
            <p:nvPr/>
          </p:nvSpPr>
          <p:spPr bwMode="auto">
            <a:xfrm>
              <a:off x="4501" y="1618"/>
              <a:ext cx="154" cy="17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194104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E4DC1-DF3A-4702-AF3D-958108905D8B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States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At any given point in time, the system is in one state.</a:t>
            </a:r>
          </a:p>
          <a:p>
            <a:pPr lvl="1"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It will remain in this state until an event occurs that causes it to change state. </a:t>
            </a:r>
          </a:p>
          <a:p>
            <a:pPr lvl="1"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state is represented by a rounded rectangle containing the name of the state.</a:t>
            </a:r>
          </a:p>
          <a:p>
            <a:pPr lvl="1"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Special states: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black circle represents 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start state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circle with a ring around it represents an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end state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5995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F33D3-CE89-44DF-A687-B726AFD394D1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4239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/>
              <a:t>Transitions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239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transition represents a change of state in response to an event.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It is considered to occur instantaneously.</a:t>
            </a:r>
          </a:p>
          <a:p>
            <a:pPr lvl="1"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label on each transition is the event that causes the change of state.</a:t>
            </a:r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8432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B44E4-E772-4079-B74B-5B32C835E5E3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79917" name="Line 13"/>
          <p:cNvSpPr>
            <a:spLocks noChangeShapeType="1"/>
          </p:cNvSpPr>
          <p:nvPr/>
        </p:nvSpPr>
        <p:spPr bwMode="auto">
          <a:xfrm flipH="1">
            <a:off x="2851150" y="2997200"/>
            <a:ext cx="1143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18" name="Line 14"/>
          <p:cNvSpPr>
            <a:spLocks noChangeShapeType="1"/>
          </p:cNvSpPr>
          <p:nvPr/>
        </p:nvSpPr>
        <p:spPr bwMode="auto">
          <a:xfrm flipV="1">
            <a:off x="2851150" y="2997200"/>
            <a:ext cx="1588" cy="1143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19" name="Line 15"/>
          <p:cNvSpPr>
            <a:spLocks noChangeShapeType="1"/>
          </p:cNvSpPr>
          <p:nvPr/>
        </p:nvSpPr>
        <p:spPr bwMode="auto">
          <a:xfrm>
            <a:off x="3262313" y="3432175"/>
            <a:ext cx="1587" cy="11938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20" name="Line 16"/>
          <p:cNvSpPr>
            <a:spLocks noChangeShapeType="1"/>
          </p:cNvSpPr>
          <p:nvPr/>
        </p:nvSpPr>
        <p:spPr bwMode="auto">
          <a:xfrm flipH="1" flipV="1">
            <a:off x="2851150" y="2997200"/>
            <a:ext cx="412750" cy="4127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21" name="Rectangle 17"/>
          <p:cNvSpPr>
            <a:spLocks noChangeArrowheads="1"/>
          </p:cNvSpPr>
          <p:nvPr/>
        </p:nvSpPr>
        <p:spPr bwMode="auto">
          <a:xfrm>
            <a:off x="3330575" y="3890963"/>
            <a:ext cx="8715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after(30s)</a:t>
            </a:r>
            <a:endParaRPr lang="en-US" altLang="en-US"/>
          </a:p>
        </p:txBody>
      </p:sp>
      <p:sp>
        <p:nvSpPr>
          <p:cNvPr id="379922" name="Rectangle 18"/>
          <p:cNvSpPr>
            <a:spLocks noChangeArrowheads="1"/>
          </p:cNvSpPr>
          <p:nvPr/>
        </p:nvSpPr>
        <p:spPr bwMode="auto">
          <a:xfrm>
            <a:off x="1954213" y="4510088"/>
            <a:ext cx="758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after(5s)</a:t>
            </a:r>
            <a:endParaRPr lang="en-US" altLang="en-US"/>
          </a:p>
        </p:txBody>
      </p:sp>
      <p:sp>
        <p:nvSpPr>
          <p:cNvPr id="379923" name="Line 19"/>
          <p:cNvSpPr>
            <a:spLocks noChangeShapeType="1"/>
          </p:cNvSpPr>
          <p:nvPr/>
        </p:nvSpPr>
        <p:spPr bwMode="auto">
          <a:xfrm>
            <a:off x="1885950" y="3065463"/>
            <a:ext cx="1588" cy="7112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24" name="Rectangle 20"/>
          <p:cNvSpPr>
            <a:spLocks noChangeArrowheads="1"/>
          </p:cNvSpPr>
          <p:nvPr/>
        </p:nvSpPr>
        <p:spPr bwMode="auto">
          <a:xfrm>
            <a:off x="1954213" y="3271838"/>
            <a:ext cx="8715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after(25s)</a:t>
            </a:r>
            <a:endParaRPr lang="en-US" altLang="en-US"/>
          </a:p>
        </p:txBody>
      </p:sp>
      <p:sp>
        <p:nvSpPr>
          <p:cNvPr id="379925" name="AutoShape 21"/>
          <p:cNvSpPr>
            <a:spLocks noChangeArrowheads="1"/>
          </p:cNvSpPr>
          <p:nvPr/>
        </p:nvSpPr>
        <p:spPr bwMode="auto">
          <a:xfrm>
            <a:off x="1528763" y="5003800"/>
            <a:ext cx="1355725" cy="482600"/>
          </a:xfrm>
          <a:prstGeom prst="roundRect">
            <a:avLst>
              <a:gd name="adj" fmla="val 34093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26" name="Rectangle 22"/>
          <p:cNvSpPr>
            <a:spLocks noChangeArrowheads="1"/>
          </p:cNvSpPr>
          <p:nvPr/>
        </p:nvSpPr>
        <p:spPr bwMode="auto">
          <a:xfrm>
            <a:off x="1701800" y="5083175"/>
            <a:ext cx="914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RedLight</a:t>
            </a:r>
            <a:endParaRPr lang="en-US" altLang="en-US"/>
          </a:p>
        </p:txBody>
      </p:sp>
      <p:sp>
        <p:nvSpPr>
          <p:cNvPr id="379927" name="AutoShape 23"/>
          <p:cNvSpPr>
            <a:spLocks noChangeArrowheads="1"/>
          </p:cNvSpPr>
          <p:nvPr/>
        </p:nvSpPr>
        <p:spPr bwMode="auto">
          <a:xfrm>
            <a:off x="1506538" y="2571750"/>
            <a:ext cx="1377950" cy="482600"/>
          </a:xfrm>
          <a:prstGeom prst="roundRect">
            <a:avLst>
              <a:gd name="adj" fmla="val 34093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28" name="Rectangle 24"/>
          <p:cNvSpPr>
            <a:spLocks noChangeArrowheads="1"/>
          </p:cNvSpPr>
          <p:nvPr/>
        </p:nvSpPr>
        <p:spPr bwMode="auto">
          <a:xfrm>
            <a:off x="1587500" y="2651125"/>
            <a:ext cx="1130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GreenLight</a:t>
            </a:r>
            <a:endParaRPr lang="en-US" altLang="en-US"/>
          </a:p>
        </p:txBody>
      </p:sp>
      <p:sp>
        <p:nvSpPr>
          <p:cNvPr id="379929" name="AutoShape 25"/>
          <p:cNvSpPr>
            <a:spLocks noChangeArrowheads="1"/>
          </p:cNvSpPr>
          <p:nvPr/>
        </p:nvSpPr>
        <p:spPr bwMode="auto">
          <a:xfrm>
            <a:off x="1506538" y="3787775"/>
            <a:ext cx="1400175" cy="482600"/>
          </a:xfrm>
          <a:prstGeom prst="roundRect">
            <a:avLst>
              <a:gd name="adj" fmla="val 34093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0" name="Rectangle 26"/>
          <p:cNvSpPr>
            <a:spLocks noChangeArrowheads="1"/>
          </p:cNvSpPr>
          <p:nvPr/>
        </p:nvSpPr>
        <p:spPr bwMode="auto">
          <a:xfrm>
            <a:off x="1587500" y="3844925"/>
            <a:ext cx="1168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YellowLight</a:t>
            </a:r>
            <a:endParaRPr lang="en-US" altLang="en-US"/>
          </a:p>
        </p:txBody>
      </p:sp>
      <p:sp>
        <p:nvSpPr>
          <p:cNvPr id="379931" name="Line 27"/>
          <p:cNvSpPr>
            <a:spLocks noChangeShapeType="1"/>
          </p:cNvSpPr>
          <p:nvPr/>
        </p:nvSpPr>
        <p:spPr bwMode="auto">
          <a:xfrm flipH="1">
            <a:off x="1885950" y="3697288"/>
            <a:ext cx="90488" cy="682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2" name="Line 28"/>
          <p:cNvSpPr>
            <a:spLocks noChangeShapeType="1"/>
          </p:cNvSpPr>
          <p:nvPr/>
        </p:nvSpPr>
        <p:spPr bwMode="auto">
          <a:xfrm>
            <a:off x="1793875" y="3697288"/>
            <a:ext cx="92075" cy="682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3" name="Line 29"/>
          <p:cNvSpPr>
            <a:spLocks noChangeShapeType="1"/>
          </p:cNvSpPr>
          <p:nvPr/>
        </p:nvSpPr>
        <p:spPr bwMode="auto">
          <a:xfrm>
            <a:off x="1885950" y="4281488"/>
            <a:ext cx="1588" cy="6873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4" name="Line 30"/>
          <p:cNvSpPr>
            <a:spLocks noChangeShapeType="1"/>
          </p:cNvSpPr>
          <p:nvPr/>
        </p:nvSpPr>
        <p:spPr bwMode="auto">
          <a:xfrm flipH="1">
            <a:off x="1885950" y="4914900"/>
            <a:ext cx="90488" cy="682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5" name="Line 31"/>
          <p:cNvSpPr>
            <a:spLocks noChangeShapeType="1"/>
          </p:cNvSpPr>
          <p:nvPr/>
        </p:nvSpPr>
        <p:spPr bwMode="auto">
          <a:xfrm>
            <a:off x="1793875" y="4914900"/>
            <a:ext cx="92075" cy="682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6" name="Line 32"/>
          <p:cNvSpPr>
            <a:spLocks noChangeShapeType="1"/>
          </p:cNvSpPr>
          <p:nvPr/>
        </p:nvSpPr>
        <p:spPr bwMode="auto">
          <a:xfrm flipV="1">
            <a:off x="2849563" y="4635500"/>
            <a:ext cx="412750" cy="4127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7" name="Line 33"/>
          <p:cNvSpPr>
            <a:spLocks noChangeShapeType="1"/>
          </p:cNvSpPr>
          <p:nvPr/>
        </p:nvSpPr>
        <p:spPr bwMode="auto">
          <a:xfrm flipV="1">
            <a:off x="8077200" y="1597025"/>
            <a:ext cx="1588" cy="36480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8" name="Line 34"/>
          <p:cNvSpPr>
            <a:spLocks noChangeShapeType="1"/>
          </p:cNvSpPr>
          <p:nvPr/>
        </p:nvSpPr>
        <p:spPr bwMode="auto">
          <a:xfrm>
            <a:off x="5418138" y="3065463"/>
            <a:ext cx="1587" cy="7112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39" name="Rectangle 35"/>
          <p:cNvSpPr>
            <a:spLocks noChangeArrowheads="1"/>
          </p:cNvSpPr>
          <p:nvPr/>
        </p:nvSpPr>
        <p:spPr bwMode="auto">
          <a:xfrm>
            <a:off x="5487988" y="3133725"/>
            <a:ext cx="22288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after(25s since exit from </a:t>
            </a:r>
            <a:endParaRPr lang="en-US" altLang="en-US"/>
          </a:p>
        </p:txBody>
      </p:sp>
      <p:sp>
        <p:nvSpPr>
          <p:cNvPr id="379940" name="Rectangle 36"/>
          <p:cNvSpPr>
            <a:spLocks noChangeArrowheads="1"/>
          </p:cNvSpPr>
          <p:nvPr/>
        </p:nvSpPr>
        <p:spPr bwMode="auto">
          <a:xfrm>
            <a:off x="5487988" y="3363913"/>
            <a:ext cx="13779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state RedLight)</a:t>
            </a:r>
            <a:endParaRPr lang="en-US" altLang="en-US"/>
          </a:p>
        </p:txBody>
      </p:sp>
      <p:sp>
        <p:nvSpPr>
          <p:cNvPr id="379941" name="AutoShape 37"/>
          <p:cNvSpPr>
            <a:spLocks noChangeArrowheads="1"/>
          </p:cNvSpPr>
          <p:nvPr/>
        </p:nvSpPr>
        <p:spPr bwMode="auto">
          <a:xfrm>
            <a:off x="4764088" y="5003800"/>
            <a:ext cx="1354137" cy="482600"/>
          </a:xfrm>
          <a:prstGeom prst="roundRect">
            <a:avLst>
              <a:gd name="adj" fmla="val 34093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42" name="Rectangle 38"/>
          <p:cNvSpPr>
            <a:spLocks noChangeArrowheads="1"/>
          </p:cNvSpPr>
          <p:nvPr/>
        </p:nvSpPr>
        <p:spPr bwMode="auto">
          <a:xfrm>
            <a:off x="4937125" y="5083175"/>
            <a:ext cx="914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RedLight</a:t>
            </a:r>
            <a:endParaRPr lang="en-US" altLang="en-US"/>
          </a:p>
        </p:txBody>
      </p:sp>
      <p:sp>
        <p:nvSpPr>
          <p:cNvPr id="379943" name="AutoShape 39"/>
          <p:cNvSpPr>
            <a:spLocks noChangeArrowheads="1"/>
          </p:cNvSpPr>
          <p:nvPr/>
        </p:nvSpPr>
        <p:spPr bwMode="auto">
          <a:xfrm>
            <a:off x="4741863" y="2571750"/>
            <a:ext cx="3143250" cy="482600"/>
          </a:xfrm>
          <a:prstGeom prst="roundRect">
            <a:avLst>
              <a:gd name="adj" fmla="val 34093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44" name="Rectangle 40"/>
          <p:cNvSpPr>
            <a:spLocks noChangeArrowheads="1"/>
          </p:cNvSpPr>
          <p:nvPr/>
        </p:nvSpPr>
        <p:spPr bwMode="auto">
          <a:xfrm>
            <a:off x="4845050" y="2651125"/>
            <a:ext cx="290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GreenLightChangeTriggered</a:t>
            </a:r>
            <a:endParaRPr lang="en-US" altLang="en-US"/>
          </a:p>
        </p:txBody>
      </p:sp>
      <p:sp>
        <p:nvSpPr>
          <p:cNvPr id="379945" name="AutoShape 41"/>
          <p:cNvSpPr>
            <a:spLocks noChangeArrowheads="1"/>
          </p:cNvSpPr>
          <p:nvPr/>
        </p:nvSpPr>
        <p:spPr bwMode="auto">
          <a:xfrm>
            <a:off x="4741863" y="3787775"/>
            <a:ext cx="1400175" cy="482600"/>
          </a:xfrm>
          <a:prstGeom prst="roundRect">
            <a:avLst>
              <a:gd name="adj" fmla="val 34093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46" name="Rectangle 42"/>
          <p:cNvSpPr>
            <a:spLocks noChangeArrowheads="1"/>
          </p:cNvSpPr>
          <p:nvPr/>
        </p:nvSpPr>
        <p:spPr bwMode="auto">
          <a:xfrm>
            <a:off x="4822825" y="3844925"/>
            <a:ext cx="1168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YellowLight</a:t>
            </a:r>
            <a:endParaRPr lang="en-US" altLang="en-US"/>
          </a:p>
        </p:txBody>
      </p:sp>
      <p:sp>
        <p:nvSpPr>
          <p:cNvPr id="379947" name="Line 43"/>
          <p:cNvSpPr>
            <a:spLocks noChangeShapeType="1"/>
          </p:cNvSpPr>
          <p:nvPr/>
        </p:nvSpPr>
        <p:spPr bwMode="auto">
          <a:xfrm flipH="1">
            <a:off x="5418138" y="3697288"/>
            <a:ext cx="92075" cy="682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48" name="Line 44"/>
          <p:cNvSpPr>
            <a:spLocks noChangeShapeType="1"/>
          </p:cNvSpPr>
          <p:nvPr/>
        </p:nvSpPr>
        <p:spPr bwMode="auto">
          <a:xfrm>
            <a:off x="5327650" y="3697288"/>
            <a:ext cx="90488" cy="682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49" name="Line 45"/>
          <p:cNvSpPr>
            <a:spLocks noChangeShapeType="1"/>
          </p:cNvSpPr>
          <p:nvPr/>
        </p:nvSpPr>
        <p:spPr bwMode="auto">
          <a:xfrm>
            <a:off x="5418138" y="4281488"/>
            <a:ext cx="1587" cy="6873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50" name="Line 46"/>
          <p:cNvSpPr>
            <a:spLocks noChangeShapeType="1"/>
          </p:cNvSpPr>
          <p:nvPr/>
        </p:nvSpPr>
        <p:spPr bwMode="auto">
          <a:xfrm flipH="1">
            <a:off x="5418138" y="4927600"/>
            <a:ext cx="92075" cy="682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51" name="Line 47"/>
          <p:cNvSpPr>
            <a:spLocks noChangeShapeType="1"/>
          </p:cNvSpPr>
          <p:nvPr/>
        </p:nvSpPr>
        <p:spPr bwMode="auto">
          <a:xfrm>
            <a:off x="5327650" y="4927600"/>
            <a:ext cx="90488" cy="682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52" name="Line 48"/>
          <p:cNvSpPr>
            <a:spLocks noChangeShapeType="1"/>
          </p:cNvSpPr>
          <p:nvPr/>
        </p:nvSpPr>
        <p:spPr bwMode="auto">
          <a:xfrm>
            <a:off x="6107113" y="5245100"/>
            <a:ext cx="1970087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55" name="Oval 51"/>
          <p:cNvSpPr>
            <a:spLocks noChangeArrowheads="1"/>
          </p:cNvSpPr>
          <p:nvPr/>
        </p:nvSpPr>
        <p:spPr bwMode="auto">
          <a:xfrm>
            <a:off x="990600" y="5106988"/>
            <a:ext cx="298450" cy="29845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56" name="Line 52"/>
          <p:cNvSpPr>
            <a:spLocks noChangeShapeType="1"/>
          </p:cNvSpPr>
          <p:nvPr/>
        </p:nvSpPr>
        <p:spPr bwMode="auto">
          <a:xfrm flipV="1">
            <a:off x="1439863" y="5245100"/>
            <a:ext cx="68262" cy="920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57" name="Line 53"/>
          <p:cNvSpPr>
            <a:spLocks noChangeShapeType="1"/>
          </p:cNvSpPr>
          <p:nvPr/>
        </p:nvSpPr>
        <p:spPr bwMode="auto">
          <a:xfrm>
            <a:off x="1439863" y="5176838"/>
            <a:ext cx="68262" cy="682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58" name="Line 54"/>
          <p:cNvSpPr>
            <a:spLocks noChangeShapeType="1"/>
          </p:cNvSpPr>
          <p:nvPr/>
        </p:nvSpPr>
        <p:spPr bwMode="auto">
          <a:xfrm>
            <a:off x="1196975" y="5245100"/>
            <a:ext cx="29845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59" name="Oval 55"/>
          <p:cNvSpPr>
            <a:spLocks noChangeArrowheads="1"/>
          </p:cNvSpPr>
          <p:nvPr/>
        </p:nvSpPr>
        <p:spPr bwMode="auto">
          <a:xfrm>
            <a:off x="4225925" y="5106988"/>
            <a:ext cx="298450" cy="29845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60" name="Line 56"/>
          <p:cNvSpPr>
            <a:spLocks noChangeShapeType="1"/>
          </p:cNvSpPr>
          <p:nvPr/>
        </p:nvSpPr>
        <p:spPr bwMode="auto">
          <a:xfrm flipV="1">
            <a:off x="4686300" y="5245100"/>
            <a:ext cx="69850" cy="920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61" name="Line 57"/>
          <p:cNvSpPr>
            <a:spLocks noChangeShapeType="1"/>
          </p:cNvSpPr>
          <p:nvPr/>
        </p:nvSpPr>
        <p:spPr bwMode="auto">
          <a:xfrm>
            <a:off x="4686300" y="5176838"/>
            <a:ext cx="69850" cy="682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62" name="Line 58"/>
          <p:cNvSpPr>
            <a:spLocks noChangeShapeType="1"/>
          </p:cNvSpPr>
          <p:nvPr/>
        </p:nvSpPr>
        <p:spPr bwMode="auto">
          <a:xfrm>
            <a:off x="4432300" y="5245100"/>
            <a:ext cx="29845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63" name="Rectangle 59"/>
          <p:cNvSpPr>
            <a:spLocks noChangeArrowheads="1"/>
          </p:cNvSpPr>
          <p:nvPr/>
        </p:nvSpPr>
        <p:spPr bwMode="auto">
          <a:xfrm>
            <a:off x="5534025" y="4510088"/>
            <a:ext cx="7588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after(5s)</a:t>
            </a:r>
            <a:endParaRPr lang="en-US" altLang="en-US"/>
          </a:p>
        </p:txBody>
      </p:sp>
      <p:sp>
        <p:nvSpPr>
          <p:cNvPr id="379964" name="Rectangle 60"/>
          <p:cNvSpPr>
            <a:spLocks noChangeArrowheads="1"/>
          </p:cNvSpPr>
          <p:nvPr/>
        </p:nvSpPr>
        <p:spPr bwMode="auto">
          <a:xfrm>
            <a:off x="8153400" y="3890963"/>
            <a:ext cx="8715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after(30s)</a:t>
            </a:r>
            <a:endParaRPr lang="en-US" altLang="en-US"/>
          </a:p>
        </p:txBody>
      </p:sp>
      <p:sp>
        <p:nvSpPr>
          <p:cNvPr id="379965" name="Line 61"/>
          <p:cNvSpPr>
            <a:spLocks noChangeShapeType="1"/>
          </p:cNvSpPr>
          <p:nvPr/>
        </p:nvSpPr>
        <p:spPr bwMode="auto">
          <a:xfrm>
            <a:off x="5418138" y="1849438"/>
            <a:ext cx="1587" cy="7112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66" name="Rectangle 62"/>
          <p:cNvSpPr>
            <a:spLocks noChangeArrowheads="1"/>
          </p:cNvSpPr>
          <p:nvPr/>
        </p:nvSpPr>
        <p:spPr bwMode="auto">
          <a:xfrm>
            <a:off x="5487988" y="2055813"/>
            <a:ext cx="19605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i="1">
                <a:solidFill>
                  <a:srgbClr val="000000"/>
                </a:solidFill>
                <a:latin typeface="Arial" panose="020B0604020202020204" pitchFamily="34" charset="0"/>
              </a:rPr>
              <a:t>vehicleWaitingToTurn</a:t>
            </a:r>
            <a:endParaRPr lang="en-US" altLang="en-US"/>
          </a:p>
        </p:txBody>
      </p:sp>
      <p:sp>
        <p:nvSpPr>
          <p:cNvPr id="379967" name="AutoShape 63"/>
          <p:cNvSpPr>
            <a:spLocks noChangeArrowheads="1"/>
          </p:cNvSpPr>
          <p:nvPr/>
        </p:nvSpPr>
        <p:spPr bwMode="auto">
          <a:xfrm>
            <a:off x="4741863" y="1355725"/>
            <a:ext cx="2386012" cy="482600"/>
          </a:xfrm>
          <a:prstGeom prst="roundRect">
            <a:avLst>
              <a:gd name="adj" fmla="val 34093"/>
            </a:avLst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68" name="Rectangle 64"/>
          <p:cNvSpPr>
            <a:spLocks noChangeArrowheads="1"/>
          </p:cNvSpPr>
          <p:nvPr/>
        </p:nvSpPr>
        <p:spPr bwMode="auto">
          <a:xfrm>
            <a:off x="4845050" y="1435100"/>
            <a:ext cx="2146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GreenLightNoTrigger</a:t>
            </a:r>
            <a:endParaRPr lang="en-US" altLang="en-US"/>
          </a:p>
        </p:txBody>
      </p:sp>
      <p:sp>
        <p:nvSpPr>
          <p:cNvPr id="379969" name="Line 65"/>
          <p:cNvSpPr>
            <a:spLocks noChangeShapeType="1"/>
          </p:cNvSpPr>
          <p:nvPr/>
        </p:nvSpPr>
        <p:spPr bwMode="auto">
          <a:xfrm flipH="1">
            <a:off x="5418138" y="2481263"/>
            <a:ext cx="92075" cy="698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70" name="Line 66"/>
          <p:cNvSpPr>
            <a:spLocks noChangeShapeType="1"/>
          </p:cNvSpPr>
          <p:nvPr/>
        </p:nvSpPr>
        <p:spPr bwMode="auto">
          <a:xfrm>
            <a:off x="5327650" y="2481263"/>
            <a:ext cx="90488" cy="698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71" name="Line 67"/>
          <p:cNvSpPr>
            <a:spLocks noChangeShapeType="1"/>
          </p:cNvSpPr>
          <p:nvPr/>
        </p:nvSpPr>
        <p:spPr bwMode="auto">
          <a:xfrm flipH="1" flipV="1">
            <a:off x="7129463" y="1574800"/>
            <a:ext cx="68262" cy="904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72" name="Line 68"/>
          <p:cNvSpPr>
            <a:spLocks noChangeShapeType="1"/>
          </p:cNvSpPr>
          <p:nvPr/>
        </p:nvSpPr>
        <p:spPr bwMode="auto">
          <a:xfrm flipH="1">
            <a:off x="7129463" y="1504950"/>
            <a:ext cx="68262" cy="698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73" name="Line 69"/>
          <p:cNvSpPr>
            <a:spLocks noChangeShapeType="1"/>
          </p:cNvSpPr>
          <p:nvPr/>
        </p:nvSpPr>
        <p:spPr bwMode="auto">
          <a:xfrm>
            <a:off x="7138988" y="1574800"/>
            <a:ext cx="938212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79914" name="Rectangle 10"/>
          <p:cNvSpPr>
            <a:spLocks noChangeArrowheads="1"/>
          </p:cNvSpPr>
          <p:nvPr/>
        </p:nvSpPr>
        <p:spPr bwMode="auto">
          <a:xfrm>
            <a:off x="381000" y="304800"/>
            <a:ext cx="8229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just"/>
            <a:r>
              <a:rPr lang="en-US" altLang="en-US" sz="3200">
                <a:solidFill>
                  <a:schemeClr val="tx2"/>
                </a:solidFill>
                <a:latin typeface="Arial" panose="020B0604020202020204" pitchFamily="34" charset="0"/>
              </a:rPr>
              <a:t>State diagrams – an example of transitions</a:t>
            </a:r>
            <a:r>
              <a:rPr lang="en-GB" altLang="en-US" sz="3200">
                <a:solidFill>
                  <a:schemeClr val="tx2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with time-outs and conditions</a:t>
            </a:r>
            <a:endParaRPr lang="en-US" altLang="en-US" sz="3200">
              <a:solidFill>
                <a:schemeClr val="tx2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352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ED94C-8A16-4C6D-B5FB-5F7958504D9C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 diagrams – an example with conditional transitions 		</a:t>
            </a:r>
          </a:p>
        </p:txBody>
      </p:sp>
      <p:grpSp>
        <p:nvGrpSpPr>
          <p:cNvPr id="381962" name="Group 10"/>
          <p:cNvGrpSpPr>
            <a:grpSpLocks/>
          </p:cNvGrpSpPr>
          <p:nvPr/>
        </p:nvGrpSpPr>
        <p:grpSpPr bwMode="auto">
          <a:xfrm>
            <a:off x="4679950" y="2082800"/>
            <a:ext cx="79375" cy="160338"/>
            <a:chOff x="2948" y="1312"/>
            <a:chExt cx="50" cy="101"/>
          </a:xfrm>
        </p:grpSpPr>
        <p:sp>
          <p:nvSpPr>
            <p:cNvPr id="381960" name="Line 8"/>
            <p:cNvSpPr>
              <a:spLocks noChangeShapeType="1"/>
            </p:cNvSpPr>
            <p:nvPr/>
          </p:nvSpPr>
          <p:spPr bwMode="auto">
            <a:xfrm>
              <a:off x="2948" y="1312"/>
              <a:ext cx="50" cy="5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1961" name="Line 9"/>
            <p:cNvSpPr>
              <a:spLocks noChangeShapeType="1"/>
            </p:cNvSpPr>
            <p:nvPr/>
          </p:nvSpPr>
          <p:spPr bwMode="auto">
            <a:xfrm flipV="1">
              <a:off x="2948" y="1362"/>
              <a:ext cx="50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81963" name="Rectangle 11"/>
          <p:cNvSpPr>
            <a:spLocks noChangeArrowheads="1"/>
          </p:cNvSpPr>
          <p:nvPr/>
        </p:nvSpPr>
        <p:spPr bwMode="auto">
          <a:xfrm>
            <a:off x="7202488" y="2990850"/>
            <a:ext cx="145732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requestToRegister</a:t>
            </a:r>
          </a:p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            (aStudent)</a:t>
            </a:r>
            <a:endParaRPr lang="en-US" altLang="en-US"/>
          </a:p>
        </p:txBody>
      </p:sp>
      <p:sp>
        <p:nvSpPr>
          <p:cNvPr id="381964" name="Rectangle 12"/>
          <p:cNvSpPr>
            <a:spLocks noChangeArrowheads="1"/>
          </p:cNvSpPr>
          <p:nvPr/>
        </p:nvSpPr>
        <p:spPr bwMode="auto">
          <a:xfrm>
            <a:off x="7202488" y="3444875"/>
            <a:ext cx="148748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/createRegistration</a:t>
            </a:r>
            <a:endParaRPr lang="en-US" altLang="en-US"/>
          </a:p>
        </p:txBody>
      </p:sp>
      <p:sp>
        <p:nvSpPr>
          <p:cNvPr id="381965" name="Line 13"/>
          <p:cNvSpPr>
            <a:spLocks noChangeShapeType="1"/>
          </p:cNvSpPr>
          <p:nvPr/>
        </p:nvSpPr>
        <p:spPr bwMode="auto">
          <a:xfrm>
            <a:off x="5365750" y="3543300"/>
            <a:ext cx="1588" cy="87630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66" name="Oval 14"/>
          <p:cNvSpPr>
            <a:spLocks noChangeArrowheads="1"/>
          </p:cNvSpPr>
          <p:nvPr/>
        </p:nvSpPr>
        <p:spPr bwMode="auto">
          <a:xfrm>
            <a:off x="4133850" y="2062163"/>
            <a:ext cx="263525" cy="261937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67" name="Line 15"/>
          <p:cNvSpPr>
            <a:spLocks noChangeShapeType="1"/>
          </p:cNvSpPr>
          <p:nvPr/>
        </p:nvSpPr>
        <p:spPr bwMode="auto">
          <a:xfrm flipH="1">
            <a:off x="4275138" y="2162175"/>
            <a:ext cx="484187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68" name="Rectangle 16"/>
          <p:cNvSpPr>
            <a:spLocks noChangeArrowheads="1"/>
          </p:cNvSpPr>
          <p:nvPr/>
        </p:nvSpPr>
        <p:spPr bwMode="auto">
          <a:xfrm>
            <a:off x="1195388" y="4505325"/>
            <a:ext cx="6302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Closed</a:t>
            </a:r>
            <a:endParaRPr lang="en-US" altLang="en-US"/>
          </a:p>
        </p:txBody>
      </p:sp>
      <p:sp>
        <p:nvSpPr>
          <p:cNvPr id="381969" name="Line 17"/>
          <p:cNvSpPr>
            <a:spLocks noChangeShapeType="1"/>
          </p:cNvSpPr>
          <p:nvPr/>
        </p:nvSpPr>
        <p:spPr bwMode="auto">
          <a:xfrm>
            <a:off x="2055813" y="4565650"/>
            <a:ext cx="22193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70" name="Rectangle 18"/>
          <p:cNvSpPr>
            <a:spLocks noChangeArrowheads="1"/>
          </p:cNvSpPr>
          <p:nvPr/>
        </p:nvSpPr>
        <p:spPr bwMode="auto">
          <a:xfrm>
            <a:off x="2257425" y="4787900"/>
            <a:ext cx="18240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classSize &gt;= maximum</a:t>
            </a:r>
            <a:endParaRPr lang="en-US" altLang="en-US"/>
          </a:p>
        </p:txBody>
      </p:sp>
      <p:sp>
        <p:nvSpPr>
          <p:cNvPr id="381971" name="Line 19"/>
          <p:cNvSpPr>
            <a:spLocks noChangeShapeType="1"/>
          </p:cNvSpPr>
          <p:nvPr/>
        </p:nvSpPr>
        <p:spPr bwMode="auto">
          <a:xfrm flipH="1">
            <a:off x="2641600" y="3171825"/>
            <a:ext cx="1512888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72" name="Rectangle 20"/>
          <p:cNvSpPr>
            <a:spLocks noChangeArrowheads="1"/>
          </p:cNvSpPr>
          <p:nvPr/>
        </p:nvSpPr>
        <p:spPr bwMode="auto">
          <a:xfrm>
            <a:off x="3225800" y="3375025"/>
            <a:ext cx="6254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cancel</a:t>
            </a:r>
            <a:endParaRPr lang="en-US" altLang="en-US"/>
          </a:p>
        </p:txBody>
      </p:sp>
      <p:sp>
        <p:nvSpPr>
          <p:cNvPr id="381973" name="Line 21"/>
          <p:cNvSpPr>
            <a:spLocks noChangeShapeType="1"/>
          </p:cNvSpPr>
          <p:nvPr/>
        </p:nvSpPr>
        <p:spPr bwMode="auto">
          <a:xfrm>
            <a:off x="5365750" y="2476500"/>
            <a:ext cx="1588" cy="52070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74" name="Rectangle 22"/>
          <p:cNvSpPr>
            <a:spLocks noChangeArrowheads="1"/>
          </p:cNvSpPr>
          <p:nvPr/>
        </p:nvSpPr>
        <p:spPr bwMode="auto">
          <a:xfrm>
            <a:off x="5426075" y="2506663"/>
            <a:ext cx="13398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openRegistration</a:t>
            </a:r>
            <a:endParaRPr lang="en-US" altLang="en-US"/>
          </a:p>
        </p:txBody>
      </p:sp>
      <p:sp>
        <p:nvSpPr>
          <p:cNvPr id="381975" name="AutoShape 23"/>
          <p:cNvSpPr>
            <a:spLocks noChangeArrowheads="1"/>
          </p:cNvSpPr>
          <p:nvPr/>
        </p:nvSpPr>
        <p:spPr bwMode="auto">
          <a:xfrm>
            <a:off x="4768850" y="1990725"/>
            <a:ext cx="1192213" cy="485775"/>
          </a:xfrm>
          <a:prstGeom prst="roundRect">
            <a:avLst>
              <a:gd name="adj" fmla="val 3000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76" name="Rectangle 24"/>
          <p:cNvSpPr>
            <a:spLocks noChangeArrowheads="1"/>
          </p:cNvSpPr>
          <p:nvPr/>
        </p:nvSpPr>
        <p:spPr bwMode="auto">
          <a:xfrm>
            <a:off x="4962525" y="2082800"/>
            <a:ext cx="88741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Planned</a:t>
            </a:r>
            <a:endParaRPr lang="en-US" altLang="en-US"/>
          </a:p>
        </p:txBody>
      </p:sp>
      <p:sp>
        <p:nvSpPr>
          <p:cNvPr id="381977" name="Rectangle 25"/>
          <p:cNvSpPr>
            <a:spLocks noChangeArrowheads="1"/>
          </p:cNvSpPr>
          <p:nvPr/>
        </p:nvSpPr>
        <p:spPr bwMode="auto">
          <a:xfrm>
            <a:off x="4376738" y="4524375"/>
            <a:ext cx="1997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OpenEnoughStudents</a:t>
            </a:r>
            <a:endParaRPr lang="en-US" altLang="en-US"/>
          </a:p>
        </p:txBody>
      </p:sp>
      <p:sp>
        <p:nvSpPr>
          <p:cNvPr id="381978" name="Rectangle 26"/>
          <p:cNvSpPr>
            <a:spLocks noChangeArrowheads="1"/>
          </p:cNvSpPr>
          <p:nvPr/>
        </p:nvSpPr>
        <p:spPr bwMode="auto">
          <a:xfrm>
            <a:off x="4235450" y="3132138"/>
            <a:ext cx="23129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OpenNotEnoughStudents</a:t>
            </a:r>
            <a:endParaRPr lang="en-US" altLang="en-US"/>
          </a:p>
        </p:txBody>
      </p:sp>
      <p:sp>
        <p:nvSpPr>
          <p:cNvPr id="381979" name="AutoShape 27"/>
          <p:cNvSpPr>
            <a:spLocks noChangeArrowheads="1"/>
          </p:cNvSpPr>
          <p:nvPr/>
        </p:nvSpPr>
        <p:spPr bwMode="auto">
          <a:xfrm>
            <a:off x="1063625" y="4413250"/>
            <a:ext cx="990600" cy="485775"/>
          </a:xfrm>
          <a:prstGeom prst="roundRect">
            <a:avLst>
              <a:gd name="adj" fmla="val 3000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381982" name="Group 30"/>
          <p:cNvGrpSpPr>
            <a:grpSpLocks/>
          </p:cNvGrpSpPr>
          <p:nvPr/>
        </p:nvGrpSpPr>
        <p:grpSpPr bwMode="auto">
          <a:xfrm>
            <a:off x="5284788" y="2930525"/>
            <a:ext cx="161925" cy="79375"/>
            <a:chOff x="3329" y="1846"/>
            <a:chExt cx="102" cy="50"/>
          </a:xfrm>
        </p:grpSpPr>
        <p:sp>
          <p:nvSpPr>
            <p:cNvPr id="381980" name="Line 28"/>
            <p:cNvSpPr>
              <a:spLocks noChangeShapeType="1"/>
            </p:cNvSpPr>
            <p:nvPr/>
          </p:nvSpPr>
          <p:spPr bwMode="auto">
            <a:xfrm flipH="1">
              <a:off x="3380" y="1846"/>
              <a:ext cx="51" cy="5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1981" name="Line 29"/>
            <p:cNvSpPr>
              <a:spLocks noChangeShapeType="1"/>
            </p:cNvSpPr>
            <p:nvPr/>
          </p:nvSpPr>
          <p:spPr bwMode="auto">
            <a:xfrm>
              <a:off x="3329" y="1846"/>
              <a:ext cx="51" cy="5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81985" name="Group 33"/>
          <p:cNvGrpSpPr>
            <a:grpSpLocks/>
          </p:cNvGrpSpPr>
          <p:nvPr/>
        </p:nvGrpSpPr>
        <p:grpSpPr bwMode="auto">
          <a:xfrm>
            <a:off x="2620963" y="3090863"/>
            <a:ext cx="80962" cy="161925"/>
            <a:chOff x="1651" y="1947"/>
            <a:chExt cx="51" cy="102"/>
          </a:xfrm>
        </p:grpSpPr>
        <p:sp>
          <p:nvSpPr>
            <p:cNvPr id="381983" name="Line 31"/>
            <p:cNvSpPr>
              <a:spLocks noChangeShapeType="1"/>
            </p:cNvSpPr>
            <p:nvPr/>
          </p:nvSpPr>
          <p:spPr bwMode="auto">
            <a:xfrm flipH="1" flipV="1">
              <a:off x="1651" y="1998"/>
              <a:ext cx="51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1984" name="Line 32"/>
            <p:cNvSpPr>
              <a:spLocks noChangeShapeType="1"/>
            </p:cNvSpPr>
            <p:nvPr/>
          </p:nvSpPr>
          <p:spPr bwMode="auto">
            <a:xfrm flipH="1">
              <a:off x="1651" y="1947"/>
              <a:ext cx="51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81986" name="Rectangle 34"/>
          <p:cNvSpPr>
            <a:spLocks noChangeArrowheads="1"/>
          </p:cNvSpPr>
          <p:nvPr/>
        </p:nvSpPr>
        <p:spPr bwMode="auto">
          <a:xfrm>
            <a:off x="5446713" y="3798888"/>
            <a:ext cx="17748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classSize &gt;= minimum</a:t>
            </a:r>
            <a:endParaRPr lang="en-US" altLang="en-US"/>
          </a:p>
        </p:txBody>
      </p:sp>
      <p:sp>
        <p:nvSpPr>
          <p:cNvPr id="381987" name="Rectangle 35"/>
          <p:cNvSpPr>
            <a:spLocks noChangeArrowheads="1"/>
          </p:cNvSpPr>
          <p:nvPr/>
        </p:nvSpPr>
        <p:spPr bwMode="auto">
          <a:xfrm>
            <a:off x="7040563" y="4424363"/>
            <a:ext cx="14668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requestToRegister</a:t>
            </a:r>
          </a:p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             (aStudent)</a:t>
            </a:r>
            <a:endParaRPr lang="en-US" altLang="en-US"/>
          </a:p>
        </p:txBody>
      </p:sp>
      <p:sp>
        <p:nvSpPr>
          <p:cNvPr id="381988" name="Rectangle 36"/>
          <p:cNvSpPr>
            <a:spLocks noChangeArrowheads="1"/>
          </p:cNvSpPr>
          <p:nvPr/>
        </p:nvSpPr>
        <p:spPr bwMode="auto">
          <a:xfrm>
            <a:off x="7040563" y="4800600"/>
            <a:ext cx="148748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/createRegistration</a:t>
            </a:r>
            <a:endParaRPr lang="en-US" altLang="en-US"/>
          </a:p>
        </p:txBody>
      </p:sp>
      <p:grpSp>
        <p:nvGrpSpPr>
          <p:cNvPr id="381991" name="Group 39"/>
          <p:cNvGrpSpPr>
            <a:grpSpLocks/>
          </p:cNvGrpSpPr>
          <p:nvPr/>
        </p:nvGrpSpPr>
        <p:grpSpPr bwMode="auto">
          <a:xfrm>
            <a:off x="2076450" y="4484688"/>
            <a:ext cx="79375" cy="141287"/>
            <a:chOff x="1308" y="2825"/>
            <a:chExt cx="50" cy="89"/>
          </a:xfrm>
        </p:grpSpPr>
        <p:sp>
          <p:nvSpPr>
            <p:cNvPr id="381989" name="Line 37"/>
            <p:cNvSpPr>
              <a:spLocks noChangeShapeType="1"/>
            </p:cNvSpPr>
            <p:nvPr/>
          </p:nvSpPr>
          <p:spPr bwMode="auto">
            <a:xfrm flipH="1" flipV="1">
              <a:off x="1308" y="2876"/>
              <a:ext cx="50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1990" name="Line 38"/>
            <p:cNvSpPr>
              <a:spLocks noChangeShapeType="1"/>
            </p:cNvSpPr>
            <p:nvPr/>
          </p:nvSpPr>
          <p:spPr bwMode="auto">
            <a:xfrm flipH="1">
              <a:off x="1308" y="2825"/>
              <a:ext cx="50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81994" name="Group 42"/>
          <p:cNvGrpSpPr>
            <a:grpSpLocks/>
          </p:cNvGrpSpPr>
          <p:nvPr/>
        </p:nvGrpSpPr>
        <p:grpSpPr bwMode="auto">
          <a:xfrm>
            <a:off x="5284788" y="4313238"/>
            <a:ext cx="161925" cy="80962"/>
            <a:chOff x="3329" y="2710"/>
            <a:chExt cx="102" cy="51"/>
          </a:xfrm>
        </p:grpSpPr>
        <p:sp>
          <p:nvSpPr>
            <p:cNvPr id="381992" name="Line 40"/>
            <p:cNvSpPr>
              <a:spLocks noChangeShapeType="1"/>
            </p:cNvSpPr>
            <p:nvPr/>
          </p:nvSpPr>
          <p:spPr bwMode="auto">
            <a:xfrm flipH="1">
              <a:off x="3380" y="2710"/>
              <a:ext cx="51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1993" name="Line 41"/>
            <p:cNvSpPr>
              <a:spLocks noChangeShapeType="1"/>
            </p:cNvSpPr>
            <p:nvPr/>
          </p:nvSpPr>
          <p:spPr bwMode="auto">
            <a:xfrm>
              <a:off x="3329" y="2710"/>
              <a:ext cx="51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81995" name="Arc 43"/>
          <p:cNvSpPr>
            <a:spLocks/>
          </p:cNvSpPr>
          <p:nvPr/>
        </p:nvSpPr>
        <p:spPr bwMode="auto">
          <a:xfrm>
            <a:off x="6543675" y="2909888"/>
            <a:ext cx="638175" cy="727075"/>
          </a:xfrm>
          <a:custGeom>
            <a:avLst/>
            <a:gdLst>
              <a:gd name="G0" fmla="+- 16314 0 0"/>
              <a:gd name="G1" fmla="+- 21600 0 0"/>
              <a:gd name="G2" fmla="+- 21600 0 0"/>
              <a:gd name="T0" fmla="*/ 0 w 37914"/>
              <a:gd name="T1" fmla="*/ 7443 h 43200"/>
              <a:gd name="T2" fmla="*/ 192 w 37914"/>
              <a:gd name="T3" fmla="*/ 35975 h 43200"/>
              <a:gd name="T4" fmla="*/ 16314 w 37914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914" h="43200" fill="none" extrusionOk="0">
                <a:moveTo>
                  <a:pt x="0" y="7443"/>
                </a:moveTo>
                <a:cubicBezTo>
                  <a:pt x="4102" y="2715"/>
                  <a:pt x="10054" y="0"/>
                  <a:pt x="16314" y="0"/>
                </a:cubicBezTo>
                <a:cubicBezTo>
                  <a:pt x="28243" y="0"/>
                  <a:pt x="37914" y="9670"/>
                  <a:pt x="37914" y="21600"/>
                </a:cubicBezTo>
                <a:cubicBezTo>
                  <a:pt x="37914" y="33529"/>
                  <a:pt x="28243" y="43200"/>
                  <a:pt x="16314" y="43200"/>
                </a:cubicBezTo>
                <a:cubicBezTo>
                  <a:pt x="10155" y="43200"/>
                  <a:pt x="4290" y="40571"/>
                  <a:pt x="191" y="35975"/>
                </a:cubicBezTo>
              </a:path>
              <a:path w="37914" h="43200" stroke="0" extrusionOk="0">
                <a:moveTo>
                  <a:pt x="0" y="7443"/>
                </a:moveTo>
                <a:cubicBezTo>
                  <a:pt x="4102" y="2715"/>
                  <a:pt x="10054" y="0"/>
                  <a:pt x="16314" y="0"/>
                </a:cubicBezTo>
                <a:cubicBezTo>
                  <a:pt x="28243" y="0"/>
                  <a:pt x="37914" y="9670"/>
                  <a:pt x="37914" y="21600"/>
                </a:cubicBezTo>
                <a:cubicBezTo>
                  <a:pt x="37914" y="33529"/>
                  <a:pt x="28243" y="43200"/>
                  <a:pt x="16314" y="43200"/>
                </a:cubicBezTo>
                <a:cubicBezTo>
                  <a:pt x="10155" y="43200"/>
                  <a:pt x="4290" y="40571"/>
                  <a:pt x="191" y="35975"/>
                </a:cubicBezTo>
                <a:lnTo>
                  <a:pt x="16314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96" name="Arc 44"/>
          <p:cNvSpPr>
            <a:spLocks/>
          </p:cNvSpPr>
          <p:nvPr/>
        </p:nvSpPr>
        <p:spPr bwMode="auto">
          <a:xfrm>
            <a:off x="6551613" y="2919413"/>
            <a:ext cx="620712" cy="708025"/>
          </a:xfrm>
          <a:custGeom>
            <a:avLst/>
            <a:gdLst>
              <a:gd name="G0" fmla="+- 16314 0 0"/>
              <a:gd name="G1" fmla="+- 21600 0 0"/>
              <a:gd name="G2" fmla="+- 21600 0 0"/>
              <a:gd name="T0" fmla="*/ 0 w 37914"/>
              <a:gd name="T1" fmla="*/ 7443 h 43200"/>
              <a:gd name="T2" fmla="*/ 192 w 37914"/>
              <a:gd name="T3" fmla="*/ 35975 h 43200"/>
              <a:gd name="T4" fmla="*/ 16314 w 37914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914" h="43200" fill="none" extrusionOk="0">
                <a:moveTo>
                  <a:pt x="0" y="7443"/>
                </a:moveTo>
                <a:cubicBezTo>
                  <a:pt x="4102" y="2715"/>
                  <a:pt x="10054" y="0"/>
                  <a:pt x="16314" y="0"/>
                </a:cubicBezTo>
                <a:cubicBezTo>
                  <a:pt x="28243" y="0"/>
                  <a:pt x="37914" y="9670"/>
                  <a:pt x="37914" y="21600"/>
                </a:cubicBezTo>
                <a:cubicBezTo>
                  <a:pt x="37914" y="33529"/>
                  <a:pt x="28243" y="43200"/>
                  <a:pt x="16314" y="43200"/>
                </a:cubicBezTo>
                <a:cubicBezTo>
                  <a:pt x="10155" y="43200"/>
                  <a:pt x="4290" y="40571"/>
                  <a:pt x="191" y="35975"/>
                </a:cubicBezTo>
              </a:path>
              <a:path w="37914" h="43200" stroke="0" extrusionOk="0">
                <a:moveTo>
                  <a:pt x="0" y="7443"/>
                </a:moveTo>
                <a:cubicBezTo>
                  <a:pt x="4102" y="2715"/>
                  <a:pt x="10054" y="0"/>
                  <a:pt x="16314" y="0"/>
                </a:cubicBezTo>
                <a:cubicBezTo>
                  <a:pt x="28243" y="0"/>
                  <a:pt x="37914" y="9670"/>
                  <a:pt x="37914" y="21600"/>
                </a:cubicBezTo>
                <a:cubicBezTo>
                  <a:pt x="37914" y="33529"/>
                  <a:pt x="28243" y="43200"/>
                  <a:pt x="16314" y="43200"/>
                </a:cubicBezTo>
                <a:cubicBezTo>
                  <a:pt x="10155" y="43200"/>
                  <a:pt x="4290" y="40571"/>
                  <a:pt x="191" y="35975"/>
                </a:cubicBezTo>
                <a:lnTo>
                  <a:pt x="16314" y="21600"/>
                </a:lnTo>
                <a:close/>
              </a:path>
            </a:pathLst>
          </a:cu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97" name="Arc 45"/>
          <p:cNvSpPr>
            <a:spLocks/>
          </p:cNvSpPr>
          <p:nvPr/>
        </p:nvSpPr>
        <p:spPr bwMode="auto">
          <a:xfrm>
            <a:off x="6383338" y="4283075"/>
            <a:ext cx="636587" cy="725488"/>
          </a:xfrm>
          <a:custGeom>
            <a:avLst/>
            <a:gdLst>
              <a:gd name="G0" fmla="+- 16321 0 0"/>
              <a:gd name="G1" fmla="+- 21600 0 0"/>
              <a:gd name="G2" fmla="+- 21600 0 0"/>
              <a:gd name="T0" fmla="*/ 0 w 37921"/>
              <a:gd name="T1" fmla="*/ 7452 h 43200"/>
              <a:gd name="T2" fmla="*/ 199 w 37921"/>
              <a:gd name="T3" fmla="*/ 35975 h 43200"/>
              <a:gd name="T4" fmla="*/ 16321 w 37921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921" h="43200" fill="none" extrusionOk="0">
                <a:moveTo>
                  <a:pt x="-1" y="7451"/>
                </a:moveTo>
                <a:cubicBezTo>
                  <a:pt x="4102" y="2718"/>
                  <a:pt x="10057" y="0"/>
                  <a:pt x="16321" y="0"/>
                </a:cubicBezTo>
                <a:cubicBezTo>
                  <a:pt x="28250" y="0"/>
                  <a:pt x="37921" y="9670"/>
                  <a:pt x="37921" y="21600"/>
                </a:cubicBezTo>
                <a:cubicBezTo>
                  <a:pt x="37921" y="33529"/>
                  <a:pt x="28250" y="43200"/>
                  <a:pt x="16321" y="43200"/>
                </a:cubicBezTo>
                <a:cubicBezTo>
                  <a:pt x="10162" y="43200"/>
                  <a:pt x="4297" y="40571"/>
                  <a:pt x="198" y="35975"/>
                </a:cubicBezTo>
              </a:path>
              <a:path w="37921" h="43200" stroke="0" extrusionOk="0">
                <a:moveTo>
                  <a:pt x="-1" y="7451"/>
                </a:moveTo>
                <a:cubicBezTo>
                  <a:pt x="4102" y="2718"/>
                  <a:pt x="10057" y="0"/>
                  <a:pt x="16321" y="0"/>
                </a:cubicBezTo>
                <a:cubicBezTo>
                  <a:pt x="28250" y="0"/>
                  <a:pt x="37921" y="9670"/>
                  <a:pt x="37921" y="21600"/>
                </a:cubicBezTo>
                <a:cubicBezTo>
                  <a:pt x="37921" y="33529"/>
                  <a:pt x="28250" y="43200"/>
                  <a:pt x="16321" y="43200"/>
                </a:cubicBezTo>
                <a:cubicBezTo>
                  <a:pt x="10162" y="43200"/>
                  <a:pt x="4297" y="40571"/>
                  <a:pt x="198" y="35975"/>
                </a:cubicBezTo>
                <a:lnTo>
                  <a:pt x="16321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98" name="Arc 46"/>
          <p:cNvSpPr>
            <a:spLocks/>
          </p:cNvSpPr>
          <p:nvPr/>
        </p:nvSpPr>
        <p:spPr bwMode="auto">
          <a:xfrm>
            <a:off x="6391275" y="4292600"/>
            <a:ext cx="620713" cy="706438"/>
          </a:xfrm>
          <a:custGeom>
            <a:avLst/>
            <a:gdLst>
              <a:gd name="G0" fmla="+- 16321 0 0"/>
              <a:gd name="G1" fmla="+- 21600 0 0"/>
              <a:gd name="G2" fmla="+- 21600 0 0"/>
              <a:gd name="T0" fmla="*/ 0 w 37921"/>
              <a:gd name="T1" fmla="*/ 7452 h 43200"/>
              <a:gd name="T2" fmla="*/ 199 w 37921"/>
              <a:gd name="T3" fmla="*/ 35975 h 43200"/>
              <a:gd name="T4" fmla="*/ 16321 w 37921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921" h="43200" fill="none" extrusionOk="0">
                <a:moveTo>
                  <a:pt x="-1" y="7451"/>
                </a:moveTo>
                <a:cubicBezTo>
                  <a:pt x="4102" y="2718"/>
                  <a:pt x="10057" y="0"/>
                  <a:pt x="16321" y="0"/>
                </a:cubicBezTo>
                <a:cubicBezTo>
                  <a:pt x="28250" y="0"/>
                  <a:pt x="37921" y="9670"/>
                  <a:pt x="37921" y="21600"/>
                </a:cubicBezTo>
                <a:cubicBezTo>
                  <a:pt x="37921" y="33529"/>
                  <a:pt x="28250" y="43200"/>
                  <a:pt x="16321" y="43200"/>
                </a:cubicBezTo>
                <a:cubicBezTo>
                  <a:pt x="10162" y="43200"/>
                  <a:pt x="4297" y="40571"/>
                  <a:pt x="198" y="35975"/>
                </a:cubicBezTo>
              </a:path>
              <a:path w="37921" h="43200" stroke="0" extrusionOk="0">
                <a:moveTo>
                  <a:pt x="-1" y="7451"/>
                </a:moveTo>
                <a:cubicBezTo>
                  <a:pt x="4102" y="2718"/>
                  <a:pt x="10057" y="0"/>
                  <a:pt x="16321" y="0"/>
                </a:cubicBezTo>
                <a:cubicBezTo>
                  <a:pt x="28250" y="0"/>
                  <a:pt x="37921" y="9670"/>
                  <a:pt x="37921" y="21600"/>
                </a:cubicBezTo>
                <a:cubicBezTo>
                  <a:pt x="37921" y="33529"/>
                  <a:pt x="28250" y="43200"/>
                  <a:pt x="16321" y="43200"/>
                </a:cubicBezTo>
                <a:cubicBezTo>
                  <a:pt x="10162" y="43200"/>
                  <a:pt x="4297" y="40571"/>
                  <a:pt x="198" y="35975"/>
                </a:cubicBezTo>
                <a:lnTo>
                  <a:pt x="16321" y="21600"/>
                </a:lnTo>
                <a:close/>
              </a:path>
            </a:pathLst>
          </a:cu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1999" name="AutoShape 47"/>
          <p:cNvSpPr>
            <a:spLocks noChangeArrowheads="1"/>
          </p:cNvSpPr>
          <p:nvPr/>
        </p:nvSpPr>
        <p:spPr bwMode="auto">
          <a:xfrm>
            <a:off x="4305300" y="4413250"/>
            <a:ext cx="2160588" cy="485775"/>
          </a:xfrm>
          <a:prstGeom prst="roundRect">
            <a:avLst>
              <a:gd name="adj" fmla="val 3000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2000" name="AutoShape 48"/>
          <p:cNvSpPr>
            <a:spLocks noChangeArrowheads="1"/>
          </p:cNvSpPr>
          <p:nvPr/>
        </p:nvSpPr>
        <p:spPr bwMode="auto">
          <a:xfrm>
            <a:off x="4164013" y="3040063"/>
            <a:ext cx="2463800" cy="506412"/>
          </a:xfrm>
          <a:prstGeom prst="roundRect">
            <a:avLst>
              <a:gd name="adj" fmla="val 28847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382003" name="Group 51"/>
          <p:cNvGrpSpPr>
            <a:grpSpLocks/>
          </p:cNvGrpSpPr>
          <p:nvPr/>
        </p:nvGrpSpPr>
        <p:grpSpPr bwMode="auto">
          <a:xfrm>
            <a:off x="6375400" y="4867275"/>
            <a:ext cx="120650" cy="122238"/>
            <a:chOff x="4016" y="3066"/>
            <a:chExt cx="76" cy="77"/>
          </a:xfrm>
        </p:grpSpPr>
        <p:sp>
          <p:nvSpPr>
            <p:cNvPr id="382001" name="Line 49"/>
            <p:cNvSpPr>
              <a:spLocks noChangeShapeType="1"/>
            </p:cNvSpPr>
            <p:nvPr/>
          </p:nvSpPr>
          <p:spPr bwMode="auto">
            <a:xfrm flipV="1">
              <a:off x="4016" y="3079"/>
              <a:ext cx="12" cy="6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2002" name="Line 50"/>
            <p:cNvSpPr>
              <a:spLocks noChangeShapeType="1"/>
            </p:cNvSpPr>
            <p:nvPr/>
          </p:nvSpPr>
          <p:spPr bwMode="auto">
            <a:xfrm flipH="1">
              <a:off x="4028" y="3066"/>
              <a:ext cx="64" cy="1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82006" name="Group 54"/>
          <p:cNvGrpSpPr>
            <a:grpSpLocks/>
          </p:cNvGrpSpPr>
          <p:nvPr/>
        </p:nvGrpSpPr>
        <p:grpSpPr bwMode="auto">
          <a:xfrm>
            <a:off x="6556375" y="3495675"/>
            <a:ext cx="100013" cy="100013"/>
            <a:chOff x="4130" y="2202"/>
            <a:chExt cx="63" cy="63"/>
          </a:xfrm>
        </p:grpSpPr>
        <p:sp>
          <p:nvSpPr>
            <p:cNvPr id="382004" name="Line 52"/>
            <p:cNvSpPr>
              <a:spLocks noChangeShapeType="1"/>
            </p:cNvSpPr>
            <p:nvPr/>
          </p:nvSpPr>
          <p:spPr bwMode="auto">
            <a:xfrm flipV="1">
              <a:off x="4130" y="2202"/>
              <a:ext cx="1" cy="6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2005" name="Line 53"/>
            <p:cNvSpPr>
              <a:spLocks noChangeShapeType="1"/>
            </p:cNvSpPr>
            <p:nvPr/>
          </p:nvSpPr>
          <p:spPr bwMode="auto">
            <a:xfrm flipH="1">
              <a:off x="4130" y="2202"/>
              <a:ext cx="63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82007" name="Line 55"/>
          <p:cNvSpPr>
            <a:spLocks noChangeShapeType="1"/>
          </p:cNvSpPr>
          <p:nvPr/>
        </p:nvSpPr>
        <p:spPr bwMode="auto">
          <a:xfrm flipH="1">
            <a:off x="2620963" y="3394075"/>
            <a:ext cx="15335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2008" name="Rectangle 56"/>
          <p:cNvSpPr>
            <a:spLocks noChangeArrowheads="1"/>
          </p:cNvSpPr>
          <p:nvPr/>
        </p:nvSpPr>
        <p:spPr bwMode="auto">
          <a:xfrm>
            <a:off x="2741613" y="2909888"/>
            <a:ext cx="136048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closeRegistration</a:t>
            </a:r>
            <a:endParaRPr lang="en-US" altLang="en-US"/>
          </a:p>
        </p:txBody>
      </p:sp>
      <p:grpSp>
        <p:nvGrpSpPr>
          <p:cNvPr id="382011" name="Group 59"/>
          <p:cNvGrpSpPr>
            <a:grpSpLocks/>
          </p:cNvGrpSpPr>
          <p:nvPr/>
        </p:nvGrpSpPr>
        <p:grpSpPr bwMode="auto">
          <a:xfrm>
            <a:off x="2620963" y="3313113"/>
            <a:ext cx="80962" cy="141287"/>
            <a:chOff x="1651" y="2087"/>
            <a:chExt cx="51" cy="89"/>
          </a:xfrm>
        </p:grpSpPr>
        <p:sp>
          <p:nvSpPr>
            <p:cNvPr id="382009" name="Line 57"/>
            <p:cNvSpPr>
              <a:spLocks noChangeShapeType="1"/>
            </p:cNvSpPr>
            <p:nvPr/>
          </p:nvSpPr>
          <p:spPr bwMode="auto">
            <a:xfrm flipH="1" flipV="1">
              <a:off x="1651" y="2138"/>
              <a:ext cx="51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2010" name="Line 58"/>
            <p:cNvSpPr>
              <a:spLocks noChangeShapeType="1"/>
            </p:cNvSpPr>
            <p:nvPr/>
          </p:nvSpPr>
          <p:spPr bwMode="auto">
            <a:xfrm flipH="1">
              <a:off x="1651" y="2087"/>
              <a:ext cx="51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82012" name="Line 60"/>
          <p:cNvSpPr>
            <a:spLocks noChangeShapeType="1"/>
          </p:cNvSpPr>
          <p:nvPr/>
        </p:nvSpPr>
        <p:spPr bwMode="auto">
          <a:xfrm flipH="1">
            <a:off x="2063750" y="4767263"/>
            <a:ext cx="22193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2013" name="Rectangle 61"/>
          <p:cNvSpPr>
            <a:spLocks noChangeArrowheads="1"/>
          </p:cNvSpPr>
          <p:nvPr/>
        </p:nvSpPr>
        <p:spPr bwMode="auto">
          <a:xfrm>
            <a:off x="2338388" y="4283075"/>
            <a:ext cx="1360487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closeRegistration</a:t>
            </a:r>
            <a:endParaRPr lang="en-US" altLang="en-US"/>
          </a:p>
        </p:txBody>
      </p:sp>
      <p:grpSp>
        <p:nvGrpSpPr>
          <p:cNvPr id="382016" name="Group 64"/>
          <p:cNvGrpSpPr>
            <a:grpSpLocks/>
          </p:cNvGrpSpPr>
          <p:nvPr/>
        </p:nvGrpSpPr>
        <p:grpSpPr bwMode="auto">
          <a:xfrm>
            <a:off x="2063750" y="4686300"/>
            <a:ext cx="79375" cy="141288"/>
            <a:chOff x="1308" y="2952"/>
            <a:chExt cx="50" cy="89"/>
          </a:xfrm>
        </p:grpSpPr>
        <p:sp>
          <p:nvSpPr>
            <p:cNvPr id="382014" name="Line 62"/>
            <p:cNvSpPr>
              <a:spLocks noChangeShapeType="1"/>
            </p:cNvSpPr>
            <p:nvPr/>
          </p:nvSpPr>
          <p:spPr bwMode="auto">
            <a:xfrm flipH="1" flipV="1">
              <a:off x="1308" y="3003"/>
              <a:ext cx="50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2015" name="Line 63"/>
            <p:cNvSpPr>
              <a:spLocks noChangeShapeType="1"/>
            </p:cNvSpPr>
            <p:nvPr/>
          </p:nvSpPr>
          <p:spPr bwMode="auto">
            <a:xfrm flipH="1">
              <a:off x="1308" y="2952"/>
              <a:ext cx="50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82017" name="Rectangle 65"/>
          <p:cNvSpPr>
            <a:spLocks noChangeArrowheads="1"/>
          </p:cNvSpPr>
          <p:nvPr/>
        </p:nvSpPr>
        <p:spPr bwMode="auto">
          <a:xfrm>
            <a:off x="3609975" y="3838575"/>
            <a:ext cx="6254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 i="1">
                <a:solidFill>
                  <a:srgbClr val="000000"/>
                </a:solidFill>
                <a:latin typeface="Arial" panose="020B0604020202020204" pitchFamily="34" charset="0"/>
              </a:rPr>
              <a:t>cancel</a:t>
            </a:r>
            <a:endParaRPr lang="en-US" altLang="en-US"/>
          </a:p>
        </p:txBody>
      </p:sp>
      <p:sp>
        <p:nvSpPr>
          <p:cNvPr id="382018" name="Line 66"/>
          <p:cNvSpPr>
            <a:spLocks noChangeShapeType="1"/>
          </p:cNvSpPr>
          <p:nvPr/>
        </p:nvSpPr>
        <p:spPr bwMode="auto">
          <a:xfrm flipH="1" flipV="1">
            <a:off x="2560638" y="3556000"/>
            <a:ext cx="1800225" cy="8731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382021" name="Group 69"/>
          <p:cNvGrpSpPr>
            <a:grpSpLocks/>
          </p:cNvGrpSpPr>
          <p:nvPr/>
        </p:nvGrpSpPr>
        <p:grpSpPr bwMode="auto">
          <a:xfrm>
            <a:off x="2560638" y="3514725"/>
            <a:ext cx="80962" cy="122238"/>
            <a:chOff x="1613" y="2214"/>
            <a:chExt cx="51" cy="77"/>
          </a:xfrm>
        </p:grpSpPr>
        <p:sp>
          <p:nvSpPr>
            <p:cNvPr id="382019" name="Line 67"/>
            <p:cNvSpPr>
              <a:spLocks noChangeShapeType="1"/>
            </p:cNvSpPr>
            <p:nvPr/>
          </p:nvSpPr>
          <p:spPr bwMode="auto">
            <a:xfrm flipH="1">
              <a:off x="1613" y="2214"/>
              <a:ext cx="51" cy="26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2020" name="Line 68"/>
            <p:cNvSpPr>
              <a:spLocks noChangeShapeType="1"/>
            </p:cNvSpPr>
            <p:nvPr/>
          </p:nvSpPr>
          <p:spPr bwMode="auto">
            <a:xfrm flipH="1" flipV="1">
              <a:off x="1613" y="2240"/>
              <a:ext cx="12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82022" name="Rectangle 70"/>
          <p:cNvSpPr>
            <a:spLocks noChangeArrowheads="1"/>
          </p:cNvSpPr>
          <p:nvPr/>
        </p:nvSpPr>
        <p:spPr bwMode="auto">
          <a:xfrm>
            <a:off x="1530350" y="3171825"/>
            <a:ext cx="104933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Cancelled</a:t>
            </a:r>
            <a:endParaRPr lang="en-US" altLang="en-US"/>
          </a:p>
        </p:txBody>
      </p:sp>
      <p:sp>
        <p:nvSpPr>
          <p:cNvPr id="382023" name="AutoShape 71"/>
          <p:cNvSpPr>
            <a:spLocks noChangeArrowheads="1"/>
          </p:cNvSpPr>
          <p:nvPr/>
        </p:nvSpPr>
        <p:spPr bwMode="auto">
          <a:xfrm>
            <a:off x="1439863" y="3081338"/>
            <a:ext cx="1192212" cy="485775"/>
          </a:xfrm>
          <a:prstGeom prst="roundRect">
            <a:avLst>
              <a:gd name="adj" fmla="val 3000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8980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DC56F-27EF-4CE1-B1EA-12CFCED6BB70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791580" y="-207404"/>
            <a:ext cx="7772400" cy="1143000"/>
          </a:xfrm>
        </p:spPr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Activities in state diagrams</a:t>
            </a:r>
            <a:r>
              <a:rPr lang="en-US" altLang="en-US" dirty="0"/>
              <a:t> 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activity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is something that takes place while the system is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a state. </a:t>
            </a:r>
          </a:p>
          <a:p>
            <a:pPr lvl="2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It takes a period of time. </a:t>
            </a:r>
          </a:p>
          <a:p>
            <a:pPr lvl="2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system may take a transition out of the state in response to completion of the activity, </a:t>
            </a:r>
          </a:p>
          <a:p>
            <a:pPr lvl="2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Some other outgoing transition may result in:</a:t>
            </a:r>
          </a:p>
          <a:p>
            <a:pPr lvl="3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interruption of the activity, and</a:t>
            </a:r>
          </a:p>
          <a:p>
            <a:pPr lvl="3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early exit from the state.</a:t>
            </a:r>
          </a:p>
        </p:txBody>
      </p:sp>
    </p:spTree>
    <p:extLst>
      <p:ext uri="{BB962C8B-B14F-4D97-AF65-F5344CB8AC3E}">
        <p14:creationId xmlns:p14="http://schemas.microsoft.com/office/powerpoint/2010/main" val="2099662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82D9F-403D-4B0D-B373-D3A2CB94F395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47564" y="296652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State diagram – an example with activity </a:t>
            </a:r>
          </a:p>
        </p:txBody>
      </p:sp>
      <p:grpSp>
        <p:nvGrpSpPr>
          <p:cNvPr id="407560" name="Group 8"/>
          <p:cNvGrpSpPr>
            <a:grpSpLocks/>
          </p:cNvGrpSpPr>
          <p:nvPr/>
        </p:nvGrpSpPr>
        <p:grpSpPr bwMode="auto">
          <a:xfrm>
            <a:off x="6602413" y="2417763"/>
            <a:ext cx="90487" cy="241300"/>
            <a:chOff x="4159" y="1523"/>
            <a:chExt cx="57" cy="152"/>
          </a:xfrm>
        </p:grpSpPr>
        <p:sp>
          <p:nvSpPr>
            <p:cNvPr id="407558" name="Line 6"/>
            <p:cNvSpPr>
              <a:spLocks noChangeShapeType="1"/>
            </p:cNvSpPr>
            <p:nvPr/>
          </p:nvSpPr>
          <p:spPr bwMode="auto">
            <a:xfrm>
              <a:off x="4159" y="1523"/>
              <a:ext cx="57" cy="76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7559" name="Line 7"/>
            <p:cNvSpPr>
              <a:spLocks noChangeShapeType="1"/>
            </p:cNvSpPr>
            <p:nvPr/>
          </p:nvSpPr>
          <p:spPr bwMode="auto">
            <a:xfrm flipV="1">
              <a:off x="4159" y="1599"/>
              <a:ext cx="57" cy="76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07561" name="Line 9"/>
          <p:cNvSpPr>
            <a:spLocks noChangeShapeType="1"/>
          </p:cNvSpPr>
          <p:nvPr/>
        </p:nvSpPr>
        <p:spPr bwMode="auto">
          <a:xfrm>
            <a:off x="4046538" y="2538413"/>
            <a:ext cx="2674937" cy="1587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7562" name="Rectangle 10"/>
          <p:cNvSpPr>
            <a:spLocks noChangeArrowheads="1"/>
          </p:cNvSpPr>
          <p:nvPr/>
        </p:nvSpPr>
        <p:spPr bwMode="auto">
          <a:xfrm>
            <a:off x="4587875" y="2057400"/>
            <a:ext cx="1593850" cy="3905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7563" name="Rectangle 11"/>
          <p:cNvSpPr>
            <a:spLocks noChangeArrowheads="1"/>
          </p:cNvSpPr>
          <p:nvPr/>
        </p:nvSpPr>
        <p:spPr bwMode="auto">
          <a:xfrm>
            <a:off x="4587875" y="2147888"/>
            <a:ext cx="16827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2100" i="1">
                <a:solidFill>
                  <a:srgbClr val="000000"/>
                </a:solidFill>
                <a:latin typeface="Arial" panose="020B0604020202020204" pitchFamily="34" charset="0"/>
              </a:rPr>
              <a:t>press button</a:t>
            </a:r>
            <a:endParaRPr lang="en-CA" altLang="fr-FR"/>
          </a:p>
        </p:txBody>
      </p:sp>
      <p:sp>
        <p:nvSpPr>
          <p:cNvPr id="407564" name="Rectangle 12"/>
          <p:cNvSpPr>
            <a:spLocks noChangeArrowheads="1"/>
          </p:cNvSpPr>
          <p:nvPr/>
        </p:nvSpPr>
        <p:spPr bwMode="auto">
          <a:xfrm>
            <a:off x="6932613" y="2959100"/>
            <a:ext cx="1773237" cy="1022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7565" name="Rectangle 13"/>
          <p:cNvSpPr>
            <a:spLocks noChangeArrowheads="1"/>
          </p:cNvSpPr>
          <p:nvPr/>
        </p:nvSpPr>
        <p:spPr bwMode="auto">
          <a:xfrm>
            <a:off x="6916738" y="2943225"/>
            <a:ext cx="1774825" cy="1023938"/>
          </a:xfrm>
          <a:prstGeom prst="rect">
            <a:avLst/>
          </a:prstGeom>
          <a:noFill/>
          <a:ln w="301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7566" name="Rectangle 14"/>
          <p:cNvSpPr>
            <a:spLocks noChangeArrowheads="1"/>
          </p:cNvSpPr>
          <p:nvPr/>
        </p:nvSpPr>
        <p:spPr bwMode="auto">
          <a:xfrm>
            <a:off x="6962775" y="2960688"/>
            <a:ext cx="720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2100">
                <a:solidFill>
                  <a:srgbClr val="000000"/>
                </a:solidFill>
                <a:latin typeface="Arial" panose="020B0604020202020204" pitchFamily="34" charset="0"/>
              </a:rPr>
              <a:t>do:</a:t>
            </a:r>
            <a:endParaRPr lang="en-CA" altLang="fr-FR"/>
          </a:p>
        </p:txBody>
      </p:sp>
      <p:sp>
        <p:nvSpPr>
          <p:cNvPr id="407567" name="Rectangle 15"/>
          <p:cNvSpPr>
            <a:spLocks noChangeArrowheads="1"/>
          </p:cNvSpPr>
          <p:nvPr/>
        </p:nvSpPr>
        <p:spPr bwMode="auto">
          <a:xfrm>
            <a:off x="6962775" y="3260725"/>
            <a:ext cx="1863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2100">
                <a:solidFill>
                  <a:srgbClr val="000000"/>
                </a:solidFill>
                <a:latin typeface="Arial" panose="020B0604020202020204" pitchFamily="34" charset="0"/>
              </a:rPr>
              <a:t>play chosen</a:t>
            </a:r>
            <a:endParaRPr lang="en-CA" altLang="fr-FR"/>
          </a:p>
        </p:txBody>
      </p:sp>
      <p:sp>
        <p:nvSpPr>
          <p:cNvPr id="407568" name="Rectangle 16"/>
          <p:cNvSpPr>
            <a:spLocks noChangeArrowheads="1"/>
          </p:cNvSpPr>
          <p:nvPr/>
        </p:nvSpPr>
        <p:spPr bwMode="auto">
          <a:xfrm>
            <a:off x="6962775" y="3562350"/>
            <a:ext cx="12319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2100">
                <a:solidFill>
                  <a:srgbClr val="000000"/>
                </a:solidFill>
                <a:latin typeface="Arial" panose="020B0604020202020204" pitchFamily="34" charset="0"/>
              </a:rPr>
              <a:t>selection</a:t>
            </a:r>
            <a:endParaRPr lang="en-CA" altLang="fr-FR"/>
          </a:p>
        </p:txBody>
      </p:sp>
      <p:pic>
        <p:nvPicPr>
          <p:cNvPr id="407569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75" y="2928938"/>
            <a:ext cx="23971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7570" name="Line 18"/>
          <p:cNvSpPr>
            <a:spLocks noChangeShapeType="1"/>
          </p:cNvSpPr>
          <p:nvPr/>
        </p:nvSpPr>
        <p:spPr bwMode="auto">
          <a:xfrm flipH="1">
            <a:off x="4046538" y="2959100"/>
            <a:ext cx="2674937" cy="1588"/>
          </a:xfrm>
          <a:prstGeom prst="line">
            <a:avLst/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7571" name="AutoShape 19"/>
          <p:cNvSpPr>
            <a:spLocks noChangeArrowheads="1"/>
          </p:cNvSpPr>
          <p:nvPr/>
        </p:nvSpPr>
        <p:spPr bwMode="auto">
          <a:xfrm>
            <a:off x="6735763" y="2341563"/>
            <a:ext cx="2046287" cy="1776412"/>
          </a:xfrm>
          <a:prstGeom prst="roundRect">
            <a:avLst>
              <a:gd name="adj" fmla="val 12500"/>
            </a:avLst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7572" name="Rectangle 20"/>
          <p:cNvSpPr>
            <a:spLocks noChangeArrowheads="1"/>
          </p:cNvSpPr>
          <p:nvPr/>
        </p:nvSpPr>
        <p:spPr bwMode="auto">
          <a:xfrm>
            <a:off x="6811963" y="2449513"/>
            <a:ext cx="17986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>
                <a:solidFill>
                  <a:srgbClr val="000000"/>
                </a:solidFill>
                <a:latin typeface="Arial" panose="020B0604020202020204" pitchFamily="34" charset="0"/>
              </a:rPr>
              <a:t>MusicPlaying</a:t>
            </a:r>
            <a:endParaRPr lang="en-CA" altLang="fr-FR"/>
          </a:p>
        </p:txBody>
      </p:sp>
      <p:sp>
        <p:nvSpPr>
          <p:cNvPr id="407573" name="AutoShape 21"/>
          <p:cNvSpPr>
            <a:spLocks noChangeArrowheads="1"/>
          </p:cNvSpPr>
          <p:nvPr/>
        </p:nvSpPr>
        <p:spPr bwMode="auto">
          <a:xfrm>
            <a:off x="1385888" y="2462213"/>
            <a:ext cx="2706687" cy="633412"/>
          </a:xfrm>
          <a:prstGeom prst="roundRect">
            <a:avLst>
              <a:gd name="adj" fmla="val 34093"/>
            </a:avLst>
          </a:prstGeom>
          <a:noFill/>
          <a:ln w="301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07574" name="Rectangle 22"/>
          <p:cNvSpPr>
            <a:spLocks noChangeArrowheads="1"/>
          </p:cNvSpPr>
          <p:nvPr/>
        </p:nvSpPr>
        <p:spPr bwMode="auto">
          <a:xfrm>
            <a:off x="1431925" y="2538413"/>
            <a:ext cx="23923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>
                <a:solidFill>
                  <a:srgbClr val="000000"/>
                </a:solidFill>
                <a:latin typeface="Arial" panose="020B0604020202020204" pitchFamily="34" charset="0"/>
              </a:rPr>
              <a:t>ProposeSelection</a:t>
            </a:r>
            <a:endParaRPr lang="en-CA" altLang="fr-FR"/>
          </a:p>
        </p:txBody>
      </p:sp>
      <p:grpSp>
        <p:nvGrpSpPr>
          <p:cNvPr id="407577" name="Group 25"/>
          <p:cNvGrpSpPr>
            <a:grpSpLocks/>
          </p:cNvGrpSpPr>
          <p:nvPr/>
        </p:nvGrpSpPr>
        <p:grpSpPr bwMode="auto">
          <a:xfrm>
            <a:off x="4076700" y="2838450"/>
            <a:ext cx="90488" cy="241300"/>
            <a:chOff x="2568" y="1788"/>
            <a:chExt cx="57" cy="152"/>
          </a:xfrm>
        </p:grpSpPr>
        <p:sp>
          <p:nvSpPr>
            <p:cNvPr id="407575" name="Line 23"/>
            <p:cNvSpPr>
              <a:spLocks noChangeShapeType="1"/>
            </p:cNvSpPr>
            <p:nvPr/>
          </p:nvSpPr>
          <p:spPr bwMode="auto">
            <a:xfrm flipH="1">
              <a:off x="2568" y="1788"/>
              <a:ext cx="57" cy="76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07576" name="Line 24"/>
            <p:cNvSpPr>
              <a:spLocks noChangeShapeType="1"/>
            </p:cNvSpPr>
            <p:nvPr/>
          </p:nvSpPr>
          <p:spPr bwMode="auto">
            <a:xfrm flipH="1" flipV="1">
              <a:off x="2568" y="1864"/>
              <a:ext cx="57" cy="76"/>
            </a:xfrm>
            <a:prstGeom prst="line">
              <a:avLst/>
            </a:prstGeom>
            <a:noFill/>
            <a:ln w="301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2707458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581D-91E3-49AD-8044-0D5FF0175844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Actions in state diagrams</a:t>
            </a:r>
            <a:endParaRPr lang="en-US" altLang="en-US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action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is something that takes place effectively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instantaneously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When a particular transition is taken,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Upon entry into a particular state, or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Upon exit from a particular state</a:t>
            </a:r>
          </a:p>
          <a:p>
            <a:pPr lvl="1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action should consume no noticeable amount of time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73127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FA4A4-2C85-4606-A5C9-CB06BF353607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 diagram – an example with actions</a:t>
            </a:r>
          </a:p>
        </p:txBody>
      </p:sp>
      <p:grpSp>
        <p:nvGrpSpPr>
          <p:cNvPr id="385038" name="Group 14"/>
          <p:cNvGrpSpPr>
            <a:grpSpLocks/>
          </p:cNvGrpSpPr>
          <p:nvPr/>
        </p:nvGrpSpPr>
        <p:grpSpPr bwMode="auto">
          <a:xfrm>
            <a:off x="6038850" y="2147888"/>
            <a:ext cx="71438" cy="190500"/>
            <a:chOff x="3804" y="1353"/>
            <a:chExt cx="45" cy="120"/>
          </a:xfrm>
        </p:grpSpPr>
        <p:sp>
          <p:nvSpPr>
            <p:cNvPr id="385036" name="Line 12"/>
            <p:cNvSpPr>
              <a:spLocks noChangeShapeType="1"/>
            </p:cNvSpPr>
            <p:nvPr/>
          </p:nvSpPr>
          <p:spPr bwMode="auto">
            <a:xfrm>
              <a:off x="3804" y="1353"/>
              <a:ext cx="45" cy="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5037" name="Line 13"/>
            <p:cNvSpPr>
              <a:spLocks noChangeShapeType="1"/>
            </p:cNvSpPr>
            <p:nvPr/>
          </p:nvSpPr>
          <p:spPr bwMode="auto">
            <a:xfrm flipV="1">
              <a:off x="3804" y="1413"/>
              <a:ext cx="45" cy="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85043" name="Group 19"/>
          <p:cNvGrpSpPr>
            <a:grpSpLocks/>
          </p:cNvGrpSpPr>
          <p:nvPr/>
        </p:nvGrpSpPr>
        <p:grpSpPr bwMode="auto">
          <a:xfrm>
            <a:off x="6240463" y="1933575"/>
            <a:ext cx="2155825" cy="619125"/>
            <a:chOff x="3931" y="1218"/>
            <a:chExt cx="1358" cy="390"/>
          </a:xfrm>
        </p:grpSpPr>
        <p:sp>
          <p:nvSpPr>
            <p:cNvPr id="385039" name="Rectangle 15"/>
            <p:cNvSpPr>
              <a:spLocks noChangeArrowheads="1"/>
            </p:cNvSpPr>
            <p:nvPr/>
          </p:nvSpPr>
          <p:spPr bwMode="auto">
            <a:xfrm>
              <a:off x="3931" y="1225"/>
              <a:ext cx="1351" cy="376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5040" name="Rectangle 16"/>
            <p:cNvSpPr>
              <a:spLocks noChangeArrowheads="1"/>
            </p:cNvSpPr>
            <p:nvPr/>
          </p:nvSpPr>
          <p:spPr bwMode="auto">
            <a:xfrm>
              <a:off x="3954" y="1233"/>
              <a:ext cx="585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700">
                  <a:solidFill>
                    <a:srgbClr val="000000"/>
                  </a:solidFill>
                  <a:latin typeface="Arial" panose="020B0604020202020204" pitchFamily="34" charset="0"/>
                </a:rPr>
                <a:t>Enter /</a:t>
              </a:r>
              <a:endParaRPr lang="en-CA" altLang="fr-FR"/>
            </a:p>
          </p:txBody>
        </p:sp>
        <p:sp>
          <p:nvSpPr>
            <p:cNvPr id="385041" name="Rectangle 17"/>
            <p:cNvSpPr>
              <a:spLocks noChangeArrowheads="1"/>
            </p:cNvSpPr>
            <p:nvPr/>
          </p:nvSpPr>
          <p:spPr bwMode="auto">
            <a:xfrm>
              <a:off x="3954" y="1383"/>
              <a:ext cx="1335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700">
                  <a:solidFill>
                    <a:srgbClr val="000000"/>
                  </a:solidFill>
                  <a:latin typeface="Arial" panose="020B0604020202020204" pitchFamily="34" charset="0"/>
                </a:rPr>
                <a:t>  run motor forwards</a:t>
              </a:r>
              <a:endParaRPr lang="en-CA" altLang="fr-FR"/>
            </a:p>
          </p:txBody>
        </p:sp>
        <p:pic>
          <p:nvPicPr>
            <p:cNvPr id="385042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4" y="1218"/>
              <a:ext cx="120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5044" name="Rectangle 20"/>
          <p:cNvSpPr>
            <a:spLocks noChangeArrowheads="1"/>
          </p:cNvSpPr>
          <p:nvPr/>
        </p:nvSpPr>
        <p:spPr bwMode="auto">
          <a:xfrm>
            <a:off x="1477963" y="4706938"/>
            <a:ext cx="2263775" cy="596900"/>
          </a:xfrm>
          <a:prstGeom prst="rect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45" name="Rectangle 21"/>
          <p:cNvSpPr>
            <a:spLocks noChangeArrowheads="1"/>
          </p:cNvSpPr>
          <p:nvPr/>
        </p:nvSpPr>
        <p:spPr bwMode="auto">
          <a:xfrm>
            <a:off x="1490663" y="4719638"/>
            <a:ext cx="928687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700">
                <a:solidFill>
                  <a:srgbClr val="000000"/>
                </a:solidFill>
                <a:latin typeface="Arial" panose="020B0604020202020204" pitchFamily="34" charset="0"/>
              </a:rPr>
              <a:t>Enter /</a:t>
            </a:r>
            <a:endParaRPr lang="en-CA" altLang="fr-FR"/>
          </a:p>
        </p:txBody>
      </p:sp>
      <p:sp>
        <p:nvSpPr>
          <p:cNvPr id="385046" name="Rectangle 22"/>
          <p:cNvSpPr>
            <a:spLocks noChangeArrowheads="1"/>
          </p:cNvSpPr>
          <p:nvPr/>
        </p:nvSpPr>
        <p:spPr bwMode="auto">
          <a:xfrm>
            <a:off x="1490663" y="4957763"/>
            <a:ext cx="2262187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700">
                <a:solidFill>
                  <a:srgbClr val="000000"/>
                </a:solidFill>
                <a:latin typeface="Arial" panose="020B0604020202020204" pitchFamily="34" charset="0"/>
              </a:rPr>
              <a:t>  run motor in reverse</a:t>
            </a:r>
            <a:endParaRPr lang="en-CA" altLang="fr-FR"/>
          </a:p>
        </p:txBody>
      </p:sp>
      <p:pic>
        <p:nvPicPr>
          <p:cNvPr id="385047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538" y="4695825"/>
            <a:ext cx="1905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5052" name="Group 28"/>
          <p:cNvGrpSpPr>
            <a:grpSpLocks/>
          </p:cNvGrpSpPr>
          <p:nvPr/>
        </p:nvGrpSpPr>
        <p:grpSpPr bwMode="auto">
          <a:xfrm>
            <a:off x="6264275" y="4719638"/>
            <a:ext cx="1346200" cy="619125"/>
            <a:chOff x="3946" y="2973"/>
            <a:chExt cx="848" cy="390"/>
          </a:xfrm>
        </p:grpSpPr>
        <p:sp>
          <p:nvSpPr>
            <p:cNvPr id="385048" name="Rectangle 24"/>
            <p:cNvSpPr>
              <a:spLocks noChangeArrowheads="1"/>
            </p:cNvSpPr>
            <p:nvPr/>
          </p:nvSpPr>
          <p:spPr bwMode="auto">
            <a:xfrm>
              <a:off x="3946" y="2980"/>
              <a:ext cx="841" cy="376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5049" name="Rectangle 25"/>
            <p:cNvSpPr>
              <a:spLocks noChangeArrowheads="1"/>
            </p:cNvSpPr>
            <p:nvPr/>
          </p:nvSpPr>
          <p:spPr bwMode="auto">
            <a:xfrm>
              <a:off x="3969" y="2988"/>
              <a:ext cx="585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700">
                  <a:solidFill>
                    <a:srgbClr val="000000"/>
                  </a:solidFill>
                  <a:latin typeface="Arial" panose="020B0604020202020204" pitchFamily="34" charset="0"/>
                </a:rPr>
                <a:t>Enter /</a:t>
              </a:r>
              <a:endParaRPr lang="en-CA" altLang="fr-FR"/>
            </a:p>
          </p:txBody>
        </p:sp>
        <p:sp>
          <p:nvSpPr>
            <p:cNvPr id="385050" name="Rectangle 26"/>
            <p:cNvSpPr>
              <a:spLocks noChangeArrowheads="1"/>
            </p:cNvSpPr>
            <p:nvPr/>
          </p:nvSpPr>
          <p:spPr bwMode="auto">
            <a:xfrm>
              <a:off x="3969" y="3138"/>
              <a:ext cx="825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700">
                  <a:solidFill>
                    <a:srgbClr val="000000"/>
                  </a:solidFill>
                  <a:latin typeface="Arial" panose="020B0604020202020204" pitchFamily="34" charset="0"/>
                </a:rPr>
                <a:t>  stop motor</a:t>
              </a:r>
              <a:endParaRPr lang="en-CA" altLang="fr-FR"/>
            </a:p>
          </p:txBody>
        </p:sp>
        <p:pic>
          <p:nvPicPr>
            <p:cNvPr id="385051" name="Picture 2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9" y="2973"/>
              <a:ext cx="120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5057" name="Group 33"/>
          <p:cNvGrpSpPr>
            <a:grpSpLocks/>
          </p:cNvGrpSpPr>
          <p:nvPr/>
        </p:nvGrpSpPr>
        <p:grpSpPr bwMode="auto">
          <a:xfrm>
            <a:off x="2311400" y="1909763"/>
            <a:ext cx="1406525" cy="619125"/>
            <a:chOff x="1456" y="1203"/>
            <a:chExt cx="886" cy="390"/>
          </a:xfrm>
        </p:grpSpPr>
        <p:sp>
          <p:nvSpPr>
            <p:cNvPr id="385053" name="Rectangle 29"/>
            <p:cNvSpPr>
              <a:spLocks noChangeArrowheads="1"/>
            </p:cNvSpPr>
            <p:nvPr/>
          </p:nvSpPr>
          <p:spPr bwMode="auto">
            <a:xfrm>
              <a:off x="1456" y="1210"/>
              <a:ext cx="886" cy="376"/>
            </a:xfrm>
            <a:prstGeom prst="rect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5054" name="Rectangle 30"/>
            <p:cNvSpPr>
              <a:spLocks noChangeArrowheads="1"/>
            </p:cNvSpPr>
            <p:nvPr/>
          </p:nvSpPr>
          <p:spPr bwMode="auto">
            <a:xfrm>
              <a:off x="1479" y="1218"/>
              <a:ext cx="585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700">
                  <a:solidFill>
                    <a:srgbClr val="000000"/>
                  </a:solidFill>
                  <a:latin typeface="Arial" panose="020B0604020202020204" pitchFamily="34" charset="0"/>
                </a:rPr>
                <a:t>Enter /</a:t>
              </a:r>
              <a:endParaRPr lang="en-CA" altLang="fr-FR"/>
            </a:p>
          </p:txBody>
        </p:sp>
        <p:sp>
          <p:nvSpPr>
            <p:cNvPr id="385055" name="Rectangle 31"/>
            <p:cNvSpPr>
              <a:spLocks noChangeArrowheads="1"/>
            </p:cNvSpPr>
            <p:nvPr/>
          </p:nvSpPr>
          <p:spPr bwMode="auto">
            <a:xfrm>
              <a:off x="1479" y="1368"/>
              <a:ext cx="825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700">
                  <a:solidFill>
                    <a:srgbClr val="000000"/>
                  </a:solidFill>
                  <a:latin typeface="Arial" panose="020B0604020202020204" pitchFamily="34" charset="0"/>
                </a:rPr>
                <a:t>  stop motor</a:t>
              </a:r>
              <a:endParaRPr lang="en-CA" altLang="fr-FR"/>
            </a:p>
          </p:txBody>
        </p:sp>
        <p:pic>
          <p:nvPicPr>
            <p:cNvPr id="385056" name="Picture 3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4" y="1203"/>
              <a:ext cx="120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85058" name="Line 34"/>
          <p:cNvSpPr>
            <a:spLocks noChangeShapeType="1"/>
          </p:cNvSpPr>
          <p:nvPr/>
        </p:nvSpPr>
        <p:spPr bwMode="auto">
          <a:xfrm>
            <a:off x="6848475" y="2624138"/>
            <a:ext cx="1588" cy="176212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59" name="Rectangle 35"/>
          <p:cNvSpPr>
            <a:spLocks noChangeArrowheads="1"/>
          </p:cNvSpPr>
          <p:nvPr/>
        </p:nvSpPr>
        <p:spPr bwMode="auto">
          <a:xfrm>
            <a:off x="6943725" y="3219450"/>
            <a:ext cx="1817688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700" i="1">
                <a:solidFill>
                  <a:srgbClr val="000000"/>
                </a:solidFill>
                <a:latin typeface="Arial" panose="020B0604020202020204" pitchFamily="34" charset="0"/>
              </a:rPr>
              <a:t>openingCompleted</a:t>
            </a:r>
            <a:endParaRPr lang="en-CA" altLang="fr-FR"/>
          </a:p>
        </p:txBody>
      </p:sp>
      <p:sp>
        <p:nvSpPr>
          <p:cNvPr id="385060" name="Line 36"/>
          <p:cNvSpPr>
            <a:spLocks noChangeShapeType="1"/>
          </p:cNvSpPr>
          <p:nvPr/>
        </p:nvSpPr>
        <p:spPr bwMode="auto">
          <a:xfrm flipV="1">
            <a:off x="3109913" y="2600325"/>
            <a:ext cx="1587" cy="1762125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61" name="Rectangle 37"/>
          <p:cNvSpPr>
            <a:spLocks noChangeArrowheads="1"/>
          </p:cNvSpPr>
          <p:nvPr/>
        </p:nvSpPr>
        <p:spPr bwMode="auto">
          <a:xfrm>
            <a:off x="3181350" y="2838450"/>
            <a:ext cx="1719263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700" i="1">
                <a:solidFill>
                  <a:srgbClr val="000000"/>
                </a:solidFill>
                <a:latin typeface="Arial" panose="020B0604020202020204" pitchFamily="34" charset="0"/>
              </a:rPr>
              <a:t>closingCompleted</a:t>
            </a:r>
            <a:endParaRPr lang="en-CA" altLang="fr-FR"/>
          </a:p>
        </p:txBody>
      </p:sp>
      <p:sp>
        <p:nvSpPr>
          <p:cNvPr id="385062" name="Line 38"/>
          <p:cNvSpPr>
            <a:spLocks noChangeShapeType="1"/>
          </p:cNvSpPr>
          <p:nvPr/>
        </p:nvSpPr>
        <p:spPr bwMode="auto">
          <a:xfrm flipH="1">
            <a:off x="3752850" y="3433763"/>
            <a:ext cx="1381125" cy="976312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63" name="Line 39"/>
          <p:cNvSpPr>
            <a:spLocks noChangeShapeType="1"/>
          </p:cNvSpPr>
          <p:nvPr/>
        </p:nvSpPr>
        <p:spPr bwMode="auto">
          <a:xfrm flipV="1">
            <a:off x="5133975" y="2600325"/>
            <a:ext cx="1047750" cy="833438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64" name="Rectangle 40"/>
          <p:cNvSpPr>
            <a:spLocks noChangeArrowheads="1"/>
          </p:cNvSpPr>
          <p:nvPr/>
        </p:nvSpPr>
        <p:spPr bwMode="auto">
          <a:xfrm>
            <a:off x="4943475" y="3552825"/>
            <a:ext cx="11557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700" i="1">
                <a:solidFill>
                  <a:srgbClr val="000000"/>
                </a:solidFill>
                <a:latin typeface="Arial" panose="020B0604020202020204" pitchFamily="34" charset="0"/>
              </a:rPr>
              <a:t>pressButton</a:t>
            </a:r>
            <a:endParaRPr lang="en-CA" altLang="fr-FR"/>
          </a:p>
        </p:txBody>
      </p:sp>
      <p:sp>
        <p:nvSpPr>
          <p:cNvPr id="385065" name="Line 41"/>
          <p:cNvSpPr>
            <a:spLocks noChangeShapeType="1"/>
          </p:cNvSpPr>
          <p:nvPr/>
        </p:nvSpPr>
        <p:spPr bwMode="auto">
          <a:xfrm flipH="1">
            <a:off x="3824288" y="4719638"/>
            <a:ext cx="2333625" cy="1587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66" name="Rectangle 42"/>
          <p:cNvSpPr>
            <a:spLocks noChangeArrowheads="1"/>
          </p:cNvSpPr>
          <p:nvPr/>
        </p:nvSpPr>
        <p:spPr bwMode="auto">
          <a:xfrm>
            <a:off x="4514850" y="4410075"/>
            <a:ext cx="11557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700" i="1">
                <a:solidFill>
                  <a:srgbClr val="000000"/>
                </a:solidFill>
                <a:latin typeface="Arial" panose="020B0604020202020204" pitchFamily="34" charset="0"/>
              </a:rPr>
              <a:t>pressButton</a:t>
            </a:r>
            <a:endParaRPr lang="en-CA" altLang="fr-FR"/>
          </a:p>
        </p:txBody>
      </p:sp>
      <p:sp>
        <p:nvSpPr>
          <p:cNvPr id="385067" name="Line 43"/>
          <p:cNvSpPr>
            <a:spLocks noChangeShapeType="1"/>
          </p:cNvSpPr>
          <p:nvPr/>
        </p:nvSpPr>
        <p:spPr bwMode="auto">
          <a:xfrm>
            <a:off x="3824288" y="2243138"/>
            <a:ext cx="2309812" cy="1587"/>
          </a:xfrm>
          <a:prstGeom prst="line">
            <a:avLst/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68" name="Rectangle 44"/>
          <p:cNvSpPr>
            <a:spLocks noChangeArrowheads="1"/>
          </p:cNvSpPr>
          <p:nvPr/>
        </p:nvSpPr>
        <p:spPr bwMode="auto">
          <a:xfrm>
            <a:off x="4348163" y="1862138"/>
            <a:ext cx="1262062" cy="3095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69" name="Rectangle 45"/>
          <p:cNvSpPr>
            <a:spLocks noChangeArrowheads="1"/>
          </p:cNvSpPr>
          <p:nvPr/>
        </p:nvSpPr>
        <p:spPr bwMode="auto">
          <a:xfrm>
            <a:off x="4395788" y="1933575"/>
            <a:ext cx="115570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700" i="1">
                <a:solidFill>
                  <a:srgbClr val="000000"/>
                </a:solidFill>
                <a:latin typeface="Arial" panose="020B0604020202020204" pitchFamily="34" charset="0"/>
              </a:rPr>
              <a:t>pressButton</a:t>
            </a:r>
            <a:endParaRPr lang="en-CA" altLang="fr-FR"/>
          </a:p>
        </p:txBody>
      </p:sp>
      <p:sp>
        <p:nvSpPr>
          <p:cNvPr id="385070" name="AutoShape 46"/>
          <p:cNvSpPr>
            <a:spLocks noChangeArrowheads="1"/>
          </p:cNvSpPr>
          <p:nvPr/>
        </p:nvSpPr>
        <p:spPr bwMode="auto">
          <a:xfrm>
            <a:off x="1382713" y="4373563"/>
            <a:ext cx="2430462" cy="1025525"/>
          </a:xfrm>
          <a:prstGeom prst="roundRect">
            <a:avLst>
              <a:gd name="adj" fmla="val 17046"/>
            </a:avLst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71" name="Rectangle 47"/>
          <p:cNvSpPr>
            <a:spLocks noChangeArrowheads="1"/>
          </p:cNvSpPr>
          <p:nvPr/>
        </p:nvSpPr>
        <p:spPr bwMode="auto">
          <a:xfrm>
            <a:off x="2228850" y="4362450"/>
            <a:ext cx="928688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900">
                <a:solidFill>
                  <a:srgbClr val="000000"/>
                </a:solidFill>
                <a:latin typeface="Arial" panose="020B0604020202020204" pitchFamily="34" charset="0"/>
              </a:rPr>
              <a:t>Closing</a:t>
            </a:r>
            <a:endParaRPr lang="en-CA" altLang="fr-FR"/>
          </a:p>
        </p:txBody>
      </p:sp>
      <p:sp>
        <p:nvSpPr>
          <p:cNvPr id="385072" name="AutoShape 48"/>
          <p:cNvSpPr>
            <a:spLocks noChangeArrowheads="1"/>
          </p:cNvSpPr>
          <p:nvPr/>
        </p:nvSpPr>
        <p:spPr bwMode="auto">
          <a:xfrm>
            <a:off x="6169025" y="4397375"/>
            <a:ext cx="1525588" cy="1001713"/>
          </a:xfrm>
          <a:prstGeom prst="roundRect">
            <a:avLst>
              <a:gd name="adj" fmla="val 17440"/>
            </a:avLst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73" name="Rectangle 49"/>
          <p:cNvSpPr>
            <a:spLocks noChangeArrowheads="1"/>
          </p:cNvSpPr>
          <p:nvPr/>
        </p:nvSpPr>
        <p:spPr bwMode="auto">
          <a:xfrm>
            <a:off x="6681788" y="4386263"/>
            <a:ext cx="7143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900">
                <a:solidFill>
                  <a:srgbClr val="000000"/>
                </a:solidFill>
                <a:latin typeface="Arial" panose="020B0604020202020204" pitchFamily="34" charset="0"/>
              </a:rPr>
              <a:t>Open</a:t>
            </a:r>
            <a:endParaRPr lang="en-CA" altLang="fr-FR"/>
          </a:p>
        </p:txBody>
      </p:sp>
      <p:sp>
        <p:nvSpPr>
          <p:cNvPr id="385074" name="AutoShape 50"/>
          <p:cNvSpPr>
            <a:spLocks noChangeArrowheads="1"/>
          </p:cNvSpPr>
          <p:nvPr/>
        </p:nvSpPr>
        <p:spPr bwMode="auto">
          <a:xfrm>
            <a:off x="6145213" y="1587500"/>
            <a:ext cx="2335212" cy="1025525"/>
          </a:xfrm>
          <a:prstGeom prst="roundRect">
            <a:avLst>
              <a:gd name="adj" fmla="val 17046"/>
            </a:avLst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75" name="Rectangle 51"/>
          <p:cNvSpPr>
            <a:spLocks noChangeArrowheads="1"/>
          </p:cNvSpPr>
          <p:nvPr/>
        </p:nvSpPr>
        <p:spPr bwMode="auto">
          <a:xfrm>
            <a:off x="6824663" y="1600200"/>
            <a:ext cx="107156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900">
                <a:solidFill>
                  <a:srgbClr val="000000"/>
                </a:solidFill>
                <a:latin typeface="Arial" panose="020B0604020202020204" pitchFamily="34" charset="0"/>
              </a:rPr>
              <a:t>Opening</a:t>
            </a:r>
            <a:endParaRPr lang="en-CA" altLang="fr-FR"/>
          </a:p>
        </p:txBody>
      </p:sp>
      <p:sp>
        <p:nvSpPr>
          <p:cNvPr id="385076" name="AutoShape 52"/>
          <p:cNvSpPr>
            <a:spLocks noChangeArrowheads="1"/>
          </p:cNvSpPr>
          <p:nvPr/>
        </p:nvSpPr>
        <p:spPr bwMode="auto">
          <a:xfrm>
            <a:off x="2216150" y="1635125"/>
            <a:ext cx="1597025" cy="954088"/>
          </a:xfrm>
          <a:prstGeom prst="roundRect">
            <a:avLst>
              <a:gd name="adj" fmla="val 18292"/>
            </a:avLst>
          </a:prstGeom>
          <a:noFill/>
          <a:ln w="238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85077" name="Rectangle 53"/>
          <p:cNvSpPr>
            <a:spLocks noChangeArrowheads="1"/>
          </p:cNvSpPr>
          <p:nvPr/>
        </p:nvSpPr>
        <p:spPr bwMode="auto">
          <a:xfrm>
            <a:off x="2705100" y="1600200"/>
            <a:ext cx="8572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900">
                <a:solidFill>
                  <a:srgbClr val="000000"/>
                </a:solidFill>
                <a:latin typeface="Arial" panose="020B0604020202020204" pitchFamily="34" charset="0"/>
              </a:rPr>
              <a:t>Closed</a:t>
            </a:r>
            <a:endParaRPr lang="en-CA" altLang="fr-FR"/>
          </a:p>
        </p:txBody>
      </p:sp>
      <p:grpSp>
        <p:nvGrpSpPr>
          <p:cNvPr id="385080" name="Group 56"/>
          <p:cNvGrpSpPr>
            <a:grpSpLocks/>
          </p:cNvGrpSpPr>
          <p:nvPr/>
        </p:nvGrpSpPr>
        <p:grpSpPr bwMode="auto">
          <a:xfrm>
            <a:off x="6777038" y="4267200"/>
            <a:ext cx="166687" cy="95250"/>
            <a:chOff x="4269" y="2688"/>
            <a:chExt cx="105" cy="60"/>
          </a:xfrm>
        </p:grpSpPr>
        <p:sp>
          <p:nvSpPr>
            <p:cNvPr id="385078" name="Line 54"/>
            <p:cNvSpPr>
              <a:spLocks noChangeShapeType="1"/>
            </p:cNvSpPr>
            <p:nvPr/>
          </p:nvSpPr>
          <p:spPr bwMode="auto">
            <a:xfrm flipH="1">
              <a:off x="4314" y="2688"/>
              <a:ext cx="60" cy="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5079" name="Line 55"/>
            <p:cNvSpPr>
              <a:spLocks noChangeShapeType="1"/>
            </p:cNvSpPr>
            <p:nvPr/>
          </p:nvSpPr>
          <p:spPr bwMode="auto">
            <a:xfrm>
              <a:off x="4269" y="2688"/>
              <a:ext cx="45" cy="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85083" name="Group 59"/>
          <p:cNvGrpSpPr>
            <a:grpSpLocks/>
          </p:cNvGrpSpPr>
          <p:nvPr/>
        </p:nvGrpSpPr>
        <p:grpSpPr bwMode="auto">
          <a:xfrm>
            <a:off x="3824288" y="4624388"/>
            <a:ext cx="95250" cy="190500"/>
            <a:chOff x="2409" y="2913"/>
            <a:chExt cx="60" cy="120"/>
          </a:xfrm>
        </p:grpSpPr>
        <p:sp>
          <p:nvSpPr>
            <p:cNvPr id="385081" name="Line 57"/>
            <p:cNvSpPr>
              <a:spLocks noChangeShapeType="1"/>
            </p:cNvSpPr>
            <p:nvPr/>
          </p:nvSpPr>
          <p:spPr bwMode="auto">
            <a:xfrm flipH="1">
              <a:off x="2409" y="2913"/>
              <a:ext cx="60" cy="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5082" name="Line 58"/>
            <p:cNvSpPr>
              <a:spLocks noChangeShapeType="1"/>
            </p:cNvSpPr>
            <p:nvPr/>
          </p:nvSpPr>
          <p:spPr bwMode="auto">
            <a:xfrm flipH="1" flipV="1">
              <a:off x="2409" y="2973"/>
              <a:ext cx="60" cy="60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85086" name="Group 62"/>
          <p:cNvGrpSpPr>
            <a:grpSpLocks/>
          </p:cNvGrpSpPr>
          <p:nvPr/>
        </p:nvGrpSpPr>
        <p:grpSpPr bwMode="auto">
          <a:xfrm>
            <a:off x="3038475" y="2600325"/>
            <a:ext cx="166688" cy="71438"/>
            <a:chOff x="1914" y="1638"/>
            <a:chExt cx="105" cy="45"/>
          </a:xfrm>
        </p:grpSpPr>
        <p:sp>
          <p:nvSpPr>
            <p:cNvPr id="385084" name="Line 60"/>
            <p:cNvSpPr>
              <a:spLocks noChangeShapeType="1"/>
            </p:cNvSpPr>
            <p:nvPr/>
          </p:nvSpPr>
          <p:spPr bwMode="auto">
            <a:xfrm flipV="1">
              <a:off x="1914" y="1638"/>
              <a:ext cx="45" cy="4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5085" name="Line 61"/>
            <p:cNvSpPr>
              <a:spLocks noChangeShapeType="1"/>
            </p:cNvSpPr>
            <p:nvPr/>
          </p:nvSpPr>
          <p:spPr bwMode="auto">
            <a:xfrm flipH="1" flipV="1">
              <a:off x="1959" y="1638"/>
              <a:ext cx="60" cy="4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85089" name="Group 65"/>
          <p:cNvGrpSpPr>
            <a:grpSpLocks/>
          </p:cNvGrpSpPr>
          <p:nvPr/>
        </p:nvGrpSpPr>
        <p:grpSpPr bwMode="auto">
          <a:xfrm>
            <a:off x="6062663" y="2576513"/>
            <a:ext cx="120650" cy="119062"/>
            <a:chOff x="3819" y="1623"/>
            <a:chExt cx="76" cy="75"/>
          </a:xfrm>
        </p:grpSpPr>
        <p:sp>
          <p:nvSpPr>
            <p:cNvPr id="385087" name="Line 63"/>
            <p:cNvSpPr>
              <a:spLocks noChangeShapeType="1"/>
            </p:cNvSpPr>
            <p:nvPr/>
          </p:nvSpPr>
          <p:spPr bwMode="auto">
            <a:xfrm>
              <a:off x="3819" y="1623"/>
              <a:ext cx="7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85088" name="Line 64"/>
            <p:cNvSpPr>
              <a:spLocks noChangeShapeType="1"/>
            </p:cNvSpPr>
            <p:nvPr/>
          </p:nvSpPr>
          <p:spPr bwMode="auto">
            <a:xfrm flipV="1">
              <a:off x="3894" y="1623"/>
              <a:ext cx="1" cy="7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8125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8384-6552-4D36-A294-8483E78A2DD8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24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 diagrams – another example</a:t>
            </a:r>
          </a:p>
        </p:txBody>
      </p:sp>
      <p:pic>
        <p:nvPicPr>
          <p:cNvPr id="424963" name="Picture 10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62200"/>
            <a:ext cx="7543800" cy="262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9884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F17E1-052C-4FB5-9349-376543E0E11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 New Roman" panose="02020603050405020304" pitchFamily="18" charset="0"/>
              </a:rPr>
              <a:t>Nested substates and guard conditions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state diagram can be nested inside a state.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states of the inner diagram are called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substates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  <a:r>
              <a:rPr lang="en-US" altLang="en-US"/>
              <a:t> </a:t>
            </a:r>
          </a:p>
        </p:txBody>
      </p:sp>
      <p:sp>
        <p:nvSpPr>
          <p:cNvPr id="410630" name="AutoShape 6"/>
          <p:cNvSpPr>
            <a:spLocks noChangeArrowheads="1"/>
          </p:cNvSpPr>
          <p:nvPr/>
        </p:nvSpPr>
        <p:spPr bwMode="auto">
          <a:xfrm>
            <a:off x="1516063" y="3910013"/>
            <a:ext cx="7237412" cy="1193800"/>
          </a:xfrm>
          <a:prstGeom prst="roundRect">
            <a:avLst>
              <a:gd name="adj" fmla="val 22032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0633" name="Group 9"/>
          <p:cNvGrpSpPr>
            <a:grpSpLocks/>
          </p:cNvGrpSpPr>
          <p:nvPr/>
        </p:nvGrpSpPr>
        <p:grpSpPr bwMode="auto">
          <a:xfrm>
            <a:off x="2049463" y="4259263"/>
            <a:ext cx="722312" cy="444500"/>
            <a:chOff x="1291" y="2683"/>
            <a:chExt cx="455" cy="280"/>
          </a:xfrm>
        </p:grpSpPr>
        <p:sp>
          <p:nvSpPr>
            <p:cNvPr id="410631" name="AutoShape 7"/>
            <p:cNvSpPr>
              <a:spLocks noChangeArrowheads="1"/>
            </p:cNvSpPr>
            <p:nvPr/>
          </p:nvSpPr>
          <p:spPr bwMode="auto">
            <a:xfrm>
              <a:off x="1291" y="2683"/>
              <a:ext cx="455" cy="273"/>
            </a:xfrm>
            <a:prstGeom prst="roundRect">
              <a:avLst>
                <a:gd name="adj" fmla="val 34093"/>
              </a:avLst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32" name="Rectangle 8"/>
            <p:cNvSpPr>
              <a:spLocks noChangeArrowheads="1"/>
            </p:cNvSpPr>
            <p:nvPr/>
          </p:nvSpPr>
          <p:spPr bwMode="auto">
            <a:xfrm>
              <a:off x="1376" y="2743"/>
              <a:ext cx="337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600">
                  <a:solidFill>
                    <a:srgbClr val="000000"/>
                  </a:solidFill>
                  <a:latin typeface="Arial" panose="020B0604020202020204" pitchFamily="34" charset="0"/>
                </a:rPr>
                <a:t>First</a:t>
              </a:r>
              <a:endParaRPr lang="en-CA" altLang="fr-FR"/>
            </a:p>
          </p:txBody>
        </p:sp>
      </p:grpSp>
      <p:grpSp>
        <p:nvGrpSpPr>
          <p:cNvPr id="410636" name="Group 12"/>
          <p:cNvGrpSpPr>
            <a:grpSpLocks/>
          </p:cNvGrpSpPr>
          <p:nvPr/>
        </p:nvGrpSpPr>
        <p:grpSpPr bwMode="auto">
          <a:xfrm>
            <a:off x="4906963" y="4259263"/>
            <a:ext cx="936625" cy="444500"/>
            <a:chOff x="3091" y="2683"/>
            <a:chExt cx="590" cy="280"/>
          </a:xfrm>
        </p:grpSpPr>
        <p:sp>
          <p:nvSpPr>
            <p:cNvPr id="410634" name="AutoShape 10"/>
            <p:cNvSpPr>
              <a:spLocks noChangeArrowheads="1"/>
            </p:cNvSpPr>
            <p:nvPr/>
          </p:nvSpPr>
          <p:spPr bwMode="auto">
            <a:xfrm>
              <a:off x="3091" y="2683"/>
              <a:ext cx="545" cy="273"/>
            </a:xfrm>
            <a:prstGeom prst="roundRect">
              <a:avLst>
                <a:gd name="adj" fmla="val 34093"/>
              </a:avLst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35" name="Rectangle 11"/>
            <p:cNvSpPr>
              <a:spLocks noChangeArrowheads="1"/>
            </p:cNvSpPr>
            <p:nvPr/>
          </p:nvSpPr>
          <p:spPr bwMode="auto">
            <a:xfrm>
              <a:off x="3137" y="2743"/>
              <a:ext cx="544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600">
                  <a:solidFill>
                    <a:srgbClr val="000000"/>
                  </a:solidFill>
                  <a:latin typeface="Arial" panose="020B0604020202020204" pitchFamily="34" charset="0"/>
                </a:rPr>
                <a:t>Second</a:t>
              </a:r>
              <a:endParaRPr lang="en-CA" altLang="fr-FR"/>
            </a:p>
          </p:txBody>
        </p:sp>
      </p:grpSp>
      <p:grpSp>
        <p:nvGrpSpPr>
          <p:cNvPr id="410639" name="Group 15"/>
          <p:cNvGrpSpPr>
            <a:grpSpLocks/>
          </p:cNvGrpSpPr>
          <p:nvPr/>
        </p:nvGrpSpPr>
        <p:grpSpPr bwMode="auto">
          <a:xfrm>
            <a:off x="7867650" y="4259263"/>
            <a:ext cx="711200" cy="444500"/>
            <a:chOff x="4956" y="2683"/>
            <a:chExt cx="448" cy="280"/>
          </a:xfrm>
        </p:grpSpPr>
        <p:sp>
          <p:nvSpPr>
            <p:cNvPr id="410637" name="AutoShape 13"/>
            <p:cNvSpPr>
              <a:spLocks noChangeArrowheads="1"/>
            </p:cNvSpPr>
            <p:nvPr/>
          </p:nvSpPr>
          <p:spPr bwMode="auto">
            <a:xfrm>
              <a:off x="4956" y="2683"/>
              <a:ext cx="441" cy="273"/>
            </a:xfrm>
            <a:prstGeom prst="roundRect">
              <a:avLst>
                <a:gd name="adj" fmla="val 34093"/>
              </a:avLst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38" name="Rectangle 14"/>
            <p:cNvSpPr>
              <a:spLocks noChangeArrowheads="1"/>
            </p:cNvSpPr>
            <p:nvPr/>
          </p:nvSpPr>
          <p:spPr bwMode="auto">
            <a:xfrm>
              <a:off x="5028" y="2743"/>
              <a:ext cx="3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600">
                  <a:solidFill>
                    <a:srgbClr val="000000"/>
                  </a:solidFill>
                  <a:latin typeface="Arial" panose="020B0604020202020204" pitchFamily="34" charset="0"/>
                </a:rPr>
                <a:t>Third</a:t>
              </a:r>
              <a:endParaRPr lang="en-CA" altLang="fr-FR"/>
            </a:p>
          </p:txBody>
        </p:sp>
      </p:grpSp>
      <p:sp>
        <p:nvSpPr>
          <p:cNvPr id="410640" name="AutoShape 16"/>
          <p:cNvSpPr>
            <a:spLocks noChangeArrowheads="1"/>
          </p:cNvSpPr>
          <p:nvPr/>
        </p:nvSpPr>
        <p:spPr bwMode="auto">
          <a:xfrm>
            <a:off x="7704138" y="2882900"/>
            <a:ext cx="966787" cy="433388"/>
          </a:xfrm>
          <a:prstGeom prst="roundRect">
            <a:avLst>
              <a:gd name="adj" fmla="val 34093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41" name="Rectangle 17"/>
          <p:cNvSpPr>
            <a:spLocks noChangeArrowheads="1"/>
          </p:cNvSpPr>
          <p:nvPr/>
        </p:nvSpPr>
        <p:spPr bwMode="auto">
          <a:xfrm>
            <a:off x="7816850" y="2955925"/>
            <a:ext cx="9461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Reverse</a:t>
            </a:r>
            <a:endParaRPr lang="en-CA" altLang="fr-FR"/>
          </a:p>
        </p:txBody>
      </p:sp>
      <p:sp>
        <p:nvSpPr>
          <p:cNvPr id="410642" name="Line 18"/>
          <p:cNvSpPr>
            <a:spLocks noChangeShapeType="1"/>
          </p:cNvSpPr>
          <p:nvPr/>
        </p:nvSpPr>
        <p:spPr bwMode="auto">
          <a:xfrm flipH="1">
            <a:off x="1958975" y="3119438"/>
            <a:ext cx="2254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43" name="Line 19"/>
          <p:cNvSpPr>
            <a:spLocks noChangeShapeType="1"/>
          </p:cNvSpPr>
          <p:nvPr/>
        </p:nvSpPr>
        <p:spPr bwMode="auto">
          <a:xfrm>
            <a:off x="5843588" y="2995613"/>
            <a:ext cx="1809750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44" name="Line 20"/>
          <p:cNvSpPr>
            <a:spLocks noChangeShapeType="1"/>
          </p:cNvSpPr>
          <p:nvPr/>
        </p:nvSpPr>
        <p:spPr bwMode="auto">
          <a:xfrm>
            <a:off x="2760663" y="4394200"/>
            <a:ext cx="21177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45" name="Line 21"/>
          <p:cNvSpPr>
            <a:spLocks noChangeShapeType="1"/>
          </p:cNvSpPr>
          <p:nvPr/>
        </p:nvSpPr>
        <p:spPr bwMode="auto">
          <a:xfrm flipH="1">
            <a:off x="2760663" y="4598988"/>
            <a:ext cx="213677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46" name="Rectangle 22"/>
          <p:cNvSpPr>
            <a:spLocks noChangeArrowheads="1"/>
          </p:cNvSpPr>
          <p:nvPr/>
        </p:nvSpPr>
        <p:spPr bwMode="auto">
          <a:xfrm>
            <a:off x="3725863" y="2955925"/>
            <a:ext cx="80168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Neutral</a:t>
            </a:r>
            <a:endParaRPr lang="en-CA" altLang="fr-FR"/>
          </a:p>
        </p:txBody>
      </p:sp>
      <p:sp>
        <p:nvSpPr>
          <p:cNvPr id="410647" name="AutoShape 23"/>
          <p:cNvSpPr>
            <a:spLocks noChangeArrowheads="1"/>
          </p:cNvSpPr>
          <p:nvPr/>
        </p:nvSpPr>
        <p:spPr bwMode="auto">
          <a:xfrm>
            <a:off x="2214563" y="2882900"/>
            <a:ext cx="3640137" cy="433388"/>
          </a:xfrm>
          <a:prstGeom prst="roundRect">
            <a:avLst>
              <a:gd name="adj" fmla="val 34093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0650" name="Group 26"/>
          <p:cNvGrpSpPr>
            <a:grpSpLocks/>
          </p:cNvGrpSpPr>
          <p:nvPr/>
        </p:nvGrpSpPr>
        <p:grpSpPr bwMode="auto">
          <a:xfrm>
            <a:off x="5864225" y="3119438"/>
            <a:ext cx="61913" cy="165100"/>
            <a:chOff x="3694" y="1965"/>
            <a:chExt cx="39" cy="104"/>
          </a:xfrm>
        </p:grpSpPr>
        <p:sp>
          <p:nvSpPr>
            <p:cNvPr id="410648" name="Line 24"/>
            <p:cNvSpPr>
              <a:spLocks noChangeShapeType="1"/>
            </p:cNvSpPr>
            <p:nvPr/>
          </p:nvSpPr>
          <p:spPr bwMode="auto">
            <a:xfrm flipH="1" flipV="1">
              <a:off x="3694" y="2017"/>
              <a:ext cx="39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49" name="Line 25"/>
            <p:cNvSpPr>
              <a:spLocks noChangeShapeType="1"/>
            </p:cNvSpPr>
            <p:nvPr/>
          </p:nvSpPr>
          <p:spPr bwMode="auto">
            <a:xfrm flipH="1">
              <a:off x="3694" y="1965"/>
              <a:ext cx="39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0651" name="Oval 27"/>
          <p:cNvSpPr>
            <a:spLocks noChangeArrowheads="1"/>
          </p:cNvSpPr>
          <p:nvPr/>
        </p:nvSpPr>
        <p:spPr bwMode="auto">
          <a:xfrm>
            <a:off x="1690688" y="2995613"/>
            <a:ext cx="268287" cy="268287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52" name="Oval 28"/>
          <p:cNvSpPr>
            <a:spLocks noChangeArrowheads="1"/>
          </p:cNvSpPr>
          <p:nvPr/>
        </p:nvSpPr>
        <p:spPr bwMode="auto">
          <a:xfrm>
            <a:off x="1589088" y="4332288"/>
            <a:ext cx="266700" cy="2667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53" name="Line 29"/>
          <p:cNvSpPr>
            <a:spLocks noChangeShapeType="1"/>
          </p:cNvSpPr>
          <p:nvPr/>
        </p:nvSpPr>
        <p:spPr bwMode="auto">
          <a:xfrm>
            <a:off x="5843588" y="3201988"/>
            <a:ext cx="18510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54" name="Line 30"/>
          <p:cNvSpPr>
            <a:spLocks noChangeShapeType="1"/>
          </p:cNvSpPr>
          <p:nvPr/>
        </p:nvSpPr>
        <p:spPr bwMode="auto">
          <a:xfrm>
            <a:off x="5700713" y="3325813"/>
            <a:ext cx="1587" cy="57467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55" name="Line 31"/>
          <p:cNvSpPr>
            <a:spLocks noChangeShapeType="1"/>
          </p:cNvSpPr>
          <p:nvPr/>
        </p:nvSpPr>
        <p:spPr bwMode="auto">
          <a:xfrm>
            <a:off x="5781675" y="4394200"/>
            <a:ext cx="2076450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56" name="Line 32"/>
          <p:cNvSpPr>
            <a:spLocks noChangeShapeType="1"/>
          </p:cNvSpPr>
          <p:nvPr/>
        </p:nvSpPr>
        <p:spPr bwMode="auto">
          <a:xfrm>
            <a:off x="5761038" y="4578350"/>
            <a:ext cx="2097087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657" name="Line 33"/>
          <p:cNvSpPr>
            <a:spLocks noChangeShapeType="1"/>
          </p:cNvSpPr>
          <p:nvPr/>
        </p:nvSpPr>
        <p:spPr bwMode="auto">
          <a:xfrm>
            <a:off x="1731963" y="4456113"/>
            <a:ext cx="2889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0660" name="Group 36"/>
          <p:cNvGrpSpPr>
            <a:grpSpLocks/>
          </p:cNvGrpSpPr>
          <p:nvPr/>
        </p:nvGrpSpPr>
        <p:grpSpPr bwMode="auto">
          <a:xfrm>
            <a:off x="5781675" y="4518025"/>
            <a:ext cx="61913" cy="142875"/>
            <a:chOff x="3642" y="2846"/>
            <a:chExt cx="39" cy="90"/>
          </a:xfrm>
        </p:grpSpPr>
        <p:sp>
          <p:nvSpPr>
            <p:cNvPr id="410658" name="Line 34"/>
            <p:cNvSpPr>
              <a:spLocks noChangeShapeType="1"/>
            </p:cNvSpPr>
            <p:nvPr/>
          </p:nvSpPr>
          <p:spPr bwMode="auto">
            <a:xfrm flipH="1" flipV="1">
              <a:off x="3642" y="2884"/>
              <a:ext cx="39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59" name="Line 35"/>
            <p:cNvSpPr>
              <a:spLocks noChangeShapeType="1"/>
            </p:cNvSpPr>
            <p:nvPr/>
          </p:nvSpPr>
          <p:spPr bwMode="auto">
            <a:xfrm flipH="1">
              <a:off x="3642" y="2846"/>
              <a:ext cx="39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10663" name="Group 39"/>
          <p:cNvGrpSpPr>
            <a:grpSpLocks/>
          </p:cNvGrpSpPr>
          <p:nvPr/>
        </p:nvGrpSpPr>
        <p:grpSpPr bwMode="auto">
          <a:xfrm>
            <a:off x="2781300" y="4518025"/>
            <a:ext cx="61913" cy="142875"/>
            <a:chOff x="1752" y="2846"/>
            <a:chExt cx="39" cy="90"/>
          </a:xfrm>
        </p:grpSpPr>
        <p:sp>
          <p:nvSpPr>
            <p:cNvPr id="410661" name="Line 37"/>
            <p:cNvSpPr>
              <a:spLocks noChangeShapeType="1"/>
            </p:cNvSpPr>
            <p:nvPr/>
          </p:nvSpPr>
          <p:spPr bwMode="auto">
            <a:xfrm flipH="1" flipV="1">
              <a:off x="1752" y="2884"/>
              <a:ext cx="39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62" name="Line 38"/>
            <p:cNvSpPr>
              <a:spLocks noChangeShapeType="1"/>
            </p:cNvSpPr>
            <p:nvPr/>
          </p:nvSpPr>
          <p:spPr bwMode="auto">
            <a:xfrm flipH="1">
              <a:off x="1752" y="2846"/>
              <a:ext cx="39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10666" name="Group 42"/>
          <p:cNvGrpSpPr>
            <a:grpSpLocks/>
          </p:cNvGrpSpPr>
          <p:nvPr/>
        </p:nvGrpSpPr>
        <p:grpSpPr bwMode="auto">
          <a:xfrm>
            <a:off x="4795838" y="4311650"/>
            <a:ext cx="82550" cy="144463"/>
            <a:chOff x="3021" y="2716"/>
            <a:chExt cx="52" cy="91"/>
          </a:xfrm>
        </p:grpSpPr>
        <p:sp>
          <p:nvSpPr>
            <p:cNvPr id="410664" name="Line 40"/>
            <p:cNvSpPr>
              <a:spLocks noChangeShapeType="1"/>
            </p:cNvSpPr>
            <p:nvPr/>
          </p:nvSpPr>
          <p:spPr bwMode="auto">
            <a:xfrm flipV="1">
              <a:off x="3021" y="2755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65" name="Line 41"/>
            <p:cNvSpPr>
              <a:spLocks noChangeShapeType="1"/>
            </p:cNvSpPr>
            <p:nvPr/>
          </p:nvSpPr>
          <p:spPr bwMode="auto">
            <a:xfrm>
              <a:off x="3021" y="2716"/>
              <a:ext cx="52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10669" name="Group 45"/>
          <p:cNvGrpSpPr>
            <a:grpSpLocks/>
          </p:cNvGrpSpPr>
          <p:nvPr/>
        </p:nvGrpSpPr>
        <p:grpSpPr bwMode="auto">
          <a:xfrm>
            <a:off x="7775575" y="4311650"/>
            <a:ext cx="82550" cy="144463"/>
            <a:chOff x="4898" y="2716"/>
            <a:chExt cx="52" cy="91"/>
          </a:xfrm>
        </p:grpSpPr>
        <p:sp>
          <p:nvSpPr>
            <p:cNvPr id="410667" name="Line 43"/>
            <p:cNvSpPr>
              <a:spLocks noChangeShapeType="1"/>
            </p:cNvSpPr>
            <p:nvPr/>
          </p:nvSpPr>
          <p:spPr bwMode="auto">
            <a:xfrm flipV="1">
              <a:off x="4898" y="2755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68" name="Line 44"/>
            <p:cNvSpPr>
              <a:spLocks noChangeShapeType="1"/>
            </p:cNvSpPr>
            <p:nvPr/>
          </p:nvSpPr>
          <p:spPr bwMode="auto">
            <a:xfrm>
              <a:off x="4898" y="2716"/>
              <a:ext cx="52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10672" name="Group 48"/>
          <p:cNvGrpSpPr>
            <a:grpSpLocks/>
          </p:cNvGrpSpPr>
          <p:nvPr/>
        </p:nvGrpSpPr>
        <p:grpSpPr bwMode="auto">
          <a:xfrm>
            <a:off x="7612063" y="2914650"/>
            <a:ext cx="61912" cy="163513"/>
            <a:chOff x="4795" y="1836"/>
            <a:chExt cx="39" cy="103"/>
          </a:xfrm>
        </p:grpSpPr>
        <p:sp>
          <p:nvSpPr>
            <p:cNvPr id="410670" name="Line 46"/>
            <p:cNvSpPr>
              <a:spLocks noChangeShapeType="1"/>
            </p:cNvSpPr>
            <p:nvPr/>
          </p:nvSpPr>
          <p:spPr bwMode="auto">
            <a:xfrm flipV="1">
              <a:off x="4795" y="1887"/>
              <a:ext cx="39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71" name="Line 47"/>
            <p:cNvSpPr>
              <a:spLocks noChangeShapeType="1"/>
            </p:cNvSpPr>
            <p:nvPr/>
          </p:nvSpPr>
          <p:spPr bwMode="auto">
            <a:xfrm>
              <a:off x="4795" y="1836"/>
              <a:ext cx="39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10675" name="Group 51"/>
          <p:cNvGrpSpPr>
            <a:grpSpLocks/>
          </p:cNvGrpSpPr>
          <p:nvPr/>
        </p:nvGrpSpPr>
        <p:grpSpPr bwMode="auto">
          <a:xfrm>
            <a:off x="5618163" y="3325813"/>
            <a:ext cx="163512" cy="60325"/>
            <a:chOff x="3539" y="2095"/>
            <a:chExt cx="103" cy="38"/>
          </a:xfrm>
        </p:grpSpPr>
        <p:sp>
          <p:nvSpPr>
            <p:cNvPr id="410673" name="Line 49"/>
            <p:cNvSpPr>
              <a:spLocks noChangeShapeType="1"/>
            </p:cNvSpPr>
            <p:nvPr/>
          </p:nvSpPr>
          <p:spPr bwMode="auto">
            <a:xfrm flipV="1">
              <a:off x="3539" y="2095"/>
              <a:ext cx="52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74" name="Line 50"/>
            <p:cNvSpPr>
              <a:spLocks noChangeShapeType="1"/>
            </p:cNvSpPr>
            <p:nvPr/>
          </p:nvSpPr>
          <p:spPr bwMode="auto">
            <a:xfrm flipH="1" flipV="1">
              <a:off x="3591" y="2095"/>
              <a:ext cx="51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0676" name="Rectangle 52"/>
          <p:cNvSpPr>
            <a:spLocks noChangeArrowheads="1"/>
          </p:cNvSpPr>
          <p:nvPr/>
        </p:nvSpPr>
        <p:spPr bwMode="auto">
          <a:xfrm>
            <a:off x="2719388" y="3509963"/>
            <a:ext cx="9445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selectDrive</a:t>
            </a:r>
            <a:endParaRPr lang="en-CA" altLang="fr-FR"/>
          </a:p>
        </p:txBody>
      </p:sp>
      <p:sp>
        <p:nvSpPr>
          <p:cNvPr id="410677" name="Rectangle 53"/>
          <p:cNvSpPr>
            <a:spLocks noChangeArrowheads="1"/>
          </p:cNvSpPr>
          <p:nvPr/>
        </p:nvSpPr>
        <p:spPr bwMode="auto">
          <a:xfrm>
            <a:off x="5843588" y="3962400"/>
            <a:ext cx="14652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reachThirdSpeed</a:t>
            </a:r>
            <a:endParaRPr lang="en-CA" altLang="fr-FR"/>
          </a:p>
        </p:txBody>
      </p:sp>
      <p:sp>
        <p:nvSpPr>
          <p:cNvPr id="410678" name="Rectangle 54"/>
          <p:cNvSpPr>
            <a:spLocks noChangeArrowheads="1"/>
          </p:cNvSpPr>
          <p:nvPr/>
        </p:nvSpPr>
        <p:spPr bwMode="auto">
          <a:xfrm>
            <a:off x="5843588" y="4167188"/>
            <a:ext cx="12620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[driveSelected]</a:t>
            </a:r>
            <a:endParaRPr lang="en-CA" altLang="fr-FR"/>
          </a:p>
        </p:txBody>
      </p:sp>
      <p:sp>
        <p:nvSpPr>
          <p:cNvPr id="410679" name="Rectangle 55"/>
          <p:cNvSpPr>
            <a:spLocks noChangeArrowheads="1"/>
          </p:cNvSpPr>
          <p:nvPr/>
        </p:nvSpPr>
        <p:spPr bwMode="auto">
          <a:xfrm>
            <a:off x="5884863" y="4578350"/>
            <a:ext cx="18907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dropBelowThirdSpeed</a:t>
            </a:r>
            <a:endParaRPr lang="en-CA" altLang="fr-FR"/>
          </a:p>
        </p:txBody>
      </p:sp>
      <p:sp>
        <p:nvSpPr>
          <p:cNvPr id="410680" name="Rectangle 56"/>
          <p:cNvSpPr>
            <a:spLocks noChangeArrowheads="1"/>
          </p:cNvSpPr>
          <p:nvPr/>
        </p:nvSpPr>
        <p:spPr bwMode="auto">
          <a:xfrm>
            <a:off x="2843213" y="3962400"/>
            <a:ext cx="16779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reachSecondSpeed</a:t>
            </a:r>
            <a:endParaRPr lang="en-CA" altLang="fr-FR"/>
          </a:p>
        </p:txBody>
      </p:sp>
      <p:sp>
        <p:nvSpPr>
          <p:cNvPr id="410681" name="Rectangle 57"/>
          <p:cNvSpPr>
            <a:spLocks noChangeArrowheads="1"/>
          </p:cNvSpPr>
          <p:nvPr/>
        </p:nvSpPr>
        <p:spPr bwMode="auto">
          <a:xfrm>
            <a:off x="2843213" y="4167188"/>
            <a:ext cx="12620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[driveSelected]</a:t>
            </a:r>
            <a:endParaRPr lang="en-CA" altLang="fr-FR"/>
          </a:p>
        </p:txBody>
      </p:sp>
      <p:sp>
        <p:nvSpPr>
          <p:cNvPr id="410682" name="Rectangle 58"/>
          <p:cNvSpPr>
            <a:spLocks noChangeArrowheads="1"/>
          </p:cNvSpPr>
          <p:nvPr/>
        </p:nvSpPr>
        <p:spPr bwMode="auto">
          <a:xfrm>
            <a:off x="2843213" y="4578350"/>
            <a:ext cx="21034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dropBelowSecondSpeed</a:t>
            </a:r>
            <a:endParaRPr lang="en-CA" altLang="fr-FR"/>
          </a:p>
        </p:txBody>
      </p:sp>
      <p:sp>
        <p:nvSpPr>
          <p:cNvPr id="410683" name="Rectangle 59"/>
          <p:cNvSpPr>
            <a:spLocks noChangeArrowheads="1"/>
          </p:cNvSpPr>
          <p:nvPr/>
        </p:nvSpPr>
        <p:spPr bwMode="auto">
          <a:xfrm>
            <a:off x="2843213" y="4783138"/>
            <a:ext cx="12620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[driveSelected]</a:t>
            </a:r>
            <a:endParaRPr lang="en-CA" altLang="fr-FR"/>
          </a:p>
        </p:txBody>
      </p:sp>
      <p:sp>
        <p:nvSpPr>
          <p:cNvPr id="410684" name="Line 60"/>
          <p:cNvSpPr>
            <a:spLocks noChangeShapeType="1"/>
          </p:cNvSpPr>
          <p:nvPr/>
        </p:nvSpPr>
        <p:spPr bwMode="auto">
          <a:xfrm>
            <a:off x="2349500" y="3325813"/>
            <a:ext cx="1588" cy="9032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0687" name="Group 63"/>
          <p:cNvGrpSpPr>
            <a:grpSpLocks/>
          </p:cNvGrpSpPr>
          <p:nvPr/>
        </p:nvGrpSpPr>
        <p:grpSpPr bwMode="auto">
          <a:xfrm>
            <a:off x="2266950" y="4168775"/>
            <a:ext cx="165100" cy="60325"/>
            <a:chOff x="1428" y="2626"/>
            <a:chExt cx="104" cy="38"/>
          </a:xfrm>
        </p:grpSpPr>
        <p:sp>
          <p:nvSpPr>
            <p:cNvPr id="410685" name="Line 61"/>
            <p:cNvSpPr>
              <a:spLocks noChangeShapeType="1"/>
            </p:cNvSpPr>
            <p:nvPr/>
          </p:nvSpPr>
          <p:spPr bwMode="auto">
            <a:xfrm>
              <a:off x="1428" y="2626"/>
              <a:ext cx="52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86" name="Line 62"/>
            <p:cNvSpPr>
              <a:spLocks noChangeShapeType="1"/>
            </p:cNvSpPr>
            <p:nvPr/>
          </p:nvSpPr>
          <p:spPr bwMode="auto">
            <a:xfrm flipH="1">
              <a:off x="1480" y="2626"/>
              <a:ext cx="52" cy="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0688" name="Rectangle 64"/>
          <p:cNvSpPr>
            <a:spLocks noChangeArrowheads="1"/>
          </p:cNvSpPr>
          <p:nvPr/>
        </p:nvSpPr>
        <p:spPr bwMode="auto">
          <a:xfrm>
            <a:off x="1444625" y="3509963"/>
            <a:ext cx="868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selectFirst</a:t>
            </a:r>
            <a:endParaRPr lang="en-CA" altLang="fr-FR"/>
          </a:p>
        </p:txBody>
      </p:sp>
      <p:sp>
        <p:nvSpPr>
          <p:cNvPr id="410689" name="Rectangle 65"/>
          <p:cNvSpPr>
            <a:spLocks noChangeArrowheads="1"/>
          </p:cNvSpPr>
          <p:nvPr/>
        </p:nvSpPr>
        <p:spPr bwMode="auto">
          <a:xfrm>
            <a:off x="4095750" y="3509963"/>
            <a:ext cx="11461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selectSecond</a:t>
            </a:r>
            <a:endParaRPr lang="en-CA" altLang="fr-FR"/>
          </a:p>
        </p:txBody>
      </p:sp>
      <p:sp>
        <p:nvSpPr>
          <p:cNvPr id="410690" name="Rectangle 66"/>
          <p:cNvSpPr>
            <a:spLocks noChangeArrowheads="1"/>
          </p:cNvSpPr>
          <p:nvPr/>
        </p:nvSpPr>
        <p:spPr bwMode="auto">
          <a:xfrm>
            <a:off x="5761038" y="3509963"/>
            <a:ext cx="11144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selectNeutral</a:t>
            </a:r>
            <a:endParaRPr lang="en-CA" altLang="fr-FR"/>
          </a:p>
        </p:txBody>
      </p:sp>
      <p:sp>
        <p:nvSpPr>
          <p:cNvPr id="410691" name="Line 67"/>
          <p:cNvSpPr>
            <a:spLocks noChangeShapeType="1"/>
          </p:cNvSpPr>
          <p:nvPr/>
        </p:nvSpPr>
        <p:spPr bwMode="auto">
          <a:xfrm flipV="1">
            <a:off x="5268913" y="3305175"/>
            <a:ext cx="1587" cy="9239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0694" name="Group 70"/>
          <p:cNvGrpSpPr>
            <a:grpSpLocks/>
          </p:cNvGrpSpPr>
          <p:nvPr/>
        </p:nvGrpSpPr>
        <p:grpSpPr bwMode="auto">
          <a:xfrm>
            <a:off x="5186363" y="4148138"/>
            <a:ext cx="142875" cy="80962"/>
            <a:chOff x="3267" y="2613"/>
            <a:chExt cx="90" cy="51"/>
          </a:xfrm>
        </p:grpSpPr>
        <p:sp>
          <p:nvSpPr>
            <p:cNvPr id="410692" name="Line 68"/>
            <p:cNvSpPr>
              <a:spLocks noChangeShapeType="1"/>
            </p:cNvSpPr>
            <p:nvPr/>
          </p:nvSpPr>
          <p:spPr bwMode="auto">
            <a:xfrm>
              <a:off x="3267" y="2613"/>
              <a:ext cx="39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93" name="Line 69"/>
            <p:cNvSpPr>
              <a:spLocks noChangeShapeType="1"/>
            </p:cNvSpPr>
            <p:nvPr/>
          </p:nvSpPr>
          <p:spPr bwMode="auto">
            <a:xfrm flipH="1">
              <a:off x="3306" y="2613"/>
              <a:ext cx="51" cy="5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0695" name="Line 71"/>
          <p:cNvSpPr>
            <a:spLocks noChangeShapeType="1"/>
          </p:cNvSpPr>
          <p:nvPr/>
        </p:nvSpPr>
        <p:spPr bwMode="auto">
          <a:xfrm>
            <a:off x="3705225" y="3325813"/>
            <a:ext cx="1588" cy="5540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0698" name="Group 74"/>
          <p:cNvGrpSpPr>
            <a:grpSpLocks/>
          </p:cNvGrpSpPr>
          <p:nvPr/>
        </p:nvGrpSpPr>
        <p:grpSpPr bwMode="auto">
          <a:xfrm>
            <a:off x="3624263" y="3817938"/>
            <a:ext cx="163512" cy="61912"/>
            <a:chOff x="2283" y="2405"/>
            <a:chExt cx="103" cy="39"/>
          </a:xfrm>
        </p:grpSpPr>
        <p:sp>
          <p:nvSpPr>
            <p:cNvPr id="410696" name="Line 72"/>
            <p:cNvSpPr>
              <a:spLocks noChangeShapeType="1"/>
            </p:cNvSpPr>
            <p:nvPr/>
          </p:nvSpPr>
          <p:spPr bwMode="auto">
            <a:xfrm>
              <a:off x="2283" y="2405"/>
              <a:ext cx="51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697" name="Line 73"/>
            <p:cNvSpPr>
              <a:spLocks noChangeShapeType="1"/>
            </p:cNvSpPr>
            <p:nvPr/>
          </p:nvSpPr>
          <p:spPr bwMode="auto">
            <a:xfrm flipH="1">
              <a:off x="2334" y="2405"/>
              <a:ext cx="52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0699" name="Rectangle 75"/>
          <p:cNvSpPr>
            <a:spLocks noChangeArrowheads="1"/>
          </p:cNvSpPr>
          <p:nvPr/>
        </p:nvSpPr>
        <p:spPr bwMode="auto">
          <a:xfrm>
            <a:off x="6254750" y="3181350"/>
            <a:ext cx="11144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selectNeutral</a:t>
            </a:r>
            <a:endParaRPr lang="en-CA" altLang="fr-FR"/>
          </a:p>
        </p:txBody>
      </p:sp>
      <p:sp>
        <p:nvSpPr>
          <p:cNvPr id="410700" name="Rectangle 76"/>
          <p:cNvSpPr>
            <a:spLocks noChangeArrowheads="1"/>
          </p:cNvSpPr>
          <p:nvPr/>
        </p:nvSpPr>
        <p:spPr bwMode="auto">
          <a:xfrm>
            <a:off x="6234113" y="2770188"/>
            <a:ext cx="1209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selectReverse</a:t>
            </a:r>
            <a:endParaRPr lang="en-CA" altLang="fr-FR"/>
          </a:p>
        </p:txBody>
      </p:sp>
      <p:grpSp>
        <p:nvGrpSpPr>
          <p:cNvPr id="410703" name="Group 79"/>
          <p:cNvGrpSpPr>
            <a:grpSpLocks/>
          </p:cNvGrpSpPr>
          <p:nvPr/>
        </p:nvGrpSpPr>
        <p:grpSpPr bwMode="auto">
          <a:xfrm>
            <a:off x="2184400" y="4681538"/>
            <a:ext cx="165100" cy="82550"/>
            <a:chOff x="1376" y="2949"/>
            <a:chExt cx="104" cy="52"/>
          </a:xfrm>
        </p:grpSpPr>
        <p:sp>
          <p:nvSpPr>
            <p:cNvPr id="410701" name="Line 77"/>
            <p:cNvSpPr>
              <a:spLocks noChangeShapeType="1"/>
            </p:cNvSpPr>
            <p:nvPr/>
          </p:nvSpPr>
          <p:spPr bwMode="auto">
            <a:xfrm flipV="1">
              <a:off x="1376" y="2949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702" name="Line 78"/>
            <p:cNvSpPr>
              <a:spLocks noChangeShapeType="1"/>
            </p:cNvSpPr>
            <p:nvPr/>
          </p:nvSpPr>
          <p:spPr bwMode="auto">
            <a:xfrm flipH="1" flipV="1">
              <a:off x="1428" y="2949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0704" name="Line 80"/>
          <p:cNvSpPr>
            <a:spLocks noChangeShapeType="1"/>
          </p:cNvSpPr>
          <p:nvPr/>
        </p:nvSpPr>
        <p:spPr bwMode="auto">
          <a:xfrm>
            <a:off x="2266950" y="4702175"/>
            <a:ext cx="1588" cy="576263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705" name="Line 81"/>
          <p:cNvSpPr>
            <a:spLocks noChangeShapeType="1"/>
          </p:cNvSpPr>
          <p:nvPr/>
        </p:nvSpPr>
        <p:spPr bwMode="auto">
          <a:xfrm>
            <a:off x="2492375" y="5092700"/>
            <a:ext cx="1588" cy="1857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706" name="Line 82"/>
          <p:cNvSpPr>
            <a:spLocks noChangeShapeType="1"/>
          </p:cNvSpPr>
          <p:nvPr/>
        </p:nvSpPr>
        <p:spPr bwMode="auto">
          <a:xfrm>
            <a:off x="2266950" y="5278438"/>
            <a:ext cx="225425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0709" name="Group 85"/>
          <p:cNvGrpSpPr>
            <a:grpSpLocks/>
          </p:cNvGrpSpPr>
          <p:nvPr/>
        </p:nvGrpSpPr>
        <p:grpSpPr bwMode="auto">
          <a:xfrm>
            <a:off x="5268913" y="4681538"/>
            <a:ext cx="163512" cy="82550"/>
            <a:chOff x="3319" y="2949"/>
            <a:chExt cx="103" cy="52"/>
          </a:xfrm>
        </p:grpSpPr>
        <p:sp>
          <p:nvSpPr>
            <p:cNvPr id="410707" name="Line 83"/>
            <p:cNvSpPr>
              <a:spLocks noChangeShapeType="1"/>
            </p:cNvSpPr>
            <p:nvPr/>
          </p:nvSpPr>
          <p:spPr bwMode="auto">
            <a:xfrm flipV="1">
              <a:off x="3319" y="2949"/>
              <a:ext cx="51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708" name="Line 84"/>
            <p:cNvSpPr>
              <a:spLocks noChangeShapeType="1"/>
            </p:cNvSpPr>
            <p:nvPr/>
          </p:nvSpPr>
          <p:spPr bwMode="auto">
            <a:xfrm flipH="1" flipV="1">
              <a:off x="3370" y="2949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0710" name="Line 86"/>
          <p:cNvSpPr>
            <a:spLocks noChangeShapeType="1"/>
          </p:cNvSpPr>
          <p:nvPr/>
        </p:nvSpPr>
        <p:spPr bwMode="auto">
          <a:xfrm>
            <a:off x="5349875" y="4702175"/>
            <a:ext cx="1588" cy="576263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711" name="Line 87"/>
          <p:cNvSpPr>
            <a:spLocks noChangeShapeType="1"/>
          </p:cNvSpPr>
          <p:nvPr/>
        </p:nvSpPr>
        <p:spPr bwMode="auto">
          <a:xfrm>
            <a:off x="5576888" y="5092700"/>
            <a:ext cx="1587" cy="1857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712" name="Line 88"/>
          <p:cNvSpPr>
            <a:spLocks noChangeShapeType="1"/>
          </p:cNvSpPr>
          <p:nvPr/>
        </p:nvSpPr>
        <p:spPr bwMode="auto">
          <a:xfrm>
            <a:off x="5349875" y="5278438"/>
            <a:ext cx="227013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0713" name="Rectangle 89"/>
          <p:cNvSpPr>
            <a:spLocks noChangeArrowheads="1"/>
          </p:cNvSpPr>
          <p:nvPr/>
        </p:nvSpPr>
        <p:spPr bwMode="auto">
          <a:xfrm>
            <a:off x="2060575" y="5297488"/>
            <a:ext cx="868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selectFirst</a:t>
            </a:r>
            <a:endParaRPr lang="en-CA" altLang="fr-FR"/>
          </a:p>
        </p:txBody>
      </p:sp>
      <p:sp>
        <p:nvSpPr>
          <p:cNvPr id="410714" name="Rectangle 90"/>
          <p:cNvSpPr>
            <a:spLocks noChangeArrowheads="1"/>
          </p:cNvSpPr>
          <p:nvPr/>
        </p:nvSpPr>
        <p:spPr bwMode="auto">
          <a:xfrm>
            <a:off x="4918075" y="5297488"/>
            <a:ext cx="11461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i="1">
                <a:solidFill>
                  <a:srgbClr val="000000"/>
                </a:solidFill>
                <a:latin typeface="Arial" panose="020B0604020202020204" pitchFamily="34" charset="0"/>
              </a:rPr>
              <a:t>selectSecond</a:t>
            </a:r>
            <a:endParaRPr lang="en-CA" altLang="fr-FR"/>
          </a:p>
        </p:txBody>
      </p:sp>
      <p:grpSp>
        <p:nvGrpSpPr>
          <p:cNvPr id="410717" name="Group 93"/>
          <p:cNvGrpSpPr>
            <a:grpSpLocks/>
          </p:cNvGrpSpPr>
          <p:nvPr/>
        </p:nvGrpSpPr>
        <p:grpSpPr bwMode="auto">
          <a:xfrm>
            <a:off x="2122488" y="3036888"/>
            <a:ext cx="82550" cy="165100"/>
            <a:chOff x="1337" y="1913"/>
            <a:chExt cx="52" cy="104"/>
          </a:xfrm>
        </p:grpSpPr>
        <p:sp>
          <p:nvSpPr>
            <p:cNvPr id="410715" name="Line 91"/>
            <p:cNvSpPr>
              <a:spLocks noChangeShapeType="1"/>
            </p:cNvSpPr>
            <p:nvPr/>
          </p:nvSpPr>
          <p:spPr bwMode="auto">
            <a:xfrm flipV="1">
              <a:off x="1337" y="1965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716" name="Line 92"/>
            <p:cNvSpPr>
              <a:spLocks noChangeShapeType="1"/>
            </p:cNvSpPr>
            <p:nvPr/>
          </p:nvSpPr>
          <p:spPr bwMode="auto">
            <a:xfrm>
              <a:off x="1337" y="1913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10720" name="Group 96"/>
          <p:cNvGrpSpPr>
            <a:grpSpLocks/>
          </p:cNvGrpSpPr>
          <p:nvPr/>
        </p:nvGrpSpPr>
        <p:grpSpPr bwMode="auto">
          <a:xfrm>
            <a:off x="1938338" y="4394200"/>
            <a:ext cx="82550" cy="144463"/>
            <a:chOff x="1221" y="2768"/>
            <a:chExt cx="52" cy="91"/>
          </a:xfrm>
        </p:grpSpPr>
        <p:sp>
          <p:nvSpPr>
            <p:cNvPr id="410718" name="Line 94"/>
            <p:cNvSpPr>
              <a:spLocks noChangeShapeType="1"/>
            </p:cNvSpPr>
            <p:nvPr/>
          </p:nvSpPr>
          <p:spPr bwMode="auto">
            <a:xfrm flipV="1">
              <a:off x="1221" y="2820"/>
              <a:ext cx="52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0719" name="Line 95"/>
            <p:cNvSpPr>
              <a:spLocks noChangeShapeType="1"/>
            </p:cNvSpPr>
            <p:nvPr/>
          </p:nvSpPr>
          <p:spPr bwMode="auto">
            <a:xfrm>
              <a:off x="1221" y="2768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957221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60234-3D31-48FB-ABE9-DFDBB1535B39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1267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 diagram – an example with substates</a:t>
            </a:r>
          </a:p>
        </p:txBody>
      </p:sp>
      <p:sp>
        <p:nvSpPr>
          <p:cNvPr id="412678" name="AutoShape 2054"/>
          <p:cNvSpPr>
            <a:spLocks noChangeArrowheads="1"/>
          </p:cNvSpPr>
          <p:nvPr/>
        </p:nvSpPr>
        <p:spPr bwMode="auto">
          <a:xfrm>
            <a:off x="4379913" y="2716213"/>
            <a:ext cx="2820987" cy="2344737"/>
          </a:xfrm>
          <a:prstGeom prst="roundRect">
            <a:avLst>
              <a:gd name="adj" fmla="val 6579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2681" name="Group 2057"/>
          <p:cNvGrpSpPr>
            <a:grpSpLocks/>
          </p:cNvGrpSpPr>
          <p:nvPr/>
        </p:nvGrpSpPr>
        <p:grpSpPr bwMode="auto">
          <a:xfrm>
            <a:off x="4722813" y="1855788"/>
            <a:ext cx="82550" cy="166687"/>
            <a:chOff x="2975" y="1169"/>
            <a:chExt cx="52" cy="105"/>
          </a:xfrm>
        </p:grpSpPr>
        <p:sp>
          <p:nvSpPr>
            <p:cNvPr id="412679" name="Line 2055"/>
            <p:cNvSpPr>
              <a:spLocks noChangeShapeType="1"/>
            </p:cNvSpPr>
            <p:nvPr/>
          </p:nvSpPr>
          <p:spPr bwMode="auto">
            <a:xfrm>
              <a:off x="2975" y="1169"/>
              <a:ext cx="52" cy="5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2680" name="Line 2056"/>
            <p:cNvSpPr>
              <a:spLocks noChangeShapeType="1"/>
            </p:cNvSpPr>
            <p:nvPr/>
          </p:nvSpPr>
          <p:spPr bwMode="auto">
            <a:xfrm flipV="1">
              <a:off x="2975" y="1222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2682" name="Rectangle 2058"/>
          <p:cNvSpPr>
            <a:spLocks noChangeArrowheads="1"/>
          </p:cNvSpPr>
          <p:nvPr/>
        </p:nvSpPr>
        <p:spPr bwMode="auto">
          <a:xfrm>
            <a:off x="7315200" y="2667000"/>
            <a:ext cx="162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requestToRegister</a:t>
            </a:r>
          </a:p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              (aStudent)</a:t>
            </a:r>
            <a:endParaRPr lang="en-US" altLang="en-US"/>
          </a:p>
        </p:txBody>
      </p:sp>
      <p:sp>
        <p:nvSpPr>
          <p:cNvPr id="412683" name="Rectangle 2059"/>
          <p:cNvSpPr>
            <a:spLocks noChangeArrowheads="1"/>
          </p:cNvSpPr>
          <p:nvPr/>
        </p:nvSpPr>
        <p:spPr bwMode="auto">
          <a:xfrm>
            <a:off x="7315200" y="3124200"/>
            <a:ext cx="16017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/createRegistration</a:t>
            </a:r>
            <a:endParaRPr lang="en-US" altLang="en-US"/>
          </a:p>
        </p:txBody>
      </p:sp>
      <p:sp>
        <p:nvSpPr>
          <p:cNvPr id="412685" name="Oval 2061"/>
          <p:cNvSpPr>
            <a:spLocks noChangeArrowheads="1"/>
          </p:cNvSpPr>
          <p:nvPr/>
        </p:nvSpPr>
        <p:spPr bwMode="auto">
          <a:xfrm>
            <a:off x="4162425" y="1835150"/>
            <a:ext cx="269875" cy="2698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686" name="Line 2062"/>
          <p:cNvSpPr>
            <a:spLocks noChangeShapeType="1"/>
          </p:cNvSpPr>
          <p:nvPr/>
        </p:nvSpPr>
        <p:spPr bwMode="auto">
          <a:xfrm flipH="1">
            <a:off x="4308475" y="1939925"/>
            <a:ext cx="496888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687" name="Line 2063"/>
          <p:cNvSpPr>
            <a:spLocks noChangeShapeType="1"/>
          </p:cNvSpPr>
          <p:nvPr/>
        </p:nvSpPr>
        <p:spPr bwMode="auto">
          <a:xfrm>
            <a:off x="5427663" y="2271713"/>
            <a:ext cx="1587" cy="74612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688" name="Rectangle 2064"/>
          <p:cNvSpPr>
            <a:spLocks noChangeArrowheads="1"/>
          </p:cNvSpPr>
          <p:nvPr/>
        </p:nvSpPr>
        <p:spPr bwMode="auto">
          <a:xfrm>
            <a:off x="5489575" y="2290763"/>
            <a:ext cx="14446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openRegistration</a:t>
            </a:r>
            <a:endParaRPr lang="en-US" altLang="en-US"/>
          </a:p>
        </p:txBody>
      </p:sp>
      <p:sp>
        <p:nvSpPr>
          <p:cNvPr id="412689" name="AutoShape 2065"/>
          <p:cNvSpPr>
            <a:spLocks noChangeArrowheads="1"/>
          </p:cNvSpPr>
          <p:nvPr/>
        </p:nvSpPr>
        <p:spPr bwMode="auto">
          <a:xfrm>
            <a:off x="4814888" y="1762125"/>
            <a:ext cx="1225550" cy="500063"/>
          </a:xfrm>
          <a:prstGeom prst="roundRect">
            <a:avLst>
              <a:gd name="adj" fmla="val 3000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690" name="Rectangle 2066"/>
          <p:cNvSpPr>
            <a:spLocks noChangeArrowheads="1"/>
          </p:cNvSpPr>
          <p:nvPr/>
        </p:nvSpPr>
        <p:spPr bwMode="auto">
          <a:xfrm>
            <a:off x="5013325" y="1855788"/>
            <a:ext cx="912813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Planned</a:t>
            </a:r>
            <a:endParaRPr lang="en-US" altLang="en-US"/>
          </a:p>
        </p:txBody>
      </p:sp>
      <p:sp>
        <p:nvSpPr>
          <p:cNvPr id="412691" name="Rectangle 2067"/>
          <p:cNvSpPr>
            <a:spLocks noChangeArrowheads="1"/>
          </p:cNvSpPr>
          <p:nvPr/>
        </p:nvSpPr>
        <p:spPr bwMode="auto">
          <a:xfrm>
            <a:off x="4681538" y="4572000"/>
            <a:ext cx="15001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EnoughStudents</a:t>
            </a:r>
            <a:endParaRPr lang="en-US" altLang="en-US"/>
          </a:p>
        </p:txBody>
      </p:sp>
      <p:sp>
        <p:nvSpPr>
          <p:cNvPr id="412692" name="Rectangle 2068"/>
          <p:cNvSpPr>
            <a:spLocks noChangeArrowheads="1"/>
          </p:cNvSpPr>
          <p:nvPr/>
        </p:nvSpPr>
        <p:spPr bwMode="auto">
          <a:xfrm>
            <a:off x="4681538" y="3141663"/>
            <a:ext cx="18161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NotEnoughStudents</a:t>
            </a:r>
            <a:endParaRPr lang="en-US" altLang="en-US"/>
          </a:p>
        </p:txBody>
      </p:sp>
      <p:grpSp>
        <p:nvGrpSpPr>
          <p:cNvPr id="412695" name="Group 2071"/>
          <p:cNvGrpSpPr>
            <a:grpSpLocks/>
          </p:cNvGrpSpPr>
          <p:nvPr/>
        </p:nvGrpSpPr>
        <p:grpSpPr bwMode="auto">
          <a:xfrm>
            <a:off x="5345113" y="2935288"/>
            <a:ext cx="165100" cy="61912"/>
            <a:chOff x="3367" y="1849"/>
            <a:chExt cx="104" cy="39"/>
          </a:xfrm>
        </p:grpSpPr>
        <p:sp>
          <p:nvSpPr>
            <p:cNvPr id="412693" name="Line 2069"/>
            <p:cNvSpPr>
              <a:spLocks noChangeShapeType="1"/>
            </p:cNvSpPr>
            <p:nvPr/>
          </p:nvSpPr>
          <p:spPr bwMode="auto">
            <a:xfrm flipH="1">
              <a:off x="3419" y="1849"/>
              <a:ext cx="52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2694" name="Line 2070"/>
            <p:cNvSpPr>
              <a:spLocks noChangeShapeType="1"/>
            </p:cNvSpPr>
            <p:nvPr/>
          </p:nvSpPr>
          <p:spPr bwMode="auto">
            <a:xfrm>
              <a:off x="3367" y="1849"/>
              <a:ext cx="52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2696" name="Rectangle 2072"/>
          <p:cNvSpPr>
            <a:spLocks noChangeArrowheads="1"/>
          </p:cNvSpPr>
          <p:nvPr/>
        </p:nvSpPr>
        <p:spPr bwMode="auto">
          <a:xfrm>
            <a:off x="5095875" y="3825875"/>
            <a:ext cx="19081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classSize &gt;= minimum</a:t>
            </a:r>
            <a:endParaRPr lang="en-US" altLang="en-US"/>
          </a:p>
        </p:txBody>
      </p:sp>
      <p:grpSp>
        <p:nvGrpSpPr>
          <p:cNvPr id="412699" name="Group 2075"/>
          <p:cNvGrpSpPr>
            <a:grpSpLocks/>
          </p:cNvGrpSpPr>
          <p:nvPr/>
        </p:nvGrpSpPr>
        <p:grpSpPr bwMode="auto">
          <a:xfrm>
            <a:off x="4930775" y="4344988"/>
            <a:ext cx="165100" cy="82550"/>
            <a:chOff x="3106" y="2737"/>
            <a:chExt cx="104" cy="52"/>
          </a:xfrm>
        </p:grpSpPr>
        <p:sp>
          <p:nvSpPr>
            <p:cNvPr id="412697" name="Line 2073"/>
            <p:cNvSpPr>
              <a:spLocks noChangeShapeType="1"/>
            </p:cNvSpPr>
            <p:nvPr/>
          </p:nvSpPr>
          <p:spPr bwMode="auto">
            <a:xfrm flipH="1">
              <a:off x="3158" y="2737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2698" name="Line 2074"/>
            <p:cNvSpPr>
              <a:spLocks noChangeShapeType="1"/>
            </p:cNvSpPr>
            <p:nvPr/>
          </p:nvSpPr>
          <p:spPr bwMode="auto">
            <a:xfrm>
              <a:off x="3106" y="2737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2700" name="Arc 2076"/>
          <p:cNvSpPr>
            <a:spLocks/>
          </p:cNvSpPr>
          <p:nvPr/>
        </p:nvSpPr>
        <p:spPr bwMode="auto">
          <a:xfrm>
            <a:off x="7210425" y="3349625"/>
            <a:ext cx="396875" cy="746125"/>
          </a:xfrm>
          <a:custGeom>
            <a:avLst/>
            <a:gdLst>
              <a:gd name="G0" fmla="+- 1314 0 0"/>
              <a:gd name="G1" fmla="+- 21600 0 0"/>
              <a:gd name="G2" fmla="+- 21600 0 0"/>
              <a:gd name="T0" fmla="*/ 648 w 22914"/>
              <a:gd name="T1" fmla="*/ 10 h 43200"/>
              <a:gd name="T2" fmla="*/ 0 w 22914"/>
              <a:gd name="T3" fmla="*/ 43160 h 43200"/>
              <a:gd name="T4" fmla="*/ 1314 w 22914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914" h="43200" fill="none" extrusionOk="0">
                <a:moveTo>
                  <a:pt x="648" y="10"/>
                </a:moveTo>
                <a:cubicBezTo>
                  <a:pt x="869" y="3"/>
                  <a:pt x="1091" y="0"/>
                  <a:pt x="1314" y="0"/>
                </a:cubicBezTo>
                <a:cubicBezTo>
                  <a:pt x="13243" y="0"/>
                  <a:pt x="22914" y="9670"/>
                  <a:pt x="22914" y="21600"/>
                </a:cubicBezTo>
                <a:cubicBezTo>
                  <a:pt x="22914" y="33529"/>
                  <a:pt x="13243" y="43200"/>
                  <a:pt x="1314" y="43200"/>
                </a:cubicBezTo>
                <a:cubicBezTo>
                  <a:pt x="875" y="43200"/>
                  <a:pt x="437" y="43186"/>
                  <a:pt x="0" y="43159"/>
                </a:cubicBezTo>
              </a:path>
              <a:path w="22914" h="43200" stroke="0" extrusionOk="0">
                <a:moveTo>
                  <a:pt x="648" y="10"/>
                </a:moveTo>
                <a:cubicBezTo>
                  <a:pt x="869" y="3"/>
                  <a:pt x="1091" y="0"/>
                  <a:pt x="1314" y="0"/>
                </a:cubicBezTo>
                <a:cubicBezTo>
                  <a:pt x="13243" y="0"/>
                  <a:pt x="22914" y="9670"/>
                  <a:pt x="22914" y="21600"/>
                </a:cubicBezTo>
                <a:cubicBezTo>
                  <a:pt x="22914" y="33529"/>
                  <a:pt x="13243" y="43200"/>
                  <a:pt x="1314" y="43200"/>
                </a:cubicBezTo>
                <a:cubicBezTo>
                  <a:pt x="875" y="43200"/>
                  <a:pt x="437" y="43186"/>
                  <a:pt x="0" y="43159"/>
                </a:cubicBezTo>
                <a:lnTo>
                  <a:pt x="1314" y="2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01" name="Arc 2077"/>
          <p:cNvSpPr>
            <a:spLocks/>
          </p:cNvSpPr>
          <p:nvPr/>
        </p:nvSpPr>
        <p:spPr bwMode="auto">
          <a:xfrm>
            <a:off x="7210425" y="3359150"/>
            <a:ext cx="385763" cy="727075"/>
          </a:xfrm>
          <a:custGeom>
            <a:avLst/>
            <a:gdLst>
              <a:gd name="G0" fmla="+- 1314 0 0"/>
              <a:gd name="G1" fmla="+- 21600 0 0"/>
              <a:gd name="G2" fmla="+- 21600 0 0"/>
              <a:gd name="T0" fmla="*/ 648 w 22914"/>
              <a:gd name="T1" fmla="*/ 10 h 43200"/>
              <a:gd name="T2" fmla="*/ 0 w 22914"/>
              <a:gd name="T3" fmla="*/ 43160 h 43200"/>
              <a:gd name="T4" fmla="*/ 1314 w 22914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914" h="43200" fill="none" extrusionOk="0">
                <a:moveTo>
                  <a:pt x="648" y="10"/>
                </a:moveTo>
                <a:cubicBezTo>
                  <a:pt x="869" y="3"/>
                  <a:pt x="1091" y="0"/>
                  <a:pt x="1314" y="0"/>
                </a:cubicBezTo>
                <a:cubicBezTo>
                  <a:pt x="13243" y="0"/>
                  <a:pt x="22914" y="9670"/>
                  <a:pt x="22914" y="21600"/>
                </a:cubicBezTo>
                <a:cubicBezTo>
                  <a:pt x="22914" y="33529"/>
                  <a:pt x="13243" y="43200"/>
                  <a:pt x="1314" y="43200"/>
                </a:cubicBezTo>
                <a:cubicBezTo>
                  <a:pt x="875" y="43200"/>
                  <a:pt x="437" y="43186"/>
                  <a:pt x="0" y="43159"/>
                </a:cubicBezTo>
              </a:path>
              <a:path w="22914" h="43200" stroke="0" extrusionOk="0">
                <a:moveTo>
                  <a:pt x="648" y="10"/>
                </a:moveTo>
                <a:cubicBezTo>
                  <a:pt x="869" y="3"/>
                  <a:pt x="1091" y="0"/>
                  <a:pt x="1314" y="0"/>
                </a:cubicBezTo>
                <a:cubicBezTo>
                  <a:pt x="13243" y="0"/>
                  <a:pt x="22914" y="9670"/>
                  <a:pt x="22914" y="21600"/>
                </a:cubicBezTo>
                <a:cubicBezTo>
                  <a:pt x="22914" y="33529"/>
                  <a:pt x="13243" y="43200"/>
                  <a:pt x="1314" y="43200"/>
                </a:cubicBezTo>
                <a:cubicBezTo>
                  <a:pt x="875" y="43200"/>
                  <a:pt x="437" y="43186"/>
                  <a:pt x="0" y="43159"/>
                </a:cubicBezTo>
                <a:lnTo>
                  <a:pt x="1314" y="21600"/>
                </a:lnTo>
                <a:close/>
              </a:path>
            </a:pathLst>
          </a:cu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02" name="AutoShape 2078"/>
          <p:cNvSpPr>
            <a:spLocks noChangeArrowheads="1"/>
          </p:cNvSpPr>
          <p:nvPr/>
        </p:nvSpPr>
        <p:spPr bwMode="auto">
          <a:xfrm>
            <a:off x="4608513" y="4457700"/>
            <a:ext cx="1784350" cy="500063"/>
          </a:xfrm>
          <a:prstGeom prst="roundRect">
            <a:avLst>
              <a:gd name="adj" fmla="val 3000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03" name="AutoShape 2079"/>
          <p:cNvSpPr>
            <a:spLocks noChangeArrowheads="1"/>
          </p:cNvSpPr>
          <p:nvPr/>
        </p:nvSpPr>
        <p:spPr bwMode="auto">
          <a:xfrm>
            <a:off x="4608513" y="3048000"/>
            <a:ext cx="2095500" cy="498475"/>
          </a:xfrm>
          <a:prstGeom prst="roundRect">
            <a:avLst>
              <a:gd name="adj" fmla="val 3000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04" name="Rectangle 2080"/>
          <p:cNvSpPr>
            <a:spLocks noChangeArrowheads="1"/>
          </p:cNvSpPr>
          <p:nvPr/>
        </p:nvSpPr>
        <p:spPr bwMode="auto">
          <a:xfrm>
            <a:off x="5573713" y="2706688"/>
            <a:ext cx="622300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Open</a:t>
            </a:r>
            <a:endParaRPr lang="en-US" altLang="en-US"/>
          </a:p>
        </p:txBody>
      </p:sp>
      <p:grpSp>
        <p:nvGrpSpPr>
          <p:cNvPr id="412707" name="Group 2083"/>
          <p:cNvGrpSpPr>
            <a:grpSpLocks/>
          </p:cNvGrpSpPr>
          <p:nvPr/>
        </p:nvGrpSpPr>
        <p:grpSpPr bwMode="auto">
          <a:xfrm>
            <a:off x="7210425" y="3992563"/>
            <a:ext cx="63500" cy="144462"/>
            <a:chOff x="4542" y="2515"/>
            <a:chExt cx="40" cy="91"/>
          </a:xfrm>
        </p:grpSpPr>
        <p:sp>
          <p:nvSpPr>
            <p:cNvPr id="412705" name="Line 2081"/>
            <p:cNvSpPr>
              <a:spLocks noChangeShapeType="1"/>
            </p:cNvSpPr>
            <p:nvPr/>
          </p:nvSpPr>
          <p:spPr bwMode="auto">
            <a:xfrm flipH="1" flipV="1">
              <a:off x="4542" y="2567"/>
              <a:ext cx="40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2706" name="Line 2082"/>
            <p:cNvSpPr>
              <a:spLocks noChangeShapeType="1"/>
            </p:cNvSpPr>
            <p:nvPr/>
          </p:nvSpPr>
          <p:spPr bwMode="auto">
            <a:xfrm flipH="1">
              <a:off x="4542" y="2515"/>
              <a:ext cx="40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2708" name="Rectangle 2084"/>
          <p:cNvSpPr>
            <a:spLocks noChangeArrowheads="1"/>
          </p:cNvSpPr>
          <p:nvPr/>
        </p:nvSpPr>
        <p:spPr bwMode="auto">
          <a:xfrm>
            <a:off x="1155700" y="4530725"/>
            <a:ext cx="746125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Closed</a:t>
            </a:r>
            <a:endParaRPr lang="en-US" altLang="en-US"/>
          </a:p>
        </p:txBody>
      </p:sp>
      <p:sp>
        <p:nvSpPr>
          <p:cNvPr id="412709" name="Line 2085"/>
          <p:cNvSpPr>
            <a:spLocks noChangeShapeType="1"/>
          </p:cNvSpPr>
          <p:nvPr/>
        </p:nvSpPr>
        <p:spPr bwMode="auto">
          <a:xfrm>
            <a:off x="2027238" y="4594225"/>
            <a:ext cx="2571750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10" name="Rectangle 2086"/>
          <p:cNvSpPr>
            <a:spLocks noChangeArrowheads="1"/>
          </p:cNvSpPr>
          <p:nvPr/>
        </p:nvSpPr>
        <p:spPr bwMode="auto">
          <a:xfrm>
            <a:off x="2214563" y="4281488"/>
            <a:ext cx="19605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classSize &gt;= maximum</a:t>
            </a:r>
            <a:endParaRPr lang="en-US" altLang="en-US"/>
          </a:p>
        </p:txBody>
      </p:sp>
      <p:sp>
        <p:nvSpPr>
          <p:cNvPr id="412711" name="Line 2087"/>
          <p:cNvSpPr>
            <a:spLocks noChangeShapeType="1"/>
          </p:cNvSpPr>
          <p:nvPr/>
        </p:nvSpPr>
        <p:spPr bwMode="auto">
          <a:xfrm>
            <a:off x="2628900" y="3162300"/>
            <a:ext cx="1720850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12" name="Rectangle 2088"/>
          <p:cNvSpPr>
            <a:spLocks noChangeArrowheads="1"/>
          </p:cNvSpPr>
          <p:nvPr/>
        </p:nvSpPr>
        <p:spPr bwMode="auto">
          <a:xfrm>
            <a:off x="3209925" y="2913063"/>
            <a:ext cx="642938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cancel</a:t>
            </a:r>
            <a:endParaRPr lang="en-US" altLang="en-US"/>
          </a:p>
        </p:txBody>
      </p:sp>
      <p:sp>
        <p:nvSpPr>
          <p:cNvPr id="412713" name="AutoShape 2089"/>
          <p:cNvSpPr>
            <a:spLocks noChangeArrowheads="1"/>
          </p:cNvSpPr>
          <p:nvPr/>
        </p:nvSpPr>
        <p:spPr bwMode="auto">
          <a:xfrm>
            <a:off x="1000125" y="4437063"/>
            <a:ext cx="1038225" cy="500062"/>
          </a:xfrm>
          <a:prstGeom prst="roundRect">
            <a:avLst>
              <a:gd name="adj" fmla="val 3000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12716" name="Group 2092"/>
          <p:cNvGrpSpPr>
            <a:grpSpLocks/>
          </p:cNvGrpSpPr>
          <p:nvPr/>
        </p:nvGrpSpPr>
        <p:grpSpPr bwMode="auto">
          <a:xfrm>
            <a:off x="2608263" y="3079750"/>
            <a:ext cx="61912" cy="166688"/>
            <a:chOff x="1643" y="1940"/>
            <a:chExt cx="39" cy="105"/>
          </a:xfrm>
        </p:grpSpPr>
        <p:sp>
          <p:nvSpPr>
            <p:cNvPr id="412714" name="Line 2090"/>
            <p:cNvSpPr>
              <a:spLocks noChangeShapeType="1"/>
            </p:cNvSpPr>
            <p:nvPr/>
          </p:nvSpPr>
          <p:spPr bwMode="auto">
            <a:xfrm flipH="1" flipV="1">
              <a:off x="1643" y="1992"/>
              <a:ext cx="39" cy="5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2715" name="Line 2091"/>
            <p:cNvSpPr>
              <a:spLocks noChangeShapeType="1"/>
            </p:cNvSpPr>
            <p:nvPr/>
          </p:nvSpPr>
          <p:spPr bwMode="auto">
            <a:xfrm flipH="1">
              <a:off x="1643" y="1940"/>
              <a:ext cx="39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12719" name="Group 2095"/>
          <p:cNvGrpSpPr>
            <a:grpSpLocks/>
          </p:cNvGrpSpPr>
          <p:nvPr/>
        </p:nvGrpSpPr>
        <p:grpSpPr bwMode="auto">
          <a:xfrm>
            <a:off x="2027238" y="4510088"/>
            <a:ext cx="82550" cy="146050"/>
            <a:chOff x="1277" y="2841"/>
            <a:chExt cx="52" cy="92"/>
          </a:xfrm>
        </p:grpSpPr>
        <p:sp>
          <p:nvSpPr>
            <p:cNvPr id="412717" name="Line 2093"/>
            <p:cNvSpPr>
              <a:spLocks noChangeShapeType="1"/>
            </p:cNvSpPr>
            <p:nvPr/>
          </p:nvSpPr>
          <p:spPr bwMode="auto">
            <a:xfrm flipH="1" flipV="1">
              <a:off x="1277" y="2894"/>
              <a:ext cx="52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2718" name="Line 2094"/>
            <p:cNvSpPr>
              <a:spLocks noChangeShapeType="1"/>
            </p:cNvSpPr>
            <p:nvPr/>
          </p:nvSpPr>
          <p:spPr bwMode="auto">
            <a:xfrm flipH="1">
              <a:off x="1277" y="2841"/>
              <a:ext cx="52" cy="5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2720" name="Line 2096"/>
          <p:cNvSpPr>
            <a:spLocks noChangeShapeType="1"/>
          </p:cNvSpPr>
          <p:nvPr/>
        </p:nvSpPr>
        <p:spPr bwMode="auto">
          <a:xfrm>
            <a:off x="2587625" y="3390900"/>
            <a:ext cx="2011363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21" name="Rectangle 2097"/>
          <p:cNvSpPr>
            <a:spLocks noChangeArrowheads="1"/>
          </p:cNvSpPr>
          <p:nvPr/>
        </p:nvSpPr>
        <p:spPr bwMode="auto">
          <a:xfrm>
            <a:off x="2732088" y="3411538"/>
            <a:ext cx="14652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closeRegistration</a:t>
            </a:r>
            <a:endParaRPr lang="en-US" altLang="en-US"/>
          </a:p>
        </p:txBody>
      </p:sp>
      <p:grpSp>
        <p:nvGrpSpPr>
          <p:cNvPr id="412724" name="Group 2100"/>
          <p:cNvGrpSpPr>
            <a:grpSpLocks/>
          </p:cNvGrpSpPr>
          <p:nvPr/>
        </p:nvGrpSpPr>
        <p:grpSpPr bwMode="auto">
          <a:xfrm>
            <a:off x="2608263" y="3308350"/>
            <a:ext cx="61912" cy="144463"/>
            <a:chOff x="1643" y="2084"/>
            <a:chExt cx="39" cy="91"/>
          </a:xfrm>
        </p:grpSpPr>
        <p:sp>
          <p:nvSpPr>
            <p:cNvPr id="412722" name="Line 2098"/>
            <p:cNvSpPr>
              <a:spLocks noChangeShapeType="1"/>
            </p:cNvSpPr>
            <p:nvPr/>
          </p:nvSpPr>
          <p:spPr bwMode="auto">
            <a:xfrm flipH="1" flipV="1">
              <a:off x="1643" y="2136"/>
              <a:ext cx="39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2723" name="Line 2099"/>
            <p:cNvSpPr>
              <a:spLocks noChangeShapeType="1"/>
            </p:cNvSpPr>
            <p:nvPr/>
          </p:nvSpPr>
          <p:spPr bwMode="auto">
            <a:xfrm flipH="1">
              <a:off x="1643" y="2084"/>
              <a:ext cx="39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2725" name="Line 2101"/>
          <p:cNvSpPr>
            <a:spLocks noChangeShapeType="1"/>
          </p:cNvSpPr>
          <p:nvPr/>
        </p:nvSpPr>
        <p:spPr bwMode="auto">
          <a:xfrm>
            <a:off x="2027238" y="4800600"/>
            <a:ext cx="2571750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26" name="Rectangle 2102"/>
          <p:cNvSpPr>
            <a:spLocks noChangeArrowheads="1"/>
          </p:cNvSpPr>
          <p:nvPr/>
        </p:nvSpPr>
        <p:spPr bwMode="auto">
          <a:xfrm>
            <a:off x="2441575" y="4800600"/>
            <a:ext cx="14652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 i="1">
                <a:solidFill>
                  <a:srgbClr val="000000"/>
                </a:solidFill>
                <a:latin typeface="Arial" panose="020B0604020202020204" pitchFamily="34" charset="0"/>
              </a:rPr>
              <a:t>closeRegistration</a:t>
            </a:r>
            <a:endParaRPr lang="en-US" altLang="en-US"/>
          </a:p>
        </p:txBody>
      </p:sp>
      <p:grpSp>
        <p:nvGrpSpPr>
          <p:cNvPr id="412729" name="Group 2105"/>
          <p:cNvGrpSpPr>
            <a:grpSpLocks/>
          </p:cNvGrpSpPr>
          <p:nvPr/>
        </p:nvGrpSpPr>
        <p:grpSpPr bwMode="auto">
          <a:xfrm>
            <a:off x="2027238" y="4718050"/>
            <a:ext cx="82550" cy="144463"/>
            <a:chOff x="1277" y="2972"/>
            <a:chExt cx="52" cy="91"/>
          </a:xfrm>
        </p:grpSpPr>
        <p:sp>
          <p:nvSpPr>
            <p:cNvPr id="412727" name="Line 2103"/>
            <p:cNvSpPr>
              <a:spLocks noChangeShapeType="1"/>
            </p:cNvSpPr>
            <p:nvPr/>
          </p:nvSpPr>
          <p:spPr bwMode="auto">
            <a:xfrm flipH="1" flipV="1">
              <a:off x="1277" y="3024"/>
              <a:ext cx="52" cy="3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12728" name="Line 2104"/>
            <p:cNvSpPr>
              <a:spLocks noChangeShapeType="1"/>
            </p:cNvSpPr>
            <p:nvPr/>
          </p:nvSpPr>
          <p:spPr bwMode="auto">
            <a:xfrm flipH="1">
              <a:off x="1277" y="2972"/>
              <a:ext cx="52" cy="5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12730" name="Line 2106"/>
          <p:cNvSpPr>
            <a:spLocks noChangeShapeType="1"/>
          </p:cNvSpPr>
          <p:nvPr/>
        </p:nvSpPr>
        <p:spPr bwMode="auto">
          <a:xfrm>
            <a:off x="5013325" y="3556000"/>
            <a:ext cx="1588" cy="87153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31" name="Rectangle 2107"/>
          <p:cNvSpPr>
            <a:spLocks noChangeArrowheads="1"/>
          </p:cNvSpPr>
          <p:nvPr/>
        </p:nvSpPr>
        <p:spPr bwMode="auto">
          <a:xfrm>
            <a:off x="1363663" y="2643188"/>
            <a:ext cx="1077912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Cancelled</a:t>
            </a:r>
            <a:endParaRPr lang="en-US" altLang="en-US"/>
          </a:p>
        </p:txBody>
      </p:sp>
      <p:sp>
        <p:nvSpPr>
          <p:cNvPr id="412732" name="AutoShape 2108"/>
          <p:cNvSpPr>
            <a:spLocks noChangeArrowheads="1"/>
          </p:cNvSpPr>
          <p:nvPr/>
        </p:nvSpPr>
        <p:spPr bwMode="auto">
          <a:xfrm>
            <a:off x="1187450" y="2549525"/>
            <a:ext cx="1411288" cy="1412875"/>
          </a:xfrm>
          <a:prstGeom prst="roundRect">
            <a:avLst>
              <a:gd name="adj" fmla="val 10870"/>
            </a:avLst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33" name="Rectangle 2109"/>
          <p:cNvSpPr>
            <a:spLocks noChangeArrowheads="1"/>
          </p:cNvSpPr>
          <p:nvPr/>
        </p:nvSpPr>
        <p:spPr bwMode="auto">
          <a:xfrm>
            <a:off x="1281113" y="3017838"/>
            <a:ext cx="1222375" cy="7048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34" name="Rectangle 2110"/>
          <p:cNvSpPr>
            <a:spLocks noChangeArrowheads="1"/>
          </p:cNvSpPr>
          <p:nvPr/>
        </p:nvSpPr>
        <p:spPr bwMode="auto">
          <a:xfrm>
            <a:off x="1270000" y="3006725"/>
            <a:ext cx="1223963" cy="706438"/>
          </a:xfrm>
          <a:prstGeom prst="rect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12735" name="Rectangle 2111"/>
          <p:cNvSpPr>
            <a:spLocks noChangeArrowheads="1"/>
          </p:cNvSpPr>
          <p:nvPr/>
        </p:nvSpPr>
        <p:spPr bwMode="auto">
          <a:xfrm>
            <a:off x="1301750" y="3016250"/>
            <a:ext cx="496888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Arial" panose="020B0604020202020204" pitchFamily="34" charset="0"/>
              </a:rPr>
              <a:t>do:</a:t>
            </a:r>
            <a:endParaRPr lang="en-US" altLang="en-US"/>
          </a:p>
        </p:txBody>
      </p:sp>
      <p:sp>
        <p:nvSpPr>
          <p:cNvPr id="412736" name="Rectangle 2112"/>
          <p:cNvSpPr>
            <a:spLocks noChangeArrowheads="1"/>
          </p:cNvSpPr>
          <p:nvPr/>
        </p:nvSpPr>
        <p:spPr bwMode="auto">
          <a:xfrm>
            <a:off x="1301750" y="3224213"/>
            <a:ext cx="8493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Arial" panose="020B0604020202020204" pitchFamily="34" charset="0"/>
              </a:rPr>
              <a:t>unregister</a:t>
            </a:r>
            <a:endParaRPr lang="en-US" altLang="en-US"/>
          </a:p>
        </p:txBody>
      </p:sp>
      <p:sp>
        <p:nvSpPr>
          <p:cNvPr id="412737" name="Rectangle 2113"/>
          <p:cNvSpPr>
            <a:spLocks noChangeArrowheads="1"/>
          </p:cNvSpPr>
          <p:nvPr/>
        </p:nvSpPr>
        <p:spPr bwMode="auto">
          <a:xfrm>
            <a:off x="1301750" y="3432175"/>
            <a:ext cx="8286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500">
                <a:solidFill>
                  <a:srgbClr val="000000"/>
                </a:solidFill>
                <a:latin typeface="Arial" panose="020B0604020202020204" pitchFamily="34" charset="0"/>
              </a:rPr>
              <a:t>students</a:t>
            </a:r>
            <a:endParaRPr lang="en-US" altLang="en-US"/>
          </a:p>
        </p:txBody>
      </p:sp>
      <p:pic>
        <p:nvPicPr>
          <p:cNvPr id="412738" name="Picture 21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0" y="2997200"/>
            <a:ext cx="16510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86601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9ABEA-6854-46E0-98C2-C3B696349DEC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Activity Diagrams</a:t>
            </a:r>
            <a:r>
              <a:rPr lang="en-US" altLang="en-US" dirty="0"/>
              <a:t> 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An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activity diagram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is like a state diagram.</a:t>
            </a:r>
          </a:p>
          <a:p>
            <a:pPr lvl="2"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Except most transitions are caused by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internal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events, such as the completion of a computation.</a:t>
            </a:r>
          </a:p>
          <a:p>
            <a:pPr lvl="1"/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An activity diagram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Can be used to understand the flow of work that an object or component performs. 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Can also be used to visualize the interrelation and interaction between different use cases.</a:t>
            </a:r>
            <a:r>
              <a:rPr lang="en-US" altLang="en-US" sz="2000"/>
              <a:t> 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Is most often associated with several classes.</a:t>
            </a:r>
          </a:p>
          <a:p>
            <a:pPr lvl="1"/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One of the strengths of activity diagrams is the representation of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concurrent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activities</a:t>
            </a:r>
            <a:r>
              <a:rPr lang="en-US" altLang="en-U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921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8E80-083F-49A9-A372-6B5189962038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8620"/>
            <a:ext cx="7772400" cy="1143000"/>
          </a:xfrm>
        </p:spPr>
        <p:txBody>
          <a:bodyPr/>
          <a:lstStyle/>
          <a:p>
            <a:r>
              <a:rPr lang="en-US" altLang="en-US" dirty="0"/>
              <a:t>Activity diagrams – an example</a:t>
            </a:r>
          </a:p>
        </p:txBody>
      </p:sp>
      <p:sp>
        <p:nvSpPr>
          <p:cNvPr id="390152" name="AutoShape 8"/>
          <p:cNvSpPr>
            <a:spLocks noChangeArrowheads="1"/>
          </p:cNvSpPr>
          <p:nvPr/>
        </p:nvSpPr>
        <p:spPr bwMode="auto">
          <a:xfrm>
            <a:off x="5187950" y="2590800"/>
            <a:ext cx="1119188" cy="830263"/>
          </a:xfrm>
          <a:prstGeom prst="roundRect">
            <a:avLst>
              <a:gd name="adj" fmla="val 28407"/>
            </a:avLst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390153" name="Rectangle 9"/>
          <p:cNvSpPr>
            <a:spLocks noChangeArrowheads="1"/>
          </p:cNvSpPr>
          <p:nvPr/>
        </p:nvSpPr>
        <p:spPr bwMode="auto">
          <a:xfrm>
            <a:off x="5507038" y="2617788"/>
            <a:ext cx="830262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Verify</a:t>
            </a:r>
            <a:endParaRPr lang="en-CA" altLang="fr-FR"/>
          </a:p>
        </p:txBody>
      </p:sp>
      <p:sp>
        <p:nvSpPr>
          <p:cNvPr id="390154" name="Rectangle 10"/>
          <p:cNvSpPr>
            <a:spLocks noChangeArrowheads="1"/>
          </p:cNvSpPr>
          <p:nvPr/>
        </p:nvSpPr>
        <p:spPr bwMode="auto">
          <a:xfrm>
            <a:off x="5313363" y="2830513"/>
            <a:ext cx="1254125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course not</a:t>
            </a:r>
            <a:endParaRPr lang="en-CA" altLang="fr-FR"/>
          </a:p>
        </p:txBody>
      </p:sp>
      <p:sp>
        <p:nvSpPr>
          <p:cNvPr id="390155" name="Rectangle 11"/>
          <p:cNvSpPr>
            <a:spLocks noChangeArrowheads="1"/>
          </p:cNvSpPr>
          <p:nvPr/>
        </p:nvSpPr>
        <p:spPr bwMode="auto">
          <a:xfrm>
            <a:off x="5641975" y="3043238"/>
            <a:ext cx="366713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full</a:t>
            </a:r>
            <a:endParaRPr lang="en-CA" altLang="fr-FR"/>
          </a:p>
        </p:txBody>
      </p:sp>
      <p:sp>
        <p:nvSpPr>
          <p:cNvPr id="390156" name="AutoShape 12"/>
          <p:cNvSpPr>
            <a:spLocks noChangeArrowheads="1"/>
          </p:cNvSpPr>
          <p:nvPr/>
        </p:nvSpPr>
        <p:spPr bwMode="auto">
          <a:xfrm>
            <a:off x="3797300" y="1219200"/>
            <a:ext cx="2259013" cy="598488"/>
          </a:xfrm>
          <a:prstGeom prst="roundRect">
            <a:avLst>
              <a:gd name="adj" fmla="val 39065"/>
            </a:avLst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390157" name="Rectangle 13"/>
          <p:cNvSpPr>
            <a:spLocks noChangeArrowheads="1"/>
          </p:cNvSpPr>
          <p:nvPr/>
        </p:nvSpPr>
        <p:spPr bwMode="auto">
          <a:xfrm>
            <a:off x="4251325" y="1247775"/>
            <a:ext cx="171767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Receive course</a:t>
            </a:r>
            <a:endParaRPr lang="en-CA" altLang="fr-FR"/>
          </a:p>
        </p:txBody>
      </p:sp>
      <p:sp>
        <p:nvSpPr>
          <p:cNvPr id="390158" name="Rectangle 14"/>
          <p:cNvSpPr>
            <a:spLocks noChangeArrowheads="1"/>
          </p:cNvSpPr>
          <p:nvPr/>
        </p:nvSpPr>
        <p:spPr bwMode="auto">
          <a:xfrm>
            <a:off x="4097338" y="1460500"/>
            <a:ext cx="191135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dirty="0">
                <a:solidFill>
                  <a:srgbClr val="000000"/>
                </a:solidFill>
                <a:latin typeface="Arial" panose="020B0604020202020204" pitchFamily="34" charset="0"/>
              </a:rPr>
              <a:t>registration request</a:t>
            </a:r>
            <a:endParaRPr lang="en-CA" altLang="fr-FR" dirty="0"/>
          </a:p>
        </p:txBody>
      </p:sp>
      <p:sp>
        <p:nvSpPr>
          <p:cNvPr id="390159" name="AutoShape 15"/>
          <p:cNvSpPr>
            <a:spLocks noChangeArrowheads="1"/>
          </p:cNvSpPr>
          <p:nvPr/>
        </p:nvSpPr>
        <p:spPr bwMode="auto">
          <a:xfrm>
            <a:off x="3025775" y="2590800"/>
            <a:ext cx="1544638" cy="579438"/>
          </a:xfrm>
          <a:prstGeom prst="roundRect">
            <a:avLst>
              <a:gd name="adj" fmla="val 40324"/>
            </a:avLst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390160" name="Rectangle 16"/>
          <p:cNvSpPr>
            <a:spLocks noChangeArrowheads="1"/>
          </p:cNvSpPr>
          <p:nvPr/>
        </p:nvSpPr>
        <p:spPr bwMode="auto">
          <a:xfrm>
            <a:off x="3517900" y="2617788"/>
            <a:ext cx="830263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Check</a:t>
            </a:r>
            <a:endParaRPr lang="en-CA" altLang="fr-FR"/>
          </a:p>
        </p:txBody>
      </p:sp>
      <p:sp>
        <p:nvSpPr>
          <p:cNvPr id="390161" name="Rectangle 17"/>
          <p:cNvSpPr>
            <a:spLocks noChangeArrowheads="1"/>
          </p:cNvSpPr>
          <p:nvPr/>
        </p:nvSpPr>
        <p:spPr bwMode="auto">
          <a:xfrm>
            <a:off x="3228975" y="2830513"/>
            <a:ext cx="1312863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prerequisites</a:t>
            </a:r>
            <a:endParaRPr lang="en-CA" altLang="fr-FR"/>
          </a:p>
        </p:txBody>
      </p:sp>
      <p:sp>
        <p:nvSpPr>
          <p:cNvPr id="390162" name="AutoShape 18"/>
          <p:cNvSpPr>
            <a:spLocks noChangeArrowheads="1"/>
          </p:cNvSpPr>
          <p:nvPr/>
        </p:nvSpPr>
        <p:spPr bwMode="auto">
          <a:xfrm>
            <a:off x="2543175" y="3535363"/>
            <a:ext cx="1350963" cy="889000"/>
          </a:xfrm>
          <a:prstGeom prst="roundRect">
            <a:avLst>
              <a:gd name="adj" fmla="val 26597"/>
            </a:avLst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390163" name="Rectangle 19"/>
          <p:cNvSpPr>
            <a:spLocks noChangeArrowheads="1"/>
          </p:cNvSpPr>
          <p:nvPr/>
        </p:nvSpPr>
        <p:spPr bwMode="auto">
          <a:xfrm>
            <a:off x="2938463" y="3603625"/>
            <a:ext cx="830262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Check</a:t>
            </a:r>
            <a:endParaRPr lang="en-CA" altLang="fr-FR"/>
          </a:p>
        </p:txBody>
      </p:sp>
      <p:sp>
        <p:nvSpPr>
          <p:cNvPr id="390164" name="Rectangle 20"/>
          <p:cNvSpPr>
            <a:spLocks noChangeArrowheads="1"/>
          </p:cNvSpPr>
          <p:nvPr/>
        </p:nvSpPr>
        <p:spPr bwMode="auto">
          <a:xfrm>
            <a:off x="2919413" y="3814763"/>
            <a:ext cx="906462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special</a:t>
            </a:r>
            <a:endParaRPr lang="en-CA" altLang="fr-FR"/>
          </a:p>
        </p:txBody>
      </p:sp>
      <p:sp>
        <p:nvSpPr>
          <p:cNvPr id="390165" name="Rectangle 21"/>
          <p:cNvSpPr>
            <a:spLocks noChangeArrowheads="1"/>
          </p:cNvSpPr>
          <p:nvPr/>
        </p:nvSpPr>
        <p:spPr bwMode="auto">
          <a:xfrm>
            <a:off x="2746375" y="4027488"/>
            <a:ext cx="1100138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permission</a:t>
            </a:r>
            <a:endParaRPr lang="en-CA" altLang="fr-FR"/>
          </a:p>
        </p:txBody>
      </p:sp>
      <p:sp>
        <p:nvSpPr>
          <p:cNvPr id="390166" name="AutoShape 22"/>
          <p:cNvSpPr>
            <a:spLocks noChangeArrowheads="1"/>
          </p:cNvSpPr>
          <p:nvPr/>
        </p:nvSpPr>
        <p:spPr bwMode="auto">
          <a:xfrm>
            <a:off x="4164013" y="5195888"/>
            <a:ext cx="1506537" cy="598487"/>
          </a:xfrm>
          <a:prstGeom prst="roundRect">
            <a:avLst>
              <a:gd name="adj" fmla="val 39065"/>
            </a:avLst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390167" name="Rectangle 23"/>
          <p:cNvSpPr>
            <a:spLocks noChangeArrowheads="1"/>
          </p:cNvSpPr>
          <p:nvPr/>
        </p:nvSpPr>
        <p:spPr bwMode="auto">
          <a:xfrm>
            <a:off x="4522788" y="5224463"/>
            <a:ext cx="1100137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Complete</a:t>
            </a:r>
            <a:endParaRPr lang="en-CA" altLang="fr-FR"/>
          </a:p>
        </p:txBody>
      </p:sp>
      <p:sp>
        <p:nvSpPr>
          <p:cNvPr id="390168" name="Rectangle 24"/>
          <p:cNvSpPr>
            <a:spLocks noChangeArrowheads="1"/>
          </p:cNvSpPr>
          <p:nvPr/>
        </p:nvSpPr>
        <p:spPr bwMode="auto">
          <a:xfrm>
            <a:off x="4445000" y="5437188"/>
            <a:ext cx="1138238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registration</a:t>
            </a:r>
            <a:endParaRPr lang="en-CA" altLang="fr-FR"/>
          </a:p>
        </p:txBody>
      </p:sp>
      <p:sp>
        <p:nvSpPr>
          <p:cNvPr id="390169" name="Line 25"/>
          <p:cNvSpPr>
            <a:spLocks noChangeShapeType="1"/>
          </p:cNvSpPr>
          <p:nvPr/>
        </p:nvSpPr>
        <p:spPr bwMode="auto">
          <a:xfrm>
            <a:off x="4175125" y="2193925"/>
            <a:ext cx="1504950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0" name="Line 26"/>
          <p:cNvSpPr>
            <a:spLocks noChangeShapeType="1"/>
          </p:cNvSpPr>
          <p:nvPr/>
        </p:nvSpPr>
        <p:spPr bwMode="auto">
          <a:xfrm>
            <a:off x="4291013" y="2212975"/>
            <a:ext cx="1587" cy="368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1" name="Line 27"/>
          <p:cNvSpPr>
            <a:spLocks noChangeShapeType="1"/>
          </p:cNvSpPr>
          <p:nvPr/>
        </p:nvSpPr>
        <p:spPr bwMode="auto">
          <a:xfrm>
            <a:off x="5486400" y="2212975"/>
            <a:ext cx="1588" cy="3683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2" name="Line 28"/>
          <p:cNvSpPr>
            <a:spLocks noChangeShapeType="1"/>
          </p:cNvSpPr>
          <p:nvPr/>
        </p:nvSpPr>
        <p:spPr bwMode="auto">
          <a:xfrm>
            <a:off x="4116388" y="4800600"/>
            <a:ext cx="1601787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3" name="Line 29"/>
          <p:cNvSpPr>
            <a:spLocks noChangeShapeType="1"/>
          </p:cNvSpPr>
          <p:nvPr/>
        </p:nvSpPr>
        <p:spPr bwMode="auto">
          <a:xfrm>
            <a:off x="4908550" y="1808163"/>
            <a:ext cx="1588" cy="3667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4" name="Line 30"/>
          <p:cNvSpPr>
            <a:spLocks noChangeShapeType="1"/>
          </p:cNvSpPr>
          <p:nvPr/>
        </p:nvSpPr>
        <p:spPr bwMode="auto">
          <a:xfrm>
            <a:off x="4908550" y="4800600"/>
            <a:ext cx="1588" cy="3667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5" name="Line 31"/>
          <p:cNvSpPr>
            <a:spLocks noChangeShapeType="1"/>
          </p:cNvSpPr>
          <p:nvPr/>
        </p:nvSpPr>
        <p:spPr bwMode="auto">
          <a:xfrm>
            <a:off x="5467350" y="3430588"/>
            <a:ext cx="1588" cy="13700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6" name="Line 32"/>
          <p:cNvSpPr>
            <a:spLocks noChangeShapeType="1"/>
          </p:cNvSpPr>
          <p:nvPr/>
        </p:nvSpPr>
        <p:spPr bwMode="auto">
          <a:xfrm flipV="1">
            <a:off x="4348163" y="3159125"/>
            <a:ext cx="1587" cy="16033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7" name="Line 33"/>
          <p:cNvSpPr>
            <a:spLocks noChangeShapeType="1"/>
          </p:cNvSpPr>
          <p:nvPr/>
        </p:nvSpPr>
        <p:spPr bwMode="auto">
          <a:xfrm>
            <a:off x="3402013" y="3159125"/>
            <a:ext cx="1587" cy="3667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8" name="Line 34"/>
          <p:cNvSpPr>
            <a:spLocks noChangeShapeType="1"/>
          </p:cNvSpPr>
          <p:nvPr/>
        </p:nvSpPr>
        <p:spPr bwMode="auto">
          <a:xfrm>
            <a:off x="3884613" y="3873500"/>
            <a:ext cx="4445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79" name="Line 35"/>
          <p:cNvSpPr>
            <a:spLocks noChangeShapeType="1"/>
          </p:cNvSpPr>
          <p:nvPr/>
        </p:nvSpPr>
        <p:spPr bwMode="auto">
          <a:xfrm>
            <a:off x="3402013" y="4414838"/>
            <a:ext cx="1587" cy="3667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180" name="Rectangle 36"/>
          <p:cNvSpPr>
            <a:spLocks noChangeArrowheads="1"/>
          </p:cNvSpPr>
          <p:nvPr/>
        </p:nvSpPr>
        <p:spPr bwMode="auto">
          <a:xfrm>
            <a:off x="3903663" y="3856038"/>
            <a:ext cx="38576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400" i="1">
                <a:solidFill>
                  <a:srgbClr val="000000"/>
                </a:solidFill>
                <a:latin typeface="Arial" panose="020B0604020202020204" pitchFamily="34" charset="0"/>
              </a:rPr>
              <a:t>[ok]</a:t>
            </a:r>
            <a:endParaRPr lang="en-CA" altLang="fr-FR"/>
          </a:p>
        </p:txBody>
      </p:sp>
      <p:sp>
        <p:nvSpPr>
          <p:cNvPr id="390181" name="Rectangle 37"/>
          <p:cNvSpPr>
            <a:spLocks noChangeArrowheads="1"/>
          </p:cNvSpPr>
          <p:nvPr/>
        </p:nvSpPr>
        <p:spPr bwMode="auto">
          <a:xfrm>
            <a:off x="5140325" y="3411538"/>
            <a:ext cx="38576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400" i="1">
                <a:solidFill>
                  <a:srgbClr val="000000"/>
                </a:solidFill>
                <a:latin typeface="Arial" panose="020B0604020202020204" pitchFamily="34" charset="0"/>
              </a:rPr>
              <a:t>[ok]</a:t>
            </a:r>
            <a:endParaRPr lang="en-CA" altLang="fr-FR"/>
          </a:p>
        </p:txBody>
      </p:sp>
      <p:sp>
        <p:nvSpPr>
          <p:cNvPr id="390182" name="Rectangle 38"/>
          <p:cNvSpPr>
            <a:spLocks noChangeArrowheads="1"/>
          </p:cNvSpPr>
          <p:nvPr/>
        </p:nvSpPr>
        <p:spPr bwMode="auto">
          <a:xfrm>
            <a:off x="4019550" y="3160713"/>
            <a:ext cx="38576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400" i="1">
                <a:solidFill>
                  <a:srgbClr val="000000"/>
                </a:solidFill>
                <a:latin typeface="Arial" panose="020B0604020202020204" pitchFamily="34" charset="0"/>
              </a:rPr>
              <a:t>[ok]</a:t>
            </a:r>
            <a:endParaRPr lang="en-CA" altLang="fr-FR"/>
          </a:p>
        </p:txBody>
      </p:sp>
      <p:sp>
        <p:nvSpPr>
          <p:cNvPr id="390183" name="Rectangle 39"/>
          <p:cNvSpPr>
            <a:spLocks noChangeArrowheads="1"/>
          </p:cNvSpPr>
          <p:nvPr/>
        </p:nvSpPr>
        <p:spPr bwMode="auto">
          <a:xfrm>
            <a:off x="2803525" y="3160713"/>
            <a:ext cx="695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400" i="1">
                <a:solidFill>
                  <a:srgbClr val="000000"/>
                </a:solidFill>
                <a:latin typeface="Arial" panose="020B0604020202020204" pitchFamily="34" charset="0"/>
              </a:rPr>
              <a:t>[not ok]</a:t>
            </a:r>
            <a:endParaRPr lang="en-CA" altLang="fr-FR"/>
          </a:p>
        </p:txBody>
      </p:sp>
      <p:sp>
        <p:nvSpPr>
          <p:cNvPr id="390184" name="Rectangle 40"/>
          <p:cNvSpPr>
            <a:spLocks noChangeArrowheads="1"/>
          </p:cNvSpPr>
          <p:nvPr/>
        </p:nvSpPr>
        <p:spPr bwMode="auto">
          <a:xfrm>
            <a:off x="2784475" y="4395788"/>
            <a:ext cx="695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400" i="1">
                <a:solidFill>
                  <a:srgbClr val="000000"/>
                </a:solidFill>
                <a:latin typeface="Arial" panose="020B0604020202020204" pitchFamily="34" charset="0"/>
              </a:rPr>
              <a:t>[not ok]</a:t>
            </a:r>
            <a:endParaRPr lang="en-CA" altLang="fr-FR"/>
          </a:p>
        </p:txBody>
      </p:sp>
      <p:sp>
        <p:nvSpPr>
          <p:cNvPr id="390185" name="Line 41"/>
          <p:cNvSpPr>
            <a:spLocks noChangeShapeType="1"/>
          </p:cNvSpPr>
          <p:nvPr/>
        </p:nvSpPr>
        <p:spPr bwMode="auto">
          <a:xfrm>
            <a:off x="3151188" y="1460500"/>
            <a:ext cx="61753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390188" name="Group 44"/>
          <p:cNvGrpSpPr>
            <a:grpSpLocks/>
          </p:cNvGrpSpPr>
          <p:nvPr/>
        </p:nvGrpSpPr>
        <p:grpSpPr bwMode="auto">
          <a:xfrm>
            <a:off x="3344863" y="4684713"/>
            <a:ext cx="134937" cy="77787"/>
            <a:chOff x="2107" y="2951"/>
            <a:chExt cx="85" cy="49"/>
          </a:xfrm>
        </p:grpSpPr>
        <p:sp>
          <p:nvSpPr>
            <p:cNvPr id="390186" name="Line 42"/>
            <p:cNvSpPr>
              <a:spLocks noChangeShapeType="1"/>
            </p:cNvSpPr>
            <p:nvPr/>
          </p:nvSpPr>
          <p:spPr bwMode="auto">
            <a:xfrm>
              <a:off x="2107" y="2951"/>
              <a:ext cx="36" cy="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187" name="Line 43"/>
            <p:cNvSpPr>
              <a:spLocks noChangeShapeType="1"/>
            </p:cNvSpPr>
            <p:nvPr/>
          </p:nvSpPr>
          <p:spPr bwMode="auto">
            <a:xfrm flipH="1">
              <a:off x="2143" y="2951"/>
              <a:ext cx="49" cy="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90189" name="Oval 45"/>
          <p:cNvSpPr>
            <a:spLocks noChangeArrowheads="1"/>
          </p:cNvSpPr>
          <p:nvPr/>
        </p:nvSpPr>
        <p:spPr bwMode="auto">
          <a:xfrm>
            <a:off x="2900363" y="1344613"/>
            <a:ext cx="250825" cy="2508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390192" name="Group 48"/>
          <p:cNvGrpSpPr>
            <a:grpSpLocks/>
          </p:cNvGrpSpPr>
          <p:nvPr/>
        </p:nvGrpSpPr>
        <p:grpSpPr bwMode="auto">
          <a:xfrm>
            <a:off x="4849813" y="2078038"/>
            <a:ext cx="134937" cy="77787"/>
            <a:chOff x="3055" y="1309"/>
            <a:chExt cx="85" cy="49"/>
          </a:xfrm>
        </p:grpSpPr>
        <p:sp>
          <p:nvSpPr>
            <p:cNvPr id="390190" name="Line 46"/>
            <p:cNvSpPr>
              <a:spLocks noChangeShapeType="1"/>
            </p:cNvSpPr>
            <p:nvPr/>
          </p:nvSpPr>
          <p:spPr bwMode="auto">
            <a:xfrm>
              <a:off x="3055" y="1309"/>
              <a:ext cx="37" cy="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191" name="Line 47"/>
            <p:cNvSpPr>
              <a:spLocks noChangeShapeType="1"/>
            </p:cNvSpPr>
            <p:nvPr/>
          </p:nvSpPr>
          <p:spPr bwMode="auto">
            <a:xfrm flipH="1">
              <a:off x="3092" y="1309"/>
              <a:ext cx="48" cy="4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195" name="Group 51"/>
          <p:cNvGrpSpPr>
            <a:grpSpLocks/>
          </p:cNvGrpSpPr>
          <p:nvPr/>
        </p:nvGrpSpPr>
        <p:grpSpPr bwMode="auto">
          <a:xfrm>
            <a:off x="4232275" y="2484438"/>
            <a:ext cx="134938" cy="57150"/>
            <a:chOff x="2666" y="1565"/>
            <a:chExt cx="85" cy="36"/>
          </a:xfrm>
        </p:grpSpPr>
        <p:sp>
          <p:nvSpPr>
            <p:cNvPr id="390193" name="Line 49"/>
            <p:cNvSpPr>
              <a:spLocks noChangeShapeType="1"/>
            </p:cNvSpPr>
            <p:nvPr/>
          </p:nvSpPr>
          <p:spPr bwMode="auto">
            <a:xfrm>
              <a:off x="2666" y="1565"/>
              <a:ext cx="37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194" name="Line 50"/>
            <p:cNvSpPr>
              <a:spLocks noChangeShapeType="1"/>
            </p:cNvSpPr>
            <p:nvPr/>
          </p:nvSpPr>
          <p:spPr bwMode="auto">
            <a:xfrm flipH="1">
              <a:off x="2703" y="1565"/>
              <a:ext cx="48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198" name="Group 54"/>
          <p:cNvGrpSpPr>
            <a:grpSpLocks/>
          </p:cNvGrpSpPr>
          <p:nvPr/>
        </p:nvGrpSpPr>
        <p:grpSpPr bwMode="auto">
          <a:xfrm>
            <a:off x="5429250" y="2484438"/>
            <a:ext cx="134938" cy="57150"/>
            <a:chOff x="3420" y="1565"/>
            <a:chExt cx="85" cy="36"/>
          </a:xfrm>
        </p:grpSpPr>
        <p:sp>
          <p:nvSpPr>
            <p:cNvPr id="390196" name="Line 52"/>
            <p:cNvSpPr>
              <a:spLocks noChangeShapeType="1"/>
            </p:cNvSpPr>
            <p:nvPr/>
          </p:nvSpPr>
          <p:spPr bwMode="auto">
            <a:xfrm>
              <a:off x="3420" y="1565"/>
              <a:ext cx="36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197" name="Line 53"/>
            <p:cNvSpPr>
              <a:spLocks noChangeShapeType="1"/>
            </p:cNvSpPr>
            <p:nvPr/>
          </p:nvSpPr>
          <p:spPr bwMode="auto">
            <a:xfrm flipH="1">
              <a:off x="3456" y="1565"/>
              <a:ext cx="49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01" name="Group 57"/>
          <p:cNvGrpSpPr>
            <a:grpSpLocks/>
          </p:cNvGrpSpPr>
          <p:nvPr/>
        </p:nvGrpSpPr>
        <p:grpSpPr bwMode="auto">
          <a:xfrm>
            <a:off x="3692525" y="1384300"/>
            <a:ext cx="76200" cy="134938"/>
            <a:chOff x="2326" y="872"/>
            <a:chExt cx="48" cy="85"/>
          </a:xfrm>
        </p:grpSpPr>
        <p:sp>
          <p:nvSpPr>
            <p:cNvPr id="390199" name="Line 55"/>
            <p:cNvSpPr>
              <a:spLocks noChangeShapeType="1"/>
            </p:cNvSpPr>
            <p:nvPr/>
          </p:nvSpPr>
          <p:spPr bwMode="auto">
            <a:xfrm flipV="1">
              <a:off x="2326" y="920"/>
              <a:ext cx="48" cy="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00" name="Line 56"/>
            <p:cNvSpPr>
              <a:spLocks noChangeShapeType="1"/>
            </p:cNvSpPr>
            <p:nvPr/>
          </p:nvSpPr>
          <p:spPr bwMode="auto">
            <a:xfrm>
              <a:off x="2326" y="872"/>
              <a:ext cx="48" cy="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04" name="Group 60"/>
          <p:cNvGrpSpPr>
            <a:grpSpLocks/>
          </p:cNvGrpSpPr>
          <p:nvPr/>
        </p:nvGrpSpPr>
        <p:grpSpPr bwMode="auto">
          <a:xfrm>
            <a:off x="4270375" y="4703763"/>
            <a:ext cx="136525" cy="58737"/>
            <a:chOff x="2690" y="2963"/>
            <a:chExt cx="86" cy="37"/>
          </a:xfrm>
        </p:grpSpPr>
        <p:sp>
          <p:nvSpPr>
            <p:cNvPr id="390202" name="Line 58"/>
            <p:cNvSpPr>
              <a:spLocks noChangeShapeType="1"/>
            </p:cNvSpPr>
            <p:nvPr/>
          </p:nvSpPr>
          <p:spPr bwMode="auto">
            <a:xfrm>
              <a:off x="2690" y="2963"/>
              <a:ext cx="37" cy="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03" name="Line 59"/>
            <p:cNvSpPr>
              <a:spLocks noChangeShapeType="1"/>
            </p:cNvSpPr>
            <p:nvPr/>
          </p:nvSpPr>
          <p:spPr bwMode="auto">
            <a:xfrm flipH="1">
              <a:off x="2727" y="2963"/>
              <a:ext cx="49" cy="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07" name="Group 63"/>
          <p:cNvGrpSpPr>
            <a:grpSpLocks/>
          </p:cNvGrpSpPr>
          <p:nvPr/>
        </p:nvGrpSpPr>
        <p:grpSpPr bwMode="auto">
          <a:xfrm>
            <a:off x="5391150" y="4703763"/>
            <a:ext cx="134938" cy="58737"/>
            <a:chOff x="3396" y="2963"/>
            <a:chExt cx="85" cy="37"/>
          </a:xfrm>
        </p:grpSpPr>
        <p:sp>
          <p:nvSpPr>
            <p:cNvPr id="390205" name="Line 61"/>
            <p:cNvSpPr>
              <a:spLocks noChangeShapeType="1"/>
            </p:cNvSpPr>
            <p:nvPr/>
          </p:nvSpPr>
          <p:spPr bwMode="auto">
            <a:xfrm>
              <a:off x="3396" y="2963"/>
              <a:ext cx="36" cy="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06" name="Line 62"/>
            <p:cNvSpPr>
              <a:spLocks noChangeShapeType="1"/>
            </p:cNvSpPr>
            <p:nvPr/>
          </p:nvSpPr>
          <p:spPr bwMode="auto">
            <a:xfrm flipH="1">
              <a:off x="3432" y="2963"/>
              <a:ext cx="49" cy="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10" name="Group 66"/>
          <p:cNvGrpSpPr>
            <a:grpSpLocks/>
          </p:cNvGrpSpPr>
          <p:nvPr/>
        </p:nvGrpSpPr>
        <p:grpSpPr bwMode="auto">
          <a:xfrm>
            <a:off x="4849813" y="5089525"/>
            <a:ext cx="134937" cy="58738"/>
            <a:chOff x="3055" y="3206"/>
            <a:chExt cx="85" cy="37"/>
          </a:xfrm>
        </p:grpSpPr>
        <p:sp>
          <p:nvSpPr>
            <p:cNvPr id="390208" name="Line 64"/>
            <p:cNvSpPr>
              <a:spLocks noChangeShapeType="1"/>
            </p:cNvSpPr>
            <p:nvPr/>
          </p:nvSpPr>
          <p:spPr bwMode="auto">
            <a:xfrm>
              <a:off x="3055" y="3206"/>
              <a:ext cx="37" cy="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09" name="Line 65"/>
            <p:cNvSpPr>
              <a:spLocks noChangeShapeType="1"/>
            </p:cNvSpPr>
            <p:nvPr/>
          </p:nvSpPr>
          <p:spPr bwMode="auto">
            <a:xfrm flipH="1">
              <a:off x="3092" y="3206"/>
              <a:ext cx="48" cy="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13" name="Group 69"/>
          <p:cNvGrpSpPr>
            <a:grpSpLocks/>
          </p:cNvGrpSpPr>
          <p:nvPr/>
        </p:nvGrpSpPr>
        <p:grpSpPr bwMode="auto">
          <a:xfrm>
            <a:off x="3344863" y="3449638"/>
            <a:ext cx="134937" cy="57150"/>
            <a:chOff x="2107" y="2173"/>
            <a:chExt cx="85" cy="36"/>
          </a:xfrm>
        </p:grpSpPr>
        <p:sp>
          <p:nvSpPr>
            <p:cNvPr id="390211" name="Line 67"/>
            <p:cNvSpPr>
              <a:spLocks noChangeShapeType="1"/>
            </p:cNvSpPr>
            <p:nvPr/>
          </p:nvSpPr>
          <p:spPr bwMode="auto">
            <a:xfrm>
              <a:off x="2107" y="2173"/>
              <a:ext cx="36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12" name="Line 68"/>
            <p:cNvSpPr>
              <a:spLocks noChangeShapeType="1"/>
            </p:cNvSpPr>
            <p:nvPr/>
          </p:nvSpPr>
          <p:spPr bwMode="auto">
            <a:xfrm flipH="1">
              <a:off x="2143" y="2173"/>
              <a:ext cx="49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16" name="Group 72"/>
          <p:cNvGrpSpPr>
            <a:grpSpLocks/>
          </p:cNvGrpSpPr>
          <p:nvPr/>
        </p:nvGrpSpPr>
        <p:grpSpPr bwMode="auto">
          <a:xfrm>
            <a:off x="3276600" y="4791075"/>
            <a:ext cx="250825" cy="250825"/>
            <a:chOff x="2064" y="3018"/>
            <a:chExt cx="158" cy="158"/>
          </a:xfrm>
        </p:grpSpPr>
        <p:sp>
          <p:nvSpPr>
            <p:cNvPr id="390214" name="Oval 70"/>
            <p:cNvSpPr>
              <a:spLocks noChangeArrowheads="1"/>
            </p:cNvSpPr>
            <p:nvPr/>
          </p:nvSpPr>
          <p:spPr bwMode="auto">
            <a:xfrm>
              <a:off x="2064" y="3018"/>
              <a:ext cx="158" cy="15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15" name="Oval 71"/>
            <p:cNvSpPr>
              <a:spLocks noChangeArrowheads="1"/>
            </p:cNvSpPr>
            <p:nvPr/>
          </p:nvSpPr>
          <p:spPr bwMode="auto">
            <a:xfrm>
              <a:off x="2095" y="3036"/>
              <a:ext cx="109" cy="11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19" name="Group 75"/>
          <p:cNvGrpSpPr>
            <a:grpSpLocks/>
          </p:cNvGrpSpPr>
          <p:nvPr/>
        </p:nvGrpSpPr>
        <p:grpSpPr bwMode="auto">
          <a:xfrm>
            <a:off x="4802188" y="5969000"/>
            <a:ext cx="250825" cy="269875"/>
            <a:chOff x="3025" y="3760"/>
            <a:chExt cx="158" cy="170"/>
          </a:xfrm>
        </p:grpSpPr>
        <p:sp>
          <p:nvSpPr>
            <p:cNvPr id="390217" name="Oval 73"/>
            <p:cNvSpPr>
              <a:spLocks noChangeArrowheads="1"/>
            </p:cNvSpPr>
            <p:nvPr/>
          </p:nvSpPr>
          <p:spPr bwMode="auto">
            <a:xfrm>
              <a:off x="3025" y="3760"/>
              <a:ext cx="158" cy="17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18" name="Oval 74"/>
            <p:cNvSpPr>
              <a:spLocks noChangeArrowheads="1"/>
            </p:cNvSpPr>
            <p:nvPr/>
          </p:nvSpPr>
          <p:spPr bwMode="auto">
            <a:xfrm>
              <a:off x="3043" y="3790"/>
              <a:ext cx="109" cy="11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22" name="Group 78"/>
          <p:cNvGrpSpPr>
            <a:grpSpLocks/>
          </p:cNvGrpSpPr>
          <p:nvPr/>
        </p:nvGrpSpPr>
        <p:grpSpPr bwMode="auto">
          <a:xfrm>
            <a:off x="4849813" y="5881688"/>
            <a:ext cx="134937" cy="57150"/>
            <a:chOff x="3055" y="3705"/>
            <a:chExt cx="85" cy="36"/>
          </a:xfrm>
        </p:grpSpPr>
        <p:sp>
          <p:nvSpPr>
            <p:cNvPr id="390220" name="Line 76"/>
            <p:cNvSpPr>
              <a:spLocks noChangeShapeType="1"/>
            </p:cNvSpPr>
            <p:nvPr/>
          </p:nvSpPr>
          <p:spPr bwMode="auto">
            <a:xfrm>
              <a:off x="3055" y="3705"/>
              <a:ext cx="37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21" name="Line 77"/>
            <p:cNvSpPr>
              <a:spLocks noChangeShapeType="1"/>
            </p:cNvSpPr>
            <p:nvPr/>
          </p:nvSpPr>
          <p:spPr bwMode="auto">
            <a:xfrm flipH="1">
              <a:off x="3092" y="3705"/>
              <a:ext cx="48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390223" name="Line 79"/>
          <p:cNvSpPr>
            <a:spLocks noChangeShapeType="1"/>
          </p:cNvSpPr>
          <p:nvPr/>
        </p:nvSpPr>
        <p:spPr bwMode="auto">
          <a:xfrm flipV="1">
            <a:off x="4908550" y="5784850"/>
            <a:ext cx="1588" cy="1539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224" name="Line 80"/>
          <p:cNvSpPr>
            <a:spLocks noChangeShapeType="1"/>
          </p:cNvSpPr>
          <p:nvPr/>
        </p:nvSpPr>
        <p:spPr bwMode="auto">
          <a:xfrm>
            <a:off x="5892800" y="3430588"/>
            <a:ext cx="1588" cy="3667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390225" name="Rectangle 81"/>
          <p:cNvSpPr>
            <a:spLocks noChangeArrowheads="1"/>
          </p:cNvSpPr>
          <p:nvPr/>
        </p:nvSpPr>
        <p:spPr bwMode="auto">
          <a:xfrm>
            <a:off x="5930900" y="3411538"/>
            <a:ext cx="6953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400" i="1">
                <a:solidFill>
                  <a:srgbClr val="000000"/>
                </a:solidFill>
                <a:latin typeface="Arial" panose="020B0604020202020204" pitchFamily="34" charset="0"/>
              </a:rPr>
              <a:t>[not ok]</a:t>
            </a:r>
            <a:endParaRPr lang="en-CA" altLang="fr-FR"/>
          </a:p>
        </p:txBody>
      </p:sp>
      <p:grpSp>
        <p:nvGrpSpPr>
          <p:cNvPr id="390228" name="Group 84"/>
          <p:cNvGrpSpPr>
            <a:grpSpLocks/>
          </p:cNvGrpSpPr>
          <p:nvPr/>
        </p:nvGrpSpPr>
        <p:grpSpPr bwMode="auto">
          <a:xfrm>
            <a:off x="5834063" y="3719513"/>
            <a:ext cx="134937" cy="57150"/>
            <a:chOff x="3675" y="2343"/>
            <a:chExt cx="85" cy="36"/>
          </a:xfrm>
        </p:grpSpPr>
        <p:sp>
          <p:nvSpPr>
            <p:cNvPr id="390226" name="Line 82"/>
            <p:cNvSpPr>
              <a:spLocks noChangeShapeType="1"/>
            </p:cNvSpPr>
            <p:nvPr/>
          </p:nvSpPr>
          <p:spPr bwMode="auto">
            <a:xfrm>
              <a:off x="3675" y="2343"/>
              <a:ext cx="37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27" name="Line 83"/>
            <p:cNvSpPr>
              <a:spLocks noChangeShapeType="1"/>
            </p:cNvSpPr>
            <p:nvPr/>
          </p:nvSpPr>
          <p:spPr bwMode="auto">
            <a:xfrm flipH="1">
              <a:off x="3712" y="2343"/>
              <a:ext cx="48" cy="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390231" name="Group 87"/>
          <p:cNvGrpSpPr>
            <a:grpSpLocks/>
          </p:cNvGrpSpPr>
          <p:nvPr/>
        </p:nvGrpSpPr>
        <p:grpSpPr bwMode="auto">
          <a:xfrm>
            <a:off x="5767388" y="3806825"/>
            <a:ext cx="250825" cy="250825"/>
            <a:chOff x="3633" y="2398"/>
            <a:chExt cx="158" cy="158"/>
          </a:xfrm>
        </p:grpSpPr>
        <p:sp>
          <p:nvSpPr>
            <p:cNvPr id="390229" name="Oval 85"/>
            <p:cNvSpPr>
              <a:spLocks noChangeArrowheads="1"/>
            </p:cNvSpPr>
            <p:nvPr/>
          </p:nvSpPr>
          <p:spPr bwMode="auto">
            <a:xfrm>
              <a:off x="3633" y="2398"/>
              <a:ext cx="158" cy="158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390230" name="Oval 86"/>
            <p:cNvSpPr>
              <a:spLocks noChangeArrowheads="1"/>
            </p:cNvSpPr>
            <p:nvPr/>
          </p:nvSpPr>
          <p:spPr bwMode="auto">
            <a:xfrm>
              <a:off x="3663" y="2428"/>
              <a:ext cx="110" cy="11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431422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F553F-5003-43DA-BC80-6FAA2ECD4AC1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Representing 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concurrency</a:t>
            </a:r>
            <a:endParaRPr lang="en-US" altLang="en-US"/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Concurrency is shown using forks, joins and rendezvous. </a:t>
            </a:r>
          </a:p>
          <a:p>
            <a:pPr lvl="2"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fork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has one incoming transition and multiple outgoing transitions. </a:t>
            </a:r>
          </a:p>
          <a:p>
            <a:pPr lvl="3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execution splits into two concurrent threads.</a:t>
            </a:r>
          </a:p>
          <a:p>
            <a:pPr lvl="2" algn="just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rendezvous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has multiple incoming and multiple outgoing transitions.</a:t>
            </a:r>
          </a:p>
          <a:p>
            <a:pPr lvl="3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Once all the incoming transitions occur  all the outgoing transitions may occur.</a:t>
            </a:r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6994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40FD9-3F48-4B96-981A-76CE9B165486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259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/>
              <a:t>Representing 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concurrency</a:t>
            </a:r>
            <a:endParaRPr lang="en-US" altLang="en-US"/>
          </a:p>
        </p:txBody>
      </p:sp>
      <p:sp>
        <p:nvSpPr>
          <p:cNvPr id="42598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join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has </a:t>
            </a:r>
            <a:r>
              <a:rPr lang="en-GB" altLang="en-US" u="sng">
                <a:ea typeface="Times" panose="02020603050405020304" pitchFamily="18" charset="0"/>
                <a:cs typeface="Times" panose="02020603050405020304" pitchFamily="18" charset="0"/>
              </a:rPr>
              <a:t>multiple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incoming transitions and </a:t>
            </a:r>
            <a:r>
              <a:rPr lang="en-GB" altLang="en-US" u="sng">
                <a:ea typeface="Times" panose="02020603050405020304" pitchFamily="18" charset="0"/>
                <a:cs typeface="Times" panose="02020603050405020304" pitchFamily="18" charset="0"/>
              </a:rPr>
              <a:t>one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outgoing transition. </a:t>
            </a:r>
          </a:p>
          <a:p>
            <a:pPr lvl="3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outgoing transition will be taken when all incoming transitions have occurred.  </a:t>
            </a:r>
          </a:p>
          <a:p>
            <a:pPr lvl="3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incoming transitions must be triggered in separate threads. </a:t>
            </a:r>
          </a:p>
          <a:p>
            <a:pPr lvl="3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If one incoming transition occurs, a wait condition occurs at the join until the other transitions occur.</a:t>
            </a:r>
          </a:p>
          <a:p>
            <a:pPr algn="just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2176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FB19D-A47D-44F8-A6D0-46CE5E52C381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Swimlanes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Activity diagrams are most often associated with several classes.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partition of activities among the existing classes can be explicitly shown using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swimlanes</a:t>
            </a:r>
            <a:r>
              <a:rPr lang="en-US" alt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5580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F369F-FD26-4970-9E05-E0D439E6FFF5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173621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Activity diagrams – an example with </a:t>
            </a:r>
            <a:r>
              <a:rPr lang="en-US" altLang="en-US" dirty="0" err="1"/>
              <a:t>swimlanes</a:t>
            </a:r>
            <a:endParaRPr lang="en-US" altLang="en-US" dirty="0"/>
          </a:p>
        </p:txBody>
      </p:sp>
      <p:sp>
        <p:nvSpPr>
          <p:cNvPr id="428037" name="AutoShape 5"/>
          <p:cNvSpPr>
            <a:spLocks noChangeArrowheads="1"/>
          </p:cNvSpPr>
          <p:nvPr/>
        </p:nvSpPr>
        <p:spPr bwMode="auto">
          <a:xfrm>
            <a:off x="5262563" y="2938463"/>
            <a:ext cx="973137" cy="722312"/>
          </a:xfrm>
          <a:prstGeom prst="roundRect">
            <a:avLst>
              <a:gd name="adj" fmla="val 28407"/>
            </a:avLst>
          </a:prstGeom>
          <a:solidFill>
            <a:srgbClr val="FFFFFF"/>
          </a:solidFill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28038" name="Rectangle 6"/>
          <p:cNvSpPr>
            <a:spLocks noChangeArrowheads="1"/>
          </p:cNvSpPr>
          <p:nvPr/>
        </p:nvSpPr>
        <p:spPr bwMode="auto">
          <a:xfrm>
            <a:off x="5538788" y="2963863"/>
            <a:ext cx="7207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Verify</a:t>
            </a:r>
            <a:endParaRPr lang="en-CA" altLang="fr-FR"/>
          </a:p>
        </p:txBody>
      </p:sp>
      <p:sp>
        <p:nvSpPr>
          <p:cNvPr id="428039" name="Rectangle 7"/>
          <p:cNvSpPr>
            <a:spLocks noChangeArrowheads="1"/>
          </p:cNvSpPr>
          <p:nvPr/>
        </p:nvSpPr>
        <p:spPr bwMode="auto">
          <a:xfrm>
            <a:off x="5372100" y="3148013"/>
            <a:ext cx="1089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course not</a:t>
            </a:r>
            <a:endParaRPr lang="en-CA" altLang="fr-FR"/>
          </a:p>
        </p:txBody>
      </p:sp>
      <p:sp>
        <p:nvSpPr>
          <p:cNvPr id="428040" name="Rectangle 8"/>
          <p:cNvSpPr>
            <a:spLocks noChangeArrowheads="1"/>
          </p:cNvSpPr>
          <p:nvPr/>
        </p:nvSpPr>
        <p:spPr bwMode="auto">
          <a:xfrm>
            <a:off x="5656263" y="3333750"/>
            <a:ext cx="317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full</a:t>
            </a:r>
            <a:endParaRPr lang="en-CA" altLang="fr-FR"/>
          </a:p>
        </p:txBody>
      </p:sp>
      <p:sp>
        <p:nvSpPr>
          <p:cNvPr id="428041" name="AutoShape 9"/>
          <p:cNvSpPr>
            <a:spLocks noChangeArrowheads="1"/>
          </p:cNvSpPr>
          <p:nvPr/>
        </p:nvSpPr>
        <p:spPr bwMode="auto">
          <a:xfrm>
            <a:off x="5129213" y="1744663"/>
            <a:ext cx="1708150" cy="522287"/>
          </a:xfrm>
          <a:prstGeom prst="roundRect">
            <a:avLst>
              <a:gd name="adj" fmla="val 39065"/>
            </a:avLst>
          </a:prstGeom>
          <a:solidFill>
            <a:srgbClr val="FFFFFF"/>
          </a:solidFill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28042" name="Rectangle 10"/>
          <p:cNvSpPr>
            <a:spLocks noChangeArrowheads="1"/>
          </p:cNvSpPr>
          <p:nvPr/>
        </p:nvSpPr>
        <p:spPr bwMode="auto">
          <a:xfrm>
            <a:off x="5389563" y="1770063"/>
            <a:ext cx="14906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Receive course</a:t>
            </a:r>
            <a:endParaRPr lang="en-CA" altLang="fr-FR"/>
          </a:p>
        </p:txBody>
      </p:sp>
      <p:sp>
        <p:nvSpPr>
          <p:cNvPr id="428043" name="Rectangle 11"/>
          <p:cNvSpPr>
            <a:spLocks noChangeArrowheads="1"/>
          </p:cNvSpPr>
          <p:nvPr/>
        </p:nvSpPr>
        <p:spPr bwMode="auto">
          <a:xfrm>
            <a:off x="5254625" y="1955800"/>
            <a:ext cx="16573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registration request</a:t>
            </a:r>
            <a:endParaRPr lang="en-CA" altLang="fr-FR"/>
          </a:p>
        </p:txBody>
      </p:sp>
      <p:sp>
        <p:nvSpPr>
          <p:cNvPr id="428044" name="AutoShape 12"/>
          <p:cNvSpPr>
            <a:spLocks noChangeArrowheads="1"/>
          </p:cNvSpPr>
          <p:nvPr/>
        </p:nvSpPr>
        <p:spPr bwMode="auto">
          <a:xfrm>
            <a:off x="3387725" y="2938463"/>
            <a:ext cx="1339850" cy="504825"/>
          </a:xfrm>
          <a:prstGeom prst="roundRect">
            <a:avLst>
              <a:gd name="adj" fmla="val 40324"/>
            </a:avLst>
          </a:prstGeom>
          <a:solidFill>
            <a:srgbClr val="FFFFFF"/>
          </a:solidFill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28045" name="Rectangle 13"/>
          <p:cNvSpPr>
            <a:spLocks noChangeArrowheads="1"/>
          </p:cNvSpPr>
          <p:nvPr/>
        </p:nvSpPr>
        <p:spPr bwMode="auto">
          <a:xfrm>
            <a:off x="3814763" y="2963863"/>
            <a:ext cx="7207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Check</a:t>
            </a:r>
            <a:endParaRPr lang="en-CA" altLang="fr-FR"/>
          </a:p>
        </p:txBody>
      </p:sp>
      <p:sp>
        <p:nvSpPr>
          <p:cNvPr id="428046" name="Rectangle 14"/>
          <p:cNvSpPr>
            <a:spLocks noChangeArrowheads="1"/>
          </p:cNvSpPr>
          <p:nvPr/>
        </p:nvSpPr>
        <p:spPr bwMode="auto">
          <a:xfrm>
            <a:off x="3563938" y="3148013"/>
            <a:ext cx="113823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prerequisites</a:t>
            </a:r>
            <a:endParaRPr lang="en-CA" altLang="fr-FR"/>
          </a:p>
        </p:txBody>
      </p:sp>
      <p:sp>
        <p:nvSpPr>
          <p:cNvPr id="428047" name="AutoShape 15"/>
          <p:cNvSpPr>
            <a:spLocks noChangeArrowheads="1"/>
          </p:cNvSpPr>
          <p:nvPr/>
        </p:nvSpPr>
        <p:spPr bwMode="auto">
          <a:xfrm>
            <a:off x="2968625" y="3760788"/>
            <a:ext cx="1173163" cy="774700"/>
          </a:xfrm>
          <a:prstGeom prst="roundRect">
            <a:avLst>
              <a:gd name="adj" fmla="val 26597"/>
            </a:avLst>
          </a:prstGeom>
          <a:solidFill>
            <a:srgbClr val="FFFFFF"/>
          </a:solidFill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28048" name="Rectangle 16"/>
          <p:cNvSpPr>
            <a:spLocks noChangeArrowheads="1"/>
          </p:cNvSpPr>
          <p:nvPr/>
        </p:nvSpPr>
        <p:spPr bwMode="auto">
          <a:xfrm>
            <a:off x="3313113" y="3819525"/>
            <a:ext cx="7207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Check</a:t>
            </a:r>
            <a:endParaRPr lang="en-CA" altLang="fr-FR"/>
          </a:p>
        </p:txBody>
      </p:sp>
      <p:sp>
        <p:nvSpPr>
          <p:cNvPr id="428049" name="Rectangle 17"/>
          <p:cNvSpPr>
            <a:spLocks noChangeArrowheads="1"/>
          </p:cNvSpPr>
          <p:nvPr/>
        </p:nvSpPr>
        <p:spPr bwMode="auto">
          <a:xfrm>
            <a:off x="3295650" y="4005263"/>
            <a:ext cx="787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special</a:t>
            </a:r>
            <a:endParaRPr lang="en-CA" altLang="fr-FR"/>
          </a:p>
        </p:txBody>
      </p:sp>
      <p:sp>
        <p:nvSpPr>
          <p:cNvPr id="428050" name="Rectangle 18"/>
          <p:cNvSpPr>
            <a:spLocks noChangeArrowheads="1"/>
          </p:cNvSpPr>
          <p:nvPr/>
        </p:nvSpPr>
        <p:spPr bwMode="auto">
          <a:xfrm>
            <a:off x="3144838" y="4189413"/>
            <a:ext cx="9540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permission</a:t>
            </a:r>
            <a:endParaRPr lang="en-CA" altLang="fr-FR"/>
          </a:p>
        </p:txBody>
      </p:sp>
      <p:sp>
        <p:nvSpPr>
          <p:cNvPr id="428051" name="AutoShape 19"/>
          <p:cNvSpPr>
            <a:spLocks noChangeArrowheads="1"/>
          </p:cNvSpPr>
          <p:nvPr/>
        </p:nvSpPr>
        <p:spPr bwMode="auto">
          <a:xfrm>
            <a:off x="5213350" y="5205413"/>
            <a:ext cx="1306513" cy="522287"/>
          </a:xfrm>
          <a:prstGeom prst="roundRect">
            <a:avLst>
              <a:gd name="adj" fmla="val 39065"/>
            </a:avLst>
          </a:prstGeom>
          <a:solidFill>
            <a:srgbClr val="FFFFFF"/>
          </a:solidFill>
          <a:ln w="17463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28052" name="Rectangle 20"/>
          <p:cNvSpPr>
            <a:spLocks noChangeArrowheads="1"/>
          </p:cNvSpPr>
          <p:nvPr/>
        </p:nvSpPr>
        <p:spPr bwMode="auto">
          <a:xfrm>
            <a:off x="5522913" y="5230813"/>
            <a:ext cx="9540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Complete</a:t>
            </a:r>
            <a:endParaRPr lang="en-CA" altLang="fr-FR"/>
          </a:p>
        </p:txBody>
      </p:sp>
      <p:sp>
        <p:nvSpPr>
          <p:cNvPr id="428053" name="Rectangle 21"/>
          <p:cNvSpPr>
            <a:spLocks noChangeArrowheads="1"/>
          </p:cNvSpPr>
          <p:nvPr/>
        </p:nvSpPr>
        <p:spPr bwMode="auto">
          <a:xfrm>
            <a:off x="5456238" y="5416550"/>
            <a:ext cx="987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registration</a:t>
            </a:r>
            <a:endParaRPr lang="en-CA" altLang="fr-FR"/>
          </a:p>
        </p:txBody>
      </p:sp>
      <p:sp>
        <p:nvSpPr>
          <p:cNvPr id="428054" name="Line 22"/>
          <p:cNvSpPr>
            <a:spLocks noChangeShapeType="1"/>
          </p:cNvSpPr>
          <p:nvPr/>
        </p:nvSpPr>
        <p:spPr bwMode="auto">
          <a:xfrm>
            <a:off x="4384675" y="2593975"/>
            <a:ext cx="1304925" cy="1588"/>
          </a:xfrm>
          <a:prstGeom prst="lin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55" name="Line 23"/>
          <p:cNvSpPr>
            <a:spLocks noChangeShapeType="1"/>
          </p:cNvSpPr>
          <p:nvPr/>
        </p:nvSpPr>
        <p:spPr bwMode="auto">
          <a:xfrm>
            <a:off x="4484688" y="2611438"/>
            <a:ext cx="1587" cy="319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56" name="Line 24"/>
          <p:cNvSpPr>
            <a:spLocks noChangeShapeType="1"/>
          </p:cNvSpPr>
          <p:nvPr/>
        </p:nvSpPr>
        <p:spPr bwMode="auto">
          <a:xfrm>
            <a:off x="5522913" y="2611438"/>
            <a:ext cx="1587" cy="319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57" name="Line 25"/>
          <p:cNvSpPr>
            <a:spLocks noChangeShapeType="1"/>
          </p:cNvSpPr>
          <p:nvPr/>
        </p:nvSpPr>
        <p:spPr bwMode="auto">
          <a:xfrm>
            <a:off x="4333875" y="4862513"/>
            <a:ext cx="1390650" cy="1587"/>
          </a:xfrm>
          <a:prstGeom prst="line">
            <a:avLst/>
          </a:prstGeom>
          <a:noFill/>
          <a:ln w="333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58" name="Line 26"/>
          <p:cNvSpPr>
            <a:spLocks noChangeShapeType="1"/>
          </p:cNvSpPr>
          <p:nvPr/>
        </p:nvSpPr>
        <p:spPr bwMode="auto">
          <a:xfrm>
            <a:off x="5522913" y="2259013"/>
            <a:ext cx="1587" cy="319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59" name="Line 27"/>
          <p:cNvSpPr>
            <a:spLocks noChangeShapeType="1"/>
          </p:cNvSpPr>
          <p:nvPr/>
        </p:nvSpPr>
        <p:spPr bwMode="auto">
          <a:xfrm>
            <a:off x="5505450" y="4862513"/>
            <a:ext cx="1588" cy="319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60" name="Line 28"/>
          <p:cNvSpPr>
            <a:spLocks noChangeShapeType="1"/>
          </p:cNvSpPr>
          <p:nvPr/>
        </p:nvSpPr>
        <p:spPr bwMode="auto">
          <a:xfrm>
            <a:off x="5505450" y="3668713"/>
            <a:ext cx="1588" cy="11938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61" name="Line 29"/>
          <p:cNvSpPr>
            <a:spLocks noChangeShapeType="1"/>
          </p:cNvSpPr>
          <p:nvPr/>
        </p:nvSpPr>
        <p:spPr bwMode="auto">
          <a:xfrm flipV="1">
            <a:off x="4535488" y="3433763"/>
            <a:ext cx="1587" cy="1393825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62" name="Line 30"/>
          <p:cNvSpPr>
            <a:spLocks noChangeShapeType="1"/>
          </p:cNvSpPr>
          <p:nvPr/>
        </p:nvSpPr>
        <p:spPr bwMode="auto">
          <a:xfrm>
            <a:off x="3714750" y="3433763"/>
            <a:ext cx="1588" cy="319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63" name="Line 31"/>
          <p:cNvSpPr>
            <a:spLocks noChangeShapeType="1"/>
          </p:cNvSpPr>
          <p:nvPr/>
        </p:nvSpPr>
        <p:spPr bwMode="auto">
          <a:xfrm>
            <a:off x="4132263" y="4056063"/>
            <a:ext cx="385762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64" name="Line 32"/>
          <p:cNvSpPr>
            <a:spLocks noChangeShapeType="1"/>
          </p:cNvSpPr>
          <p:nvPr/>
        </p:nvSpPr>
        <p:spPr bwMode="auto">
          <a:xfrm>
            <a:off x="3714750" y="4525963"/>
            <a:ext cx="1588" cy="319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065" name="Rectangle 33"/>
          <p:cNvSpPr>
            <a:spLocks noChangeArrowheads="1"/>
          </p:cNvSpPr>
          <p:nvPr/>
        </p:nvSpPr>
        <p:spPr bwMode="auto">
          <a:xfrm>
            <a:off x="4149725" y="4038600"/>
            <a:ext cx="334963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200" i="1">
                <a:solidFill>
                  <a:srgbClr val="000000"/>
                </a:solidFill>
                <a:latin typeface="Arial" panose="020B0604020202020204" pitchFamily="34" charset="0"/>
              </a:rPr>
              <a:t>[ok]</a:t>
            </a:r>
            <a:endParaRPr lang="en-CA" altLang="fr-FR"/>
          </a:p>
        </p:txBody>
      </p:sp>
      <p:sp>
        <p:nvSpPr>
          <p:cNvPr id="428066" name="Rectangle 34"/>
          <p:cNvSpPr>
            <a:spLocks noChangeArrowheads="1"/>
          </p:cNvSpPr>
          <p:nvPr/>
        </p:nvSpPr>
        <p:spPr bwMode="auto">
          <a:xfrm>
            <a:off x="5221288" y="3652838"/>
            <a:ext cx="334962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200" i="1">
                <a:solidFill>
                  <a:srgbClr val="000000"/>
                </a:solidFill>
                <a:latin typeface="Arial" panose="020B0604020202020204" pitchFamily="34" charset="0"/>
              </a:rPr>
              <a:t>[ok]</a:t>
            </a:r>
            <a:endParaRPr lang="en-CA" altLang="fr-FR"/>
          </a:p>
        </p:txBody>
      </p:sp>
      <p:sp>
        <p:nvSpPr>
          <p:cNvPr id="428067" name="Rectangle 35"/>
          <p:cNvSpPr>
            <a:spLocks noChangeArrowheads="1"/>
          </p:cNvSpPr>
          <p:nvPr/>
        </p:nvSpPr>
        <p:spPr bwMode="auto">
          <a:xfrm>
            <a:off x="4249738" y="3433763"/>
            <a:ext cx="334962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200" i="1">
                <a:solidFill>
                  <a:srgbClr val="000000"/>
                </a:solidFill>
                <a:latin typeface="Arial" panose="020B0604020202020204" pitchFamily="34" charset="0"/>
              </a:rPr>
              <a:t>[ok]</a:t>
            </a:r>
            <a:endParaRPr lang="en-CA" altLang="fr-FR"/>
          </a:p>
        </p:txBody>
      </p:sp>
      <p:sp>
        <p:nvSpPr>
          <p:cNvPr id="428068" name="Rectangle 36"/>
          <p:cNvSpPr>
            <a:spLocks noChangeArrowheads="1"/>
          </p:cNvSpPr>
          <p:nvPr/>
        </p:nvSpPr>
        <p:spPr bwMode="auto">
          <a:xfrm>
            <a:off x="3195638" y="3433763"/>
            <a:ext cx="6032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200" i="1">
                <a:solidFill>
                  <a:srgbClr val="000000"/>
                </a:solidFill>
                <a:latin typeface="Arial" panose="020B0604020202020204" pitchFamily="34" charset="0"/>
              </a:rPr>
              <a:t>[not ok]</a:t>
            </a:r>
            <a:endParaRPr lang="en-CA" altLang="fr-FR"/>
          </a:p>
        </p:txBody>
      </p:sp>
      <p:sp>
        <p:nvSpPr>
          <p:cNvPr id="428069" name="Rectangle 37"/>
          <p:cNvSpPr>
            <a:spLocks noChangeArrowheads="1"/>
          </p:cNvSpPr>
          <p:nvPr/>
        </p:nvSpPr>
        <p:spPr bwMode="auto">
          <a:xfrm>
            <a:off x="3178175" y="4510088"/>
            <a:ext cx="6032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200" i="1">
                <a:solidFill>
                  <a:srgbClr val="000000"/>
                </a:solidFill>
                <a:latin typeface="Arial" panose="020B0604020202020204" pitchFamily="34" charset="0"/>
              </a:rPr>
              <a:t>[not ok]</a:t>
            </a:r>
            <a:endParaRPr lang="en-CA" altLang="fr-FR"/>
          </a:p>
        </p:txBody>
      </p:sp>
      <p:grpSp>
        <p:nvGrpSpPr>
          <p:cNvPr id="428072" name="Group 40"/>
          <p:cNvGrpSpPr>
            <a:grpSpLocks/>
          </p:cNvGrpSpPr>
          <p:nvPr/>
        </p:nvGrpSpPr>
        <p:grpSpPr bwMode="auto">
          <a:xfrm>
            <a:off x="3663950" y="4760913"/>
            <a:ext cx="117475" cy="66675"/>
            <a:chOff x="2308" y="2999"/>
            <a:chExt cx="74" cy="42"/>
          </a:xfrm>
        </p:grpSpPr>
        <p:sp>
          <p:nvSpPr>
            <p:cNvPr id="428070" name="Line 38"/>
            <p:cNvSpPr>
              <a:spLocks noChangeShapeType="1"/>
            </p:cNvSpPr>
            <p:nvPr/>
          </p:nvSpPr>
          <p:spPr bwMode="auto">
            <a:xfrm>
              <a:off x="2308" y="2999"/>
              <a:ext cx="32" cy="4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71" name="Line 39"/>
            <p:cNvSpPr>
              <a:spLocks noChangeShapeType="1"/>
            </p:cNvSpPr>
            <p:nvPr/>
          </p:nvSpPr>
          <p:spPr bwMode="auto">
            <a:xfrm flipH="1">
              <a:off x="2340" y="2999"/>
              <a:ext cx="42" cy="4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28073" name="Oval 41"/>
          <p:cNvSpPr>
            <a:spLocks noChangeArrowheads="1"/>
          </p:cNvSpPr>
          <p:nvPr/>
        </p:nvSpPr>
        <p:spPr bwMode="auto">
          <a:xfrm>
            <a:off x="5422900" y="1284288"/>
            <a:ext cx="217488" cy="217487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28076" name="Group 44"/>
          <p:cNvGrpSpPr>
            <a:grpSpLocks/>
          </p:cNvGrpSpPr>
          <p:nvPr/>
        </p:nvGrpSpPr>
        <p:grpSpPr bwMode="auto">
          <a:xfrm>
            <a:off x="5472113" y="2493963"/>
            <a:ext cx="117475" cy="66675"/>
            <a:chOff x="3447" y="1571"/>
            <a:chExt cx="74" cy="42"/>
          </a:xfrm>
        </p:grpSpPr>
        <p:sp>
          <p:nvSpPr>
            <p:cNvPr id="428074" name="Line 42"/>
            <p:cNvSpPr>
              <a:spLocks noChangeShapeType="1"/>
            </p:cNvSpPr>
            <p:nvPr/>
          </p:nvSpPr>
          <p:spPr bwMode="auto">
            <a:xfrm>
              <a:off x="3447" y="1571"/>
              <a:ext cx="32" cy="4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75" name="Line 43"/>
            <p:cNvSpPr>
              <a:spLocks noChangeShapeType="1"/>
            </p:cNvSpPr>
            <p:nvPr/>
          </p:nvSpPr>
          <p:spPr bwMode="auto">
            <a:xfrm flipH="1">
              <a:off x="3479" y="1571"/>
              <a:ext cx="42" cy="4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079" name="Group 47"/>
          <p:cNvGrpSpPr>
            <a:grpSpLocks/>
          </p:cNvGrpSpPr>
          <p:nvPr/>
        </p:nvGrpSpPr>
        <p:grpSpPr bwMode="auto">
          <a:xfrm>
            <a:off x="4433888" y="2846388"/>
            <a:ext cx="117475" cy="50800"/>
            <a:chOff x="2793" y="1793"/>
            <a:chExt cx="74" cy="32"/>
          </a:xfrm>
        </p:grpSpPr>
        <p:sp>
          <p:nvSpPr>
            <p:cNvPr id="428077" name="Line 45"/>
            <p:cNvSpPr>
              <a:spLocks noChangeShapeType="1"/>
            </p:cNvSpPr>
            <p:nvPr/>
          </p:nvSpPr>
          <p:spPr bwMode="auto">
            <a:xfrm>
              <a:off x="2793" y="1793"/>
              <a:ext cx="3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78" name="Line 46"/>
            <p:cNvSpPr>
              <a:spLocks noChangeShapeType="1"/>
            </p:cNvSpPr>
            <p:nvPr/>
          </p:nvSpPr>
          <p:spPr bwMode="auto">
            <a:xfrm flipH="1">
              <a:off x="2825" y="1793"/>
              <a:ext cx="4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082" name="Group 50"/>
          <p:cNvGrpSpPr>
            <a:grpSpLocks/>
          </p:cNvGrpSpPr>
          <p:nvPr/>
        </p:nvGrpSpPr>
        <p:grpSpPr bwMode="auto">
          <a:xfrm>
            <a:off x="5472113" y="2846388"/>
            <a:ext cx="117475" cy="50800"/>
            <a:chOff x="3447" y="1793"/>
            <a:chExt cx="74" cy="32"/>
          </a:xfrm>
        </p:grpSpPr>
        <p:sp>
          <p:nvSpPr>
            <p:cNvPr id="428080" name="Line 48"/>
            <p:cNvSpPr>
              <a:spLocks noChangeShapeType="1"/>
            </p:cNvSpPr>
            <p:nvPr/>
          </p:nvSpPr>
          <p:spPr bwMode="auto">
            <a:xfrm>
              <a:off x="3447" y="1793"/>
              <a:ext cx="3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81" name="Line 49"/>
            <p:cNvSpPr>
              <a:spLocks noChangeShapeType="1"/>
            </p:cNvSpPr>
            <p:nvPr/>
          </p:nvSpPr>
          <p:spPr bwMode="auto">
            <a:xfrm flipH="1">
              <a:off x="3479" y="1793"/>
              <a:ext cx="4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085" name="Group 53"/>
          <p:cNvGrpSpPr>
            <a:grpSpLocks/>
          </p:cNvGrpSpPr>
          <p:nvPr/>
        </p:nvGrpSpPr>
        <p:grpSpPr bwMode="auto">
          <a:xfrm>
            <a:off x="4467225" y="4778375"/>
            <a:ext cx="117475" cy="49213"/>
            <a:chOff x="2814" y="3010"/>
            <a:chExt cx="74" cy="31"/>
          </a:xfrm>
        </p:grpSpPr>
        <p:sp>
          <p:nvSpPr>
            <p:cNvPr id="428083" name="Line 51"/>
            <p:cNvSpPr>
              <a:spLocks noChangeShapeType="1"/>
            </p:cNvSpPr>
            <p:nvPr/>
          </p:nvSpPr>
          <p:spPr bwMode="auto">
            <a:xfrm>
              <a:off x="2814" y="3010"/>
              <a:ext cx="32" cy="3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84" name="Line 52"/>
            <p:cNvSpPr>
              <a:spLocks noChangeShapeType="1"/>
            </p:cNvSpPr>
            <p:nvPr/>
          </p:nvSpPr>
          <p:spPr bwMode="auto">
            <a:xfrm flipH="1">
              <a:off x="2846" y="3010"/>
              <a:ext cx="42" cy="3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088" name="Group 56"/>
          <p:cNvGrpSpPr>
            <a:grpSpLocks/>
          </p:cNvGrpSpPr>
          <p:nvPr/>
        </p:nvGrpSpPr>
        <p:grpSpPr bwMode="auto">
          <a:xfrm>
            <a:off x="5438775" y="4778375"/>
            <a:ext cx="117475" cy="49213"/>
            <a:chOff x="3426" y="3010"/>
            <a:chExt cx="74" cy="31"/>
          </a:xfrm>
        </p:grpSpPr>
        <p:sp>
          <p:nvSpPr>
            <p:cNvPr id="428086" name="Line 54"/>
            <p:cNvSpPr>
              <a:spLocks noChangeShapeType="1"/>
            </p:cNvSpPr>
            <p:nvPr/>
          </p:nvSpPr>
          <p:spPr bwMode="auto">
            <a:xfrm>
              <a:off x="3426" y="3010"/>
              <a:ext cx="32" cy="3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87" name="Line 55"/>
            <p:cNvSpPr>
              <a:spLocks noChangeShapeType="1"/>
            </p:cNvSpPr>
            <p:nvPr/>
          </p:nvSpPr>
          <p:spPr bwMode="auto">
            <a:xfrm flipH="1">
              <a:off x="3458" y="3010"/>
              <a:ext cx="42" cy="3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091" name="Group 59"/>
          <p:cNvGrpSpPr>
            <a:grpSpLocks/>
          </p:cNvGrpSpPr>
          <p:nvPr/>
        </p:nvGrpSpPr>
        <p:grpSpPr bwMode="auto">
          <a:xfrm>
            <a:off x="5438775" y="5113338"/>
            <a:ext cx="134938" cy="50800"/>
            <a:chOff x="3426" y="3221"/>
            <a:chExt cx="85" cy="32"/>
          </a:xfrm>
        </p:grpSpPr>
        <p:sp>
          <p:nvSpPr>
            <p:cNvPr id="428089" name="Line 57"/>
            <p:cNvSpPr>
              <a:spLocks noChangeShapeType="1"/>
            </p:cNvSpPr>
            <p:nvPr/>
          </p:nvSpPr>
          <p:spPr bwMode="auto">
            <a:xfrm>
              <a:off x="3426" y="3221"/>
              <a:ext cx="4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90" name="Line 58"/>
            <p:cNvSpPr>
              <a:spLocks noChangeShapeType="1"/>
            </p:cNvSpPr>
            <p:nvPr/>
          </p:nvSpPr>
          <p:spPr bwMode="auto">
            <a:xfrm flipH="1">
              <a:off x="3468" y="3221"/>
              <a:ext cx="43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094" name="Group 62"/>
          <p:cNvGrpSpPr>
            <a:grpSpLocks/>
          </p:cNvGrpSpPr>
          <p:nvPr/>
        </p:nvGrpSpPr>
        <p:grpSpPr bwMode="auto">
          <a:xfrm>
            <a:off x="3663950" y="3686175"/>
            <a:ext cx="117475" cy="50800"/>
            <a:chOff x="2308" y="2322"/>
            <a:chExt cx="74" cy="32"/>
          </a:xfrm>
        </p:grpSpPr>
        <p:sp>
          <p:nvSpPr>
            <p:cNvPr id="428092" name="Line 60"/>
            <p:cNvSpPr>
              <a:spLocks noChangeShapeType="1"/>
            </p:cNvSpPr>
            <p:nvPr/>
          </p:nvSpPr>
          <p:spPr bwMode="auto">
            <a:xfrm>
              <a:off x="2308" y="2322"/>
              <a:ext cx="3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93" name="Line 61"/>
            <p:cNvSpPr>
              <a:spLocks noChangeShapeType="1"/>
            </p:cNvSpPr>
            <p:nvPr/>
          </p:nvSpPr>
          <p:spPr bwMode="auto">
            <a:xfrm flipH="1">
              <a:off x="2340" y="2322"/>
              <a:ext cx="4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097" name="Group 65"/>
          <p:cNvGrpSpPr>
            <a:grpSpLocks/>
          </p:cNvGrpSpPr>
          <p:nvPr/>
        </p:nvGrpSpPr>
        <p:grpSpPr bwMode="auto">
          <a:xfrm>
            <a:off x="3605213" y="4852988"/>
            <a:ext cx="219075" cy="219075"/>
            <a:chOff x="2271" y="3057"/>
            <a:chExt cx="138" cy="138"/>
          </a:xfrm>
        </p:grpSpPr>
        <p:sp>
          <p:nvSpPr>
            <p:cNvPr id="428095" name="Oval 63"/>
            <p:cNvSpPr>
              <a:spLocks noChangeArrowheads="1"/>
            </p:cNvSpPr>
            <p:nvPr/>
          </p:nvSpPr>
          <p:spPr bwMode="auto">
            <a:xfrm>
              <a:off x="2271" y="3057"/>
              <a:ext cx="138" cy="138"/>
            </a:xfrm>
            <a:prstGeom prst="ellips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96" name="Oval 64"/>
            <p:cNvSpPr>
              <a:spLocks noChangeArrowheads="1"/>
            </p:cNvSpPr>
            <p:nvPr/>
          </p:nvSpPr>
          <p:spPr bwMode="auto">
            <a:xfrm>
              <a:off x="2298" y="3073"/>
              <a:ext cx="95" cy="9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100" name="Group 68"/>
          <p:cNvGrpSpPr>
            <a:grpSpLocks/>
          </p:cNvGrpSpPr>
          <p:nvPr/>
        </p:nvGrpSpPr>
        <p:grpSpPr bwMode="auto">
          <a:xfrm>
            <a:off x="5430838" y="5878513"/>
            <a:ext cx="217487" cy="234950"/>
            <a:chOff x="3421" y="3703"/>
            <a:chExt cx="137" cy="148"/>
          </a:xfrm>
        </p:grpSpPr>
        <p:sp>
          <p:nvSpPr>
            <p:cNvPr id="428098" name="Oval 66"/>
            <p:cNvSpPr>
              <a:spLocks noChangeArrowheads="1"/>
            </p:cNvSpPr>
            <p:nvPr/>
          </p:nvSpPr>
          <p:spPr bwMode="auto">
            <a:xfrm>
              <a:off x="3421" y="3703"/>
              <a:ext cx="137" cy="148"/>
            </a:xfrm>
            <a:prstGeom prst="ellips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099" name="Oval 67"/>
            <p:cNvSpPr>
              <a:spLocks noChangeArrowheads="1"/>
            </p:cNvSpPr>
            <p:nvPr/>
          </p:nvSpPr>
          <p:spPr bwMode="auto">
            <a:xfrm>
              <a:off x="3437" y="3729"/>
              <a:ext cx="95" cy="96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103" name="Group 71"/>
          <p:cNvGrpSpPr>
            <a:grpSpLocks/>
          </p:cNvGrpSpPr>
          <p:nvPr/>
        </p:nvGrpSpPr>
        <p:grpSpPr bwMode="auto">
          <a:xfrm>
            <a:off x="5472113" y="5802313"/>
            <a:ext cx="117475" cy="50800"/>
            <a:chOff x="3447" y="3655"/>
            <a:chExt cx="74" cy="32"/>
          </a:xfrm>
        </p:grpSpPr>
        <p:sp>
          <p:nvSpPr>
            <p:cNvPr id="428101" name="Line 69"/>
            <p:cNvSpPr>
              <a:spLocks noChangeShapeType="1"/>
            </p:cNvSpPr>
            <p:nvPr/>
          </p:nvSpPr>
          <p:spPr bwMode="auto">
            <a:xfrm>
              <a:off x="3447" y="3655"/>
              <a:ext cx="3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102" name="Line 70"/>
            <p:cNvSpPr>
              <a:spLocks noChangeShapeType="1"/>
            </p:cNvSpPr>
            <p:nvPr/>
          </p:nvSpPr>
          <p:spPr bwMode="auto">
            <a:xfrm flipH="1">
              <a:off x="3479" y="3655"/>
              <a:ext cx="42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28104" name="Line 72"/>
          <p:cNvSpPr>
            <a:spLocks noChangeShapeType="1"/>
          </p:cNvSpPr>
          <p:nvPr/>
        </p:nvSpPr>
        <p:spPr bwMode="auto">
          <a:xfrm flipV="1">
            <a:off x="5522913" y="5718175"/>
            <a:ext cx="1587" cy="134938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105" name="Line 73"/>
          <p:cNvSpPr>
            <a:spLocks noChangeShapeType="1"/>
          </p:cNvSpPr>
          <p:nvPr/>
        </p:nvSpPr>
        <p:spPr bwMode="auto">
          <a:xfrm>
            <a:off x="5873750" y="3668713"/>
            <a:ext cx="1588" cy="319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106" name="Rectangle 74"/>
          <p:cNvSpPr>
            <a:spLocks noChangeArrowheads="1"/>
          </p:cNvSpPr>
          <p:nvPr/>
        </p:nvSpPr>
        <p:spPr bwMode="auto">
          <a:xfrm>
            <a:off x="5908675" y="3652838"/>
            <a:ext cx="6032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200" i="1">
                <a:solidFill>
                  <a:srgbClr val="000000"/>
                </a:solidFill>
                <a:latin typeface="Arial" panose="020B0604020202020204" pitchFamily="34" charset="0"/>
              </a:rPr>
              <a:t>[not ok]</a:t>
            </a:r>
            <a:endParaRPr lang="en-CA" altLang="fr-FR"/>
          </a:p>
        </p:txBody>
      </p:sp>
      <p:grpSp>
        <p:nvGrpSpPr>
          <p:cNvPr id="428109" name="Group 77"/>
          <p:cNvGrpSpPr>
            <a:grpSpLocks/>
          </p:cNvGrpSpPr>
          <p:nvPr/>
        </p:nvGrpSpPr>
        <p:grpSpPr bwMode="auto">
          <a:xfrm>
            <a:off x="5824538" y="3921125"/>
            <a:ext cx="117475" cy="50800"/>
            <a:chOff x="3669" y="2470"/>
            <a:chExt cx="74" cy="32"/>
          </a:xfrm>
        </p:grpSpPr>
        <p:sp>
          <p:nvSpPr>
            <p:cNvPr id="428107" name="Line 75"/>
            <p:cNvSpPr>
              <a:spLocks noChangeShapeType="1"/>
            </p:cNvSpPr>
            <p:nvPr/>
          </p:nvSpPr>
          <p:spPr bwMode="auto">
            <a:xfrm>
              <a:off x="3669" y="2470"/>
              <a:ext cx="31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108" name="Line 76"/>
            <p:cNvSpPr>
              <a:spLocks noChangeShapeType="1"/>
            </p:cNvSpPr>
            <p:nvPr/>
          </p:nvSpPr>
          <p:spPr bwMode="auto">
            <a:xfrm flipH="1">
              <a:off x="3700" y="2470"/>
              <a:ext cx="43" cy="3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28112" name="Group 80"/>
          <p:cNvGrpSpPr>
            <a:grpSpLocks/>
          </p:cNvGrpSpPr>
          <p:nvPr/>
        </p:nvGrpSpPr>
        <p:grpSpPr bwMode="auto">
          <a:xfrm>
            <a:off x="5765800" y="3995738"/>
            <a:ext cx="217488" cy="220662"/>
            <a:chOff x="3632" y="2517"/>
            <a:chExt cx="137" cy="139"/>
          </a:xfrm>
        </p:grpSpPr>
        <p:sp>
          <p:nvSpPr>
            <p:cNvPr id="428110" name="Oval 78"/>
            <p:cNvSpPr>
              <a:spLocks noChangeArrowheads="1"/>
            </p:cNvSpPr>
            <p:nvPr/>
          </p:nvSpPr>
          <p:spPr bwMode="auto">
            <a:xfrm>
              <a:off x="3632" y="2517"/>
              <a:ext cx="137" cy="139"/>
            </a:xfrm>
            <a:prstGeom prst="ellips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111" name="Oval 79"/>
            <p:cNvSpPr>
              <a:spLocks noChangeArrowheads="1"/>
            </p:cNvSpPr>
            <p:nvPr/>
          </p:nvSpPr>
          <p:spPr bwMode="auto">
            <a:xfrm>
              <a:off x="3658" y="2544"/>
              <a:ext cx="95" cy="9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28113" name="Line 81"/>
          <p:cNvSpPr>
            <a:spLocks noChangeShapeType="1"/>
          </p:cNvSpPr>
          <p:nvPr/>
        </p:nvSpPr>
        <p:spPr bwMode="auto">
          <a:xfrm>
            <a:off x="5522913" y="1417638"/>
            <a:ext cx="1587" cy="3190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28116" name="Group 84"/>
          <p:cNvGrpSpPr>
            <a:grpSpLocks/>
          </p:cNvGrpSpPr>
          <p:nvPr/>
        </p:nvGrpSpPr>
        <p:grpSpPr bwMode="auto">
          <a:xfrm>
            <a:off x="5472113" y="1654175"/>
            <a:ext cx="117475" cy="66675"/>
            <a:chOff x="3447" y="1042"/>
            <a:chExt cx="74" cy="42"/>
          </a:xfrm>
        </p:grpSpPr>
        <p:sp>
          <p:nvSpPr>
            <p:cNvPr id="428114" name="Line 82"/>
            <p:cNvSpPr>
              <a:spLocks noChangeShapeType="1"/>
            </p:cNvSpPr>
            <p:nvPr/>
          </p:nvSpPr>
          <p:spPr bwMode="auto">
            <a:xfrm>
              <a:off x="3447" y="1042"/>
              <a:ext cx="32" cy="4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28115" name="Line 83"/>
            <p:cNvSpPr>
              <a:spLocks noChangeShapeType="1"/>
            </p:cNvSpPr>
            <p:nvPr/>
          </p:nvSpPr>
          <p:spPr bwMode="auto">
            <a:xfrm flipH="1">
              <a:off x="3479" y="1042"/>
              <a:ext cx="42" cy="4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28117" name="Line 85"/>
          <p:cNvSpPr>
            <a:spLocks noChangeShapeType="1"/>
          </p:cNvSpPr>
          <p:nvPr/>
        </p:nvSpPr>
        <p:spPr bwMode="auto">
          <a:xfrm flipV="1">
            <a:off x="4919663" y="931863"/>
            <a:ext cx="1587" cy="52070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118" name="Line 86"/>
          <p:cNvSpPr>
            <a:spLocks noChangeShapeType="1"/>
          </p:cNvSpPr>
          <p:nvPr/>
        </p:nvSpPr>
        <p:spPr bwMode="auto">
          <a:xfrm flipV="1">
            <a:off x="2760663" y="931863"/>
            <a:ext cx="1587" cy="52070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119" name="Line 87"/>
          <p:cNvSpPr>
            <a:spLocks noChangeShapeType="1"/>
          </p:cNvSpPr>
          <p:nvPr/>
        </p:nvSpPr>
        <p:spPr bwMode="auto">
          <a:xfrm flipV="1">
            <a:off x="7096125" y="931863"/>
            <a:ext cx="1588" cy="5207000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120" name="Line 88"/>
          <p:cNvSpPr>
            <a:spLocks noChangeShapeType="1"/>
          </p:cNvSpPr>
          <p:nvPr/>
        </p:nvSpPr>
        <p:spPr bwMode="auto">
          <a:xfrm>
            <a:off x="2760663" y="931863"/>
            <a:ext cx="4335462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28121" name="Rectangle 89"/>
          <p:cNvSpPr>
            <a:spLocks noChangeArrowheads="1"/>
          </p:cNvSpPr>
          <p:nvPr/>
        </p:nvSpPr>
        <p:spPr bwMode="auto">
          <a:xfrm>
            <a:off x="3597275" y="947738"/>
            <a:ext cx="70326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Student</a:t>
            </a:r>
            <a:endParaRPr lang="en-CA" altLang="fr-FR"/>
          </a:p>
        </p:txBody>
      </p:sp>
      <p:sp>
        <p:nvSpPr>
          <p:cNvPr id="428122" name="Rectangle 90"/>
          <p:cNvSpPr>
            <a:spLocks noChangeArrowheads="1"/>
          </p:cNvSpPr>
          <p:nvPr/>
        </p:nvSpPr>
        <p:spPr bwMode="auto">
          <a:xfrm>
            <a:off x="5456238" y="947738"/>
            <a:ext cx="108426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CourseSection</a:t>
            </a:r>
            <a:endParaRPr lang="en-CA" altLang="fr-FR"/>
          </a:p>
        </p:txBody>
      </p:sp>
      <p:sp>
        <p:nvSpPr>
          <p:cNvPr id="428123" name="Line 91"/>
          <p:cNvSpPr>
            <a:spLocks noChangeShapeType="1"/>
          </p:cNvSpPr>
          <p:nvPr/>
        </p:nvSpPr>
        <p:spPr bwMode="auto">
          <a:xfrm>
            <a:off x="2760663" y="6138863"/>
            <a:ext cx="4335462" cy="158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17152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FB4FE-458E-4F90-8908-59D37C981CAE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Implementing Classes Based on Interaction and State Diagrams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You should use these diagrams for the parts of your system that you find most complex.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I.e. not for every class</a:t>
            </a:r>
          </a:p>
          <a:p>
            <a:pPr lvl="1" algn="just">
              <a:lnSpc>
                <a:spcPct val="90000"/>
              </a:lnSpc>
            </a:pP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Interaction, activity and state diagrams help you create a correct implementation.</a:t>
            </a:r>
          </a:p>
          <a:p>
            <a:pPr lvl="1" algn="just">
              <a:lnSpc>
                <a:spcPct val="90000"/>
              </a:lnSpc>
            </a:pP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This is particularly true when behaviour is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distributed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across several use cases.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E.g. a state diagram is useful when different conditions cause instances to respond differently to the same event. </a:t>
            </a:r>
          </a:p>
          <a:p>
            <a:pPr lvl="1"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30478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7F6FF-4CFE-40CA-98EA-1ED9E9F7E746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The </a:t>
            </a:r>
            <a:r>
              <a:rPr lang="en-US" altLang="en-US" b="1">
                <a:latin typeface="Courier New" panose="02070309020205020404" pitchFamily="49" charset="0"/>
              </a:rPr>
              <a:t>CourseSection</a:t>
            </a:r>
            <a:r>
              <a:rPr lang="en-US" altLang="en-US"/>
              <a:t> class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States: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‘Planned’:</a:t>
            </a:r>
          </a:p>
          <a:p>
            <a:pPr lvl="2"/>
            <a:r>
              <a:rPr lang="en-GB" altLang="en-US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closedOrCancelled == false &amp;&amp; open == false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‘Cancelled’:</a:t>
            </a:r>
          </a:p>
          <a:p>
            <a:pPr lvl="2"/>
            <a:r>
              <a:rPr lang="en-GB" altLang="en-US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closedOrCancelled == true &amp;&amp; registrationList.size() == 0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‘Closed’ (course section is too full, or being taught):</a:t>
            </a:r>
          </a:p>
          <a:p>
            <a:pPr lvl="2"/>
            <a:r>
              <a:rPr lang="en-GB" altLang="en-US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closedOrCancelled == true &amp;&amp; registrationList.size() &gt; 0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26355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4A86E-A64E-4E47-9EF2-80ACC1A49F65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The </a:t>
            </a:r>
            <a:r>
              <a:rPr lang="en-US" altLang="en-US" b="1">
                <a:latin typeface="Courier New" panose="02070309020205020404" pitchFamily="49" charset="0"/>
              </a:rPr>
              <a:t>CourseSection</a:t>
            </a:r>
            <a:r>
              <a:rPr lang="en-US" altLang="en-US"/>
              <a:t> class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States: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‘Open’  (accepting registrations):</a:t>
            </a:r>
          </a:p>
          <a:p>
            <a:pPr lvl="2" algn="just"/>
            <a:r>
              <a:rPr lang="en-GB" altLang="en-US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open == true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‘NotEnoughStudents’ (substate of ‘Open’):</a:t>
            </a:r>
          </a:p>
          <a:p>
            <a:pPr lvl="2"/>
            <a:r>
              <a:rPr lang="en-GB" altLang="en-US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open == true &amp;&amp; registrationList.size() &lt; course.getMinimum()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‘EnoughStudents’  (substate of ‘Open’):</a:t>
            </a:r>
          </a:p>
          <a:p>
            <a:pPr lvl="2"/>
            <a:r>
              <a:rPr lang="en-GB" altLang="en-US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open == true &amp;&amp; registrationList.size() &gt;= course.getMinimum()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99709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1E801-A741-4B46-B5A2-91DE22EB92DF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The </a:t>
            </a:r>
            <a:r>
              <a:rPr lang="en-US" altLang="en-US" b="1">
                <a:latin typeface="Courier New" panose="02070309020205020404" pitchFamily="49" charset="0"/>
              </a:rPr>
              <a:t>CourseSection</a:t>
            </a:r>
            <a:r>
              <a:rPr lang="en-US" altLang="en-US"/>
              <a:t> class</a:t>
            </a:r>
          </a:p>
        </p:txBody>
      </p:sp>
      <p:sp>
        <p:nvSpPr>
          <p:cNvPr id="440326" name="Line 6"/>
          <p:cNvSpPr>
            <a:spLocks noChangeShapeType="1"/>
          </p:cNvSpPr>
          <p:nvPr/>
        </p:nvSpPr>
        <p:spPr bwMode="auto">
          <a:xfrm>
            <a:off x="2870200" y="2946400"/>
            <a:ext cx="3746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28" name="Rectangle 8"/>
          <p:cNvSpPr>
            <a:spLocks noChangeArrowheads="1"/>
          </p:cNvSpPr>
          <p:nvPr/>
        </p:nvSpPr>
        <p:spPr bwMode="auto">
          <a:xfrm>
            <a:off x="3132138" y="2703513"/>
            <a:ext cx="1492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30" name="Rectangle 10"/>
          <p:cNvSpPr>
            <a:spLocks noChangeArrowheads="1"/>
          </p:cNvSpPr>
          <p:nvPr/>
        </p:nvSpPr>
        <p:spPr bwMode="auto">
          <a:xfrm>
            <a:off x="3132138" y="2703513"/>
            <a:ext cx="1492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32" name="Rectangle 12"/>
          <p:cNvSpPr>
            <a:spLocks noChangeArrowheads="1"/>
          </p:cNvSpPr>
          <p:nvPr/>
        </p:nvSpPr>
        <p:spPr bwMode="auto">
          <a:xfrm>
            <a:off x="3132138" y="2703513"/>
            <a:ext cx="1492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34" name="Rectangle 14"/>
          <p:cNvSpPr>
            <a:spLocks noChangeArrowheads="1"/>
          </p:cNvSpPr>
          <p:nvPr/>
        </p:nvSpPr>
        <p:spPr bwMode="auto">
          <a:xfrm>
            <a:off x="3132138" y="2703513"/>
            <a:ext cx="1492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36" name="Rectangle 16"/>
          <p:cNvSpPr>
            <a:spLocks noChangeArrowheads="1"/>
          </p:cNvSpPr>
          <p:nvPr/>
        </p:nvSpPr>
        <p:spPr bwMode="auto">
          <a:xfrm>
            <a:off x="3132138" y="2703513"/>
            <a:ext cx="1492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39" name="Line 19"/>
          <p:cNvSpPr>
            <a:spLocks noChangeShapeType="1"/>
          </p:cNvSpPr>
          <p:nvPr/>
        </p:nvSpPr>
        <p:spPr bwMode="auto">
          <a:xfrm flipH="1">
            <a:off x="5118100" y="2890838"/>
            <a:ext cx="41116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41" name="Rectangle 21"/>
          <p:cNvSpPr>
            <a:spLocks noChangeArrowheads="1"/>
          </p:cNvSpPr>
          <p:nvPr/>
        </p:nvSpPr>
        <p:spPr bwMode="auto">
          <a:xfrm>
            <a:off x="5360988" y="2647950"/>
            <a:ext cx="1492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43" name="Rectangle 23"/>
          <p:cNvSpPr>
            <a:spLocks noChangeArrowheads="1"/>
          </p:cNvSpPr>
          <p:nvPr/>
        </p:nvSpPr>
        <p:spPr bwMode="auto">
          <a:xfrm>
            <a:off x="5360988" y="2647950"/>
            <a:ext cx="1492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45" name="Rectangle 25"/>
          <p:cNvSpPr>
            <a:spLocks noChangeArrowheads="1"/>
          </p:cNvSpPr>
          <p:nvPr/>
        </p:nvSpPr>
        <p:spPr bwMode="auto">
          <a:xfrm>
            <a:off x="5360988" y="2647950"/>
            <a:ext cx="1492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47" name="Rectangle 27"/>
          <p:cNvSpPr>
            <a:spLocks noChangeArrowheads="1"/>
          </p:cNvSpPr>
          <p:nvPr/>
        </p:nvSpPr>
        <p:spPr bwMode="auto">
          <a:xfrm>
            <a:off x="5360988" y="2647950"/>
            <a:ext cx="1492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52" name="Line 32"/>
          <p:cNvSpPr>
            <a:spLocks noChangeShapeType="1"/>
          </p:cNvSpPr>
          <p:nvPr/>
        </p:nvSpPr>
        <p:spPr bwMode="auto">
          <a:xfrm>
            <a:off x="6746875" y="2908300"/>
            <a:ext cx="43021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54" name="Rectangle 34"/>
          <p:cNvSpPr>
            <a:spLocks noChangeArrowheads="1"/>
          </p:cNvSpPr>
          <p:nvPr/>
        </p:nvSpPr>
        <p:spPr bwMode="auto">
          <a:xfrm>
            <a:off x="6840538" y="2665413"/>
            <a:ext cx="149225" cy="28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440355" name="Rectangle 35"/>
          <p:cNvSpPr>
            <a:spLocks noChangeArrowheads="1"/>
          </p:cNvSpPr>
          <p:nvPr/>
        </p:nvSpPr>
        <p:spPr bwMode="auto">
          <a:xfrm>
            <a:off x="3254375" y="2600325"/>
            <a:ext cx="1854200" cy="91757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56" name="Line 36"/>
          <p:cNvSpPr>
            <a:spLocks noChangeShapeType="1"/>
          </p:cNvSpPr>
          <p:nvPr/>
        </p:nvSpPr>
        <p:spPr bwMode="auto">
          <a:xfrm>
            <a:off x="3263900" y="2984500"/>
            <a:ext cx="18351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57" name="Rectangle 37"/>
          <p:cNvSpPr>
            <a:spLocks noChangeArrowheads="1"/>
          </p:cNvSpPr>
          <p:nvPr/>
        </p:nvSpPr>
        <p:spPr bwMode="auto">
          <a:xfrm>
            <a:off x="3413125" y="2684463"/>
            <a:ext cx="13446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b="1">
                <a:solidFill>
                  <a:srgbClr val="000000"/>
                </a:solidFill>
                <a:latin typeface="Arial" panose="020B0604020202020204" pitchFamily="34" charset="0"/>
              </a:rPr>
              <a:t>CourseSection</a:t>
            </a:r>
            <a:endParaRPr lang="en-CA" altLang="fr-FR"/>
          </a:p>
        </p:txBody>
      </p:sp>
      <p:sp>
        <p:nvSpPr>
          <p:cNvPr id="440358" name="Rectangle 38"/>
          <p:cNvSpPr>
            <a:spLocks noChangeArrowheads="1"/>
          </p:cNvSpPr>
          <p:nvPr/>
        </p:nvSpPr>
        <p:spPr bwMode="auto">
          <a:xfrm>
            <a:off x="3413125" y="3040063"/>
            <a:ext cx="136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requestToRegister</a:t>
            </a:r>
            <a:endParaRPr lang="en-CA" altLang="fr-FR"/>
          </a:p>
        </p:txBody>
      </p:sp>
      <p:sp>
        <p:nvSpPr>
          <p:cNvPr id="440359" name="Rectangle 39"/>
          <p:cNvSpPr>
            <a:spLocks noChangeArrowheads="1"/>
          </p:cNvSpPr>
          <p:nvPr/>
        </p:nvSpPr>
        <p:spPr bwMode="auto">
          <a:xfrm>
            <a:off x="5538788" y="2619375"/>
            <a:ext cx="1198562" cy="5429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60" name="Rectangle 40"/>
          <p:cNvSpPr>
            <a:spLocks noChangeArrowheads="1"/>
          </p:cNvSpPr>
          <p:nvPr/>
        </p:nvSpPr>
        <p:spPr bwMode="auto">
          <a:xfrm>
            <a:off x="5603875" y="2703513"/>
            <a:ext cx="11985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b="1">
                <a:solidFill>
                  <a:srgbClr val="000000"/>
                </a:solidFill>
                <a:latin typeface="Arial" panose="020B0604020202020204" pitchFamily="34" charset="0"/>
              </a:rPr>
              <a:t>Registration</a:t>
            </a:r>
            <a:endParaRPr lang="en-CA" altLang="fr-FR"/>
          </a:p>
        </p:txBody>
      </p:sp>
      <p:sp>
        <p:nvSpPr>
          <p:cNvPr id="440361" name="Rectangle 41"/>
          <p:cNvSpPr>
            <a:spLocks noChangeArrowheads="1"/>
          </p:cNvSpPr>
          <p:nvPr/>
        </p:nvSpPr>
        <p:spPr bwMode="auto">
          <a:xfrm>
            <a:off x="1457325" y="2600325"/>
            <a:ext cx="1403350" cy="692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62" name="Line 42"/>
          <p:cNvSpPr>
            <a:spLocks noChangeShapeType="1"/>
          </p:cNvSpPr>
          <p:nvPr/>
        </p:nvSpPr>
        <p:spPr bwMode="auto">
          <a:xfrm>
            <a:off x="1466850" y="2984500"/>
            <a:ext cx="13858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63" name="Rectangle 43"/>
          <p:cNvSpPr>
            <a:spLocks noChangeArrowheads="1"/>
          </p:cNvSpPr>
          <p:nvPr/>
        </p:nvSpPr>
        <p:spPr bwMode="auto">
          <a:xfrm>
            <a:off x="1841500" y="2684463"/>
            <a:ext cx="7493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b="1">
                <a:solidFill>
                  <a:srgbClr val="000000"/>
                </a:solidFill>
                <a:latin typeface="Arial" panose="020B0604020202020204" pitchFamily="34" charset="0"/>
              </a:rPr>
              <a:t>Course</a:t>
            </a:r>
            <a:endParaRPr lang="en-CA" altLang="fr-FR"/>
          </a:p>
        </p:txBody>
      </p:sp>
      <p:sp>
        <p:nvSpPr>
          <p:cNvPr id="440364" name="Rectangle 44"/>
          <p:cNvSpPr>
            <a:spLocks noChangeArrowheads="1"/>
          </p:cNvSpPr>
          <p:nvPr/>
        </p:nvSpPr>
        <p:spPr bwMode="auto">
          <a:xfrm>
            <a:off x="1616075" y="3040063"/>
            <a:ext cx="1112838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getPrerequisite</a:t>
            </a:r>
            <a:endParaRPr lang="en-CA" altLang="fr-FR"/>
          </a:p>
        </p:txBody>
      </p:sp>
      <p:sp>
        <p:nvSpPr>
          <p:cNvPr id="440365" name="Rectangle 45"/>
          <p:cNvSpPr>
            <a:spLocks noChangeArrowheads="1"/>
          </p:cNvSpPr>
          <p:nvPr/>
        </p:nvSpPr>
        <p:spPr bwMode="auto">
          <a:xfrm>
            <a:off x="7186613" y="2655888"/>
            <a:ext cx="1609725" cy="91757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66" name="Line 46"/>
          <p:cNvSpPr>
            <a:spLocks noChangeShapeType="1"/>
          </p:cNvSpPr>
          <p:nvPr/>
        </p:nvSpPr>
        <p:spPr bwMode="auto">
          <a:xfrm>
            <a:off x="7196138" y="3040063"/>
            <a:ext cx="159067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40367" name="Rectangle 47"/>
          <p:cNvSpPr>
            <a:spLocks noChangeArrowheads="1"/>
          </p:cNvSpPr>
          <p:nvPr/>
        </p:nvSpPr>
        <p:spPr bwMode="auto">
          <a:xfrm>
            <a:off x="7626350" y="2740025"/>
            <a:ext cx="7858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 b="1">
                <a:solidFill>
                  <a:srgbClr val="000000"/>
                </a:solidFill>
                <a:latin typeface="Arial" panose="020B0604020202020204" pitchFamily="34" charset="0"/>
              </a:rPr>
              <a:t>Student</a:t>
            </a:r>
            <a:endParaRPr lang="en-CA" altLang="fr-FR"/>
          </a:p>
        </p:txBody>
      </p:sp>
      <p:sp>
        <p:nvSpPr>
          <p:cNvPr id="440368" name="Rectangle 48"/>
          <p:cNvSpPr>
            <a:spLocks noChangeArrowheads="1"/>
          </p:cNvSpPr>
          <p:nvPr/>
        </p:nvSpPr>
        <p:spPr bwMode="auto">
          <a:xfrm>
            <a:off x="7345363" y="3097213"/>
            <a:ext cx="1158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addToSchedule</a:t>
            </a:r>
            <a:endParaRPr lang="en-CA" altLang="fr-FR"/>
          </a:p>
        </p:txBody>
      </p:sp>
      <p:sp>
        <p:nvSpPr>
          <p:cNvPr id="440369" name="Rectangle 49"/>
          <p:cNvSpPr>
            <a:spLocks noChangeArrowheads="1"/>
          </p:cNvSpPr>
          <p:nvPr/>
        </p:nvSpPr>
        <p:spPr bwMode="auto">
          <a:xfrm>
            <a:off x="7345363" y="3321050"/>
            <a:ext cx="13509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hasPassedCourse</a:t>
            </a:r>
            <a:endParaRPr lang="en-CA" altLang="fr-FR"/>
          </a:p>
        </p:txBody>
      </p:sp>
      <p:sp>
        <p:nvSpPr>
          <p:cNvPr id="440370" name="Rectangle 50"/>
          <p:cNvSpPr>
            <a:spLocks noChangeArrowheads="1"/>
          </p:cNvSpPr>
          <p:nvPr/>
        </p:nvSpPr>
        <p:spPr bwMode="auto">
          <a:xfrm>
            <a:off x="3413125" y="3265488"/>
            <a:ext cx="16097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addToRegistrationList</a:t>
            </a:r>
            <a:endParaRPr lang="en-CA" altLang="fr-FR"/>
          </a:p>
        </p:txBody>
      </p:sp>
      <p:sp>
        <p:nvSpPr>
          <p:cNvPr id="4403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37263924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6D15-88C1-491C-B627-30A93517D762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The </a:t>
            </a:r>
            <a:r>
              <a:rPr lang="en-US" altLang="en-US" b="1">
                <a:latin typeface="Courier New" panose="02070309020205020404" pitchFamily="49" charset="0"/>
              </a:rPr>
              <a:t>CourseSection</a:t>
            </a:r>
            <a:r>
              <a:rPr lang="en-US" altLang="en-US"/>
              <a:t> class</a:t>
            </a:r>
          </a:p>
        </p:txBody>
      </p:sp>
      <p:sp>
        <p:nvSpPr>
          <p:cNvPr id="435204" name="Rectangle 4"/>
          <p:cNvSpPr>
            <a:spLocks noChangeArrowheads="1"/>
          </p:cNvSpPr>
          <p:nvPr/>
        </p:nvSpPr>
        <p:spPr bwMode="auto">
          <a:xfrm>
            <a:off x="1371600" y="1295400"/>
            <a:ext cx="7772400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class CourseSection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// The many-1 abstraction-occurence association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private Course course;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endParaRPr lang="en-GB" altLang="en-US" sz="2000" b="1">
              <a:latin typeface="Courier" pitchFamily="49" charset="0"/>
              <a:ea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// The 1-many association to class Registration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private List registationList;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// The following are present only to determine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// the state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// The initial state is ‘Planned’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private boolean open = false;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private boolean closedOrCancelled = false;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...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2222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294E-63C5-46B1-A82A-13D508111006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The </a:t>
            </a:r>
            <a:r>
              <a:rPr lang="en-US" altLang="en-US" b="1">
                <a:latin typeface="Courier New" panose="02070309020205020404" pitchFamily="49" charset="0"/>
              </a:rPr>
              <a:t>CourseSection</a:t>
            </a:r>
            <a:r>
              <a:rPr lang="en-US" altLang="en-US"/>
              <a:t> class</a:t>
            </a:r>
          </a:p>
        </p:txBody>
      </p:sp>
      <p:sp>
        <p:nvSpPr>
          <p:cNvPr id="437251" name="Rectangle 3"/>
          <p:cNvSpPr>
            <a:spLocks noChangeArrowheads="1"/>
          </p:cNvSpPr>
          <p:nvPr/>
        </p:nvSpPr>
        <p:spPr bwMode="auto">
          <a:xfrm>
            <a:off x="1600200" y="1431925"/>
            <a:ext cx="7162800" cy="420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CourseSection(Course course)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this.course = course;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RegistrationList = new LinkedList();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endParaRPr lang="en-GB" altLang="en-US" sz="2000" b="1">
              <a:latin typeface="Courier" pitchFamily="49" charset="0"/>
              <a:ea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void cancel()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// to ‘Cancelled’ state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open = false;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closedOrCancelled = true;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unregisterStudents();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 algn="just"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721968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A2714-83E9-4070-BF3E-D04D81EF8996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The </a:t>
            </a:r>
            <a:r>
              <a:rPr lang="en-US" altLang="en-US" b="1">
                <a:latin typeface="Courier New" panose="02070309020205020404" pitchFamily="49" charset="0"/>
              </a:rPr>
              <a:t>CourseSection</a:t>
            </a:r>
            <a:r>
              <a:rPr lang="en-US" altLang="en-US"/>
              <a:t> class</a:t>
            </a:r>
          </a:p>
        </p:txBody>
      </p:sp>
      <p:sp>
        <p:nvSpPr>
          <p:cNvPr id="436229" name="Rectangle 5"/>
          <p:cNvSpPr>
            <a:spLocks noChangeArrowheads="1"/>
          </p:cNvSpPr>
          <p:nvPr/>
        </p:nvSpPr>
        <p:spPr bwMode="auto">
          <a:xfrm>
            <a:off x="1295400" y="1371600"/>
            <a:ext cx="7239000" cy="298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void openRegistration()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if(!closedOrCancelled)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// must be in ‘Planned’ state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open = true;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// to 'OpenNotEnoughStudents' state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  <a:endParaRPr lang="en-US" altLang="en-US" sz="2000" b="1">
              <a:latin typeface="Courier" pitchFamily="49" charset="0"/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0701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BBF4B-09DF-4499-82BB-8B4943F979B6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The </a:t>
            </a:r>
            <a:r>
              <a:rPr lang="en-US" altLang="en-US" b="1">
                <a:latin typeface="Courier New" panose="02070309020205020404" pitchFamily="49" charset="0"/>
              </a:rPr>
              <a:t>CourseSection</a:t>
            </a:r>
            <a:r>
              <a:rPr lang="en-US" altLang="en-US"/>
              <a:t> class</a:t>
            </a:r>
          </a:p>
        </p:txBody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public void closeRegistration()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// to 'Cancelled' or 'Closed' state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open = false;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closedOrCancelled = true;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if (registrationList.size() &lt;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course.getMinimum())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unregisterStudents();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// to ‘Cancelled’ state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}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7527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17DC-A2BF-483B-B65A-50D6CDB52BDF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99392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Example: The </a:t>
            </a:r>
            <a:r>
              <a:rPr lang="en-US" altLang="en-US" b="1" dirty="0" err="1">
                <a:latin typeface="Courier New" panose="02070309020205020404" pitchFamily="49" charset="0"/>
              </a:rPr>
              <a:t>CourseSection</a:t>
            </a:r>
            <a:r>
              <a:rPr lang="en-US" altLang="en-US" dirty="0"/>
              <a:t> class</a:t>
            </a:r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990600" y="1062038"/>
            <a:ext cx="8153400" cy="538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9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void requestToRegister(Student student)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if (open)  // must be in one of the two 'Open' states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// The interaction specified in the sequence diagram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Course prereq = course.getPrerequisite();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if (student.hasPassedCourse(prereq))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   // Indirectly calls addToRegistrationList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   new Registration(this, student);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// Check for automatic transition to 'Closed' state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if (registrationList.size() &gt;= course.getMaximum())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  // to ‘Closed’ state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  open = false;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  closedOrCancelled = true;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  <a:endParaRPr lang="en-US" altLang="en-US" sz="1800" b="1">
              <a:latin typeface="Courier" pitchFamily="49" charset="0"/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2756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AE252-EB74-49AF-8772-CA77F58BCE50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The </a:t>
            </a:r>
            <a:r>
              <a:rPr lang="en-US" altLang="en-US" b="1">
                <a:latin typeface="Courier New" panose="02070309020205020404" pitchFamily="49" charset="0"/>
              </a:rPr>
              <a:t>CourseSection</a:t>
            </a:r>
            <a:r>
              <a:rPr lang="en-US" altLang="en-US"/>
              <a:t> class</a:t>
            </a:r>
          </a:p>
        </p:txBody>
      </p:sp>
      <p:sp>
        <p:nvSpPr>
          <p:cNvPr id="439300" name="Rectangle 4"/>
          <p:cNvSpPr>
            <a:spLocks noChangeArrowheads="1"/>
          </p:cNvSpPr>
          <p:nvPr/>
        </p:nvSpPr>
        <p:spPr bwMode="auto">
          <a:xfrm>
            <a:off x="1219200" y="1143000"/>
            <a:ext cx="7391400" cy="485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// Activity associated with ‘Cancelled’ state.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private void unregisterStudents()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Iterator it = registrationList.iterator();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while (it.hasNext())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Registration r = (Registration)it.next();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r.unregisterStudent();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it.remove();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// Called within this package only, by the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// constructor of Registration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void addToRegistrationList(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Registration newRegistration)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registrationList.add(newRegistration);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}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GB" altLang="en-US" sz="16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9860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F8B9E-8B5E-4164-B0FA-2AFF5D7A082E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Difficulties and Risks in Modelling Interactions and Behaviour</a:t>
            </a:r>
            <a:r>
              <a:rPr lang="en-US" altLang="en-US" dirty="0"/>
              <a:t> 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Dynamic modelling is a difficult skill 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In a large system there are a very large number of possible paths a system can take.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It is hard to choose the classes to which to allocate each behaviour:</a:t>
            </a:r>
          </a:p>
          <a:p>
            <a:pPr lvl="2"/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Ensure that skilled developers lead the process, and ensure that all aspects of your models are properly reviewed.  </a:t>
            </a:r>
          </a:p>
          <a:p>
            <a:pPr lvl="2"/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Work iteratively: </a:t>
            </a:r>
          </a:p>
          <a:p>
            <a:pPr lvl="3"/>
            <a:r>
              <a:rPr lang="en-GB" altLang="en-US" sz="1800" i="1">
                <a:ea typeface="Times" panose="02020603050405020304" pitchFamily="18" charset="0"/>
                <a:cs typeface="Times" panose="02020603050405020304" pitchFamily="18" charset="0"/>
              </a:rPr>
              <a:t>Develop initial class diagrams, use cases, responsibilities, interaction diagrams and state diagrams;</a:t>
            </a:r>
          </a:p>
          <a:p>
            <a:pPr lvl="3"/>
            <a:r>
              <a:rPr lang="en-GB" altLang="en-US" sz="1800" i="1">
                <a:ea typeface="Times" panose="02020603050405020304" pitchFamily="18" charset="0"/>
                <a:cs typeface="Times" panose="02020603050405020304" pitchFamily="18" charset="0"/>
              </a:rPr>
              <a:t>Then go back and verify that all of these are consistent, modifying them as necessary. </a:t>
            </a:r>
          </a:p>
          <a:p>
            <a:pPr lvl="2"/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Drawing different diagrams that capture related, but distinct, information will often highlight problems. 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1537440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4970</TotalTime>
  <Words>2536</Words>
  <Application>Microsoft Office PowerPoint</Application>
  <PresentationFormat>Affichage à l'écran (4:3)</PresentationFormat>
  <Paragraphs>586</Paragraphs>
  <Slides>49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9" baseType="lpstr">
      <vt:lpstr>Arial</vt:lpstr>
      <vt:lpstr>Courier</vt:lpstr>
      <vt:lpstr>Courier New</vt:lpstr>
      <vt:lpstr>Franklin Gothic Book</vt:lpstr>
      <vt:lpstr>NewsGothicBQ</vt:lpstr>
      <vt:lpstr>Perpetua</vt:lpstr>
      <vt:lpstr>Times New Roman</vt:lpstr>
      <vt:lpstr>Wingdings</vt:lpstr>
      <vt:lpstr>Wingdings 2</vt:lpstr>
      <vt:lpstr>Capitaux</vt:lpstr>
      <vt:lpstr>Présentation PowerPoint</vt:lpstr>
      <vt:lpstr>Interaction Diagrams </vt:lpstr>
      <vt:lpstr>Interactions and messages</vt:lpstr>
      <vt:lpstr>Elements found in interaction diagrams</vt:lpstr>
      <vt:lpstr>Creating instances diagrams</vt:lpstr>
      <vt:lpstr>Sequence diagrams – an example</vt:lpstr>
      <vt:lpstr>Sequence diagrams </vt:lpstr>
      <vt:lpstr>Sequence diagrams –    same example, more details</vt:lpstr>
      <vt:lpstr>Sequence diagrams –    an example with replicated messages</vt:lpstr>
      <vt:lpstr>Sequence diagrams –    an example with object deletion</vt:lpstr>
      <vt:lpstr>Collaboration diagrams </vt:lpstr>
      <vt:lpstr>Collaboration diagrams – an example</vt:lpstr>
      <vt:lpstr>Collaboration diagrams –    same example, more details</vt:lpstr>
      <vt:lpstr>Communication links</vt:lpstr>
      <vt:lpstr>Other communication links </vt:lpstr>
      <vt:lpstr>Other communication links</vt:lpstr>
      <vt:lpstr>How to choose between using a sequence or collaboration diagram </vt:lpstr>
      <vt:lpstr>How to choose between using a sequence or collaboration diagram</vt:lpstr>
      <vt:lpstr>Collaboration diagrams and patterns</vt:lpstr>
      <vt:lpstr>State Diagrams </vt:lpstr>
      <vt:lpstr>State diagrams – an example</vt:lpstr>
      <vt:lpstr>States</vt:lpstr>
      <vt:lpstr>Transitions</vt:lpstr>
      <vt:lpstr>Présentation PowerPoint</vt:lpstr>
      <vt:lpstr>State diagrams – an example with conditional transitions   </vt:lpstr>
      <vt:lpstr>Activities in state diagrams </vt:lpstr>
      <vt:lpstr>State diagram – an example with activity </vt:lpstr>
      <vt:lpstr>Actions in state diagrams</vt:lpstr>
      <vt:lpstr>State diagram – an example with actions</vt:lpstr>
      <vt:lpstr>State diagrams – another example</vt:lpstr>
      <vt:lpstr>Nested substates and guard conditions</vt:lpstr>
      <vt:lpstr>State diagram – an example with substates</vt:lpstr>
      <vt:lpstr>Activity Diagrams </vt:lpstr>
      <vt:lpstr>Activity diagrams – an example</vt:lpstr>
      <vt:lpstr>Representing concurrency</vt:lpstr>
      <vt:lpstr>Representing concurrency</vt:lpstr>
      <vt:lpstr>Swimlanes</vt:lpstr>
      <vt:lpstr>Activity diagrams – an example with swimlanes</vt:lpstr>
      <vt:lpstr>Implementing Classes Based on Interaction and State Diagrams</vt:lpstr>
      <vt:lpstr>Example: The CourseSection class</vt:lpstr>
      <vt:lpstr>Example: The CourseSection class</vt:lpstr>
      <vt:lpstr>Example: The CourseSection class</vt:lpstr>
      <vt:lpstr>Example: The CourseSection class</vt:lpstr>
      <vt:lpstr>Example: The CourseSection class</vt:lpstr>
      <vt:lpstr>Example: The CourseSection class</vt:lpstr>
      <vt:lpstr>Example: The CourseSection class</vt:lpstr>
      <vt:lpstr>Example: The CourseSection class</vt:lpstr>
      <vt:lpstr>Example: The CourseSection class</vt:lpstr>
      <vt:lpstr>Difficulties and Risks in Modelling Interactions and Behaviour </vt:lpstr>
    </vt:vector>
  </TitlesOfParts>
  <Company>Vrije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Hans van Vliet</dc:creator>
  <cp:lastModifiedBy>User</cp:lastModifiedBy>
  <cp:revision>141</cp:revision>
  <dcterms:created xsi:type="dcterms:W3CDTF">2005-08-23T09:20:25Z</dcterms:created>
  <dcterms:modified xsi:type="dcterms:W3CDTF">2020-02-26T02:22:53Z</dcterms:modified>
</cp:coreProperties>
</file>