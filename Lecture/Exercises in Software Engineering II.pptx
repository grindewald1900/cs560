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624" r:id="rId2"/>
    <p:sldId id="625" r:id="rId3"/>
    <p:sldId id="626" r:id="rId4"/>
    <p:sldId id="627" r:id="rId5"/>
    <p:sldId id="628" r:id="rId6"/>
    <p:sldId id="629" r:id="rId7"/>
    <p:sldId id="630" r:id="rId8"/>
    <p:sldId id="631" r:id="rId9"/>
    <p:sldId id="632" r:id="rId10"/>
    <p:sldId id="633" r:id="rId11"/>
    <p:sldId id="634" r:id="rId12"/>
  </p:sldIdLst>
  <p:sldSz cx="9144000" cy="6858000" type="screen4x3"/>
  <p:notesSz cx="7315200" cy="9601200"/>
  <p:defaultTextStyle>
    <a:defPPr>
      <a:defRPr lang="nl-NL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hammed Ayoub Alaoui Mhamdi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8D15"/>
    <a:srgbClr val="EDB34B"/>
    <a:srgbClr val="F8ECCC"/>
    <a:srgbClr val="F5E3B1"/>
    <a:srgbClr val="F3DEA1"/>
    <a:srgbClr val="3399FF"/>
    <a:srgbClr val="40B4E8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71936" autoAdjust="0"/>
  </p:normalViewPr>
  <p:slideViewPr>
    <p:cSldViewPr>
      <p:cViewPr varScale="1">
        <p:scale>
          <a:sx n="62" d="100"/>
          <a:sy n="62" d="100"/>
        </p:scale>
        <p:origin x="2021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452"/>
    </p:cViewPr>
  </p:sorterViewPr>
  <p:notesViewPr>
    <p:cSldViewPr>
      <p:cViewPr varScale="1">
        <p:scale>
          <a:sx n="59" d="100"/>
          <a:sy n="59" d="100"/>
        </p:scale>
        <p:origin x="-1122" y="-78"/>
      </p:cViewPr>
      <p:guideLst>
        <p:guide orient="horz" pos="3024"/>
        <p:guide pos="230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buClrTx/>
              <a:buFontTx/>
              <a:buNone/>
              <a:defRPr sz="1300" b="1">
                <a:latin typeface="NewsGothicBQ" pitchFamily="34" charset="0"/>
              </a:defRPr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buClrTx/>
              <a:buFontTx/>
              <a:buNone/>
              <a:defRPr sz="1300" b="1">
                <a:latin typeface="NewsGothicBQ" pitchFamily="34" charset="0"/>
              </a:defRPr>
            </a:lvl1pPr>
          </a:lstStyle>
          <a:p>
            <a:pPr>
              <a:defRPr/>
            </a:pPr>
            <a:fld id="{7C68F578-E383-4DB2-AFC9-CBA5D5ED2124}" type="datetime1">
              <a:rPr lang="en-GB" altLang="fr-FR"/>
              <a:pPr>
                <a:defRPr/>
              </a:pPr>
              <a:t>22/11/2018</a:t>
            </a:fld>
            <a:endParaRPr lang="nl-NL" altLang="fr-F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buClrTx/>
              <a:buFontTx/>
              <a:buNone/>
              <a:defRPr sz="1300" b="1">
                <a:latin typeface="NewsGothicBQ" pitchFamily="34" charset="0"/>
              </a:defRPr>
            </a:lvl1pPr>
          </a:lstStyle>
          <a:p>
            <a:pPr>
              <a:defRPr/>
            </a:pPr>
            <a:r>
              <a:rPr lang="nl-NL" altLang="fr-FR"/>
              <a:t>© SE, Introduction, Hans van Vliet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buClrTx/>
              <a:buFontTx/>
              <a:buNone/>
              <a:defRPr sz="1300" b="1">
                <a:latin typeface="NewsGothicBQ" pitchFamily="34" charset="0"/>
              </a:defRPr>
            </a:lvl1pPr>
          </a:lstStyle>
          <a:p>
            <a:pPr>
              <a:defRPr/>
            </a:pPr>
            <a:fld id="{F23720CC-5A19-4571-8438-AF6511C49B56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1300" b="1">
                <a:solidFill>
                  <a:srgbClr val="000066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1300" b="1">
                <a:solidFill>
                  <a:srgbClr val="000066"/>
                </a:solidFill>
                <a:latin typeface="Arial" charset="0"/>
              </a:defRPr>
            </a:lvl1pPr>
          </a:lstStyle>
          <a:p>
            <a:pPr>
              <a:defRPr/>
            </a:pPr>
            <a:fld id="{DEFC3D66-82C8-4AFF-858C-A928D7512395}" type="datetime1">
              <a:rPr lang="en-GB" altLang="fr-FR"/>
              <a:pPr>
                <a:defRPr/>
              </a:pPr>
              <a:t>22/11/2018</a:t>
            </a:fld>
            <a:endParaRPr lang="nl-NL" altLang="fr-FR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fr-FR" noProof="0" smtClean="0"/>
              <a:t>Klik om de opmaakprofielen van de modeltekst te bewerken</a:t>
            </a:r>
          </a:p>
          <a:p>
            <a:pPr lvl="1"/>
            <a:r>
              <a:rPr lang="nl-NL" altLang="fr-FR" noProof="0" smtClean="0"/>
              <a:t>Tweede niveau</a:t>
            </a:r>
          </a:p>
          <a:p>
            <a:pPr lvl="2"/>
            <a:r>
              <a:rPr lang="nl-NL" altLang="fr-FR" noProof="0" smtClean="0"/>
              <a:t>Derde niveau</a:t>
            </a:r>
          </a:p>
          <a:p>
            <a:pPr lvl="3"/>
            <a:r>
              <a:rPr lang="nl-NL" altLang="fr-FR" noProof="0" smtClean="0"/>
              <a:t>Vierde niveau</a:t>
            </a:r>
          </a:p>
          <a:p>
            <a:pPr lvl="4"/>
            <a:r>
              <a:rPr lang="nl-NL" altLang="fr-FR" noProof="0" smtClean="0"/>
              <a:t>Vijfde niveau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1300" b="1">
                <a:solidFill>
                  <a:srgbClr val="000066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nl-NL" altLang="fr-FR"/>
              <a:t>© SE, Introduction, Hans van Vliet</a:t>
            </a:r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300" b="1">
                <a:solidFill>
                  <a:srgbClr val="000066"/>
                </a:solidFill>
              </a:defRPr>
            </a:lvl1pPr>
          </a:lstStyle>
          <a:p>
            <a:pPr>
              <a:defRPr/>
            </a:pPr>
            <a:fld id="{863CB801-0D92-44A9-A302-35B847A51AD4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nl-NL" altLang="fr-FR" sz="1300" smtClean="0">
                <a:solidFill>
                  <a:srgbClr val="000066"/>
                </a:solidFill>
                <a:latin typeface="Arial" panose="020B0604020202020204" pitchFamily="34" charset="0"/>
              </a:rPr>
              <a:t>© SE, Introduction, Hans van Vliet</a:t>
            </a:r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fld id="{14290847-8375-4770-866E-2B9A890F755A}" type="slidenum">
              <a:rPr lang="nl-NL" altLang="fr-FR" sz="1300" smtClean="0">
                <a:solidFill>
                  <a:srgbClr val="000066"/>
                </a:solidFill>
                <a:latin typeface="Arial" panose="020B0604020202020204" pitchFamily="34" charset="0"/>
              </a:rPr>
              <a:pPr>
                <a:spcBef>
                  <a:spcPct val="20000"/>
                </a:spcBef>
              </a:pPr>
              <a:t>1</a:t>
            </a:fld>
            <a:endParaRPr lang="nl-NL" altLang="fr-FR" sz="1300" smtClean="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19138"/>
            <a:ext cx="4800600" cy="3600450"/>
          </a:xfrm>
          <a:ln/>
        </p:spPr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</p:spPr>
        <p:txBody>
          <a:bodyPr/>
          <a:lstStyle/>
          <a:p>
            <a:pPr algn="l">
              <a:buFont typeface="Wingdings" panose="05000000000000000000" pitchFamily="2" charset="2"/>
              <a:buNone/>
              <a:tabLst/>
            </a:pPr>
            <a:endParaRPr lang="en-GB" altLang="fr-F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NL" altLang="fr-FR" smtClean="0"/>
              <a:t>© SE, Introduction, Hans van Vliet</a:t>
            </a:r>
            <a:endParaRPr lang="nl-NL" alt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63CB801-0D92-44A9-A302-35B847A51AD4}" type="slidenum">
              <a:rPr lang="nl-NL" altLang="fr-FR" smtClean="0"/>
              <a:pPr>
                <a:defRPr/>
              </a:pPr>
              <a:t>4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38463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 useBgFill="1">
        <p:nvSpPr>
          <p:cNvPr id="5" name="Rectangle à coins arrondis 4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11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7D5CB-E928-48B2-B3D8-2ADAEC9F2555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967395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6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0B85D0-B1EF-4802-90CF-6693142D5209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809293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 useBgFill="1">
        <p:nvSpPr>
          <p:cNvPr id="5" name="Rectangle à coins arrondis 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9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8F463D-4F90-438D-B663-803EDC7D48DC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089067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7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0A6631-DD4C-45C3-97A0-6AFA10140259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422145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9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22CF-C902-4B7C-A588-49EB9F53FADB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4036808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5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F8522-FCF6-4A16-B9A8-CB528F3B9980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971294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4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62B1-CDE2-4377-80C3-58629C3B13F2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184599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 useBgFill="1">
        <p:nvSpPr>
          <p:cNvPr id="6" name="Rectangle à coins arrondis 5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9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DAF035-7B39-4F02-821A-510F8190261B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470362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en-US" noProof="0" dirty="0"/>
          </a:p>
        </p:txBody>
      </p:sp>
      <p:sp>
        <p:nvSpPr>
          <p:cNvPr id="8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10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464525-5F46-4FE9-A67A-4F753E7A51EA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932057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6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B45D94-77B4-417B-A8A8-DD8444A92E5B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866634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6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808559-A55C-47B0-8695-D8B7164D0520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705006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 useBgFill="1">
        <p:nvSpPr>
          <p:cNvPr id="8" name="Rectangle à coins arrondis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1028" name="Espace réservé du titre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Modifiez le style du titre</a:t>
            </a:r>
            <a:endParaRPr lang="en-US" altLang="fr-FR" smtClean="0"/>
          </a:p>
        </p:txBody>
      </p:sp>
      <p:sp>
        <p:nvSpPr>
          <p:cNvPr id="1029" name="Espace réservé du texte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Modifiez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  <a:endParaRPr lang="en-US" altLang="fr-FR" smtClean="0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pPr>
              <a:defRPr/>
            </a:pPr>
            <a:fld id="{4178C48C-0A33-47AD-9C27-DF2BD228696E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0" r:id="rId2"/>
    <p:sldLayoutId id="2147483958" r:id="rId3"/>
    <p:sldLayoutId id="2147483951" r:id="rId4"/>
    <p:sldLayoutId id="2147483952" r:id="rId5"/>
    <p:sldLayoutId id="2147483953" r:id="rId6"/>
    <p:sldLayoutId id="2147483954" r:id="rId7"/>
    <p:sldLayoutId id="2147483959" r:id="rId8"/>
    <p:sldLayoutId id="2147483960" r:id="rId9"/>
    <p:sldLayoutId id="2147483955" r:id="rId10"/>
    <p:sldLayoutId id="2147483956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5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6525" y="3886200"/>
            <a:ext cx="6400800" cy="1752600"/>
          </a:xfrm>
        </p:spPr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altLang="fr-FR" dirty="0" smtClean="0">
                <a:solidFill>
                  <a:schemeClr val="tx1"/>
                </a:solidFill>
              </a:rPr>
              <a:t>Dr. Mohammed Ayoub Alaoui Mhamdi</a:t>
            </a:r>
            <a:endParaRPr lang="en-US" altLang="fr-FR" dirty="0">
              <a:solidFill>
                <a:schemeClr val="tx1"/>
              </a:solidFill>
            </a:endParaRPr>
          </a:p>
          <a:p>
            <a:pPr eaLnBrk="1" fontAlgn="auto" hangingPunct="1">
              <a:spcBef>
                <a:spcPts val="580"/>
              </a:spcBef>
              <a:spcAft>
                <a:spcPts val="0"/>
              </a:spcAft>
              <a:defRPr/>
            </a:pPr>
            <a:r>
              <a:rPr lang="en-US" altLang="fr-FR" dirty="0">
                <a:solidFill>
                  <a:schemeClr val="tx1"/>
                </a:solidFill>
              </a:rPr>
              <a:t>Bishop's University</a:t>
            </a:r>
          </a:p>
          <a:p>
            <a:pPr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altLang="fr-FR" dirty="0" err="1" smtClean="0">
                <a:solidFill>
                  <a:schemeClr val="tx1"/>
                </a:solidFill>
              </a:rPr>
              <a:t>Sherbrooke</a:t>
            </a:r>
            <a:r>
              <a:rPr lang="en-US" altLang="fr-FR" dirty="0" smtClean="0">
                <a:solidFill>
                  <a:schemeClr val="tx1"/>
                </a:solidFill>
              </a:rPr>
              <a:t>, Qc, Canada</a:t>
            </a:r>
            <a:endParaRPr lang="en-US" altLang="fr-FR" dirty="0">
              <a:solidFill>
                <a:schemeClr val="tx1"/>
              </a:solidFill>
            </a:endParaRPr>
          </a:p>
          <a:p>
            <a:pPr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altLang="fr-FR" dirty="0" smtClean="0">
                <a:solidFill>
                  <a:schemeClr val="tx1"/>
                </a:solidFill>
              </a:rPr>
              <a:t>malaoui@ubishops.ca</a:t>
            </a:r>
            <a:endParaRPr lang="en-US" altLang="fr-FR" dirty="0">
              <a:solidFill>
                <a:schemeClr val="tx1"/>
              </a:solidFill>
            </a:endParaRPr>
          </a:p>
        </p:txBody>
      </p:sp>
      <p:sp>
        <p:nvSpPr>
          <p:cNvPr id="8195" name="ZoneTexte 1"/>
          <p:cNvSpPr txBox="1">
            <a:spLocks noChangeArrowheads="1"/>
          </p:cNvSpPr>
          <p:nvPr/>
        </p:nvSpPr>
        <p:spPr bwMode="auto">
          <a:xfrm>
            <a:off x="242093" y="1853545"/>
            <a:ext cx="872966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SzTx/>
              <a:buFont typeface="Wingdings" panose="05000000000000000000" pitchFamily="2" charset="2"/>
              <a:buNone/>
            </a:pPr>
            <a:r>
              <a:rPr lang="fr-CA" altLang="fr-FR" sz="4000" dirty="0" err="1" smtClean="0">
                <a:solidFill>
                  <a:schemeClr val="bg1"/>
                </a:solidFill>
                <a:latin typeface="Arial" panose="020B0604020202020204" pitchFamily="34" charset="0"/>
              </a:rPr>
              <a:t>Exercises</a:t>
            </a:r>
            <a:r>
              <a:rPr lang="fr-CA" altLang="fr-FR" sz="4000" dirty="0" smtClean="0">
                <a:solidFill>
                  <a:schemeClr val="bg1"/>
                </a:solidFill>
                <a:latin typeface="Arial" panose="020B0604020202020204" pitchFamily="34" charset="0"/>
              </a:rPr>
              <a:t> in Software Engineering </a:t>
            </a:r>
            <a:r>
              <a:rPr lang="fr-CA" altLang="fr-FR" sz="4000" dirty="0" smtClean="0">
                <a:solidFill>
                  <a:schemeClr val="bg1"/>
                </a:solidFill>
                <a:latin typeface="Arial" panose="020B0604020202020204" pitchFamily="34" charset="0"/>
              </a:rPr>
              <a:t>II</a:t>
            </a:r>
            <a:endParaRPr lang="fr-CA" altLang="fr-FR" sz="4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819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33375"/>
            <a:ext cx="2160588" cy="90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ZoneTexte 1"/>
          <p:cNvSpPr txBox="1">
            <a:spLocks noChangeArrowheads="1"/>
          </p:cNvSpPr>
          <p:nvPr/>
        </p:nvSpPr>
        <p:spPr bwMode="auto">
          <a:xfrm>
            <a:off x="1420813" y="444500"/>
            <a:ext cx="82454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SzTx/>
              <a:buFont typeface="Wingdings" panose="05000000000000000000" pitchFamily="2" charset="2"/>
              <a:buNone/>
            </a:pPr>
            <a:r>
              <a:rPr lang="fr-CA" altLang="fr-FR" sz="2800">
                <a:latin typeface="Arial" panose="020B0604020202020204" pitchFamily="34" charset="0"/>
              </a:rPr>
              <a:t>CS 560: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Exercise 1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You are a member of the user interface team. You are responsible for designing and implementing </a:t>
            </a:r>
            <a:r>
              <a:rPr lang="en-US" dirty="0" smtClean="0"/>
              <a:t>forms collecting </a:t>
            </a:r>
            <a:r>
              <a:rPr lang="en-US" dirty="0"/>
              <a:t>information about users of the system (e.g., first name, last name, address, E-mail address, level </a:t>
            </a:r>
            <a:r>
              <a:rPr lang="en-US" dirty="0" smtClean="0"/>
              <a:t>of expertise</a:t>
            </a:r>
            <a:r>
              <a:rPr lang="en-US" dirty="0"/>
              <a:t>). The information you are collecting is stored in the database and used by the reporting subsystem</a:t>
            </a:r>
            <a:r>
              <a:rPr lang="en-US" dirty="0" smtClean="0"/>
              <a:t>. You </a:t>
            </a:r>
            <a:r>
              <a:rPr lang="en-US" dirty="0"/>
              <a:t>are not sure which fields are required information and which are optional. How do you find out?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0B85D0-B1EF-4802-90CF-6693142D5209}" type="slidenum">
              <a:rPr lang="nl-NL" altLang="fr-FR" smtClean="0"/>
              <a:pPr>
                <a:defRPr/>
              </a:pPr>
              <a:t>2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40973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-234280"/>
            <a:ext cx="7772400" cy="1143000"/>
          </a:xfrm>
        </p:spPr>
        <p:txBody>
          <a:bodyPr/>
          <a:lstStyle/>
          <a:p>
            <a:r>
              <a:rPr lang="en-CA" dirty="0" smtClean="0"/>
              <a:t>Exercise 1: Solution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23528" y="908720"/>
            <a:ext cx="8568952" cy="5111080"/>
          </a:xfrm>
        </p:spPr>
        <p:txBody>
          <a:bodyPr/>
          <a:lstStyle/>
          <a:p>
            <a:r>
              <a:rPr lang="en-US" sz="2300" dirty="0"/>
              <a:t>This is an open-ended question whose purpose is to have the student think of all the communication paths available</a:t>
            </a:r>
            <a:r>
              <a:rPr lang="en-US" sz="2300" dirty="0" smtClean="0"/>
              <a:t>. The </a:t>
            </a:r>
            <a:r>
              <a:rPr lang="en-US" sz="2300" dirty="0"/>
              <a:t>side effect of this question is that the student will also have to think about the information sources associated </a:t>
            </a:r>
            <a:r>
              <a:rPr lang="en-US" sz="2300" dirty="0" smtClean="0"/>
              <a:t>with a </a:t>
            </a:r>
            <a:r>
              <a:rPr lang="en-US" sz="2300" dirty="0"/>
              <a:t>project. A correct answer should contain at least two of the following points: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 smtClean="0"/>
              <a:t>The </a:t>
            </a:r>
            <a:r>
              <a:rPr lang="en-US" sz="2200" dirty="0"/>
              <a:t>user interface team member should first check the requirements analysis </a:t>
            </a:r>
            <a:r>
              <a:rPr lang="en-US" sz="2200" dirty="0" smtClean="0"/>
              <a:t>document.</a:t>
            </a:r>
            <a:endParaRPr lang="en-US" sz="22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 smtClean="0"/>
              <a:t>If </a:t>
            </a:r>
            <a:r>
              <a:rPr lang="en-US" sz="2200" dirty="0"/>
              <a:t>the answer is not in the requirements analysis document, or if the answer is not clear, the document </a:t>
            </a:r>
            <a:r>
              <a:rPr lang="en-US" sz="2200" dirty="0" smtClean="0"/>
              <a:t>is incomplete </a:t>
            </a:r>
            <a:r>
              <a:rPr lang="en-US" sz="2200" dirty="0"/>
              <a:t>or does not exist yet, in which case the user interface team member should ask the responsible </a:t>
            </a:r>
            <a:r>
              <a:rPr lang="en-US" sz="2200" dirty="0" smtClean="0"/>
              <a:t>analyst on </a:t>
            </a:r>
            <a:r>
              <a:rPr lang="en-US" sz="2200" dirty="0"/>
              <a:t>the project. This is a request for change or a request for clarification.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 smtClean="0"/>
              <a:t>If </a:t>
            </a:r>
            <a:r>
              <a:rPr lang="en-US" sz="2200" dirty="0"/>
              <a:t>the analyst does not have the answer, he or she should investigate with a potential user and possibly </a:t>
            </a:r>
            <a:r>
              <a:rPr lang="en-US" sz="2200" dirty="0" smtClean="0"/>
              <a:t>get approval </a:t>
            </a:r>
            <a:r>
              <a:rPr lang="en-US" sz="2200" dirty="0"/>
              <a:t>from the client. This is also a request for clarification.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 smtClean="0"/>
              <a:t>In </a:t>
            </a:r>
            <a:r>
              <a:rPr lang="en-US" sz="2200" dirty="0"/>
              <a:t>all cases, the answer should eventually make its way into the requirements analysis document.</a:t>
            </a:r>
            <a:endParaRPr lang="fr-CA" sz="2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0B85D0-B1EF-4802-90CF-6693142D5209}" type="slidenum">
              <a:rPr lang="nl-NL" altLang="fr-FR" smtClean="0"/>
              <a:pPr>
                <a:defRPr/>
              </a:pPr>
              <a:t>3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768345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Exercise 2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Which changes in the organization and communication infrastructure would you recommend for a successor </a:t>
            </a:r>
            <a:r>
              <a:rPr lang="en-US" dirty="0" smtClean="0"/>
              <a:t>of the </a:t>
            </a:r>
            <a:r>
              <a:rPr lang="en-US" dirty="0"/>
              <a:t>Ariane 5 project as a consequence of the Ariane 501 </a:t>
            </a:r>
            <a:r>
              <a:rPr lang="en-US" dirty="0" smtClean="0"/>
              <a:t>failure?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0B85D0-B1EF-4802-90CF-6693142D5209}" type="slidenum">
              <a:rPr lang="nl-NL" altLang="fr-FR" smtClean="0"/>
              <a:pPr>
                <a:defRPr/>
              </a:pPr>
              <a:t>4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046555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-171400"/>
            <a:ext cx="7772400" cy="1143000"/>
          </a:xfrm>
        </p:spPr>
        <p:txBody>
          <a:bodyPr/>
          <a:lstStyle/>
          <a:p>
            <a:r>
              <a:rPr lang="en-CA" dirty="0" smtClean="0"/>
              <a:t>Exercise 2: Solution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914400" y="1124744"/>
            <a:ext cx="7772400" cy="4572000"/>
          </a:xfrm>
        </p:spPr>
        <p:txBody>
          <a:bodyPr/>
          <a:lstStyle/>
          <a:p>
            <a:r>
              <a:rPr lang="en-US" dirty="0"/>
              <a:t>This is an open-ended question as many solutions exist and detailed knowledge of the current team organization </a:t>
            </a:r>
            <a:r>
              <a:rPr lang="en-US" dirty="0" smtClean="0"/>
              <a:t>are not </a:t>
            </a:r>
            <a:r>
              <a:rPr lang="en-US" dirty="0"/>
              <a:t>available. Note that this question is only interested </a:t>
            </a:r>
            <a:r>
              <a:rPr lang="en-US" dirty="0" smtClean="0"/>
              <a:t>in communication </a:t>
            </a:r>
            <a:r>
              <a:rPr lang="en-US" dirty="0"/>
              <a:t>or organizational changes, not technical </a:t>
            </a:r>
            <a:r>
              <a:rPr lang="en-US" dirty="0" smtClean="0"/>
              <a:t>or methodological </a:t>
            </a:r>
            <a:r>
              <a:rPr lang="en-US" dirty="0"/>
              <a:t>changes. A correct answer could include the following points: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/>
              <a:t>Increase </a:t>
            </a:r>
            <a:r>
              <a:rPr lang="en-US" dirty="0"/>
              <a:t>communication between the team responsible for system testing and the software developers. This </a:t>
            </a:r>
            <a:r>
              <a:rPr lang="en-US" dirty="0" smtClean="0"/>
              <a:t>can be </a:t>
            </a:r>
            <a:r>
              <a:rPr lang="en-US" dirty="0"/>
              <a:t>done by introducing liaisons on both teams.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/>
              <a:t>Increase </a:t>
            </a:r>
            <a:r>
              <a:rPr lang="en-US" dirty="0"/>
              <a:t>communication between the team responsible for unit testing and for system testing.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/>
              <a:t>Change </a:t>
            </a:r>
            <a:r>
              <a:rPr lang="en-US" dirty="0"/>
              <a:t>documentation requirements for reused components.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0B85D0-B1EF-4802-90CF-6693142D5209}" type="slidenum">
              <a:rPr lang="nl-NL" altLang="fr-FR" smtClean="0"/>
              <a:pPr>
                <a:defRPr/>
              </a:pPr>
              <a:t>5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873671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Exercise 3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the high-level use case </a:t>
            </a:r>
            <a:r>
              <a:rPr lang="en-US" dirty="0" err="1"/>
              <a:t>ManageAdvertisement</a:t>
            </a:r>
            <a:r>
              <a:rPr lang="en-US" dirty="0"/>
              <a:t> initiated by the Advertiser, and write detailed use </a:t>
            </a:r>
            <a:r>
              <a:rPr lang="en-US" dirty="0" smtClean="0"/>
              <a:t>cases refining </a:t>
            </a:r>
            <a:r>
              <a:rPr lang="en-US" dirty="0"/>
              <a:t>this high-level use case. Consider features that enable an </a:t>
            </a:r>
            <a:r>
              <a:rPr lang="en-US" dirty="0" smtClean="0"/>
              <a:t>advertiser </a:t>
            </a:r>
            <a:r>
              <a:rPr lang="en-US" dirty="0"/>
              <a:t>to upload </a:t>
            </a:r>
            <a:r>
              <a:rPr lang="en-US" dirty="0" smtClean="0"/>
              <a:t>advertisement banners</a:t>
            </a:r>
            <a:r>
              <a:rPr lang="en-US" dirty="0"/>
              <a:t>, to associate keywords with each banner, to subscribe to notices </a:t>
            </a:r>
            <a:r>
              <a:rPr lang="en-US" dirty="0" smtClean="0"/>
              <a:t>about new </a:t>
            </a:r>
            <a:r>
              <a:rPr lang="en-US" dirty="0"/>
              <a:t>tournaments in </a:t>
            </a:r>
            <a:r>
              <a:rPr lang="en-US" dirty="0" smtClean="0"/>
              <a:t>specific leagues </a:t>
            </a:r>
            <a:r>
              <a:rPr lang="en-US" dirty="0"/>
              <a:t>or games, and to monitor the charges and payments made on the advertisement account.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0B85D0-B1EF-4802-90CF-6693142D5209}" type="slidenum">
              <a:rPr lang="nl-NL" altLang="fr-FR" smtClean="0"/>
              <a:pPr>
                <a:defRPr/>
              </a:pPr>
              <a:t>6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4075917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0B85D0-B1EF-4802-90CF-6693142D5209}" type="slidenum">
              <a:rPr lang="nl-NL" altLang="fr-FR" smtClean="0"/>
              <a:pPr>
                <a:defRPr/>
              </a:pPr>
              <a:t>7</a:t>
            </a:fld>
            <a:endParaRPr lang="nl-NL" alt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96" y="1052737"/>
            <a:ext cx="8765888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49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Exercise 4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Create a </a:t>
            </a:r>
            <a:r>
              <a:rPr lang="en-US" dirty="0"/>
              <a:t>system sequence diagram that describes the main success scenario </a:t>
            </a:r>
            <a:r>
              <a:rPr lang="en-US" dirty="0" smtClean="0"/>
              <a:t>of the </a:t>
            </a:r>
            <a:r>
              <a:rPr lang="en-US" dirty="0"/>
              <a:t>Withdraw money using a Visa card use </a:t>
            </a:r>
            <a:r>
              <a:rPr lang="en-US" dirty="0" smtClean="0"/>
              <a:t>case from ATM.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0B85D0-B1EF-4802-90CF-6693142D5209}" type="slidenum">
              <a:rPr lang="nl-NL" altLang="fr-FR" smtClean="0"/>
              <a:pPr>
                <a:defRPr/>
              </a:pPr>
              <a:t>8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15981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0B85D0-B1EF-4802-90CF-6693142D5209}" type="slidenum">
              <a:rPr lang="nl-NL" altLang="fr-FR" smtClean="0"/>
              <a:pPr>
                <a:defRPr/>
              </a:pPr>
              <a:t>9</a:t>
            </a:fld>
            <a:endParaRPr lang="nl-NL" altLang="fr-FR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19075"/>
            <a:ext cx="6477000" cy="641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841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Exercise 5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 Expand the system sequence diagram that describes the nominal scenario </a:t>
            </a:r>
            <a:r>
              <a:rPr lang="en-US" dirty="0" smtClean="0"/>
              <a:t>of the </a:t>
            </a:r>
            <a:r>
              <a:rPr lang="en-US" dirty="0"/>
              <a:t>Withdraw money using a visa card use </a:t>
            </a:r>
            <a:r>
              <a:rPr lang="en-US" dirty="0" smtClean="0"/>
              <a:t>case.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0B85D0-B1EF-4802-90CF-6693142D5209}" type="slidenum">
              <a:rPr lang="nl-NL" altLang="fr-FR" smtClean="0"/>
              <a:pPr>
                <a:defRPr/>
              </a:pPr>
              <a:t>10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820999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0B85D0-B1EF-4802-90CF-6693142D5209}" type="slidenum">
              <a:rPr lang="nl-NL" altLang="fr-FR" smtClean="0"/>
              <a:pPr>
                <a:defRPr/>
              </a:pPr>
              <a:t>11</a:t>
            </a:fld>
            <a:endParaRPr lang="nl-NL" alt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25" y="80628"/>
            <a:ext cx="4781550" cy="661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456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19103</TotalTime>
  <Words>564</Words>
  <Application>Microsoft Office PowerPoint</Application>
  <PresentationFormat>Affichage à l'écran (4:3)</PresentationFormat>
  <Paragraphs>41</Paragraphs>
  <Slides>11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9" baseType="lpstr">
      <vt:lpstr>Arial</vt:lpstr>
      <vt:lpstr>Franklin Gothic Book</vt:lpstr>
      <vt:lpstr>NewsGothicBQ</vt:lpstr>
      <vt:lpstr>Perpetua</vt:lpstr>
      <vt:lpstr>Times New Roman</vt:lpstr>
      <vt:lpstr>Wingdings</vt:lpstr>
      <vt:lpstr>Wingdings 2</vt:lpstr>
      <vt:lpstr>Capitaux</vt:lpstr>
      <vt:lpstr>Présentation PowerPoint</vt:lpstr>
      <vt:lpstr>Exercise 1</vt:lpstr>
      <vt:lpstr>Exercise 1: Solution</vt:lpstr>
      <vt:lpstr>Exercise 2</vt:lpstr>
      <vt:lpstr>Exercise 2: Solution</vt:lpstr>
      <vt:lpstr>Exercise 3</vt:lpstr>
      <vt:lpstr>Présentation PowerPoint</vt:lpstr>
      <vt:lpstr>Exercise 4</vt:lpstr>
      <vt:lpstr>Présentation PowerPoint</vt:lpstr>
      <vt:lpstr>Exercise 5</vt:lpstr>
      <vt:lpstr>Présentation PowerPoint</vt:lpstr>
    </vt:vector>
  </TitlesOfParts>
  <Company>Vrije Universiteit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Hans van Vliet</dc:creator>
  <cp:lastModifiedBy>Mohammed Ayoub Alaoui Mhamdi</cp:lastModifiedBy>
  <cp:revision>397</cp:revision>
  <dcterms:created xsi:type="dcterms:W3CDTF">2005-08-23T09:20:25Z</dcterms:created>
  <dcterms:modified xsi:type="dcterms:W3CDTF">2018-11-23T18:15:59Z</dcterms:modified>
</cp:coreProperties>
</file>